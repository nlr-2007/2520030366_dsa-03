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9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2952115"/>
          </a:xfrm>
          <a:custGeom>
            <a:avLst/>
            <a:gdLst/>
            <a:ahLst/>
            <a:cxnLst/>
            <a:rect l="l" t="t" r="r" b="b"/>
            <a:pathLst>
              <a:path w="7560309" h="2952115">
                <a:moveTo>
                  <a:pt x="7560000" y="0"/>
                </a:moveTo>
                <a:lnTo>
                  <a:pt x="0" y="0"/>
                </a:lnTo>
                <a:lnTo>
                  <a:pt x="0" y="2951999"/>
                </a:lnTo>
                <a:lnTo>
                  <a:pt x="7560000" y="2951999"/>
                </a:lnTo>
                <a:lnTo>
                  <a:pt x="7560000" y="0"/>
                </a:lnTo>
                <a:close/>
              </a:path>
            </a:pathLst>
          </a:custGeom>
          <a:solidFill>
            <a:srgbClr val="2F7C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2952000"/>
            <a:ext cx="7560309" cy="90170"/>
          </a:xfrm>
          <a:custGeom>
            <a:avLst/>
            <a:gdLst/>
            <a:ahLst/>
            <a:cxnLst/>
            <a:rect l="l" t="t" r="r" b="b"/>
            <a:pathLst>
              <a:path w="7560309" h="90169">
                <a:moveTo>
                  <a:pt x="7560000" y="0"/>
                </a:moveTo>
                <a:lnTo>
                  <a:pt x="0" y="0"/>
                </a:lnTo>
                <a:lnTo>
                  <a:pt x="0" y="89999"/>
                </a:lnTo>
                <a:lnTo>
                  <a:pt x="7560000" y="89999"/>
                </a:lnTo>
                <a:lnTo>
                  <a:pt x="7560000" y="0"/>
                </a:lnTo>
                <a:close/>
              </a:path>
            </a:pathLst>
          </a:custGeom>
          <a:solidFill>
            <a:srgbClr val="7ED8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9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9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9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B79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414020"/>
          </a:xfrm>
          <a:custGeom>
            <a:avLst/>
            <a:gdLst/>
            <a:ahLst/>
            <a:cxnLst/>
            <a:rect l="l" t="t" r="r" b="b"/>
            <a:pathLst>
              <a:path w="7560309" h="414020">
                <a:moveTo>
                  <a:pt x="7560000" y="0"/>
                </a:moveTo>
                <a:lnTo>
                  <a:pt x="0" y="0"/>
                </a:lnTo>
                <a:lnTo>
                  <a:pt x="0" y="414000"/>
                </a:lnTo>
                <a:lnTo>
                  <a:pt x="7560000" y="414000"/>
                </a:lnTo>
                <a:lnTo>
                  <a:pt x="7560000" y="0"/>
                </a:lnTo>
                <a:close/>
              </a:path>
            </a:pathLst>
          </a:custGeom>
          <a:solidFill>
            <a:srgbClr val="2F7C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299" y="798232"/>
            <a:ext cx="3332479" cy="1179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05330" y="10245324"/>
            <a:ext cx="386079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B797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dirty="0" spc="-10"/>
              <a:t>FarmAssist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500" b="0">
                <a:solidFill>
                  <a:srgbClr val="7ED889"/>
                </a:solidFill>
                <a:latin typeface="Arial MT"/>
                <a:cs typeface="Arial MT"/>
              </a:rPr>
              <a:t>Sophie</a:t>
            </a:r>
            <a:r>
              <a:rPr dirty="0" sz="1500" spc="355" b="0">
                <a:solidFill>
                  <a:srgbClr val="7ED889"/>
                </a:solidFill>
                <a:latin typeface="Arial MT"/>
                <a:cs typeface="Arial MT"/>
              </a:rPr>
              <a:t> </a:t>
            </a:r>
            <a:r>
              <a:rPr dirty="0" sz="1500" b="0">
                <a:solidFill>
                  <a:srgbClr val="7ED889"/>
                </a:solidFill>
                <a:latin typeface="Arial MT"/>
                <a:cs typeface="Arial MT"/>
              </a:rPr>
              <a:t>•</a:t>
            </a:r>
            <a:r>
              <a:rPr dirty="0" sz="1500" spc="360" b="0">
                <a:solidFill>
                  <a:srgbClr val="7ED889"/>
                </a:solidFill>
                <a:latin typeface="Arial MT"/>
                <a:cs typeface="Arial MT"/>
              </a:rPr>
              <a:t> </a:t>
            </a:r>
            <a:r>
              <a:rPr dirty="0" sz="1500" b="0">
                <a:solidFill>
                  <a:srgbClr val="7ED889"/>
                </a:solidFill>
                <a:latin typeface="Arial MT"/>
                <a:cs typeface="Arial MT"/>
              </a:rPr>
              <a:t>your</a:t>
            </a:r>
            <a:r>
              <a:rPr dirty="0" sz="1500" spc="-25" b="0">
                <a:solidFill>
                  <a:srgbClr val="7ED889"/>
                </a:solidFill>
                <a:latin typeface="Arial MT"/>
                <a:cs typeface="Arial MT"/>
              </a:rPr>
              <a:t> </a:t>
            </a:r>
            <a:r>
              <a:rPr dirty="0" sz="1500" b="0">
                <a:solidFill>
                  <a:srgbClr val="7ED889"/>
                </a:solidFill>
                <a:latin typeface="Arial MT"/>
                <a:cs typeface="Arial MT"/>
              </a:rPr>
              <a:t>digital</a:t>
            </a:r>
            <a:r>
              <a:rPr dirty="0" sz="1500" spc="-25" b="0">
                <a:solidFill>
                  <a:srgbClr val="7ED889"/>
                </a:solidFill>
                <a:latin typeface="Arial MT"/>
                <a:cs typeface="Arial MT"/>
              </a:rPr>
              <a:t> </a:t>
            </a:r>
            <a:r>
              <a:rPr dirty="0" sz="1500" b="0">
                <a:solidFill>
                  <a:srgbClr val="7ED889"/>
                </a:solidFill>
                <a:latin typeface="Arial MT"/>
                <a:cs typeface="Arial MT"/>
              </a:rPr>
              <a:t>agriculture</a:t>
            </a:r>
            <a:r>
              <a:rPr dirty="0" sz="1500" spc="-30" b="0">
                <a:solidFill>
                  <a:srgbClr val="7ED889"/>
                </a:solidFill>
                <a:latin typeface="Arial MT"/>
                <a:cs typeface="Arial MT"/>
              </a:rPr>
              <a:t> </a:t>
            </a:r>
            <a:r>
              <a:rPr dirty="0" sz="1500" spc="-10" b="0">
                <a:solidFill>
                  <a:srgbClr val="7ED889"/>
                </a:solidFill>
                <a:latin typeface="Arial MT"/>
                <a:cs typeface="Arial MT"/>
              </a:rPr>
              <a:t>officer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299" y="2229950"/>
            <a:ext cx="34423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0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algorithm-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dirty="0" sz="10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agricultural</a:t>
            </a:r>
            <a:r>
              <a:rPr dirty="0" sz="10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knowledge</a:t>
            </a:r>
            <a:r>
              <a:rPr dirty="0" sz="10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search</a:t>
            </a:r>
            <a:r>
              <a:rPr dirty="0" sz="10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system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999" y="9612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 h="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635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07299" y="9701000"/>
            <a:ext cx="2562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977"/>
                </a:solidFill>
                <a:latin typeface="Arial MT"/>
                <a:cs typeface="Arial MT"/>
              </a:rPr>
              <a:t>Department of Computer Science</a:t>
            </a:r>
            <a:r>
              <a:rPr dirty="0" sz="900" spc="25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B7977"/>
                </a:solidFill>
                <a:latin typeface="Arial MT"/>
                <a:cs typeface="Arial MT"/>
              </a:rPr>
              <a:t>•</a:t>
            </a:r>
            <a:r>
              <a:rPr dirty="0" sz="900" spc="25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6B7977"/>
                </a:solidFill>
                <a:latin typeface="Arial MT"/>
                <a:cs typeface="Arial MT"/>
              </a:rPr>
              <a:t>KL </a:t>
            </a:r>
            <a:r>
              <a:rPr dirty="0" sz="900" spc="-10">
                <a:solidFill>
                  <a:srgbClr val="6B7977"/>
                </a:solidFill>
                <a:latin typeface="Arial MT"/>
                <a:cs typeface="Arial MT"/>
              </a:rPr>
              <a:t>University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6528" y="9701000"/>
            <a:ext cx="1626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977"/>
                </a:solidFill>
                <a:latin typeface="Arial MT"/>
                <a:cs typeface="Arial MT"/>
              </a:rPr>
              <a:t>Data Structures &amp; Algorithms </a:t>
            </a:r>
            <a:r>
              <a:rPr dirty="0" sz="900" spc="-25">
                <a:solidFill>
                  <a:srgbClr val="6B7977"/>
                </a:solidFill>
                <a:latin typeface="Arial MT"/>
                <a:cs typeface="Arial MT"/>
              </a:rPr>
              <a:t>III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499" y="4343200"/>
            <a:ext cx="5848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2A3634"/>
                </a:solidFill>
                <a:latin typeface="Arial"/>
                <a:cs typeface="Arial"/>
              </a:rPr>
              <a:t>Team</a:t>
            </a:r>
            <a:r>
              <a:rPr dirty="0" sz="1100" spc="-30" b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2A3634"/>
                </a:solidFill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92389" y="4606090"/>
          <a:ext cx="4764405" cy="109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8045"/>
                <a:gridCol w="2541905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830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Registration</a:t>
                      </a:r>
                      <a:r>
                        <a:rPr dirty="0" sz="8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number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Nimma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Lokesh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Reddy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0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2520030366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Ramagiri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Rishik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Rao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830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2520030333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Manne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Yashwanth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Manoj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0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2520030369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83499" y="5908380"/>
            <a:ext cx="599376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22800"/>
              </a:lnSpc>
              <a:spcBef>
                <a:spcPts val="10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Course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project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for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DSA-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3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(25CS2103E).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system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answers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farming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questions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about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crops,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diseases,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pests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7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fertilizers.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There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machine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learning</a:t>
            </a:r>
            <a:r>
              <a:rPr dirty="0" sz="950" spc="7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network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call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anywhere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in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it:</a:t>
            </a:r>
            <a:r>
              <a:rPr dirty="0" sz="950" spc="7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every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answer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produced</a:t>
            </a:r>
            <a:r>
              <a:rPr dirty="0" sz="950" spc="7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by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eight classical algorithms running over a local agricultural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database.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160150"/>
            <a:ext cx="11315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FarmAssist</a:t>
            </a:r>
            <a:r>
              <a:rPr dirty="0" sz="850" spc="2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850" spc="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Sophie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1622" y="160150"/>
            <a:ext cx="16116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DSA-3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(25CS2103E)</a:t>
            </a:r>
            <a:r>
              <a:rPr dirty="0" sz="8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8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999" y="10206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 h="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635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3499" y="747500"/>
            <a:ext cx="5993765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23520" algn="l"/>
              </a:tabLst>
            </a:pP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Overview</a:t>
            </a:r>
            <a:endParaRPr sz="1500">
              <a:latin typeface="Arial"/>
              <a:cs typeface="Arial"/>
            </a:endParaRPr>
          </a:p>
          <a:p>
            <a:pPr algn="just" marL="12700" marR="5080">
              <a:lnSpc>
                <a:spcPct val="122800"/>
              </a:lnSpc>
              <a:spcBef>
                <a:spcPts val="64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FarmAssist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console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assistant,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named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Sophie,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that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farmer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talks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in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plain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language.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question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such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as </a:t>
            </a:r>
            <a:r>
              <a:rPr dirty="0" sz="950" i="1">
                <a:solidFill>
                  <a:srgbClr val="2A3634"/>
                </a:solidFill>
                <a:latin typeface="Arial"/>
                <a:cs typeface="Arial"/>
              </a:rPr>
              <a:t>"my</a:t>
            </a:r>
            <a:r>
              <a:rPr dirty="0" sz="950" spc="-15" i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A3634"/>
                </a:solidFill>
                <a:latin typeface="Arial"/>
                <a:cs typeface="Arial"/>
              </a:rPr>
              <a:t>tomatoe</a:t>
            </a:r>
            <a:r>
              <a:rPr dirty="0" sz="950" spc="-10" i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A3634"/>
                </a:solidFill>
                <a:latin typeface="Arial"/>
                <a:cs typeface="Arial"/>
              </a:rPr>
              <a:t>has</a:t>
            </a:r>
            <a:r>
              <a:rPr dirty="0" sz="950" spc="-10" i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A3634"/>
                </a:solidFill>
                <a:latin typeface="Arial"/>
                <a:cs typeface="Arial"/>
              </a:rPr>
              <a:t>yelow</a:t>
            </a:r>
            <a:r>
              <a:rPr dirty="0" sz="950" spc="-10" i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 i="1">
                <a:solidFill>
                  <a:srgbClr val="2A3634"/>
                </a:solidFill>
                <a:latin typeface="Arial"/>
                <a:cs typeface="Arial"/>
              </a:rPr>
              <a:t>leaves"</a:t>
            </a:r>
            <a:r>
              <a:rPr dirty="0" sz="950" spc="-10" i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corrected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for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spelling,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expanded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through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table</a:t>
            </a:r>
            <a:r>
              <a:rPr dirty="0" sz="950" spc="-1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local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crop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names,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scanned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for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every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crop,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disease,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pest,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symptom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fertilizer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mentions,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routed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whichever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feature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can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answer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it,</a:t>
            </a:r>
            <a:r>
              <a:rPr dirty="0" sz="950" spc="2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and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answered from the local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database.</a:t>
            </a:r>
            <a:endParaRPr sz="950">
              <a:latin typeface="Arial MT"/>
              <a:cs typeface="Arial MT"/>
            </a:endParaRPr>
          </a:p>
          <a:p>
            <a:pPr algn="just" marL="12700" marR="5080">
              <a:lnSpc>
                <a:spcPct val="122800"/>
              </a:lnSpc>
              <a:spcBef>
                <a:spcPts val="70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0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point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project</a:t>
            </a:r>
            <a:r>
              <a:rPr dirty="0" sz="950" spc="10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that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intelligence</a:t>
            </a:r>
            <a:r>
              <a:rPr dirty="0" sz="950" spc="10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algorithmic,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not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statistical.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Nothing</a:t>
            </a:r>
            <a:r>
              <a:rPr dirty="0" sz="950" spc="10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delegated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10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0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A3634"/>
                </a:solidFill>
                <a:latin typeface="Arial MT"/>
                <a:cs typeface="Arial MT"/>
              </a:rPr>
              <a:t>Java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library: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there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String.contains()</a:t>
            </a:r>
            <a:r>
              <a:rPr dirty="0" sz="950" spc="-5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Collections.sort()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.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String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search,</a:t>
            </a:r>
            <a:r>
              <a:rPr dirty="0" sz="950" spc="2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spelling</a:t>
            </a:r>
            <a:r>
              <a:rPr dirty="0" sz="950" spc="2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repair,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ranking,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budgeting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assignment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are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each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implemented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from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first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principles,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program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prints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114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A3634"/>
                </a:solidFill>
                <a:latin typeface="Arial MT"/>
                <a:cs typeface="Arial MT"/>
              </a:rPr>
              <a:t>live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trace</a:t>
            </a:r>
            <a:r>
              <a:rPr dirty="0" sz="950" spc="-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 which algorithm ran at every</a:t>
            </a:r>
            <a:r>
              <a:rPr dirty="0" sz="950" spc="-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step so the usage is visible</a:t>
            </a:r>
            <a:r>
              <a:rPr dirty="0" sz="950" spc="-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while it is being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demonstrated.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950">
              <a:latin typeface="Arial MT"/>
              <a:cs typeface="Arial MT"/>
            </a:endParaRPr>
          </a:p>
          <a:p>
            <a:pPr marL="223520" indent="-210820">
              <a:lnSpc>
                <a:spcPct val="100000"/>
              </a:lnSpc>
              <a:buAutoNum type="arabicPeriod" startAt="2"/>
              <a:tabLst>
                <a:tab pos="223520" algn="l"/>
              </a:tabLst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The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system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at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a</a:t>
            </a:r>
            <a:r>
              <a:rPr dirty="0" sz="1500" spc="-1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glance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92389" y="3156690"/>
          <a:ext cx="6060440" cy="1638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635"/>
                <a:gridCol w="869950"/>
                <a:gridCol w="1832610"/>
                <a:gridCol w="2001520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Knowledge</a:t>
                      </a:r>
                      <a:r>
                        <a:rPr dirty="0" sz="8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base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Derived</a:t>
                      </a:r>
                      <a:r>
                        <a:rPr dirty="0" sz="85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index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Crops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63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index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271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documents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Diseases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Spelling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dictionary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974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words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Pests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44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trie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285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names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Fertilizers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38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Local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name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synonyms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396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Articles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95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Symptom</a:t>
                      </a:r>
                      <a:r>
                        <a:rPr dirty="0" sz="850" spc="-4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keywords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76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83499" y="4932420"/>
            <a:ext cx="5993765" cy="30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 search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index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larger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than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article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count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because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profile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document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generated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for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every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crop,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disease,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pest</a:t>
            </a:r>
            <a:r>
              <a:rPr dirty="0" sz="800" spc="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and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fertilizer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record</a:t>
            </a:r>
            <a:r>
              <a:rPr dirty="0" sz="800" spc="-3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and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indexed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alongside</a:t>
            </a:r>
            <a:r>
              <a:rPr dirty="0" sz="800" spc="-3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62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hand</a:t>
            </a:r>
            <a:r>
              <a:rPr dirty="0" sz="800" spc="-3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written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articles.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92389" y="5390890"/>
          <a:ext cx="6060440" cy="191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/>
                <a:gridCol w="1202689"/>
                <a:gridCol w="3924935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Package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Lines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Java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Responsibility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algo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691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eight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algorithms,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pure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free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logic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engine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1530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Loading,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spelling,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entity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extraction,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routing,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diagnosis,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planning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ui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1735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chat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loop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screen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draws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126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Disease,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Pest,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util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98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algorithm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trace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4180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30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source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files,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libraries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build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tool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83499" y="7496550"/>
            <a:ext cx="5993765" cy="69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3.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Where</a:t>
            </a:r>
            <a:r>
              <a:rPr dirty="0" sz="1500" spc="-1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each</a:t>
            </a:r>
            <a:r>
              <a:rPr dirty="0" sz="1500" spc="-1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algorithm</a:t>
            </a:r>
            <a:r>
              <a:rPr dirty="0" sz="1500" spc="-1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is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used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64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Every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one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eight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load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bearing.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None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them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present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only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satisfy</a:t>
            </a:r>
            <a:r>
              <a:rPr dirty="0" sz="950" spc="8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brief;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removing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any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one</a:t>
            </a:r>
            <a:r>
              <a:rPr dirty="0" sz="950" spc="8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of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them removes a feature the farmer can </a:t>
            </a:r>
            <a:r>
              <a:rPr dirty="0" sz="950" spc="-20">
                <a:solidFill>
                  <a:srgbClr val="2A3634"/>
                </a:solidFill>
                <a:latin typeface="Arial MT"/>
                <a:cs typeface="Arial MT"/>
              </a:rPr>
              <a:t>see.</a:t>
            </a:r>
            <a:endParaRPr sz="95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92389" y="8292840"/>
          <a:ext cx="6060440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085"/>
                <a:gridCol w="1035050"/>
                <a:gridCol w="4641850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Algorithm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Where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8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8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KMP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 marR="16129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Exact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matching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symptom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damage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keyword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inside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disease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pest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locating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precise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position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term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inside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document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so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snippet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cut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around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Rabin-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Karp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38455" marR="30480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Rolling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hash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scan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271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indexed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documents,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counting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often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term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occurs;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counts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become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relevance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score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160150"/>
            <a:ext cx="11315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FarmAssist</a:t>
            </a:r>
            <a:r>
              <a:rPr dirty="0" sz="850" spc="2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850" spc="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Sophie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1622" y="160150"/>
            <a:ext cx="16116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DSA-3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(25CS2103E)</a:t>
            </a:r>
            <a:r>
              <a:rPr dirty="0" sz="8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8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999" y="10206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 h="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635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2389" y="756390"/>
          <a:ext cx="6060440" cy="278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085"/>
                <a:gridCol w="1207770"/>
                <a:gridCol w="4469765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Algorithm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Where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8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8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Aho-Corasick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23876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One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pass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question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detects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every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disease,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pest,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symptom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once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against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285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patterns;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second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automaton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rewrites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local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names,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so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paddy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becomes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bhindi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becomes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okra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Edit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Distance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6370" marR="10541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Spelling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repair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(tomatoe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tomato),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tolerating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typos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greetings,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"closest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thing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have"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fallback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finds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nothing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Suffix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Array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LCP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 marR="17399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Related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reading: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similarity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measured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longest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common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substring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between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two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bodies,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built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Kasai's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algorithm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0/1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Knapsack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6370" marR="274955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best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basket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inside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stated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budget,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where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weight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score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value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Bipartite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Matching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Giving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each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several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different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Kuhn's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augmenting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path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method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44323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Randomized QuickSort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Ranking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results,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candidate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diseases,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candidate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pests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related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articles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783499" y="3663469"/>
            <a:ext cx="5993765" cy="30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7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ninth</a:t>
            </a:r>
            <a:r>
              <a:rPr dirty="0" sz="800" spc="8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helper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sits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beside</a:t>
            </a:r>
            <a:r>
              <a:rPr dirty="0" sz="800" spc="8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them: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word</a:t>
            </a:r>
            <a:r>
              <a:rPr dirty="0" sz="800" spc="8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segmentation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dynamic</a:t>
            </a:r>
            <a:r>
              <a:rPr dirty="0" sz="800" spc="8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program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that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splits</a:t>
            </a:r>
            <a:r>
              <a:rPr dirty="0" sz="800" spc="8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joined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words,</a:t>
            </a:r>
            <a:r>
              <a:rPr dirty="0" sz="800" spc="8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turning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Courier New"/>
                <a:cs typeface="Courier New"/>
              </a:rPr>
              <a:t>lateblight</a:t>
            </a:r>
            <a:r>
              <a:rPr dirty="0" sz="800" spc="-155">
                <a:solidFill>
                  <a:srgbClr val="6B7977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into</a:t>
            </a:r>
            <a:r>
              <a:rPr dirty="0" sz="800" spc="9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6B7977"/>
                </a:solidFill>
                <a:latin typeface="Courier New"/>
                <a:cs typeface="Courier New"/>
              </a:rPr>
              <a:t>late </a:t>
            </a:r>
            <a:r>
              <a:rPr dirty="0" sz="800">
                <a:solidFill>
                  <a:srgbClr val="6B7977"/>
                </a:solidFill>
                <a:latin typeface="Courier New"/>
                <a:cs typeface="Courier New"/>
              </a:rPr>
              <a:t>blight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.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deliberately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not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counted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among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eight,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because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Edit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Distance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genuinely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cannot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repair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missing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space.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499" y="4163849"/>
            <a:ext cx="12642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4. 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Complexity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92389" y="4515639"/>
          <a:ext cx="6060440" cy="2457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8910"/>
                <a:gridCol w="2883535"/>
                <a:gridCol w="1654175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Algorithm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Time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Space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KMP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O(m)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Rabin-</a:t>
                      </a:r>
                      <a:r>
                        <a:rPr dirty="0" sz="850" spc="-2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Karp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m)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expected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O(1)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Aho-Corasick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z),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total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length,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matches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O(M)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Edit</a:t>
                      </a:r>
                      <a:r>
                        <a:rPr dirty="0" sz="850" spc="-2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m)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word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pair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850" spc="-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Suffix</a:t>
                      </a:r>
                      <a:r>
                        <a:rPr dirty="0" sz="850" spc="-25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Array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log^2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n)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build,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O(n)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LCP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Kasai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0/1</a:t>
                      </a:r>
                      <a:r>
                        <a:rPr dirty="0" sz="850" spc="-15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Knapsack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O(items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budget)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O(items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budget)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Bipartite</a:t>
                      </a:r>
                      <a:r>
                        <a:rPr dirty="0" sz="850" spc="-35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Matching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O(V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O(V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E)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Randomized</a:t>
                      </a:r>
                      <a:r>
                        <a:rPr dirty="0" sz="850" spc="-55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QuickSort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log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n)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expected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O(log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n)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stack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160150"/>
            <a:ext cx="11315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FarmAssist</a:t>
            </a:r>
            <a:r>
              <a:rPr dirty="0" sz="850" spc="2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850" spc="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Sophie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1622" y="160150"/>
            <a:ext cx="16116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DSA-3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(25CS2103E)</a:t>
            </a:r>
            <a:r>
              <a:rPr dirty="0" sz="8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8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999" y="10206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 h="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635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3499" y="747500"/>
            <a:ext cx="3413760" cy="60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5.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The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pipeline</a:t>
            </a:r>
            <a:r>
              <a:rPr dirty="0" sz="1500" spc="-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every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question</a:t>
            </a:r>
            <a:r>
              <a:rPr dirty="0" sz="1500" spc="-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travels</a:t>
            </a:r>
            <a:endParaRPr sz="1500">
              <a:latin typeface="Arial"/>
              <a:cs typeface="Arial"/>
            </a:endParaRPr>
          </a:p>
          <a:p>
            <a:pPr marL="128270">
              <a:lnSpc>
                <a:spcPct val="100000"/>
              </a:lnSpc>
              <a:spcBef>
                <a:spcPts val="9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farmer's</a:t>
            </a:r>
            <a:r>
              <a:rPr dirty="0" sz="750" spc="4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question</a:t>
            </a:r>
            <a:endParaRPr sz="750">
              <a:latin typeface="Courier New"/>
              <a:cs typeface="Courier New"/>
            </a:endParaRPr>
          </a:p>
          <a:p>
            <a:pPr marL="475615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2347378" y="1334239"/>
            <a:ext cx="280606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"hi",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"how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are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you",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"thanks"</a:t>
            </a:r>
            <a:r>
              <a:rPr dirty="0" sz="750" spc="49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-&gt;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reply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and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stop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7264" y="1328143"/>
            <a:ext cx="1126490" cy="10007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243840" algn="l"/>
              </a:tabLst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Small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talk</a:t>
            </a:r>
            <a:endParaRPr sz="750">
              <a:latin typeface="Courier New"/>
              <a:cs typeface="Courier New"/>
            </a:endParaRPr>
          </a:p>
          <a:p>
            <a:pPr marL="30226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243840" indent="-231140">
              <a:lnSpc>
                <a:spcPct val="100000"/>
              </a:lnSpc>
              <a:spcBef>
                <a:spcPts val="60"/>
              </a:spcBef>
              <a:buAutoNum type="arabicPeriod"/>
              <a:tabLst>
                <a:tab pos="243840" algn="l"/>
              </a:tabLst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Edit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Distance</a:t>
            </a:r>
            <a:endParaRPr sz="75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+</a:t>
            </a:r>
            <a:r>
              <a:rPr dirty="0" sz="750" spc="1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word</a:t>
            </a:r>
            <a:r>
              <a:rPr dirty="0" sz="750" spc="1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splitter</a:t>
            </a:r>
            <a:endParaRPr sz="750">
              <a:latin typeface="Courier New"/>
              <a:cs typeface="Courier New"/>
            </a:endParaRPr>
          </a:p>
          <a:p>
            <a:pPr marL="30226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1b.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Aho-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Corasick</a:t>
            </a:r>
            <a:endParaRPr sz="750">
              <a:latin typeface="Courier New"/>
              <a:cs typeface="Courier New"/>
            </a:endParaRPr>
          </a:p>
          <a:p>
            <a:pPr marL="30226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243840" indent="-231140">
              <a:lnSpc>
                <a:spcPct val="100000"/>
              </a:lnSpc>
              <a:spcBef>
                <a:spcPts val="60"/>
              </a:spcBef>
              <a:buAutoNum type="arabicPeriod" startAt="2"/>
              <a:tabLst>
                <a:tab pos="243840" algn="l"/>
              </a:tabLst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Aho-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Corasick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7378" y="1571984"/>
            <a:ext cx="11842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95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repair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the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spelling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unstick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joined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words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7378" y="1943839"/>
            <a:ext cx="2689860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synonym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rewrite: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paddy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/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dhan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/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chawal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-&gt;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rice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7378" y="2181584"/>
            <a:ext cx="28060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95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detect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every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crop,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disease,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pest,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fertilizer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A3634"/>
                </a:solidFill>
                <a:latin typeface="Courier New"/>
                <a:cs typeface="Courier New"/>
              </a:rPr>
              <a:t>and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symptom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in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ONE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pass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over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the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question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7264" y="2425424"/>
            <a:ext cx="1068070" cy="3911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02260">
              <a:lnSpc>
                <a:spcPct val="100000"/>
              </a:lnSpc>
              <a:spcBef>
                <a:spcPts val="155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3.</a:t>
            </a:r>
            <a:r>
              <a:rPr dirty="0" sz="750" spc="48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Intent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routing</a:t>
            </a:r>
            <a:endParaRPr sz="750">
              <a:latin typeface="Courier New"/>
              <a:cs typeface="Courier New"/>
            </a:endParaRPr>
          </a:p>
          <a:p>
            <a:pPr marL="30226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7378" y="2553439"/>
            <a:ext cx="164782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decide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which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feature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answers</a:t>
            </a:r>
            <a:endParaRPr sz="750">
              <a:latin typeface="Courier New"/>
              <a:cs typeface="Courier New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64449" y="2826145"/>
          <a:ext cx="4947285" cy="961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875"/>
                <a:gridCol w="839469"/>
                <a:gridCol w="955040"/>
                <a:gridCol w="925830"/>
                <a:gridCol w="983615"/>
                <a:gridCol w="638810"/>
              </a:tblGrid>
              <a:tr h="121920">
                <a:tc gridSpan="6">
                  <a:txBody>
                    <a:bodyPr/>
                    <a:lstStyle/>
                    <a:p>
                      <a:pPr marL="205104">
                        <a:lnSpc>
                          <a:spcPts val="785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+----------+--------------+--------------+-----------------------------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5570">
                <a:tc>
                  <a:txBody>
                    <a:bodyPr/>
                    <a:lstStyle/>
                    <a:p>
                      <a:pPr algn="ctr" marR="46990">
                        <a:lnSpc>
                          <a:spcPts val="785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7160">
                        <a:lnSpc>
                          <a:spcPts val="785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4945">
                        <a:lnSpc>
                          <a:spcPts val="785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785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071245">
                        <a:lnSpc>
                          <a:spcPts val="785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1920">
                <a:tc>
                  <a:txBody>
                    <a:bodyPr/>
                    <a:lstStyle/>
                    <a:p>
                      <a:pPr algn="ctr" marR="46990">
                        <a:lnSpc>
                          <a:spcPts val="83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budget?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many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crops?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3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symptoms?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575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two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crops?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72390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anything</a:t>
                      </a:r>
                      <a:r>
                        <a:rPr dirty="0" sz="750" spc="4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5570">
                <a:tc>
                  <a:txBody>
                    <a:bodyPr/>
                    <a:lstStyle/>
                    <a:p>
                      <a:pPr algn="ctr" marR="46990">
                        <a:lnSpc>
                          <a:spcPts val="81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7160">
                        <a:lnSpc>
                          <a:spcPts val="81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4945">
                        <a:lnSpc>
                          <a:spcPts val="81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1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071245">
                        <a:lnSpc>
                          <a:spcPts val="81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1920">
                <a:tc gridSpan="6">
                  <a:txBody>
                    <a:bodyPr/>
                    <a:lstStyle/>
                    <a:p>
                      <a:pPr marL="31750">
                        <a:lnSpc>
                          <a:spcPts val="860"/>
                        </a:lnSpc>
                        <a:tabLst>
                          <a:tab pos="2463800" algn="l"/>
                          <a:tab pos="3506470" algn="l"/>
                        </a:tabLst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6.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Knapsack</a:t>
                      </a:r>
                      <a:r>
                        <a:rPr dirty="0" sz="750" spc="49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Bipartite</a:t>
                      </a:r>
                      <a:r>
                        <a:rPr dirty="0" sz="750" spc="49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KMP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over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	side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by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side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	2.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Rabin-Karp</a:t>
                      </a:r>
                      <a:r>
                        <a:rPr dirty="0" sz="750" spc="49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(score)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7635">
                <a:tc gridSpan="2">
                  <a:txBody>
                    <a:bodyPr/>
                    <a:lstStyle/>
                    <a:p>
                      <a:pPr marL="784225">
                        <a:lnSpc>
                          <a:spcPts val="785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Matching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785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symptom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785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comparison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785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KMP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785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(snippet)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155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81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damage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lists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81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8.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QuickSort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81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(rank)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21285">
                <a:tc gridSpan="6">
                  <a:txBody>
                    <a:bodyPr/>
                    <a:lstStyle/>
                    <a:p>
                      <a:pPr marL="1595120">
                        <a:lnSpc>
                          <a:spcPts val="860"/>
                        </a:lnSpc>
                        <a:tabLst>
                          <a:tab pos="3448685" algn="l"/>
                        </a:tabLst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8.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QuickSort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	5.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Suffix</a:t>
                      </a:r>
                      <a:r>
                        <a:rPr dirty="0" sz="750" spc="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Array+LCP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783499" y="3792960"/>
            <a:ext cx="5993765" cy="30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Routing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only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place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where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features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meet.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Each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branch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below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it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independent,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which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why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new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feature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costs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one</a:t>
            </a:r>
            <a:r>
              <a:rPr dirty="0" sz="800" spc="-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intent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and</a:t>
            </a:r>
            <a:r>
              <a:rPr dirty="0" sz="800" spc="-3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one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screen.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3499" y="4293339"/>
            <a:ext cx="248158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6.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What</a:t>
            </a:r>
            <a:r>
              <a:rPr dirty="0" sz="1500" spc="-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Sophie</a:t>
            </a:r>
            <a:r>
              <a:rPr dirty="0" sz="1500" spc="-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can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 answer</a:t>
            </a:r>
            <a:endParaRPr sz="15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92389" y="4645130"/>
          <a:ext cx="6060440" cy="302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9739"/>
                <a:gridCol w="2250440"/>
                <a:gridCol w="1995804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Intent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Example</a:t>
                      </a:r>
                      <a:r>
                        <a:rPr dirty="0" sz="85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question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Driven</a:t>
                      </a:r>
                      <a:r>
                        <a:rPr dirty="0" sz="85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by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CROP_INFO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grow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lookup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article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DISEASE_DIAGNOSIS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my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tomato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yellow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leaves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KMP,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QuickSort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FERTILIZER_BUDGET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suggest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tomato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under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3000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0/1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Knapsack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CROP_FERTILIZER_MATCH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match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cotton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banana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Bipartite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Matching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CROP_PLANNER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which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rainfall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 marR="304800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Rainfall,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temperature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water filter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CROP_COMPARE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compare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wheat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Side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side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table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PEST_INFO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stem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borer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lookup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FERTILIZER_INFO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dap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lookup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GENERAL_SEARCH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anything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else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 marR="107314">
                        <a:lnSpc>
                          <a:spcPct val="112700"/>
                        </a:lnSpc>
                        <a:spcBef>
                          <a:spcPts val="37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Rabin-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Karp,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KMP,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QuickSort,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Suffix Array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4699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783499" y="7862040"/>
            <a:ext cx="5993765" cy="1846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7.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The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terminal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interface</a:t>
            </a:r>
            <a:endParaRPr sz="1500">
              <a:latin typeface="Arial"/>
              <a:cs typeface="Arial"/>
            </a:endParaRPr>
          </a:p>
          <a:p>
            <a:pPr algn="just" marL="12700" marR="5080">
              <a:lnSpc>
                <a:spcPct val="122800"/>
              </a:lnSpc>
              <a:spcBef>
                <a:spcPts val="64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4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whole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screen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drawn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through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single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class,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ui/Theme.java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,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which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owns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one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78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column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grid.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Panels,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tables,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headings,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cards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rules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are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all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measured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against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that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grid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share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one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left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margin,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so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screen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can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drift</a:t>
            </a:r>
            <a:r>
              <a:rPr dirty="0" sz="950" spc="12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out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alignment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with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another.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Padding</a:t>
            </a:r>
            <a:r>
              <a:rPr dirty="0" sz="950" spc="12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measured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in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visible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columns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rather</a:t>
            </a:r>
            <a:r>
              <a:rPr dirty="0" sz="950" spc="12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than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bytes,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which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1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A3634"/>
                </a:solidFill>
                <a:latin typeface="Arial MT"/>
                <a:cs typeface="Arial MT"/>
              </a:rPr>
              <a:t>what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keeps a coloured cell from collapsing its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column.</a:t>
            </a:r>
            <a:endParaRPr sz="950">
              <a:latin typeface="Arial MT"/>
              <a:cs typeface="Arial MT"/>
            </a:endParaRPr>
          </a:p>
          <a:p>
            <a:pPr algn="just" marL="12700" marR="5080">
              <a:lnSpc>
                <a:spcPct val="122800"/>
              </a:lnSpc>
              <a:spcBef>
                <a:spcPts val="70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Colour</a:t>
            </a:r>
            <a:r>
              <a:rPr dirty="0" sz="950" spc="2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24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bit,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with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automatic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fall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back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classic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16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plain</a:t>
            </a:r>
            <a:r>
              <a:rPr dirty="0" sz="950" spc="2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text;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every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box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drawing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character</a:t>
            </a:r>
            <a:r>
              <a:rPr dirty="0" sz="950" spc="3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has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ASCII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twin.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Both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are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detected</a:t>
            </a:r>
            <a:r>
              <a:rPr dirty="0" sz="950" spc="6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at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start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up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can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be</a:t>
            </a:r>
            <a:r>
              <a:rPr dirty="0" sz="950" spc="6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overridden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from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chat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with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color</a:t>
            </a:r>
            <a:r>
              <a:rPr dirty="0" sz="950" spc="6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basic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,</a:t>
            </a:r>
            <a:r>
              <a:rPr dirty="0" sz="950" spc="6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Courier New"/>
                <a:cs typeface="Courier New"/>
              </a:rPr>
              <a:t>color </a:t>
            </a:r>
            <a:r>
              <a:rPr dirty="0" sz="950" spc="-100">
                <a:solidFill>
                  <a:srgbClr val="2A3634"/>
                </a:solidFill>
                <a:latin typeface="Courier New"/>
                <a:cs typeface="Courier New"/>
              </a:rPr>
              <a:t>off</a:t>
            </a:r>
            <a:r>
              <a:rPr dirty="0" sz="950" spc="-4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or</a:t>
            </a:r>
            <a:r>
              <a:rPr dirty="0" sz="950" spc="-6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ascii</a:t>
            </a:r>
            <a:r>
              <a:rPr dirty="0" sz="950" spc="-14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2A3634"/>
                </a:solidFill>
                <a:latin typeface="Courier New"/>
                <a:cs typeface="Courier New"/>
              </a:rPr>
              <a:t>on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.</a:t>
            </a:r>
            <a:r>
              <a:rPr dirty="0" sz="950" spc="-1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transcripts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below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are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program's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own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ASCII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no-colour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output,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so</a:t>
            </a:r>
            <a:r>
              <a:rPr dirty="0" sz="950" spc="1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they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are</a:t>
            </a:r>
            <a:r>
              <a:rPr dirty="0" sz="950" spc="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exactly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what a plain console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shows.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160150"/>
            <a:ext cx="11315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FarmAssist</a:t>
            </a:r>
            <a:r>
              <a:rPr dirty="0" sz="850" spc="2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850" spc="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Sophie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1622" y="160150"/>
            <a:ext cx="16116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DSA-3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(25CS2103E)</a:t>
            </a:r>
            <a:r>
              <a:rPr dirty="0" sz="8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8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999" y="10206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 h="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635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6199" y="760200"/>
            <a:ext cx="5976620" cy="2153920"/>
          </a:xfrm>
          <a:custGeom>
            <a:avLst/>
            <a:gdLst/>
            <a:ahLst/>
            <a:cxnLst/>
            <a:rect l="l" t="t" r="r" b="b"/>
            <a:pathLst>
              <a:path w="5976620" h="2153920">
                <a:moveTo>
                  <a:pt x="5976000" y="0"/>
                </a:moveTo>
                <a:lnTo>
                  <a:pt x="0" y="0"/>
                </a:lnTo>
                <a:lnTo>
                  <a:pt x="0" y="2153920"/>
                </a:lnTo>
                <a:lnTo>
                  <a:pt x="5976000" y="2153920"/>
                </a:lnTo>
                <a:lnTo>
                  <a:pt x="59760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5721" y="849099"/>
            <a:ext cx="4485640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+---------------------------------------------------------------------------</a:t>
            </a: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+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7128" y="1092939"/>
            <a:ext cx="662940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</a:t>
            </a:r>
            <a:r>
              <a:rPr dirty="0" sz="750" spc="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</a:t>
            </a:r>
            <a:r>
              <a:rPr dirty="0" sz="750" spc="1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</a:t>
            </a:r>
            <a:r>
              <a:rPr dirty="0" sz="750" spc="1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H</a:t>
            </a:r>
            <a:r>
              <a:rPr dirty="0" sz="750" spc="1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</a:t>
            </a:r>
            <a:r>
              <a:rPr dirty="0" sz="750" spc="1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5721" y="964924"/>
            <a:ext cx="83820" cy="51308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4542" y="1336780"/>
            <a:ext cx="2748280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FarmAssist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.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your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digital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agriculture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officer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7750" y="964924"/>
            <a:ext cx="83820" cy="51308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5721" y="1458699"/>
            <a:ext cx="4485640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+---------------------------------------------------------------------------</a:t>
            </a: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+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750">
              <a:latin typeface="Courier New"/>
              <a:cs typeface="Courier New"/>
            </a:endParaRPr>
          </a:p>
          <a:p>
            <a:pPr marL="70485">
              <a:lnSpc>
                <a:spcPct val="1000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loading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the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knowledge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base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A3634"/>
                </a:solidFill>
                <a:latin typeface="Courier New"/>
                <a:cs typeface="Courier New"/>
              </a:rPr>
              <a:t>...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KNOWLEDGE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BASE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53085" y="2028333"/>
            <a:ext cx="3475354" cy="0"/>
          </a:xfrm>
          <a:custGeom>
            <a:avLst/>
            <a:gdLst/>
            <a:ahLst/>
            <a:cxnLst/>
            <a:rect l="l" t="t" r="r" b="b"/>
            <a:pathLst>
              <a:path w="3475354" h="0">
                <a:moveTo>
                  <a:pt x="0" y="0"/>
                </a:moveTo>
                <a:lnTo>
                  <a:pt x="3475285" y="0"/>
                </a:lnTo>
              </a:path>
            </a:pathLst>
          </a:custGeom>
          <a:ln w="5694">
            <a:solidFill>
              <a:srgbClr val="293533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94592" y="2219085"/>
          <a:ext cx="3673475" cy="69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"/>
                <a:gridCol w="810895"/>
                <a:gridCol w="521334"/>
                <a:gridCol w="1274445"/>
                <a:gridCol w="842644"/>
              </a:tblGrid>
              <a:tr h="115570">
                <a:tc>
                  <a:txBody>
                    <a:bodyPr/>
                    <a:lstStyle/>
                    <a:p>
                      <a:pPr algn="ctr" marR="18415">
                        <a:lnSpc>
                          <a:spcPts val="785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*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785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Crops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785"/>
                        </a:lnSpc>
                      </a:pP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ts val="785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search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index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785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271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documents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285">
                <a:tc>
                  <a:txBody>
                    <a:bodyPr/>
                    <a:lstStyle/>
                    <a:p>
                      <a:pPr algn="ctr" marR="18415">
                        <a:lnSpc>
                          <a:spcPts val="83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!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Diseases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30"/>
                        </a:lnSpc>
                      </a:pP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spell</a:t>
                      </a:r>
                      <a:r>
                        <a:rPr dirty="0" sz="750" spc="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dictionary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974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words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algn="ctr" marR="18415">
                        <a:lnSpc>
                          <a:spcPts val="83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%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Pests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30"/>
                        </a:lnSpc>
                      </a:pP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44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pattern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trie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285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names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285">
                <a:tc>
                  <a:txBody>
                    <a:bodyPr/>
                    <a:lstStyle/>
                    <a:p>
                      <a:pPr algn="ctr" marR="18415">
                        <a:lnSpc>
                          <a:spcPts val="830"/>
                        </a:lnSpc>
                      </a:pP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Fertilizers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30"/>
                        </a:lnSpc>
                      </a:pP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38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local</a:t>
                      </a:r>
                      <a:r>
                        <a:rPr dirty="0" sz="750" spc="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names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396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synonyms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marR="18415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Articles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830"/>
                        </a:lnSpc>
                      </a:pP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crop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facts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63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profiles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96199" y="760200"/>
            <a:ext cx="5976620" cy="2153920"/>
          </a:xfrm>
          <a:custGeom>
            <a:avLst/>
            <a:gdLst/>
            <a:ahLst/>
            <a:cxnLst/>
            <a:rect l="l" t="t" r="r" b="b"/>
            <a:pathLst>
              <a:path w="5976620" h="2153920">
                <a:moveTo>
                  <a:pt x="0" y="0"/>
                </a:moveTo>
                <a:lnTo>
                  <a:pt x="5976000" y="0"/>
                </a:lnTo>
              </a:path>
              <a:path w="5976620" h="2153920">
                <a:moveTo>
                  <a:pt x="0" y="2153920"/>
                </a:moveTo>
                <a:lnTo>
                  <a:pt x="5976000" y="2153920"/>
                </a:lnTo>
              </a:path>
              <a:path w="5976620" h="2153920">
                <a:moveTo>
                  <a:pt x="0" y="2153920"/>
                </a:moveTo>
                <a:lnTo>
                  <a:pt x="0" y="0"/>
                </a:lnTo>
              </a:path>
              <a:path w="5976620" h="2153920">
                <a:moveTo>
                  <a:pt x="5976000" y="2153920"/>
                </a:moveTo>
                <a:lnTo>
                  <a:pt x="5976000" y="0"/>
                </a:lnTo>
              </a:path>
            </a:pathLst>
          </a:custGeom>
          <a:ln w="762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6199" y="3244319"/>
            <a:ext cx="5976620" cy="1788160"/>
          </a:xfrm>
          <a:custGeom>
            <a:avLst/>
            <a:gdLst/>
            <a:ahLst/>
            <a:cxnLst/>
            <a:rect l="l" t="t" r="r" b="b"/>
            <a:pathLst>
              <a:path w="5976620" h="1788160">
                <a:moveTo>
                  <a:pt x="5976000" y="0"/>
                </a:moveTo>
                <a:lnTo>
                  <a:pt x="0" y="0"/>
                </a:lnTo>
                <a:lnTo>
                  <a:pt x="0" y="1788160"/>
                </a:lnTo>
                <a:lnTo>
                  <a:pt x="5976000" y="1788160"/>
                </a:lnTo>
                <a:lnTo>
                  <a:pt x="5976000" y="0"/>
                </a:lnTo>
                <a:close/>
              </a:path>
            </a:pathLst>
          </a:custGeom>
          <a:solidFill>
            <a:srgbClr val="F2F6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83499" y="2939519"/>
            <a:ext cx="4657725" cy="779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Start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up: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masthead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and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what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was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loaded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into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memory.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8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*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Sophie</a:t>
            </a:r>
            <a:r>
              <a:rPr dirty="0" sz="750" spc="49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The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best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basket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for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tomato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within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Rs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3000: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750">
              <a:latin typeface="Courier New"/>
              <a:cs typeface="Courier New"/>
            </a:endParaRPr>
          </a:p>
          <a:p>
            <a:pPr marL="184785">
              <a:lnSpc>
                <a:spcPct val="1000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+-</a:t>
            </a:r>
            <a:r>
              <a:rPr dirty="0" sz="750" spc="11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FERTILIZER</a:t>
            </a:r>
            <a:r>
              <a:rPr dirty="0" sz="750" spc="114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PLAN</a:t>
            </a:r>
            <a:r>
              <a:rPr dirty="0" sz="750" spc="114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---------------------------------------------------------</a:t>
            </a: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+</a:t>
            </a:r>
            <a:endParaRPr sz="75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36671" y="3727845"/>
          <a:ext cx="4599940" cy="10826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4085"/>
                <a:gridCol w="927100"/>
                <a:gridCol w="724535"/>
                <a:gridCol w="669289"/>
              </a:tblGrid>
              <a:tr h="109220">
                <a:tc>
                  <a:txBody>
                    <a:bodyPr/>
                    <a:lstStyle/>
                    <a:p>
                      <a:pPr marL="31750">
                        <a:lnSpc>
                          <a:spcPts val="76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FERTILIZER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760"/>
                        </a:lnSpc>
                      </a:pP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NPK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760"/>
                        </a:lnSpc>
                      </a:pP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COST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76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BENEFIT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920">
                <a:tc gridSpan="4">
                  <a:txBody>
                    <a:bodyPr/>
                    <a:lstStyle/>
                    <a:p>
                      <a:pPr marL="31750">
                        <a:lnSpc>
                          <a:spcPts val="86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+---------------------------------------------------------------------------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7635">
                <a:tc>
                  <a:txBody>
                    <a:bodyPr/>
                    <a:lstStyle/>
                    <a:p>
                      <a:pPr marL="31750">
                        <a:lnSpc>
                          <a:spcPts val="88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NPK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10-26-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8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10-26-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8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1200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8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80/100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285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Farmyard</a:t>
                      </a:r>
                      <a:r>
                        <a:rPr dirty="0" sz="750" spc="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Manure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1-1-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250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60/100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Vermicompost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1-1-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400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65/100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Micronutrient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Mixture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0-0-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500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48/100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285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Liquid</a:t>
                      </a:r>
                      <a:r>
                        <a:rPr dirty="0" sz="750" spc="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Biofertilizer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2-1-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350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54/100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pPr marL="317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Phosphate</a:t>
                      </a:r>
                      <a:r>
                        <a:rPr dirty="0" sz="750" spc="4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Solubilising</a:t>
                      </a:r>
                      <a:r>
                        <a:rPr dirty="0" sz="750" spc="3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Bacteria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0-1-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170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3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53/100</a:t>
                      </a:r>
                      <a:r>
                        <a:rPr dirty="0" sz="750" spc="3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  <a:tr h="115570">
                <a:tc>
                  <a:txBody>
                    <a:bodyPr/>
                    <a:lstStyle/>
                    <a:p>
                      <a:pPr marL="31750">
                        <a:lnSpc>
                          <a:spcPts val="81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r>
                        <a:rPr dirty="0" sz="750" spc="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TOTAL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81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Rs</a:t>
                      </a:r>
                      <a:r>
                        <a:rPr dirty="0" sz="750" spc="1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2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2870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10"/>
                        </a:lnSpc>
                      </a:pPr>
                      <a:r>
                        <a:rPr dirty="0" sz="7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366</a:t>
                      </a:r>
                      <a:r>
                        <a:rPr dirty="0" sz="750" spc="15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50" spc="-50">
                          <a:solidFill>
                            <a:srgbClr val="2A3634"/>
                          </a:solidFill>
                          <a:latin typeface="Courier New"/>
                          <a:cs typeface="Courier New"/>
                        </a:rPr>
                        <a:t>|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796199" y="3244319"/>
            <a:ext cx="5976620" cy="1788160"/>
          </a:xfrm>
          <a:custGeom>
            <a:avLst/>
            <a:gdLst/>
            <a:ahLst/>
            <a:cxnLst/>
            <a:rect l="l" t="t" r="r" b="b"/>
            <a:pathLst>
              <a:path w="5976620" h="1788160">
                <a:moveTo>
                  <a:pt x="0" y="0"/>
                </a:moveTo>
                <a:lnTo>
                  <a:pt x="5976000" y="0"/>
                </a:lnTo>
              </a:path>
              <a:path w="5976620" h="1788160">
                <a:moveTo>
                  <a:pt x="0" y="1788160"/>
                </a:moveTo>
                <a:lnTo>
                  <a:pt x="5976000" y="1788160"/>
                </a:lnTo>
              </a:path>
              <a:path w="5976620" h="1788160">
                <a:moveTo>
                  <a:pt x="0" y="1788160"/>
                </a:moveTo>
                <a:lnTo>
                  <a:pt x="0" y="0"/>
                </a:lnTo>
              </a:path>
              <a:path w="5976620" h="1788160">
                <a:moveTo>
                  <a:pt x="5976000" y="1788160"/>
                </a:moveTo>
                <a:lnTo>
                  <a:pt x="5976000" y="0"/>
                </a:lnTo>
              </a:path>
            </a:pathLst>
          </a:custGeom>
          <a:ln w="762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83499" y="4796259"/>
            <a:ext cx="465772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4785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+---------------------------------------------------------------------------</a:t>
            </a:r>
            <a:r>
              <a:rPr dirty="0" sz="750" spc="-50">
                <a:solidFill>
                  <a:srgbClr val="2A3634"/>
                </a:solidFill>
                <a:latin typeface="Courier New"/>
                <a:cs typeface="Courier New"/>
              </a:rPr>
              <a:t>+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0/1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Knapsack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choosing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best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basket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of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fertilizer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inside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budget.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6199" y="5362680"/>
            <a:ext cx="5976620" cy="2397760"/>
            <a:chOff x="796199" y="5362680"/>
            <a:chExt cx="5976620" cy="2397760"/>
          </a:xfrm>
        </p:grpSpPr>
        <p:sp>
          <p:nvSpPr>
            <p:cNvPr id="21" name="object 21"/>
            <p:cNvSpPr/>
            <p:nvPr/>
          </p:nvSpPr>
          <p:spPr>
            <a:xfrm>
              <a:off x="796199" y="5362680"/>
              <a:ext cx="5976620" cy="2397760"/>
            </a:xfrm>
            <a:custGeom>
              <a:avLst/>
              <a:gdLst/>
              <a:ahLst/>
              <a:cxnLst/>
              <a:rect l="l" t="t" r="r" b="b"/>
              <a:pathLst>
                <a:path w="5976620" h="2397759">
                  <a:moveTo>
                    <a:pt x="5976000" y="0"/>
                  </a:moveTo>
                  <a:lnTo>
                    <a:pt x="0" y="0"/>
                  </a:lnTo>
                  <a:lnTo>
                    <a:pt x="0" y="2397760"/>
                  </a:lnTo>
                  <a:lnTo>
                    <a:pt x="5976000" y="2397760"/>
                  </a:lnTo>
                  <a:lnTo>
                    <a:pt x="5976000" y="0"/>
                  </a:lnTo>
                  <a:close/>
                </a:path>
              </a:pathLst>
            </a:custGeom>
            <a:solidFill>
              <a:srgbClr val="F2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00614" y="5777372"/>
              <a:ext cx="3128010" cy="0"/>
            </a:xfrm>
            <a:custGeom>
              <a:avLst/>
              <a:gdLst/>
              <a:ahLst/>
              <a:cxnLst/>
              <a:rect l="l" t="t" r="r" b="b"/>
              <a:pathLst>
                <a:path w="3128010" h="0">
                  <a:moveTo>
                    <a:pt x="0" y="0"/>
                  </a:moveTo>
                  <a:lnTo>
                    <a:pt x="3127757" y="0"/>
                  </a:lnTo>
                </a:path>
              </a:pathLst>
            </a:custGeom>
            <a:ln w="5694">
              <a:solidFill>
                <a:srgbClr val="293533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68421" y="5451580"/>
            <a:ext cx="4298950" cy="629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*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Sophie</a:t>
            </a:r>
            <a:r>
              <a:rPr dirty="0" sz="750" spc="50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Walking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your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field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with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yellow,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brown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spot,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spot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on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tomato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A3634"/>
                </a:solidFill>
                <a:latin typeface="Courier New"/>
                <a:cs typeface="Courier New"/>
              </a:rPr>
              <a:t>...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|</a:t>
            </a:r>
            <a:r>
              <a:rPr dirty="0" sz="750" spc="1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WHAT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IS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LIKELY</a:t>
            </a:r>
            <a:r>
              <a:rPr dirty="0" sz="750" spc="2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WRONG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750">
              <a:latin typeface="Courier New"/>
              <a:cs typeface="Courier New"/>
            </a:endParaRPr>
          </a:p>
          <a:p>
            <a:pPr marL="57785">
              <a:lnSpc>
                <a:spcPct val="1000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1</a:t>
            </a:r>
            <a:r>
              <a:rPr dirty="0" sz="750" spc="47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EARLY</a:t>
            </a:r>
            <a:r>
              <a:rPr dirty="0" sz="750" spc="1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BLIGHT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00107" y="6055083"/>
            <a:ext cx="53403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62865">
              <a:lnSpc>
                <a:spcPct val="106700"/>
              </a:lnSpc>
              <a:spcBef>
                <a:spcPts val="95"/>
              </a:spcBef>
            </a:pP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attacks symptoms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750">
              <a:latin typeface="Courier New"/>
              <a:cs typeface="Courier New"/>
            </a:endParaRPr>
          </a:p>
          <a:p>
            <a:pPr marR="5080">
              <a:lnSpc>
                <a:spcPct val="106700"/>
              </a:lnSpc>
            </a:pP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matched treatment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95164" y="5933163"/>
            <a:ext cx="3314700" cy="87884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795145">
              <a:lnSpc>
                <a:spcPct val="100000"/>
              </a:lnSpc>
              <a:spcBef>
                <a:spcPts val="155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##########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score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A3634"/>
                </a:solidFill>
                <a:latin typeface="Courier New"/>
                <a:cs typeface="Courier New"/>
              </a:rPr>
              <a:t>18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tomato,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potato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-&gt;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includes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your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crop</a:t>
            </a:r>
            <a:endParaRPr sz="750">
              <a:latin typeface="Courier New"/>
              <a:cs typeface="Courier New"/>
            </a:endParaRPr>
          </a:p>
          <a:p>
            <a:pPr marR="5080">
              <a:lnSpc>
                <a:spcPct val="1067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concentric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rings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on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leaves,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brown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spots,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yellowing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around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the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spots,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leaf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drop,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target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board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pattern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yellow,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brown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spot,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spot</a:t>
            </a:r>
            <a:endParaRPr sz="750">
              <a:latin typeface="Courier New"/>
              <a:cs typeface="Courier New"/>
            </a:endParaRPr>
          </a:p>
          <a:p>
            <a:pPr marR="5080">
              <a:lnSpc>
                <a:spcPct val="1067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Spray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mancozeb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0.25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percent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every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ten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days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and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remove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A3634"/>
                </a:solidFill>
                <a:latin typeface="Courier New"/>
                <a:cs typeface="Courier New"/>
              </a:rPr>
              <a:t>the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lower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infected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leaves.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0728" y="6914619"/>
            <a:ext cx="1171575" cy="1416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########..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score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A3634"/>
                </a:solidFill>
                <a:latin typeface="Courier New"/>
                <a:cs typeface="Courier New"/>
              </a:rPr>
              <a:t>14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6342" y="6908524"/>
            <a:ext cx="765810" cy="6350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2</a:t>
            </a:r>
            <a:r>
              <a:rPr dirty="0" sz="750" spc="47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BROWN</a:t>
            </a:r>
            <a:r>
              <a:rPr dirty="0" sz="750" spc="1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SPOT</a:t>
            </a:r>
            <a:endParaRPr sz="750">
              <a:latin typeface="Courier New"/>
              <a:cs typeface="Courier New"/>
            </a:endParaRPr>
          </a:p>
          <a:p>
            <a:pPr marL="173355" marR="62865">
              <a:lnSpc>
                <a:spcPct val="106700"/>
              </a:lnSpc>
            </a:pP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attacks symptoms matched treatment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95164" y="7030443"/>
            <a:ext cx="3256915" cy="63500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rice</a:t>
            </a:r>
            <a:endParaRPr sz="750">
              <a:latin typeface="Courier New"/>
              <a:cs typeface="Courier New"/>
            </a:endParaRPr>
          </a:p>
          <a:p>
            <a:pPr marR="5080">
              <a:lnSpc>
                <a:spcPct val="1067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brown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oval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spots,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dark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brown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lesions,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weak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grain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filling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spot</a:t>
            </a:r>
            <a:endParaRPr sz="750">
              <a:latin typeface="Courier New"/>
              <a:cs typeface="Courier New"/>
            </a:endParaRPr>
          </a:p>
          <a:p>
            <a:pPr marR="62865">
              <a:lnSpc>
                <a:spcPct val="106700"/>
              </a:lnSpc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Apply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mancozeb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0.25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percent.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Correct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potassium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and</a:t>
            </a:r>
            <a:r>
              <a:rPr dirty="0" sz="750" spc="3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zinc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deficiency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in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the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A3634"/>
                </a:solidFill>
                <a:latin typeface="Courier New"/>
                <a:cs typeface="Courier New"/>
              </a:rPr>
              <a:t>soil.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6199" y="5362680"/>
            <a:ext cx="5976620" cy="2397760"/>
          </a:xfrm>
          <a:custGeom>
            <a:avLst/>
            <a:gdLst/>
            <a:ahLst/>
            <a:cxnLst/>
            <a:rect l="l" t="t" r="r" b="b"/>
            <a:pathLst>
              <a:path w="5976620" h="2397759">
                <a:moveTo>
                  <a:pt x="0" y="0"/>
                </a:moveTo>
                <a:lnTo>
                  <a:pt x="5976000" y="0"/>
                </a:lnTo>
              </a:path>
              <a:path w="5976620" h="2397759">
                <a:moveTo>
                  <a:pt x="0" y="2397760"/>
                </a:moveTo>
                <a:lnTo>
                  <a:pt x="5976000" y="2397760"/>
                </a:lnTo>
              </a:path>
              <a:path w="5976620" h="2397759">
                <a:moveTo>
                  <a:pt x="0" y="2397760"/>
                </a:moveTo>
                <a:lnTo>
                  <a:pt x="0" y="0"/>
                </a:lnTo>
              </a:path>
              <a:path w="5976620" h="2397759">
                <a:moveTo>
                  <a:pt x="5976000" y="2397760"/>
                </a:moveTo>
                <a:lnTo>
                  <a:pt x="5976000" y="0"/>
                </a:lnTo>
              </a:path>
            </a:pathLst>
          </a:custGeom>
          <a:ln w="762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83499" y="7785840"/>
            <a:ext cx="5993765" cy="1033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Diagnosis: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candidates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ranked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by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QuickSort,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each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scored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by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KMP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6B7977"/>
                </a:solidFill>
                <a:latin typeface="Arial MT"/>
                <a:cs typeface="Arial MT"/>
              </a:rPr>
              <a:t>matches.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8.</a:t>
            </a:r>
            <a:r>
              <a:rPr dirty="0" sz="1500" spc="-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Data</a:t>
            </a:r>
            <a:r>
              <a:rPr dirty="0" sz="1500" spc="-15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files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22800"/>
              </a:lnSpc>
              <a:spcBef>
                <a:spcPts val="64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Every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file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uses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vertical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bar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as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its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separator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leading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hash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for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comments.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Rows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added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to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any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of</a:t>
            </a:r>
            <a:r>
              <a:rPr dirty="0" sz="950" spc="5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A3634"/>
                </a:solidFill>
                <a:latin typeface="Arial MT"/>
                <a:cs typeface="Arial MT"/>
              </a:rPr>
              <a:t>them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are picked up on the next run with no code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change.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792389" y="8925030"/>
          <a:ext cx="6060440" cy="819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780"/>
                <a:gridCol w="746759"/>
                <a:gridCol w="4194810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Rows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Contents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crops.csv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63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Season,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soil,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water,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N-P-K,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duration,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temperature,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rainfall,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spacing,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varieties,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yield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diseases.csv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Affected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crops,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symptom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phrases,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treatment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299" y="160150"/>
            <a:ext cx="113157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FarmAssist</a:t>
            </a:r>
            <a:r>
              <a:rPr dirty="0" sz="850" spc="2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850" spc="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FFFF"/>
                </a:solidFill>
                <a:latin typeface="Arial"/>
                <a:cs typeface="Arial"/>
              </a:rPr>
              <a:t>Sophie</a:t>
            </a:r>
            <a:endParaRPr sz="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41622" y="160150"/>
            <a:ext cx="161163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DSA-3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(25CS2103E)</a:t>
            </a:r>
            <a:r>
              <a:rPr dirty="0" sz="8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85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FFFFFF"/>
                </a:solidFill>
                <a:latin typeface="Arial MT"/>
                <a:cs typeface="Arial MT"/>
              </a:rPr>
              <a:t>Team</a:t>
            </a:r>
            <a:r>
              <a:rPr dirty="0" sz="85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9999" y="10206000"/>
            <a:ext cx="6120130" cy="0"/>
          </a:xfrm>
          <a:custGeom>
            <a:avLst/>
            <a:gdLst/>
            <a:ahLst/>
            <a:cxnLst/>
            <a:rect l="l" t="t" r="r" b="b"/>
            <a:pathLst>
              <a:path w="6120130" h="0">
                <a:moveTo>
                  <a:pt x="0" y="0"/>
                </a:moveTo>
                <a:lnTo>
                  <a:pt x="6120000" y="0"/>
                </a:lnTo>
              </a:path>
            </a:pathLst>
          </a:custGeom>
          <a:ln w="6350">
            <a:solidFill>
              <a:srgbClr val="D4DDD8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92389" y="756390"/>
          <a:ext cx="6060440" cy="1911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5690"/>
                <a:gridCol w="704849"/>
                <a:gridCol w="4194810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File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Rows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Contents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pests.csv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44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Affected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crops,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damage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phrases,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fertilizers.csv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38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N-P-K,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price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bag,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suited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crops,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score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articles.csv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62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searchable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documents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symptoms.csv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76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Symptom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keywords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Aho-Corasick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synonyms.csv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396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Local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Hindi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names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mapped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our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word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 b="1">
                          <a:solidFill>
                            <a:srgbClr val="2A3634"/>
                          </a:solidFill>
                          <a:latin typeface="Arial"/>
                          <a:cs typeface="Arial"/>
                        </a:rPr>
                        <a:t>smalltalk.csv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Greetings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everyday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replies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Page</a:t>
            </a:r>
            <a:r>
              <a:rPr dirty="0" spc="-40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783499" y="2862050"/>
            <a:ext cx="5993765" cy="2656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3520" indent="-21082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223520" algn="l"/>
              </a:tabLst>
            </a:pPr>
            <a:r>
              <a:rPr dirty="0" sz="1500" b="1">
                <a:solidFill>
                  <a:srgbClr val="2F7C4F"/>
                </a:solidFill>
                <a:latin typeface="Arial"/>
                <a:cs typeface="Arial"/>
              </a:rPr>
              <a:t>Running </a:t>
            </a:r>
            <a:r>
              <a:rPr dirty="0" sz="1500" spc="-25" b="1">
                <a:solidFill>
                  <a:srgbClr val="2F7C4F"/>
                </a:solidFill>
                <a:latin typeface="Arial"/>
                <a:cs typeface="Arial"/>
              </a:rPr>
              <a:t>it</a:t>
            </a:r>
            <a:endParaRPr sz="1500">
              <a:latin typeface="Arial"/>
              <a:cs typeface="Arial"/>
            </a:endParaRPr>
          </a:p>
          <a:p>
            <a:pPr algn="just" marL="12700" marR="5080">
              <a:lnSpc>
                <a:spcPct val="122800"/>
              </a:lnSpc>
              <a:spcBef>
                <a:spcPts val="640"/>
              </a:spcBef>
            </a:pPr>
            <a:r>
              <a:rPr dirty="0" sz="950" b="1">
                <a:solidFill>
                  <a:srgbClr val="2A3634"/>
                </a:solidFill>
                <a:latin typeface="Arial"/>
                <a:cs typeface="Arial"/>
              </a:rPr>
              <a:t>Double</a:t>
            </a:r>
            <a:r>
              <a:rPr dirty="0" sz="950" spc="45" b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A3634"/>
                </a:solidFill>
                <a:latin typeface="Arial"/>
                <a:cs typeface="Arial"/>
              </a:rPr>
              <a:t>click</a:t>
            </a:r>
            <a:r>
              <a:rPr dirty="0" sz="950" spc="45" b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2A3634"/>
                </a:solidFill>
                <a:latin typeface="Arial"/>
                <a:cs typeface="Arial"/>
              </a:rPr>
              <a:t>FarmAssist.bat.</a:t>
            </a:r>
            <a:r>
              <a:rPr dirty="0" sz="950" spc="45" b="1">
                <a:solidFill>
                  <a:srgbClr val="2A36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opens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own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terminal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window,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compiles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project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starts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Sophie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inside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it.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Windows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Terminal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used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when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installed,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because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it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provides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UTF-8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and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24</a:t>
            </a:r>
            <a:r>
              <a:rPr dirty="0" sz="950" spc="4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bit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colour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with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no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setup;</a:t>
            </a:r>
            <a:r>
              <a:rPr dirty="0" sz="950" spc="5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50">
                <a:solidFill>
                  <a:srgbClr val="2A3634"/>
                </a:solidFill>
                <a:latin typeface="Arial MT"/>
                <a:cs typeface="Arial MT"/>
              </a:rPr>
              <a:t>a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plain</a:t>
            </a:r>
            <a:r>
              <a:rPr dirty="0" sz="950" spc="9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console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window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used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otherwise,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widened</a:t>
            </a:r>
            <a:r>
              <a:rPr dirty="0" sz="950" spc="9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first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so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page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fits.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Either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way</a:t>
            </a:r>
            <a:r>
              <a:rPr dirty="0" sz="950" spc="90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the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console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switched</a:t>
            </a:r>
            <a:r>
              <a:rPr dirty="0" sz="950" spc="9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A3634"/>
                </a:solidFill>
                <a:latin typeface="Arial MT"/>
                <a:cs typeface="Arial MT"/>
              </a:rPr>
              <a:t>to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UTF-8</a:t>
            </a:r>
            <a:r>
              <a:rPr dirty="0" sz="950" spc="-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so the box drawing renders, and the original code page</a:t>
            </a:r>
            <a:r>
              <a:rPr dirty="0" sz="950" spc="-5">
                <a:solidFill>
                  <a:srgbClr val="2A3634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is restored on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exit.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Or by hand, from the project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folder: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javac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-encoding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UTF-8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-d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out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(every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.java</a:t>
            </a:r>
            <a:r>
              <a:rPr dirty="0" sz="750" spc="25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under</a:t>
            </a:r>
            <a:r>
              <a:rPr dirty="0" sz="750" spc="3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src)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java</a:t>
            </a:r>
            <a:r>
              <a:rPr dirty="0" sz="750" spc="40">
                <a:solidFill>
                  <a:srgbClr val="2A3634"/>
                </a:solidFill>
                <a:latin typeface="Courier New"/>
                <a:cs typeface="Courier New"/>
              </a:rPr>
              <a:t> 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-Dstdout.encoding=UTF-8</a:t>
            </a:r>
            <a:r>
              <a:rPr dirty="0" sz="750" spc="4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-cp</a:t>
            </a:r>
            <a:r>
              <a:rPr dirty="0" sz="750" spc="4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out</a:t>
            </a:r>
            <a:r>
              <a:rPr dirty="0" sz="750" spc="4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2A3634"/>
                </a:solidFill>
                <a:latin typeface="Courier New"/>
                <a:cs typeface="Courier New"/>
              </a:rPr>
              <a:t>ui.ConsoleChat</a:t>
            </a:r>
            <a:r>
              <a:rPr dirty="0" sz="750" spc="40">
                <a:solidFill>
                  <a:srgbClr val="2A3634"/>
                </a:solidFill>
                <a:latin typeface="Courier New"/>
                <a:cs typeface="Courier New"/>
              </a:rPr>
              <a:t> </a:t>
            </a:r>
            <a:r>
              <a:rPr dirty="0" sz="750" spc="-20">
                <a:solidFill>
                  <a:srgbClr val="2A3634"/>
                </a:solidFill>
                <a:latin typeface="Courier New"/>
                <a:cs typeface="Courier New"/>
              </a:rPr>
              <a:t>data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JDK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is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1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only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requirement;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project</a:t>
            </a:r>
            <a:r>
              <a:rPr dirty="0" sz="800" spc="-1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was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built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and</a:t>
            </a:r>
            <a:r>
              <a:rPr dirty="0" sz="800" spc="-15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tested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on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6B7977"/>
                </a:solidFill>
                <a:latin typeface="Arial MT"/>
                <a:cs typeface="Arial MT"/>
              </a:rPr>
              <a:t>JDK</a:t>
            </a:r>
            <a:r>
              <a:rPr dirty="0" sz="800" spc="-20">
                <a:solidFill>
                  <a:srgbClr val="6B7977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6B7977"/>
                </a:solidFill>
                <a:latin typeface="Arial MT"/>
                <a:cs typeface="Arial MT"/>
              </a:rPr>
              <a:t>25.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8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buAutoNum type="arabicPeriod" startAt="10"/>
              <a:tabLst>
                <a:tab pos="329565" algn="l"/>
              </a:tabLst>
            </a:pP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Demonstration</a:t>
            </a:r>
            <a:r>
              <a:rPr dirty="0" sz="1500" spc="20" b="1">
                <a:solidFill>
                  <a:srgbClr val="2F7C4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F7C4F"/>
                </a:solidFill>
                <a:latin typeface="Arial"/>
                <a:cs typeface="Arial"/>
              </a:rPr>
              <a:t>script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950">
                <a:solidFill>
                  <a:srgbClr val="2A3634"/>
                </a:solidFill>
                <a:latin typeface="Arial MT"/>
                <a:cs typeface="Arial MT"/>
              </a:rPr>
              <a:t>Typed in this order, this covers all eight algorithms and every </a:t>
            </a:r>
            <a:r>
              <a:rPr dirty="0" sz="950" spc="-10">
                <a:solidFill>
                  <a:srgbClr val="2A3634"/>
                </a:solidFill>
                <a:latin typeface="Arial MT"/>
                <a:cs typeface="Arial MT"/>
              </a:rPr>
              <a:t>screen.</a:t>
            </a:r>
            <a:endParaRPr sz="95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92389" y="5623079"/>
          <a:ext cx="6060440" cy="3549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00"/>
                <a:gridCol w="3435985"/>
              </a:tblGrid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this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What</a:t>
                      </a:r>
                      <a:r>
                        <a:rPr dirty="0" sz="8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85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demonstrates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9525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2F7C4F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algo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demo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All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eight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algorithms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inputs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small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enough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check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hand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hi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what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can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you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do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everyday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conversation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paddy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Synonym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rewrite,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being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searchable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my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tomatoe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yelow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leaves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brown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spots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Edit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Distance,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Aho-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Corasick,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KMP,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QuickSort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suggest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tomato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under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3000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0/1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Knapsack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match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fertilizers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cotton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banana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Bipartite</a:t>
                      </a:r>
                      <a:r>
                        <a:rPr dirty="0" sz="850" spc="-3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Matching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which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rainfall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planner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compare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wheat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Two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crops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side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side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how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grow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rice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Rabin-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Karp,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KMP,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QuickSort,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then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Suffix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Array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LCP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stem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borer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Pest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profile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trace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off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Hides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algorithm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trace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2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clean</a:t>
                      </a:r>
                      <a:r>
                        <a:rPr dirty="0" sz="850" spc="-1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screen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6350">
                      <a:solidFill>
                        <a:srgbClr val="D4DDD8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list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crops</a:t>
                      </a:r>
                      <a:r>
                        <a:rPr dirty="0" sz="850" spc="-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list</a:t>
                      </a:r>
                      <a:r>
                        <a:rPr dirty="0" sz="850" spc="-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pests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|</a:t>
                      </a:r>
                      <a:r>
                        <a:rPr dirty="0" sz="850" spc="-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list</a:t>
                      </a:r>
                      <a:r>
                        <a:rPr dirty="0" sz="850" spc="-1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diseases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L w="9525">
                      <a:solidFill>
                        <a:srgbClr val="D4DDD8"/>
                      </a:solidFill>
                      <a:prstDash val="solid"/>
                    </a:lnL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850" spc="-3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database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behind</a:t>
                      </a:r>
                      <a:r>
                        <a:rPr dirty="0" sz="850" spc="-25">
                          <a:solidFill>
                            <a:srgbClr val="2A3634"/>
                          </a:solidFill>
                          <a:latin typeface="Arial MT"/>
                          <a:cs typeface="Arial MT"/>
                        </a:rPr>
                        <a:t> it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63500">
                    <a:lnR w="9525">
                      <a:solidFill>
                        <a:srgbClr val="D4DDD8"/>
                      </a:solidFill>
                      <a:prstDash val="solid"/>
                    </a:lnR>
                    <a:lnT w="6350">
                      <a:solidFill>
                        <a:srgbClr val="D4DDD8"/>
                      </a:solidFill>
                      <a:prstDash val="solid"/>
                    </a:lnT>
                    <a:lnB w="9525">
                      <a:solidFill>
                        <a:srgbClr val="D4DDD8"/>
                      </a:solidFill>
                      <a:prstDash val="solid"/>
                    </a:lnB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20 - Nimma Lokesh Reddy, Ramagiri Rishik Rao, Manne Yashwanth Manoj</dc:creator>
  <dc:subject>DSA-3 (25CS2103E) course project</dc:subject>
  <dc:title>FarmAssist - Sophie - Project Report</dc:title>
  <dcterms:created xsi:type="dcterms:W3CDTF">2026-08-13T09:17:08Z</dcterms:created>
  <dcterms:modified xsi:type="dcterms:W3CDTF">2026-08-13T09:17:08Z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2026-08-13T00:00:00Z</vt:filetime>
  </property>
  <property fmtid="{D5CDD505-2E9C-101B-9397-08002B2CF9AE}" pid="4" name="Creator">
    <vt:lpwstr>(unspecified)</vt:lpwstr>
  </property>
  <property fmtid="{D5CDD505-2E9C-101B-9397-08002B2CF9AE}" pid="5" name="LastSaved">
    <vt:filetime>2026-08-13T00:00:00Z</vt:filetime>
  </property>
  <property fmtid="{D5CDD505-2E9C-101B-9397-08002B2CF9AE}" pid="6" name="Producer">
    <vt:lpwstr>ReportLab PDF Library - (opensource)</vt:lpwstr>
  </property>
</Properties>
</file>