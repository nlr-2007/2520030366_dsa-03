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3"/>
  </p:notesMasterIdLst>
  <p:sldIdLst>
    <p:sldId id="283" r:id="rId5"/>
    <p:sldId id="436" r:id="rId6"/>
    <p:sldId id="451" r:id="rId7"/>
    <p:sldId id="437" r:id="rId8"/>
    <p:sldId id="438" r:id="rId9"/>
    <p:sldId id="440" r:id="rId10"/>
    <p:sldId id="447" r:id="rId11"/>
    <p:sldId id="452" r:id="rId12"/>
    <p:sldId id="449" r:id="rId13"/>
    <p:sldId id="441" r:id="rId14"/>
    <p:sldId id="442" r:id="rId15"/>
    <p:sldId id="446" r:id="rId16"/>
    <p:sldId id="448" r:id="rId17"/>
    <p:sldId id="444" r:id="rId18"/>
    <p:sldId id="445" r:id="rId19"/>
    <p:sldId id="450" r:id="rId20"/>
    <p:sldId id="455" r:id="rId21"/>
    <p:sldId id="456" r:id="rId22"/>
    <p:sldId id="457" r:id="rId23"/>
    <p:sldId id="487" r:id="rId24"/>
    <p:sldId id="485" r:id="rId25"/>
    <p:sldId id="486" r:id="rId26"/>
    <p:sldId id="458" r:id="rId27"/>
    <p:sldId id="496" r:id="rId28"/>
    <p:sldId id="497" r:id="rId29"/>
    <p:sldId id="498" r:id="rId30"/>
    <p:sldId id="499" r:id="rId31"/>
    <p:sldId id="500" r:id="rId32"/>
    <p:sldId id="501" r:id="rId33"/>
    <p:sldId id="502" r:id="rId34"/>
    <p:sldId id="503" r:id="rId35"/>
    <p:sldId id="504" r:id="rId36"/>
    <p:sldId id="505" r:id="rId37"/>
    <p:sldId id="506" r:id="rId38"/>
    <p:sldId id="507" r:id="rId39"/>
    <p:sldId id="510" r:id="rId40"/>
    <p:sldId id="511" r:id="rId41"/>
    <p:sldId id="459" r:id="rId42"/>
    <p:sldId id="492" r:id="rId43"/>
    <p:sldId id="493" r:id="rId44"/>
    <p:sldId id="494" r:id="rId45"/>
    <p:sldId id="495" r:id="rId46"/>
    <p:sldId id="465" r:id="rId47"/>
    <p:sldId id="466" r:id="rId48"/>
    <p:sldId id="467" r:id="rId49"/>
    <p:sldId id="468" r:id="rId50"/>
    <p:sldId id="469" r:id="rId51"/>
    <p:sldId id="470" r:id="rId52"/>
    <p:sldId id="471" r:id="rId53"/>
    <p:sldId id="473" r:id="rId54"/>
    <p:sldId id="513" r:id="rId55"/>
    <p:sldId id="479" r:id="rId56"/>
    <p:sldId id="554" r:id="rId57"/>
    <p:sldId id="516" r:id="rId58"/>
    <p:sldId id="555" r:id="rId59"/>
    <p:sldId id="593" r:id="rId60"/>
    <p:sldId id="594" r:id="rId61"/>
    <p:sldId id="595" r:id="rId62"/>
    <p:sldId id="596" r:id="rId63"/>
    <p:sldId id="597" r:id="rId64"/>
    <p:sldId id="598" r:id="rId65"/>
    <p:sldId id="474" r:id="rId66"/>
    <p:sldId id="514" r:id="rId67"/>
    <p:sldId id="553" r:id="rId68"/>
    <p:sldId id="517" r:id="rId69"/>
    <p:sldId id="599" r:id="rId70"/>
    <p:sldId id="600" r:id="rId71"/>
    <p:sldId id="601" r:id="rId72"/>
    <p:sldId id="602" r:id="rId73"/>
    <p:sldId id="603" r:id="rId74"/>
    <p:sldId id="604" r:id="rId75"/>
    <p:sldId id="618" r:id="rId76"/>
    <p:sldId id="567" r:id="rId77"/>
    <p:sldId id="605" r:id="rId78"/>
    <p:sldId id="606" r:id="rId79"/>
    <p:sldId id="607" r:id="rId80"/>
    <p:sldId id="608" r:id="rId81"/>
    <p:sldId id="609" r:id="rId82"/>
    <p:sldId id="610" r:id="rId83"/>
    <p:sldId id="611" r:id="rId84"/>
    <p:sldId id="612" r:id="rId85"/>
    <p:sldId id="558" r:id="rId86"/>
    <p:sldId id="559" r:id="rId87"/>
    <p:sldId id="560" r:id="rId88"/>
    <p:sldId id="519" r:id="rId89"/>
    <p:sldId id="520" r:id="rId90"/>
    <p:sldId id="613" r:id="rId91"/>
    <p:sldId id="614" r:id="rId92"/>
    <p:sldId id="615" r:id="rId93"/>
    <p:sldId id="616" r:id="rId94"/>
    <p:sldId id="617" r:id="rId95"/>
    <p:sldId id="524" r:id="rId96"/>
    <p:sldId id="484" r:id="rId97"/>
    <p:sldId id="481" r:id="rId98"/>
    <p:sldId id="482" r:id="rId99"/>
    <p:sldId id="483" r:id="rId100"/>
    <p:sldId id="525" r:id="rId101"/>
    <p:sldId id="526" r:id="rId102"/>
    <p:sldId id="527" r:id="rId103"/>
    <p:sldId id="530" r:id="rId104"/>
    <p:sldId id="588" r:id="rId105"/>
    <p:sldId id="579" r:id="rId106"/>
    <p:sldId id="580" r:id="rId107"/>
    <p:sldId id="581" r:id="rId108"/>
    <p:sldId id="582" r:id="rId109"/>
    <p:sldId id="583" r:id="rId110"/>
    <p:sldId id="585" r:id="rId111"/>
    <p:sldId id="586" r:id="rId112"/>
    <p:sldId id="587" r:id="rId113"/>
    <p:sldId id="590" r:id="rId114"/>
    <p:sldId id="591" r:id="rId115"/>
    <p:sldId id="592" r:id="rId116"/>
    <p:sldId id="556" r:id="rId117"/>
    <p:sldId id="532" r:id="rId118"/>
    <p:sldId id="528" r:id="rId119"/>
    <p:sldId id="529" r:id="rId120"/>
    <p:sldId id="533" r:id="rId121"/>
    <p:sldId id="534" r:id="rId122"/>
    <p:sldId id="535" r:id="rId123"/>
    <p:sldId id="536" r:id="rId124"/>
    <p:sldId id="537" r:id="rId125"/>
    <p:sldId id="568" r:id="rId126"/>
    <p:sldId id="570" r:id="rId127"/>
    <p:sldId id="627" r:id="rId128"/>
    <p:sldId id="571" r:id="rId129"/>
    <p:sldId id="572" r:id="rId130"/>
    <p:sldId id="573" r:id="rId131"/>
    <p:sldId id="574" r:id="rId132"/>
    <p:sldId id="624" r:id="rId133"/>
    <p:sldId id="628" r:id="rId134"/>
    <p:sldId id="625" r:id="rId135"/>
    <p:sldId id="538" r:id="rId136"/>
    <p:sldId id="539" r:id="rId137"/>
    <p:sldId id="540" r:id="rId138"/>
    <p:sldId id="541" r:id="rId139"/>
    <p:sldId id="542" r:id="rId140"/>
    <p:sldId id="543" r:id="rId141"/>
    <p:sldId id="544" r:id="rId142"/>
    <p:sldId id="565" r:id="rId143"/>
    <p:sldId id="562" r:id="rId144"/>
    <p:sldId id="563" r:id="rId145"/>
    <p:sldId id="564" r:id="rId146"/>
    <p:sldId id="566" r:id="rId147"/>
    <p:sldId id="545" r:id="rId148"/>
    <p:sldId id="546" r:id="rId149"/>
    <p:sldId id="619" r:id="rId150"/>
    <p:sldId id="547" r:id="rId151"/>
    <p:sldId id="621" r:id="rId152"/>
    <p:sldId id="548" r:id="rId153"/>
    <p:sldId id="549" r:id="rId154"/>
    <p:sldId id="551" r:id="rId155"/>
    <p:sldId id="622" r:id="rId156"/>
    <p:sldId id="623" r:id="rId157"/>
    <p:sldId id="550" r:id="rId158"/>
    <p:sldId id="620" r:id="rId159"/>
    <p:sldId id="552" r:id="rId160"/>
    <p:sldId id="488" r:id="rId161"/>
    <p:sldId id="472" r:id="rId1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03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BB42BC-0D81-2AE6-FC2C-8C763F1D1C95}" v="4" dt="2022-09-22T05:50:31.546"/>
    <p1510:client id="{C62A7328-78D8-2485-5434-9EF2483BD59B}" v="9" dt="2021-05-09T16:35:37.8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548"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slide" Target="slides/slide136.xml"/><Relationship Id="rId145" Type="http://schemas.openxmlformats.org/officeDocument/2006/relationships/slide" Target="slides/slide141.xml"/><Relationship Id="rId161" Type="http://schemas.openxmlformats.org/officeDocument/2006/relationships/slide" Target="slides/slide157.xml"/><Relationship Id="rId16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slide" Target="slides/slide147.xml"/><Relationship Id="rId156" Type="http://schemas.openxmlformats.org/officeDocument/2006/relationships/slide" Target="slides/slide152.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167"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slide" Target="slides/slide15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notesMaster" Target="notesMasters/notesMaster1.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presProps" Target="presProps.xml"/><Relationship Id="rId16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viewProps" Target="viewProps.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THIMA" userId="S::2000031692@kluniversity.in::5eefd5d4-da6d-4f17-8eba-d4dbb00bc4f9" providerId="AD" clId="Web-{41BB42BC-0D81-2AE6-FC2C-8C763F1D1C95}"/>
    <pc:docChg chg="modSld">
      <pc:chgData name="MOHAMMED FATHIMA" userId="S::2000031692@kluniversity.in::5eefd5d4-da6d-4f17-8eba-d4dbb00bc4f9" providerId="AD" clId="Web-{41BB42BC-0D81-2AE6-FC2C-8C763F1D1C95}" dt="2022-09-22T05:50:31.546" v="2" actId="20577"/>
      <pc:docMkLst>
        <pc:docMk/>
      </pc:docMkLst>
      <pc:sldChg chg="modSp">
        <pc:chgData name="MOHAMMED FATHIMA" userId="S::2000031692@kluniversity.in::5eefd5d4-da6d-4f17-8eba-d4dbb00bc4f9" providerId="AD" clId="Web-{41BB42BC-0D81-2AE6-FC2C-8C763F1D1C95}" dt="2022-09-22T05:50:31.546" v="2" actId="20577"/>
        <pc:sldMkLst>
          <pc:docMk/>
          <pc:sldMk cId="1247171253" sldId="283"/>
        </pc:sldMkLst>
        <pc:spChg chg="mod">
          <ac:chgData name="MOHAMMED FATHIMA" userId="S::2000031692@kluniversity.in::5eefd5d4-da6d-4f17-8eba-d4dbb00bc4f9" providerId="AD" clId="Web-{41BB42BC-0D81-2AE6-FC2C-8C763F1D1C95}" dt="2022-09-22T05:50:25.780" v="0" actId="20577"/>
          <ac:spMkLst>
            <pc:docMk/>
            <pc:sldMk cId="1247171253" sldId="283"/>
            <ac:spMk id="2" creationId="{00000000-0000-0000-0000-000000000000}"/>
          </ac:spMkLst>
        </pc:spChg>
        <pc:spChg chg="mod">
          <ac:chgData name="MOHAMMED FATHIMA" userId="S::2000031692@kluniversity.in::5eefd5d4-da6d-4f17-8eba-d4dbb00bc4f9" providerId="AD" clId="Web-{41BB42BC-0D81-2AE6-FC2C-8C763F1D1C95}" dt="2022-09-22T05:50:31.546" v="2" actId="20577"/>
          <ac:spMkLst>
            <pc:docMk/>
            <pc:sldMk cId="1247171253" sldId="283"/>
            <ac:spMk id="3"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3AE2AA-77C2-4A12-A3AC-515B12F3EC7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D9471B99-C6F2-4DDE-AB0E-B4FBE6CCC1D7}">
      <dgm:prSet phldrT="[Text]" custT="1"/>
      <dgm:spPr>
        <a:solidFill>
          <a:schemeClr val="bg1"/>
        </a:solidFill>
        <a:ln>
          <a:solidFill>
            <a:schemeClr val="bg1"/>
          </a:solidFill>
        </a:ln>
      </dgm:spPr>
      <dgm:t>
        <a:bodyPr/>
        <a:lstStyle/>
        <a:p>
          <a:pPr algn="just">
            <a:buNone/>
          </a:pPr>
          <a:r>
            <a:rPr lang="en-IN" sz="2600" b="1" dirty="0">
              <a:solidFill>
                <a:schemeClr val="tx1"/>
              </a:solidFill>
            </a:rPr>
            <a:t>Aho-</a:t>
          </a:r>
          <a:r>
            <a:rPr lang="en-IN" sz="2600" b="1" dirty="0" err="1">
              <a:solidFill>
                <a:schemeClr val="tx1"/>
              </a:solidFill>
            </a:rPr>
            <a:t>Corasick</a:t>
          </a:r>
          <a:r>
            <a:rPr lang="en-IN" sz="2600" b="1" dirty="0">
              <a:solidFill>
                <a:schemeClr val="tx1"/>
              </a:solidFill>
            </a:rPr>
            <a:t> algorithm</a:t>
          </a:r>
          <a:r>
            <a:rPr lang="en-IN" sz="2600" dirty="0">
              <a:solidFill>
                <a:schemeClr val="tx1"/>
              </a:solidFill>
            </a:rPr>
            <a:t> is an efficient </a:t>
          </a:r>
          <a:r>
            <a:rPr lang="en-IN" sz="2600" b="1" dirty="0">
              <a:solidFill>
                <a:schemeClr val="tx1"/>
              </a:solidFill>
            </a:rPr>
            <a:t>multiple pattern matching algorithm</a:t>
          </a:r>
          <a:r>
            <a:rPr lang="en-IN" sz="2600" dirty="0">
              <a:solidFill>
                <a:schemeClr val="tx1"/>
              </a:solidFill>
            </a:rPr>
            <a:t> used to search for </a:t>
          </a:r>
          <a:r>
            <a:rPr lang="en-IN" sz="2600" b="1" dirty="0">
              <a:solidFill>
                <a:schemeClr val="tx1"/>
              </a:solidFill>
            </a:rPr>
            <a:t>many patterns simultaneously</a:t>
          </a:r>
          <a:r>
            <a:rPr lang="en-IN" sz="2600" dirty="0">
              <a:solidFill>
                <a:schemeClr val="tx1"/>
              </a:solidFill>
            </a:rPr>
            <a:t> in a text. It was developed by </a:t>
          </a:r>
          <a:r>
            <a:rPr lang="en-IN" sz="2600" b="1" dirty="0">
              <a:solidFill>
                <a:schemeClr val="tx1"/>
              </a:solidFill>
            </a:rPr>
            <a:t>Alfred V. </a:t>
          </a:r>
          <a:r>
            <a:rPr lang="en-IN" sz="2600" b="1" dirty="0" err="1">
              <a:solidFill>
                <a:schemeClr val="tx1"/>
              </a:solidFill>
            </a:rPr>
            <a:t>Aho</a:t>
          </a:r>
          <a:r>
            <a:rPr lang="en-IN" sz="2600" dirty="0">
              <a:solidFill>
                <a:schemeClr val="tx1"/>
              </a:solidFill>
            </a:rPr>
            <a:t> and </a:t>
          </a:r>
          <a:r>
            <a:rPr lang="en-IN" sz="2600" b="1" dirty="0">
              <a:solidFill>
                <a:schemeClr val="tx1"/>
              </a:solidFill>
            </a:rPr>
            <a:t>Margaret J. </a:t>
          </a:r>
          <a:r>
            <a:rPr lang="en-IN" sz="2600" b="1" dirty="0" err="1">
              <a:solidFill>
                <a:schemeClr val="tx1"/>
              </a:solidFill>
            </a:rPr>
            <a:t>Corasick</a:t>
          </a:r>
          <a:r>
            <a:rPr lang="en-IN" sz="2600" dirty="0">
              <a:solidFill>
                <a:schemeClr val="tx1"/>
              </a:solidFill>
            </a:rPr>
            <a:t> in 1975.</a:t>
          </a:r>
        </a:p>
      </dgm:t>
    </dgm:pt>
    <dgm:pt modelId="{17D9CD5E-38B8-4055-9B96-28DF11E4CD55}" type="parTrans" cxnId="{936795E1-EE38-4151-930B-0E70C6C4072D}">
      <dgm:prSet/>
      <dgm:spPr/>
      <dgm:t>
        <a:bodyPr/>
        <a:lstStyle/>
        <a:p>
          <a:endParaRPr lang="en-IN"/>
        </a:p>
      </dgm:t>
    </dgm:pt>
    <dgm:pt modelId="{0FE369A0-AEC8-484C-93A1-3A5B7D9D9525}" type="sibTrans" cxnId="{936795E1-EE38-4151-930B-0E70C6C4072D}">
      <dgm:prSet/>
      <dgm:spPr/>
      <dgm:t>
        <a:bodyPr/>
        <a:lstStyle/>
        <a:p>
          <a:endParaRPr lang="en-IN"/>
        </a:p>
      </dgm:t>
    </dgm:pt>
    <dgm:pt modelId="{5B9FBE35-CE1E-4A0B-8A7E-F64B08283836}">
      <dgm:prSet custT="1"/>
      <dgm:spPr/>
      <dgm:t>
        <a:bodyPr/>
        <a:lstStyle/>
        <a:p>
          <a:pPr algn="just">
            <a:buNone/>
          </a:pPr>
          <a:r>
            <a:rPr lang="en-IN" sz="2600" b="1" dirty="0"/>
            <a:t>Need for Aho-</a:t>
          </a:r>
          <a:r>
            <a:rPr lang="en-IN" sz="2600" b="1" dirty="0" err="1"/>
            <a:t>Corasick</a:t>
          </a:r>
          <a:r>
            <a:rPr lang="en-IN" sz="2600" b="1" dirty="0"/>
            <a:t> :</a:t>
          </a:r>
          <a:endParaRPr lang="en-IN" sz="2600" dirty="0"/>
        </a:p>
      </dgm:t>
    </dgm:pt>
    <dgm:pt modelId="{56CE0C45-6629-48C3-A0F0-678AE80D844A}" type="sibTrans" cxnId="{319F95FD-ECA8-4E11-BEE9-7F630D2F80DD}">
      <dgm:prSet/>
      <dgm:spPr/>
      <dgm:t>
        <a:bodyPr/>
        <a:lstStyle/>
        <a:p>
          <a:endParaRPr lang="en-IN"/>
        </a:p>
      </dgm:t>
    </dgm:pt>
    <dgm:pt modelId="{205E72CE-FBD1-41D9-9EBD-B01EED63E671}" type="parTrans" cxnId="{319F95FD-ECA8-4E11-BEE9-7F630D2F80DD}">
      <dgm:prSet/>
      <dgm:spPr/>
      <dgm:t>
        <a:bodyPr/>
        <a:lstStyle/>
        <a:p>
          <a:endParaRPr lang="en-IN"/>
        </a:p>
      </dgm:t>
    </dgm:pt>
    <dgm:pt modelId="{5EC02E16-AE32-4B41-AEF1-DEF0AF2E93C8}">
      <dgm:prSet custT="1"/>
      <dgm:spPr/>
      <dgm:t>
        <a:bodyPr/>
        <a:lstStyle/>
        <a:p>
          <a:pPr algn="just">
            <a:buNone/>
          </a:pPr>
          <a:r>
            <a:rPr lang="en-IN" sz="2600" dirty="0"/>
            <a:t>Instead, </a:t>
          </a:r>
          <a:r>
            <a:rPr lang="en-IN" sz="2600" b="1" dirty="0"/>
            <a:t>Aho-</a:t>
          </a:r>
          <a:r>
            <a:rPr lang="en-IN" sz="2600" b="1" dirty="0" err="1"/>
            <a:t>Corasick</a:t>
          </a:r>
          <a:r>
            <a:rPr lang="en-IN" sz="2600" b="1" dirty="0"/>
            <a:t>:</a:t>
          </a:r>
          <a:endParaRPr lang="en-IN" sz="2600" dirty="0"/>
        </a:p>
      </dgm:t>
    </dgm:pt>
    <dgm:pt modelId="{F3BDB224-EC05-4965-B982-3F932FF901F7}" type="sibTrans" cxnId="{5A9C7BEB-2364-42D1-8E62-B3BB023E8805}">
      <dgm:prSet/>
      <dgm:spPr/>
      <dgm:t>
        <a:bodyPr/>
        <a:lstStyle/>
        <a:p>
          <a:endParaRPr lang="en-IN"/>
        </a:p>
      </dgm:t>
    </dgm:pt>
    <dgm:pt modelId="{BE759E38-68EA-4AB8-9DF6-C2680B0757CF}" type="parTrans" cxnId="{5A9C7BEB-2364-42D1-8E62-B3BB023E8805}">
      <dgm:prSet/>
      <dgm:spPr/>
      <dgm:t>
        <a:bodyPr/>
        <a:lstStyle/>
        <a:p>
          <a:endParaRPr lang="en-IN"/>
        </a:p>
      </dgm:t>
    </dgm:pt>
    <dgm:pt modelId="{25861479-3B19-4EA1-B7DC-503C5590A239}">
      <dgm:prSet custT="1"/>
      <dgm:spPr/>
      <dgm:t>
        <a:bodyPr/>
        <a:lstStyle/>
        <a:p>
          <a:pPr algn="just">
            <a:buFont typeface="+mj-lt"/>
            <a:buNone/>
          </a:pPr>
          <a:r>
            <a:rPr lang="en-IN" sz="2600" b="0" dirty="0"/>
            <a:t>2. Creates Failure Links. </a:t>
          </a:r>
        </a:p>
      </dgm:t>
    </dgm:pt>
    <dgm:pt modelId="{DCA675BA-7268-4BE6-9043-303324DA5F7D}" type="sibTrans" cxnId="{11F8298D-C886-4948-A1C3-4F2BB916925D}">
      <dgm:prSet/>
      <dgm:spPr/>
      <dgm:t>
        <a:bodyPr/>
        <a:lstStyle/>
        <a:p>
          <a:endParaRPr lang="en-IN"/>
        </a:p>
      </dgm:t>
    </dgm:pt>
    <dgm:pt modelId="{ABAB4EB9-115B-4509-BA47-25FD9E0F3BEF}" type="parTrans" cxnId="{11F8298D-C886-4948-A1C3-4F2BB916925D}">
      <dgm:prSet/>
      <dgm:spPr/>
      <dgm:t>
        <a:bodyPr/>
        <a:lstStyle/>
        <a:p>
          <a:endParaRPr lang="en-IN"/>
        </a:p>
      </dgm:t>
    </dgm:pt>
    <dgm:pt modelId="{00440D9F-7A09-4957-ABC0-2E4126C657BC}">
      <dgm:prSet custT="1"/>
      <dgm:spPr/>
      <dgm:t>
        <a:bodyPr/>
        <a:lstStyle/>
        <a:p>
          <a:pPr algn="just">
            <a:buFont typeface="+mj-lt"/>
            <a:buNone/>
          </a:pPr>
          <a:r>
            <a:rPr lang="en-IN" sz="2600" b="0" dirty="0"/>
            <a:t>3. Scans the text only once. </a:t>
          </a:r>
        </a:p>
      </dgm:t>
    </dgm:pt>
    <dgm:pt modelId="{ABB7CA97-10A2-4F5D-B4E4-882A460231E2}" type="sibTrans" cxnId="{DEF37E92-B902-4EB1-B7FA-60725C670ED5}">
      <dgm:prSet/>
      <dgm:spPr/>
      <dgm:t>
        <a:bodyPr/>
        <a:lstStyle/>
        <a:p>
          <a:endParaRPr lang="en-IN"/>
        </a:p>
      </dgm:t>
    </dgm:pt>
    <dgm:pt modelId="{F76FE0A8-B2E9-4E05-84D5-8D93E706CF88}" type="parTrans" cxnId="{DEF37E92-B902-4EB1-B7FA-60725C670ED5}">
      <dgm:prSet/>
      <dgm:spPr/>
      <dgm:t>
        <a:bodyPr/>
        <a:lstStyle/>
        <a:p>
          <a:endParaRPr lang="en-IN"/>
        </a:p>
      </dgm:t>
    </dgm:pt>
    <dgm:pt modelId="{2F4136E1-3F9E-4CF2-8382-3D6BC688BABD}">
      <dgm:prSet custT="1"/>
      <dgm:spPr/>
      <dgm:t>
        <a:bodyPr/>
        <a:lstStyle/>
        <a:p>
          <a:pPr algn="just">
            <a:buFont typeface="+mj-lt"/>
            <a:buNone/>
          </a:pPr>
          <a:r>
            <a:rPr lang="en-IN" sz="2600" b="0" dirty="0"/>
            <a:t>4. Reports every occurrence of the given pattern.</a:t>
          </a:r>
        </a:p>
      </dgm:t>
    </dgm:pt>
    <dgm:pt modelId="{0D437237-CB59-4046-A7CB-8C9FEC2067D9}" type="sibTrans" cxnId="{89370D77-B4F8-4C83-98D2-FFA10CEEB9D1}">
      <dgm:prSet/>
      <dgm:spPr/>
      <dgm:t>
        <a:bodyPr/>
        <a:lstStyle/>
        <a:p>
          <a:endParaRPr lang="en-IN"/>
        </a:p>
      </dgm:t>
    </dgm:pt>
    <dgm:pt modelId="{8097F4B2-72BE-4638-97B1-DC7946B150E6}" type="parTrans" cxnId="{89370D77-B4F8-4C83-98D2-FFA10CEEB9D1}">
      <dgm:prSet/>
      <dgm:spPr/>
      <dgm:t>
        <a:bodyPr/>
        <a:lstStyle/>
        <a:p>
          <a:endParaRPr lang="en-IN"/>
        </a:p>
      </dgm:t>
    </dgm:pt>
    <dgm:pt modelId="{DC56C57B-FC66-432E-9B48-FDDC4BBCAC1B}">
      <dgm:prSet phldrT="[Text]" custT="1"/>
      <dgm:spPr/>
      <dgm:t>
        <a:bodyPr/>
        <a:lstStyle/>
        <a:p>
          <a:pPr algn="just">
            <a:buNone/>
          </a:pPr>
          <a:r>
            <a:rPr lang="en-IN" sz="2600" dirty="0"/>
            <a:t>Unlike algorithms such as KMP or Rabin-Karp that search for </a:t>
          </a:r>
          <a:r>
            <a:rPr lang="en-IN" sz="2600" b="1" dirty="0"/>
            <a:t>one pattern at a time</a:t>
          </a:r>
          <a:r>
            <a:rPr lang="en-IN" sz="2600" dirty="0"/>
            <a:t>, Aho-</a:t>
          </a:r>
          <a:r>
            <a:rPr lang="en-IN" sz="2600" dirty="0" err="1"/>
            <a:t>Corasick</a:t>
          </a:r>
          <a:r>
            <a:rPr lang="en-IN" sz="2600" dirty="0"/>
            <a:t> searches for </a:t>
          </a:r>
          <a:r>
            <a:rPr lang="en-IN" sz="2600" b="1" dirty="0"/>
            <a:t>all patterns in a single scan</a:t>
          </a:r>
          <a:r>
            <a:rPr lang="en-IN" sz="2600" dirty="0"/>
            <a:t> of the text.</a:t>
          </a:r>
        </a:p>
      </dgm:t>
    </dgm:pt>
    <dgm:pt modelId="{0933E83C-9A72-4814-AF01-1FE1BA41A21A}" type="parTrans" cxnId="{5C4A0260-D66D-4258-9D41-2BEB8F393E4F}">
      <dgm:prSet/>
      <dgm:spPr/>
      <dgm:t>
        <a:bodyPr/>
        <a:lstStyle/>
        <a:p>
          <a:endParaRPr lang="en-IN"/>
        </a:p>
      </dgm:t>
    </dgm:pt>
    <dgm:pt modelId="{F05E9CF6-0529-4F08-BBEA-F2BA2D302C52}" type="sibTrans" cxnId="{5C4A0260-D66D-4258-9D41-2BEB8F393E4F}">
      <dgm:prSet/>
      <dgm:spPr/>
      <dgm:t>
        <a:bodyPr/>
        <a:lstStyle/>
        <a:p>
          <a:endParaRPr lang="en-IN"/>
        </a:p>
      </dgm:t>
    </dgm:pt>
    <dgm:pt modelId="{D20163B3-BC21-437F-A20A-39E256D1B03A}">
      <dgm:prSet custT="1"/>
      <dgm:spPr/>
      <dgm:t>
        <a:bodyPr/>
        <a:lstStyle/>
        <a:p>
          <a:pPr algn="just">
            <a:buNone/>
          </a:pPr>
          <a:r>
            <a:rPr lang="en-IN" sz="2600" dirty="0"/>
            <a:t> Searching each pattern separately would require multiple scans of the text.</a:t>
          </a:r>
          <a:endParaRPr lang="en-IN" sz="2600" b="1" dirty="0"/>
        </a:p>
      </dgm:t>
    </dgm:pt>
    <dgm:pt modelId="{3EC5AA80-AEC4-45A5-8EFA-992EF8EB4978}" type="parTrans" cxnId="{9365EDBA-6EB8-421E-9D30-6E2399694123}">
      <dgm:prSet/>
      <dgm:spPr/>
      <dgm:t>
        <a:bodyPr/>
        <a:lstStyle/>
        <a:p>
          <a:endParaRPr lang="en-IN"/>
        </a:p>
      </dgm:t>
    </dgm:pt>
    <dgm:pt modelId="{91336339-C5AE-4A57-AD58-E61210EEF83C}" type="sibTrans" cxnId="{9365EDBA-6EB8-421E-9D30-6E2399694123}">
      <dgm:prSet/>
      <dgm:spPr/>
      <dgm:t>
        <a:bodyPr/>
        <a:lstStyle/>
        <a:p>
          <a:endParaRPr lang="en-IN"/>
        </a:p>
      </dgm:t>
    </dgm:pt>
    <dgm:pt modelId="{4537B81A-50EE-4447-8172-50BF3784D242}">
      <dgm:prSet custT="1"/>
      <dgm:spPr/>
      <dgm:t>
        <a:bodyPr/>
        <a:lstStyle/>
        <a:p>
          <a:pPr algn="just">
            <a:buNone/>
          </a:pPr>
          <a:r>
            <a:rPr lang="en-IN" sz="2600" dirty="0"/>
            <a:t>Suppose we have thousands of keywords: </a:t>
          </a:r>
          <a:r>
            <a:rPr lang="en-IN" sz="2600" b="1" dirty="0"/>
            <a:t>He , she, his, hers, hero, help….</a:t>
          </a:r>
        </a:p>
      </dgm:t>
    </dgm:pt>
    <dgm:pt modelId="{DF58D5C3-3F97-4905-8B35-D96CDA97AC8A}" type="parTrans" cxnId="{422AD941-E497-46C0-A8CD-505A9AFA62D7}">
      <dgm:prSet/>
      <dgm:spPr/>
      <dgm:t>
        <a:bodyPr/>
        <a:lstStyle/>
        <a:p>
          <a:endParaRPr lang="en-IN"/>
        </a:p>
      </dgm:t>
    </dgm:pt>
    <dgm:pt modelId="{95E69DB4-B59E-45D4-B710-F2DF0BA9F06F}" type="sibTrans" cxnId="{422AD941-E497-46C0-A8CD-505A9AFA62D7}">
      <dgm:prSet/>
      <dgm:spPr/>
      <dgm:t>
        <a:bodyPr/>
        <a:lstStyle/>
        <a:p>
          <a:endParaRPr lang="en-IN"/>
        </a:p>
      </dgm:t>
    </dgm:pt>
    <dgm:pt modelId="{D205E252-30A4-4BD4-AB34-6833F0D26442}">
      <dgm:prSet custT="1"/>
      <dgm:spPr/>
      <dgm:t>
        <a:bodyPr/>
        <a:lstStyle/>
        <a:p>
          <a:pPr algn="just">
            <a:buNone/>
          </a:pPr>
          <a:r>
            <a:rPr lang="en-IN" sz="2600" b="0" dirty="0"/>
            <a:t>1. Builds a Trie of all patterns. </a:t>
          </a:r>
        </a:p>
      </dgm:t>
    </dgm:pt>
    <dgm:pt modelId="{2FB2F4C3-0DF3-4DF9-9B0E-5D4F6C3885B5}" type="parTrans" cxnId="{49B4E674-885C-4DBF-8A2B-8BCA1797B774}">
      <dgm:prSet/>
      <dgm:spPr/>
      <dgm:t>
        <a:bodyPr/>
        <a:lstStyle/>
        <a:p>
          <a:endParaRPr lang="en-IN"/>
        </a:p>
      </dgm:t>
    </dgm:pt>
    <dgm:pt modelId="{DDEEEF38-AC35-48BF-ADF1-225D1A8A6DC8}" type="sibTrans" cxnId="{49B4E674-885C-4DBF-8A2B-8BCA1797B774}">
      <dgm:prSet/>
      <dgm:spPr/>
      <dgm:t>
        <a:bodyPr/>
        <a:lstStyle/>
        <a:p>
          <a:endParaRPr lang="en-IN"/>
        </a:p>
      </dgm:t>
    </dgm:pt>
    <dgm:pt modelId="{AC902030-AF18-41A2-8EED-C31B29433089}" type="pres">
      <dgm:prSet presAssocID="{FC3AE2AA-77C2-4A12-A3AC-515B12F3EC79}" presName="linear" presStyleCnt="0">
        <dgm:presLayoutVars>
          <dgm:animLvl val="lvl"/>
          <dgm:resizeHandles val="exact"/>
        </dgm:presLayoutVars>
      </dgm:prSet>
      <dgm:spPr/>
    </dgm:pt>
    <dgm:pt modelId="{18EE7552-DA54-468A-B597-C26CBD9C9B16}" type="pres">
      <dgm:prSet presAssocID="{D9471B99-C6F2-4DDE-AB0E-B4FBE6CCC1D7}" presName="parentText" presStyleLbl="node1" presStyleIdx="0" presStyleCnt="1">
        <dgm:presLayoutVars>
          <dgm:chMax val="0"/>
          <dgm:bulletEnabled val="1"/>
        </dgm:presLayoutVars>
      </dgm:prSet>
      <dgm:spPr/>
    </dgm:pt>
    <dgm:pt modelId="{CF5D19E1-5D59-4582-B52A-C5A0AF6F4A47}" type="pres">
      <dgm:prSet presAssocID="{D9471B99-C6F2-4DDE-AB0E-B4FBE6CCC1D7}" presName="childText" presStyleLbl="revTx" presStyleIdx="0" presStyleCnt="1" custLinFactNeighborX="-2545" custLinFactNeighborY="3826">
        <dgm:presLayoutVars>
          <dgm:bulletEnabled val="1"/>
        </dgm:presLayoutVars>
      </dgm:prSet>
      <dgm:spPr/>
    </dgm:pt>
  </dgm:ptLst>
  <dgm:cxnLst>
    <dgm:cxn modelId="{BA3E111F-D8D2-4727-91B4-77D5E321BF99}" type="presOf" srcId="{D20163B3-BC21-437F-A20A-39E256D1B03A}" destId="{CF5D19E1-5D59-4582-B52A-C5A0AF6F4A47}" srcOrd="0" destOrd="3" presId="urn:microsoft.com/office/officeart/2005/8/layout/vList2"/>
    <dgm:cxn modelId="{5C4A0260-D66D-4258-9D41-2BEB8F393E4F}" srcId="{D9471B99-C6F2-4DDE-AB0E-B4FBE6CCC1D7}" destId="{DC56C57B-FC66-432E-9B48-FDDC4BBCAC1B}" srcOrd="0" destOrd="0" parTransId="{0933E83C-9A72-4814-AF01-1FE1BA41A21A}" sibTransId="{F05E9CF6-0529-4F08-BBEA-F2BA2D302C52}"/>
    <dgm:cxn modelId="{422AD941-E497-46C0-A8CD-505A9AFA62D7}" srcId="{D9471B99-C6F2-4DDE-AB0E-B4FBE6CCC1D7}" destId="{4537B81A-50EE-4447-8172-50BF3784D242}" srcOrd="2" destOrd="0" parTransId="{DF58D5C3-3F97-4905-8B35-D96CDA97AC8A}" sibTransId="{95E69DB4-B59E-45D4-B710-F2DF0BA9F06F}"/>
    <dgm:cxn modelId="{569AB566-EF7C-49DA-B2DF-2889FB33A28E}" type="presOf" srcId="{00440D9F-7A09-4957-ABC0-2E4126C657BC}" destId="{CF5D19E1-5D59-4582-B52A-C5A0AF6F4A47}" srcOrd="0" destOrd="7" presId="urn:microsoft.com/office/officeart/2005/8/layout/vList2"/>
    <dgm:cxn modelId="{AE7FB44D-EBD5-4F08-909A-92BC8E1FE3C3}" type="presOf" srcId="{4537B81A-50EE-4447-8172-50BF3784D242}" destId="{CF5D19E1-5D59-4582-B52A-C5A0AF6F4A47}" srcOrd="0" destOrd="2" presId="urn:microsoft.com/office/officeart/2005/8/layout/vList2"/>
    <dgm:cxn modelId="{49B4E674-885C-4DBF-8A2B-8BCA1797B774}" srcId="{D9471B99-C6F2-4DDE-AB0E-B4FBE6CCC1D7}" destId="{D205E252-30A4-4BD4-AB34-6833F0D26442}" srcOrd="5" destOrd="0" parTransId="{2FB2F4C3-0DF3-4DF9-9B0E-5D4F6C3885B5}" sibTransId="{DDEEEF38-AC35-48BF-ADF1-225D1A8A6DC8}"/>
    <dgm:cxn modelId="{89370D77-B4F8-4C83-98D2-FFA10CEEB9D1}" srcId="{D9471B99-C6F2-4DDE-AB0E-B4FBE6CCC1D7}" destId="{2F4136E1-3F9E-4CF2-8382-3D6BC688BABD}" srcOrd="8" destOrd="0" parTransId="{8097F4B2-72BE-4638-97B1-DC7946B150E6}" sibTransId="{0D437237-CB59-4046-A7CB-8C9FEC2067D9}"/>
    <dgm:cxn modelId="{ADAF425A-25EF-443F-8FEF-6282A7F75554}" type="presOf" srcId="{D9471B99-C6F2-4DDE-AB0E-B4FBE6CCC1D7}" destId="{18EE7552-DA54-468A-B597-C26CBD9C9B16}" srcOrd="0" destOrd="0" presId="urn:microsoft.com/office/officeart/2005/8/layout/vList2"/>
    <dgm:cxn modelId="{67E8CE7A-7761-4192-B382-C22B15D907B0}" type="presOf" srcId="{D205E252-30A4-4BD4-AB34-6833F0D26442}" destId="{CF5D19E1-5D59-4582-B52A-C5A0AF6F4A47}" srcOrd="0" destOrd="5" presId="urn:microsoft.com/office/officeart/2005/8/layout/vList2"/>
    <dgm:cxn modelId="{11F8298D-C886-4948-A1C3-4F2BB916925D}" srcId="{D9471B99-C6F2-4DDE-AB0E-B4FBE6CCC1D7}" destId="{25861479-3B19-4EA1-B7DC-503C5590A239}" srcOrd="6" destOrd="0" parTransId="{ABAB4EB9-115B-4509-BA47-25FD9E0F3BEF}" sibTransId="{DCA675BA-7268-4BE6-9043-303324DA5F7D}"/>
    <dgm:cxn modelId="{DEF37E92-B902-4EB1-B7FA-60725C670ED5}" srcId="{D9471B99-C6F2-4DDE-AB0E-B4FBE6CCC1D7}" destId="{00440D9F-7A09-4957-ABC0-2E4126C657BC}" srcOrd="7" destOrd="0" parTransId="{F76FE0A8-B2E9-4E05-84D5-8D93E706CF88}" sibTransId="{ABB7CA97-10A2-4F5D-B4E4-882A460231E2}"/>
    <dgm:cxn modelId="{6B7F2DA4-8A7E-4EB5-9A7E-E5B57102777B}" type="presOf" srcId="{DC56C57B-FC66-432E-9B48-FDDC4BBCAC1B}" destId="{CF5D19E1-5D59-4582-B52A-C5A0AF6F4A47}" srcOrd="0" destOrd="0" presId="urn:microsoft.com/office/officeart/2005/8/layout/vList2"/>
    <dgm:cxn modelId="{6393CDB2-BE92-4422-9354-4BBBC5692AD3}" type="presOf" srcId="{5EC02E16-AE32-4B41-AEF1-DEF0AF2E93C8}" destId="{CF5D19E1-5D59-4582-B52A-C5A0AF6F4A47}" srcOrd="0" destOrd="4" presId="urn:microsoft.com/office/officeart/2005/8/layout/vList2"/>
    <dgm:cxn modelId="{9365EDBA-6EB8-421E-9D30-6E2399694123}" srcId="{D9471B99-C6F2-4DDE-AB0E-B4FBE6CCC1D7}" destId="{D20163B3-BC21-437F-A20A-39E256D1B03A}" srcOrd="3" destOrd="0" parTransId="{3EC5AA80-AEC4-45A5-8EFA-992EF8EB4978}" sibTransId="{91336339-C5AE-4A57-AD58-E61210EEF83C}"/>
    <dgm:cxn modelId="{45C8F7CA-012B-4223-980A-DEB86A6E536D}" type="presOf" srcId="{5B9FBE35-CE1E-4A0B-8A7E-F64B08283836}" destId="{CF5D19E1-5D59-4582-B52A-C5A0AF6F4A47}" srcOrd="0" destOrd="1" presId="urn:microsoft.com/office/officeart/2005/8/layout/vList2"/>
    <dgm:cxn modelId="{2579B9CC-CBA0-470B-B243-AA38558F5133}" type="presOf" srcId="{FC3AE2AA-77C2-4A12-A3AC-515B12F3EC79}" destId="{AC902030-AF18-41A2-8EED-C31B29433089}" srcOrd="0" destOrd="0" presId="urn:microsoft.com/office/officeart/2005/8/layout/vList2"/>
    <dgm:cxn modelId="{BA2C9ED4-6937-4D8D-9539-CE26D1569F29}" type="presOf" srcId="{25861479-3B19-4EA1-B7DC-503C5590A239}" destId="{CF5D19E1-5D59-4582-B52A-C5A0AF6F4A47}" srcOrd="0" destOrd="6" presId="urn:microsoft.com/office/officeart/2005/8/layout/vList2"/>
    <dgm:cxn modelId="{936795E1-EE38-4151-930B-0E70C6C4072D}" srcId="{FC3AE2AA-77C2-4A12-A3AC-515B12F3EC79}" destId="{D9471B99-C6F2-4DDE-AB0E-B4FBE6CCC1D7}" srcOrd="0" destOrd="0" parTransId="{17D9CD5E-38B8-4055-9B96-28DF11E4CD55}" sibTransId="{0FE369A0-AEC8-484C-93A1-3A5B7D9D9525}"/>
    <dgm:cxn modelId="{5A9C7BEB-2364-42D1-8E62-B3BB023E8805}" srcId="{D9471B99-C6F2-4DDE-AB0E-B4FBE6CCC1D7}" destId="{5EC02E16-AE32-4B41-AEF1-DEF0AF2E93C8}" srcOrd="4" destOrd="0" parTransId="{BE759E38-68EA-4AB8-9DF6-C2680B0757CF}" sibTransId="{F3BDB224-EC05-4965-B982-3F932FF901F7}"/>
    <dgm:cxn modelId="{54AE71EE-2130-47A3-9BC6-3EDA144AD151}" type="presOf" srcId="{2F4136E1-3F9E-4CF2-8382-3D6BC688BABD}" destId="{CF5D19E1-5D59-4582-B52A-C5A0AF6F4A47}" srcOrd="0" destOrd="8" presId="urn:microsoft.com/office/officeart/2005/8/layout/vList2"/>
    <dgm:cxn modelId="{319F95FD-ECA8-4E11-BEE9-7F630D2F80DD}" srcId="{D9471B99-C6F2-4DDE-AB0E-B4FBE6CCC1D7}" destId="{5B9FBE35-CE1E-4A0B-8A7E-F64B08283836}" srcOrd="1" destOrd="0" parTransId="{205E72CE-FBD1-41D9-9EBD-B01EED63E671}" sibTransId="{56CE0C45-6629-48C3-A0F0-678AE80D844A}"/>
    <dgm:cxn modelId="{3348920F-5784-4785-A181-2CC382348ACA}" type="presParOf" srcId="{AC902030-AF18-41A2-8EED-C31B29433089}" destId="{18EE7552-DA54-468A-B597-C26CBD9C9B16}" srcOrd="0" destOrd="0" presId="urn:microsoft.com/office/officeart/2005/8/layout/vList2"/>
    <dgm:cxn modelId="{5C13DBE9-CF75-4512-BC79-99672980E63F}" type="presParOf" srcId="{AC902030-AF18-41A2-8EED-C31B29433089}" destId="{CF5D19E1-5D59-4582-B52A-C5A0AF6F4A47}" srcOrd="1" destOrd="0" presId="urn:microsoft.com/office/officeart/2005/8/layout/vList2"/>
  </dgm:cxnLst>
  <dgm:bg/>
  <dgm:whole>
    <a:ln>
      <a:solidFill>
        <a:schemeClr val="accent1"/>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F7D1876-CD13-49C9-9D69-523F9A0327B1}"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IN"/>
        </a:p>
      </dgm:t>
    </dgm:pt>
    <dgm:pt modelId="{8EB62EAB-CB26-4BA6-939E-6A11E7720C96}">
      <dgm:prSet phldrT="[Text]" phldr="0"/>
      <dgm:spPr/>
      <dgm:t>
        <a:bodyPr/>
        <a:lstStyle/>
        <a:p>
          <a:r>
            <a:rPr lang="en-IN" dirty="0"/>
            <a:t>Step-1</a:t>
          </a:r>
        </a:p>
      </dgm:t>
    </dgm:pt>
    <dgm:pt modelId="{4274C030-0495-4F50-ACA2-2B08E0B16F43}" type="parTrans" cxnId="{0BB26C8A-E195-4D12-A795-EF50A166E366}">
      <dgm:prSet/>
      <dgm:spPr/>
      <dgm:t>
        <a:bodyPr/>
        <a:lstStyle/>
        <a:p>
          <a:endParaRPr lang="en-IN"/>
        </a:p>
      </dgm:t>
    </dgm:pt>
    <dgm:pt modelId="{586526FE-D082-42F9-A384-D0F3AAAE1AE1}" type="sibTrans" cxnId="{0BB26C8A-E195-4D12-A795-EF50A166E366}">
      <dgm:prSet/>
      <dgm:spPr/>
      <dgm:t>
        <a:bodyPr/>
        <a:lstStyle/>
        <a:p>
          <a:endParaRPr lang="en-IN"/>
        </a:p>
      </dgm:t>
    </dgm:pt>
    <dgm:pt modelId="{81997A15-8F24-4EB1-B86A-EF20E2ED7727}">
      <dgm:prSet phldrT="[Text]"/>
      <dgm:spPr/>
      <dgm:t>
        <a:bodyPr/>
        <a:lstStyle/>
        <a:p>
          <a:pPr>
            <a:buNone/>
          </a:pPr>
          <a:r>
            <a:rPr lang="en-IN" dirty="0"/>
            <a:t>Build the Trie</a:t>
          </a:r>
        </a:p>
      </dgm:t>
    </dgm:pt>
    <dgm:pt modelId="{7A59D6E2-CE20-4C26-95E7-70429F682495}" type="parTrans" cxnId="{D1B841B6-34A3-4B6C-9E8F-BDE8030652AA}">
      <dgm:prSet/>
      <dgm:spPr/>
      <dgm:t>
        <a:bodyPr/>
        <a:lstStyle/>
        <a:p>
          <a:endParaRPr lang="en-IN"/>
        </a:p>
      </dgm:t>
    </dgm:pt>
    <dgm:pt modelId="{E5F3A510-39C1-461A-B494-66FA7E2FCEF8}" type="sibTrans" cxnId="{D1B841B6-34A3-4B6C-9E8F-BDE8030652AA}">
      <dgm:prSet/>
      <dgm:spPr/>
      <dgm:t>
        <a:bodyPr/>
        <a:lstStyle/>
        <a:p>
          <a:endParaRPr lang="en-IN"/>
        </a:p>
      </dgm:t>
    </dgm:pt>
    <dgm:pt modelId="{409C2A70-FAFB-4075-9E32-E12D2034319B}">
      <dgm:prSet phldrT="[Text]"/>
      <dgm:spPr/>
      <dgm:t>
        <a:bodyPr/>
        <a:lstStyle/>
        <a:p>
          <a:r>
            <a:rPr lang="en-IN" dirty="0"/>
            <a:t>Step-2</a:t>
          </a:r>
        </a:p>
      </dgm:t>
    </dgm:pt>
    <dgm:pt modelId="{D9453179-FA96-423D-A06F-494AC7888ED9}" type="parTrans" cxnId="{35BD7693-0894-428F-81E3-5324C832A594}">
      <dgm:prSet/>
      <dgm:spPr/>
      <dgm:t>
        <a:bodyPr/>
        <a:lstStyle/>
        <a:p>
          <a:endParaRPr lang="en-IN"/>
        </a:p>
      </dgm:t>
    </dgm:pt>
    <dgm:pt modelId="{6380CE49-2D77-43EB-B241-B4BDF830523B}" type="sibTrans" cxnId="{35BD7693-0894-428F-81E3-5324C832A594}">
      <dgm:prSet/>
      <dgm:spPr/>
      <dgm:t>
        <a:bodyPr/>
        <a:lstStyle/>
        <a:p>
          <a:endParaRPr lang="en-IN"/>
        </a:p>
      </dgm:t>
    </dgm:pt>
    <dgm:pt modelId="{459D7E0F-F881-43AE-B420-AB5FE3182389}">
      <dgm:prSet phldrT="[Text]"/>
      <dgm:spPr/>
      <dgm:t>
        <a:bodyPr/>
        <a:lstStyle/>
        <a:p>
          <a:pPr>
            <a:buNone/>
          </a:pPr>
          <a:r>
            <a:rPr lang="en-IN" dirty="0"/>
            <a:t>Number every node</a:t>
          </a:r>
        </a:p>
      </dgm:t>
    </dgm:pt>
    <dgm:pt modelId="{B8A8E751-829E-43E7-8D66-9D29E39CCB0F}" type="parTrans" cxnId="{4A0D5DDE-5A0C-4950-9BBA-E35803A444E1}">
      <dgm:prSet/>
      <dgm:spPr/>
      <dgm:t>
        <a:bodyPr/>
        <a:lstStyle/>
        <a:p>
          <a:endParaRPr lang="en-IN"/>
        </a:p>
      </dgm:t>
    </dgm:pt>
    <dgm:pt modelId="{E8850CA7-1BD0-4713-895F-53C619376557}" type="sibTrans" cxnId="{4A0D5DDE-5A0C-4950-9BBA-E35803A444E1}">
      <dgm:prSet/>
      <dgm:spPr/>
      <dgm:t>
        <a:bodyPr/>
        <a:lstStyle/>
        <a:p>
          <a:endParaRPr lang="en-IN"/>
        </a:p>
      </dgm:t>
    </dgm:pt>
    <dgm:pt modelId="{B74BFBD9-31EE-408A-A149-71F82764939D}">
      <dgm:prSet phldrT="[Text]"/>
      <dgm:spPr/>
      <dgm:t>
        <a:bodyPr/>
        <a:lstStyle/>
        <a:p>
          <a:r>
            <a:rPr lang="en-IN" dirty="0"/>
            <a:t>Step-3</a:t>
          </a:r>
        </a:p>
      </dgm:t>
    </dgm:pt>
    <dgm:pt modelId="{B45B75C8-B3A1-46E1-A009-6C335962F7B3}" type="parTrans" cxnId="{5A406092-4C10-4404-B168-5C42FA15B7E6}">
      <dgm:prSet/>
      <dgm:spPr/>
      <dgm:t>
        <a:bodyPr/>
        <a:lstStyle/>
        <a:p>
          <a:endParaRPr lang="en-IN"/>
        </a:p>
      </dgm:t>
    </dgm:pt>
    <dgm:pt modelId="{7EAA2692-8B35-45A0-9FDC-75242754FFF0}" type="sibTrans" cxnId="{5A406092-4C10-4404-B168-5C42FA15B7E6}">
      <dgm:prSet/>
      <dgm:spPr/>
      <dgm:t>
        <a:bodyPr/>
        <a:lstStyle/>
        <a:p>
          <a:endParaRPr lang="en-IN"/>
        </a:p>
      </dgm:t>
    </dgm:pt>
    <dgm:pt modelId="{B5EFFB03-5744-4B73-97CA-2C5D9EDC4D62}">
      <dgm:prSet phldrT="[Text]"/>
      <dgm:spPr/>
      <dgm:t>
        <a:bodyPr/>
        <a:lstStyle/>
        <a:p>
          <a:pPr>
            <a:buNone/>
          </a:pPr>
          <a:r>
            <a:rPr lang="en-IN" dirty="0"/>
            <a:t>Build the Failure Array using BFS</a:t>
          </a:r>
        </a:p>
      </dgm:t>
    </dgm:pt>
    <dgm:pt modelId="{5FCDB3B9-6A70-43B0-B564-A3EAEFD24F62}" type="parTrans" cxnId="{492CFD86-2AED-4453-8F77-1799D1AE907B}">
      <dgm:prSet/>
      <dgm:spPr/>
      <dgm:t>
        <a:bodyPr/>
        <a:lstStyle/>
        <a:p>
          <a:endParaRPr lang="en-IN"/>
        </a:p>
      </dgm:t>
    </dgm:pt>
    <dgm:pt modelId="{0EA93845-403B-4ACC-A337-6B0010E4D73F}" type="sibTrans" cxnId="{492CFD86-2AED-4453-8F77-1799D1AE907B}">
      <dgm:prSet/>
      <dgm:spPr/>
      <dgm:t>
        <a:bodyPr/>
        <a:lstStyle/>
        <a:p>
          <a:endParaRPr lang="en-IN"/>
        </a:p>
      </dgm:t>
    </dgm:pt>
    <dgm:pt modelId="{A0DAA06A-97C0-477B-9F73-8F345F2D1926}">
      <dgm:prSet phldrT="[Text]" phldr="0"/>
      <dgm:spPr/>
      <dgm:t>
        <a:bodyPr/>
        <a:lstStyle/>
        <a:p>
          <a:r>
            <a:rPr lang="en-IN" dirty="0"/>
            <a:t>Step-4</a:t>
          </a:r>
        </a:p>
      </dgm:t>
    </dgm:pt>
    <dgm:pt modelId="{D0B4BD40-4460-420D-A35A-D04BB3A8AC46}" type="parTrans" cxnId="{39587AD7-6B7E-410A-AD6C-CB132285C274}">
      <dgm:prSet/>
      <dgm:spPr/>
      <dgm:t>
        <a:bodyPr/>
        <a:lstStyle/>
        <a:p>
          <a:endParaRPr lang="en-IN"/>
        </a:p>
      </dgm:t>
    </dgm:pt>
    <dgm:pt modelId="{6F451042-E369-4A6D-AC28-BEAD8A15CAF2}" type="sibTrans" cxnId="{39587AD7-6B7E-410A-AD6C-CB132285C274}">
      <dgm:prSet/>
      <dgm:spPr/>
      <dgm:t>
        <a:bodyPr/>
        <a:lstStyle/>
        <a:p>
          <a:endParaRPr lang="en-IN"/>
        </a:p>
      </dgm:t>
    </dgm:pt>
    <dgm:pt modelId="{4CF53715-9DD3-4025-9224-A63DAE62A46B}">
      <dgm:prSet phldrT="[Text]" phldr="0"/>
      <dgm:spPr/>
      <dgm:t>
        <a:bodyPr/>
        <a:lstStyle/>
        <a:p>
          <a:pPr>
            <a:buNone/>
          </a:pPr>
          <a:r>
            <a:rPr lang="en-IN" dirty="0"/>
            <a:t>Build the Output Array</a:t>
          </a:r>
        </a:p>
      </dgm:t>
    </dgm:pt>
    <dgm:pt modelId="{F739C834-98D3-4280-9119-32AA5E359D6F}" type="parTrans" cxnId="{61349E53-9512-44F7-9908-D760F7159F8E}">
      <dgm:prSet/>
      <dgm:spPr/>
      <dgm:t>
        <a:bodyPr/>
        <a:lstStyle/>
        <a:p>
          <a:endParaRPr lang="en-IN"/>
        </a:p>
      </dgm:t>
    </dgm:pt>
    <dgm:pt modelId="{94CC795E-98F4-49CC-BEC1-1A6E1626094C}" type="sibTrans" cxnId="{61349E53-9512-44F7-9908-D760F7159F8E}">
      <dgm:prSet/>
      <dgm:spPr/>
      <dgm:t>
        <a:bodyPr/>
        <a:lstStyle/>
        <a:p>
          <a:endParaRPr lang="en-IN"/>
        </a:p>
      </dgm:t>
    </dgm:pt>
    <dgm:pt modelId="{EBFC5EB4-9F19-4C39-9E44-C716CA72F962}">
      <dgm:prSet phldrT="[Text]" phldr="0"/>
      <dgm:spPr/>
      <dgm:t>
        <a:bodyPr/>
        <a:lstStyle/>
        <a:p>
          <a:r>
            <a:rPr lang="en-IN" dirty="0"/>
            <a:t>Step-5</a:t>
          </a:r>
        </a:p>
      </dgm:t>
    </dgm:pt>
    <dgm:pt modelId="{4E006D8E-1465-48A0-ADE1-587BD8FBB1BF}" type="parTrans" cxnId="{A92D373D-ACD9-4C2F-ACA1-F829C4622507}">
      <dgm:prSet/>
      <dgm:spPr/>
      <dgm:t>
        <a:bodyPr/>
        <a:lstStyle/>
        <a:p>
          <a:endParaRPr lang="en-IN"/>
        </a:p>
      </dgm:t>
    </dgm:pt>
    <dgm:pt modelId="{B9359346-9C8D-4C0F-B495-D43936355E93}" type="sibTrans" cxnId="{A92D373D-ACD9-4C2F-ACA1-F829C4622507}">
      <dgm:prSet/>
      <dgm:spPr/>
      <dgm:t>
        <a:bodyPr/>
        <a:lstStyle/>
        <a:p>
          <a:endParaRPr lang="en-IN"/>
        </a:p>
      </dgm:t>
    </dgm:pt>
    <dgm:pt modelId="{CE8396BC-1D9F-4631-8F0B-DC005B3D4D5B}">
      <dgm:prSet phldrT="[Text]" phldr="0"/>
      <dgm:spPr/>
      <dgm:t>
        <a:bodyPr/>
        <a:lstStyle/>
        <a:p>
          <a:pPr>
            <a:buNone/>
          </a:pPr>
          <a:r>
            <a:rPr lang="en-IN" dirty="0"/>
            <a:t>Search the text character by character</a:t>
          </a:r>
        </a:p>
      </dgm:t>
    </dgm:pt>
    <dgm:pt modelId="{53A9B8BF-0C73-4FB6-9EA6-211B78EEA42E}" type="parTrans" cxnId="{640EC65B-C7A6-434D-A58B-2F3D8307DA03}">
      <dgm:prSet/>
      <dgm:spPr/>
      <dgm:t>
        <a:bodyPr/>
        <a:lstStyle/>
        <a:p>
          <a:endParaRPr lang="en-IN"/>
        </a:p>
      </dgm:t>
    </dgm:pt>
    <dgm:pt modelId="{1164FB5D-B315-4651-8D32-B240C0B5C21E}" type="sibTrans" cxnId="{640EC65B-C7A6-434D-A58B-2F3D8307DA03}">
      <dgm:prSet/>
      <dgm:spPr/>
      <dgm:t>
        <a:bodyPr/>
        <a:lstStyle/>
        <a:p>
          <a:endParaRPr lang="en-IN"/>
        </a:p>
      </dgm:t>
    </dgm:pt>
    <dgm:pt modelId="{E4182FA5-9BBC-4D31-8D42-82703469F225}" type="pres">
      <dgm:prSet presAssocID="{3F7D1876-CD13-49C9-9D69-523F9A0327B1}" presName="linearFlow" presStyleCnt="0">
        <dgm:presLayoutVars>
          <dgm:dir/>
          <dgm:animLvl val="lvl"/>
          <dgm:resizeHandles val="exact"/>
        </dgm:presLayoutVars>
      </dgm:prSet>
      <dgm:spPr/>
    </dgm:pt>
    <dgm:pt modelId="{2E9C2715-851F-451D-9FFA-131F46A789FD}" type="pres">
      <dgm:prSet presAssocID="{8EB62EAB-CB26-4BA6-939E-6A11E7720C96}" presName="composite" presStyleCnt="0"/>
      <dgm:spPr/>
    </dgm:pt>
    <dgm:pt modelId="{77DE3F11-3B42-4217-879A-7D6A47C93684}" type="pres">
      <dgm:prSet presAssocID="{8EB62EAB-CB26-4BA6-939E-6A11E7720C96}" presName="parentText" presStyleLbl="alignNode1" presStyleIdx="0" presStyleCnt="5">
        <dgm:presLayoutVars>
          <dgm:chMax val="1"/>
          <dgm:bulletEnabled val="1"/>
        </dgm:presLayoutVars>
      </dgm:prSet>
      <dgm:spPr/>
    </dgm:pt>
    <dgm:pt modelId="{35344E78-F33A-48D6-A20F-BDFB90333486}" type="pres">
      <dgm:prSet presAssocID="{8EB62EAB-CB26-4BA6-939E-6A11E7720C96}" presName="descendantText" presStyleLbl="alignAcc1" presStyleIdx="0" presStyleCnt="5">
        <dgm:presLayoutVars>
          <dgm:bulletEnabled val="1"/>
        </dgm:presLayoutVars>
      </dgm:prSet>
      <dgm:spPr/>
    </dgm:pt>
    <dgm:pt modelId="{05714DEE-C006-4A73-8882-D6139E409376}" type="pres">
      <dgm:prSet presAssocID="{586526FE-D082-42F9-A384-D0F3AAAE1AE1}" presName="sp" presStyleCnt="0"/>
      <dgm:spPr/>
    </dgm:pt>
    <dgm:pt modelId="{B70A6260-087C-49B8-A627-220F7DED0B10}" type="pres">
      <dgm:prSet presAssocID="{409C2A70-FAFB-4075-9E32-E12D2034319B}" presName="composite" presStyleCnt="0"/>
      <dgm:spPr/>
    </dgm:pt>
    <dgm:pt modelId="{045EC506-0ECC-4488-94A1-5203B7912798}" type="pres">
      <dgm:prSet presAssocID="{409C2A70-FAFB-4075-9E32-E12D2034319B}" presName="parentText" presStyleLbl="alignNode1" presStyleIdx="1" presStyleCnt="5">
        <dgm:presLayoutVars>
          <dgm:chMax val="1"/>
          <dgm:bulletEnabled val="1"/>
        </dgm:presLayoutVars>
      </dgm:prSet>
      <dgm:spPr/>
    </dgm:pt>
    <dgm:pt modelId="{E7718BC2-FDB8-422C-982B-EC7EAD0EA7FB}" type="pres">
      <dgm:prSet presAssocID="{409C2A70-FAFB-4075-9E32-E12D2034319B}" presName="descendantText" presStyleLbl="alignAcc1" presStyleIdx="1" presStyleCnt="5">
        <dgm:presLayoutVars>
          <dgm:bulletEnabled val="1"/>
        </dgm:presLayoutVars>
      </dgm:prSet>
      <dgm:spPr/>
    </dgm:pt>
    <dgm:pt modelId="{295285E1-B42C-4081-B445-05B66C850809}" type="pres">
      <dgm:prSet presAssocID="{6380CE49-2D77-43EB-B241-B4BDF830523B}" presName="sp" presStyleCnt="0"/>
      <dgm:spPr/>
    </dgm:pt>
    <dgm:pt modelId="{D2C2106E-56EF-463B-8FD7-5119DBE5C52D}" type="pres">
      <dgm:prSet presAssocID="{B74BFBD9-31EE-408A-A149-71F82764939D}" presName="composite" presStyleCnt="0"/>
      <dgm:spPr/>
    </dgm:pt>
    <dgm:pt modelId="{3030ACFD-CA0F-49B8-8354-7FE57ACA1B0A}" type="pres">
      <dgm:prSet presAssocID="{B74BFBD9-31EE-408A-A149-71F82764939D}" presName="parentText" presStyleLbl="alignNode1" presStyleIdx="2" presStyleCnt="5">
        <dgm:presLayoutVars>
          <dgm:chMax val="1"/>
          <dgm:bulletEnabled val="1"/>
        </dgm:presLayoutVars>
      </dgm:prSet>
      <dgm:spPr/>
    </dgm:pt>
    <dgm:pt modelId="{42ADCA49-BEA4-4A0A-883D-5E759C55B41D}" type="pres">
      <dgm:prSet presAssocID="{B74BFBD9-31EE-408A-A149-71F82764939D}" presName="descendantText" presStyleLbl="alignAcc1" presStyleIdx="2" presStyleCnt="5">
        <dgm:presLayoutVars>
          <dgm:bulletEnabled val="1"/>
        </dgm:presLayoutVars>
      </dgm:prSet>
      <dgm:spPr/>
    </dgm:pt>
    <dgm:pt modelId="{3DA85A0A-4F03-402A-9D02-8F2E2B552B42}" type="pres">
      <dgm:prSet presAssocID="{7EAA2692-8B35-45A0-9FDC-75242754FFF0}" presName="sp" presStyleCnt="0"/>
      <dgm:spPr/>
    </dgm:pt>
    <dgm:pt modelId="{30A22579-0CF8-4A99-B1C3-AF2B9C86DC19}" type="pres">
      <dgm:prSet presAssocID="{A0DAA06A-97C0-477B-9F73-8F345F2D1926}" presName="composite" presStyleCnt="0"/>
      <dgm:spPr/>
    </dgm:pt>
    <dgm:pt modelId="{87EE7AD9-1A73-43B8-92E2-BB8109137461}" type="pres">
      <dgm:prSet presAssocID="{A0DAA06A-97C0-477B-9F73-8F345F2D1926}" presName="parentText" presStyleLbl="alignNode1" presStyleIdx="3" presStyleCnt="5">
        <dgm:presLayoutVars>
          <dgm:chMax val="1"/>
          <dgm:bulletEnabled val="1"/>
        </dgm:presLayoutVars>
      </dgm:prSet>
      <dgm:spPr/>
    </dgm:pt>
    <dgm:pt modelId="{B01B9BC0-D174-43AB-B8C3-A2C83F4866C2}" type="pres">
      <dgm:prSet presAssocID="{A0DAA06A-97C0-477B-9F73-8F345F2D1926}" presName="descendantText" presStyleLbl="alignAcc1" presStyleIdx="3" presStyleCnt="5">
        <dgm:presLayoutVars>
          <dgm:bulletEnabled val="1"/>
        </dgm:presLayoutVars>
      </dgm:prSet>
      <dgm:spPr/>
    </dgm:pt>
    <dgm:pt modelId="{30AE7E92-68B3-4A68-B956-57730A28D89A}" type="pres">
      <dgm:prSet presAssocID="{6F451042-E369-4A6D-AC28-BEAD8A15CAF2}" presName="sp" presStyleCnt="0"/>
      <dgm:spPr/>
    </dgm:pt>
    <dgm:pt modelId="{56C39FDD-44F1-467B-8CD2-372D82C60DFC}" type="pres">
      <dgm:prSet presAssocID="{EBFC5EB4-9F19-4C39-9E44-C716CA72F962}" presName="composite" presStyleCnt="0"/>
      <dgm:spPr/>
    </dgm:pt>
    <dgm:pt modelId="{B6CB64C2-0217-47C4-ABF2-9569ADA252E8}" type="pres">
      <dgm:prSet presAssocID="{EBFC5EB4-9F19-4C39-9E44-C716CA72F962}" presName="parentText" presStyleLbl="alignNode1" presStyleIdx="4" presStyleCnt="5">
        <dgm:presLayoutVars>
          <dgm:chMax val="1"/>
          <dgm:bulletEnabled val="1"/>
        </dgm:presLayoutVars>
      </dgm:prSet>
      <dgm:spPr/>
    </dgm:pt>
    <dgm:pt modelId="{4784AA2A-8375-4ED8-81AE-189159C0ED0C}" type="pres">
      <dgm:prSet presAssocID="{EBFC5EB4-9F19-4C39-9E44-C716CA72F962}" presName="descendantText" presStyleLbl="alignAcc1" presStyleIdx="4" presStyleCnt="5">
        <dgm:presLayoutVars>
          <dgm:bulletEnabled val="1"/>
        </dgm:presLayoutVars>
      </dgm:prSet>
      <dgm:spPr/>
    </dgm:pt>
  </dgm:ptLst>
  <dgm:cxnLst>
    <dgm:cxn modelId="{44EA4922-1580-472E-B54A-2305209C20F0}" type="presOf" srcId="{8EB62EAB-CB26-4BA6-939E-6A11E7720C96}" destId="{77DE3F11-3B42-4217-879A-7D6A47C93684}" srcOrd="0" destOrd="0" presId="urn:microsoft.com/office/officeart/2005/8/layout/chevron2"/>
    <dgm:cxn modelId="{7B8FDA3C-619D-4F3C-A2E7-DB4E50DCBCAF}" type="presOf" srcId="{B5EFFB03-5744-4B73-97CA-2C5D9EDC4D62}" destId="{42ADCA49-BEA4-4A0A-883D-5E759C55B41D}" srcOrd="0" destOrd="0" presId="urn:microsoft.com/office/officeart/2005/8/layout/chevron2"/>
    <dgm:cxn modelId="{A92D373D-ACD9-4C2F-ACA1-F829C4622507}" srcId="{3F7D1876-CD13-49C9-9D69-523F9A0327B1}" destId="{EBFC5EB4-9F19-4C39-9E44-C716CA72F962}" srcOrd="4" destOrd="0" parTransId="{4E006D8E-1465-48A0-ADE1-587BD8FBB1BF}" sibTransId="{B9359346-9C8D-4C0F-B495-D43936355E93}"/>
    <dgm:cxn modelId="{640EC65B-C7A6-434D-A58B-2F3D8307DA03}" srcId="{EBFC5EB4-9F19-4C39-9E44-C716CA72F962}" destId="{CE8396BC-1D9F-4631-8F0B-DC005B3D4D5B}" srcOrd="0" destOrd="0" parTransId="{53A9B8BF-0C73-4FB6-9EA6-211B78EEA42E}" sibTransId="{1164FB5D-B315-4651-8D32-B240C0B5C21E}"/>
    <dgm:cxn modelId="{9E69834C-9A7B-4643-A52A-C226B1FE8281}" type="presOf" srcId="{409C2A70-FAFB-4075-9E32-E12D2034319B}" destId="{045EC506-0ECC-4488-94A1-5203B7912798}" srcOrd="0" destOrd="0" presId="urn:microsoft.com/office/officeart/2005/8/layout/chevron2"/>
    <dgm:cxn modelId="{61349E53-9512-44F7-9908-D760F7159F8E}" srcId="{A0DAA06A-97C0-477B-9F73-8F345F2D1926}" destId="{4CF53715-9DD3-4025-9224-A63DAE62A46B}" srcOrd="0" destOrd="0" parTransId="{F739C834-98D3-4280-9119-32AA5E359D6F}" sibTransId="{94CC795E-98F4-49CC-BEC1-1A6E1626094C}"/>
    <dgm:cxn modelId="{8A8E7A59-081F-4D7C-92DA-30FA8C1F8B1C}" type="presOf" srcId="{3F7D1876-CD13-49C9-9D69-523F9A0327B1}" destId="{E4182FA5-9BBC-4D31-8D42-82703469F225}" srcOrd="0" destOrd="0" presId="urn:microsoft.com/office/officeart/2005/8/layout/chevron2"/>
    <dgm:cxn modelId="{341E6F84-021E-47C9-8CC1-5CD578CD6142}" type="presOf" srcId="{81997A15-8F24-4EB1-B86A-EF20E2ED7727}" destId="{35344E78-F33A-48D6-A20F-BDFB90333486}" srcOrd="0" destOrd="0" presId="urn:microsoft.com/office/officeart/2005/8/layout/chevron2"/>
    <dgm:cxn modelId="{492CFD86-2AED-4453-8F77-1799D1AE907B}" srcId="{B74BFBD9-31EE-408A-A149-71F82764939D}" destId="{B5EFFB03-5744-4B73-97CA-2C5D9EDC4D62}" srcOrd="0" destOrd="0" parTransId="{5FCDB3B9-6A70-43B0-B564-A3EAEFD24F62}" sibTransId="{0EA93845-403B-4ACC-A337-6B0010E4D73F}"/>
    <dgm:cxn modelId="{0BB26C8A-E195-4D12-A795-EF50A166E366}" srcId="{3F7D1876-CD13-49C9-9D69-523F9A0327B1}" destId="{8EB62EAB-CB26-4BA6-939E-6A11E7720C96}" srcOrd="0" destOrd="0" parTransId="{4274C030-0495-4F50-ACA2-2B08E0B16F43}" sibTransId="{586526FE-D082-42F9-A384-D0F3AAAE1AE1}"/>
    <dgm:cxn modelId="{5A406092-4C10-4404-B168-5C42FA15B7E6}" srcId="{3F7D1876-CD13-49C9-9D69-523F9A0327B1}" destId="{B74BFBD9-31EE-408A-A149-71F82764939D}" srcOrd="2" destOrd="0" parTransId="{B45B75C8-B3A1-46E1-A009-6C335962F7B3}" sibTransId="{7EAA2692-8B35-45A0-9FDC-75242754FFF0}"/>
    <dgm:cxn modelId="{35BD7693-0894-428F-81E3-5324C832A594}" srcId="{3F7D1876-CD13-49C9-9D69-523F9A0327B1}" destId="{409C2A70-FAFB-4075-9E32-E12D2034319B}" srcOrd="1" destOrd="0" parTransId="{D9453179-FA96-423D-A06F-494AC7888ED9}" sibTransId="{6380CE49-2D77-43EB-B241-B4BDF830523B}"/>
    <dgm:cxn modelId="{FF05D3A5-6BD9-4AEA-B09E-041C58A7602A}" type="presOf" srcId="{4CF53715-9DD3-4025-9224-A63DAE62A46B}" destId="{B01B9BC0-D174-43AB-B8C3-A2C83F4866C2}" srcOrd="0" destOrd="0" presId="urn:microsoft.com/office/officeart/2005/8/layout/chevron2"/>
    <dgm:cxn modelId="{F182F3AB-A930-49FE-982E-23D71A8EFF17}" type="presOf" srcId="{CE8396BC-1D9F-4631-8F0B-DC005B3D4D5B}" destId="{4784AA2A-8375-4ED8-81AE-189159C0ED0C}" srcOrd="0" destOrd="0" presId="urn:microsoft.com/office/officeart/2005/8/layout/chevron2"/>
    <dgm:cxn modelId="{A46AB0B0-6347-4208-A125-1B5041231710}" type="presOf" srcId="{A0DAA06A-97C0-477B-9F73-8F345F2D1926}" destId="{87EE7AD9-1A73-43B8-92E2-BB8109137461}" srcOrd="0" destOrd="0" presId="urn:microsoft.com/office/officeart/2005/8/layout/chevron2"/>
    <dgm:cxn modelId="{D1B841B6-34A3-4B6C-9E8F-BDE8030652AA}" srcId="{8EB62EAB-CB26-4BA6-939E-6A11E7720C96}" destId="{81997A15-8F24-4EB1-B86A-EF20E2ED7727}" srcOrd="0" destOrd="0" parTransId="{7A59D6E2-CE20-4C26-95E7-70429F682495}" sibTransId="{E5F3A510-39C1-461A-B494-66FA7E2FCEF8}"/>
    <dgm:cxn modelId="{2B85E6BE-25C2-4B3F-9B4F-A547849BF83E}" type="presOf" srcId="{459D7E0F-F881-43AE-B420-AB5FE3182389}" destId="{E7718BC2-FDB8-422C-982B-EC7EAD0EA7FB}" srcOrd="0" destOrd="0" presId="urn:microsoft.com/office/officeart/2005/8/layout/chevron2"/>
    <dgm:cxn modelId="{39587AD7-6B7E-410A-AD6C-CB132285C274}" srcId="{3F7D1876-CD13-49C9-9D69-523F9A0327B1}" destId="{A0DAA06A-97C0-477B-9F73-8F345F2D1926}" srcOrd="3" destOrd="0" parTransId="{D0B4BD40-4460-420D-A35A-D04BB3A8AC46}" sibTransId="{6F451042-E369-4A6D-AC28-BEAD8A15CAF2}"/>
    <dgm:cxn modelId="{4A0D5DDE-5A0C-4950-9BBA-E35803A444E1}" srcId="{409C2A70-FAFB-4075-9E32-E12D2034319B}" destId="{459D7E0F-F881-43AE-B420-AB5FE3182389}" srcOrd="0" destOrd="0" parTransId="{B8A8E751-829E-43E7-8D66-9D29E39CCB0F}" sibTransId="{E8850CA7-1BD0-4713-895F-53C619376557}"/>
    <dgm:cxn modelId="{0C3563E0-B240-477E-A2AC-351D48D58F5D}" type="presOf" srcId="{B74BFBD9-31EE-408A-A149-71F82764939D}" destId="{3030ACFD-CA0F-49B8-8354-7FE57ACA1B0A}" srcOrd="0" destOrd="0" presId="urn:microsoft.com/office/officeart/2005/8/layout/chevron2"/>
    <dgm:cxn modelId="{B52A9BFB-110A-4242-BCBF-9A575D4B93B4}" type="presOf" srcId="{EBFC5EB4-9F19-4C39-9E44-C716CA72F962}" destId="{B6CB64C2-0217-47C4-ABF2-9569ADA252E8}" srcOrd="0" destOrd="0" presId="urn:microsoft.com/office/officeart/2005/8/layout/chevron2"/>
    <dgm:cxn modelId="{28E20EA0-81A5-4B36-8473-FDE2942705CC}" type="presParOf" srcId="{E4182FA5-9BBC-4D31-8D42-82703469F225}" destId="{2E9C2715-851F-451D-9FFA-131F46A789FD}" srcOrd="0" destOrd="0" presId="urn:microsoft.com/office/officeart/2005/8/layout/chevron2"/>
    <dgm:cxn modelId="{20BCCF50-0A10-47D5-994E-B23AEC90606D}" type="presParOf" srcId="{2E9C2715-851F-451D-9FFA-131F46A789FD}" destId="{77DE3F11-3B42-4217-879A-7D6A47C93684}" srcOrd="0" destOrd="0" presId="urn:microsoft.com/office/officeart/2005/8/layout/chevron2"/>
    <dgm:cxn modelId="{C191934A-48D0-477D-B82F-C065B08FA57A}" type="presParOf" srcId="{2E9C2715-851F-451D-9FFA-131F46A789FD}" destId="{35344E78-F33A-48D6-A20F-BDFB90333486}" srcOrd="1" destOrd="0" presId="urn:microsoft.com/office/officeart/2005/8/layout/chevron2"/>
    <dgm:cxn modelId="{96FB73E9-0EEF-41CF-A202-1263F1A8121B}" type="presParOf" srcId="{E4182FA5-9BBC-4D31-8D42-82703469F225}" destId="{05714DEE-C006-4A73-8882-D6139E409376}" srcOrd="1" destOrd="0" presId="urn:microsoft.com/office/officeart/2005/8/layout/chevron2"/>
    <dgm:cxn modelId="{0EAA70DB-3AFA-4742-8670-F0F7ABB17E2A}" type="presParOf" srcId="{E4182FA5-9BBC-4D31-8D42-82703469F225}" destId="{B70A6260-087C-49B8-A627-220F7DED0B10}" srcOrd="2" destOrd="0" presId="urn:microsoft.com/office/officeart/2005/8/layout/chevron2"/>
    <dgm:cxn modelId="{8CAE4FBB-B5BE-439A-ADE7-6D88994EF9F0}" type="presParOf" srcId="{B70A6260-087C-49B8-A627-220F7DED0B10}" destId="{045EC506-0ECC-4488-94A1-5203B7912798}" srcOrd="0" destOrd="0" presId="urn:microsoft.com/office/officeart/2005/8/layout/chevron2"/>
    <dgm:cxn modelId="{E5C6E6ED-8DE1-4A86-8CA5-0078C2407563}" type="presParOf" srcId="{B70A6260-087C-49B8-A627-220F7DED0B10}" destId="{E7718BC2-FDB8-422C-982B-EC7EAD0EA7FB}" srcOrd="1" destOrd="0" presId="urn:microsoft.com/office/officeart/2005/8/layout/chevron2"/>
    <dgm:cxn modelId="{B4806F2F-5F04-42FB-A13C-AEC97296BAB6}" type="presParOf" srcId="{E4182FA5-9BBC-4D31-8D42-82703469F225}" destId="{295285E1-B42C-4081-B445-05B66C850809}" srcOrd="3" destOrd="0" presId="urn:microsoft.com/office/officeart/2005/8/layout/chevron2"/>
    <dgm:cxn modelId="{A5E84A86-7335-4E51-B98D-6CB61B33A827}" type="presParOf" srcId="{E4182FA5-9BBC-4D31-8D42-82703469F225}" destId="{D2C2106E-56EF-463B-8FD7-5119DBE5C52D}" srcOrd="4" destOrd="0" presId="urn:microsoft.com/office/officeart/2005/8/layout/chevron2"/>
    <dgm:cxn modelId="{A83023F9-156D-4086-AC4E-4E442E6F49D0}" type="presParOf" srcId="{D2C2106E-56EF-463B-8FD7-5119DBE5C52D}" destId="{3030ACFD-CA0F-49B8-8354-7FE57ACA1B0A}" srcOrd="0" destOrd="0" presId="urn:microsoft.com/office/officeart/2005/8/layout/chevron2"/>
    <dgm:cxn modelId="{5217E38D-8888-4368-BB98-9D5749A13754}" type="presParOf" srcId="{D2C2106E-56EF-463B-8FD7-5119DBE5C52D}" destId="{42ADCA49-BEA4-4A0A-883D-5E759C55B41D}" srcOrd="1" destOrd="0" presId="urn:microsoft.com/office/officeart/2005/8/layout/chevron2"/>
    <dgm:cxn modelId="{3ED4D868-FD32-47B3-99D7-F66A8EC7113D}" type="presParOf" srcId="{E4182FA5-9BBC-4D31-8D42-82703469F225}" destId="{3DA85A0A-4F03-402A-9D02-8F2E2B552B42}" srcOrd="5" destOrd="0" presId="urn:microsoft.com/office/officeart/2005/8/layout/chevron2"/>
    <dgm:cxn modelId="{F6AC6B54-3DAE-4D27-8474-3777E0D6F67B}" type="presParOf" srcId="{E4182FA5-9BBC-4D31-8D42-82703469F225}" destId="{30A22579-0CF8-4A99-B1C3-AF2B9C86DC19}" srcOrd="6" destOrd="0" presId="urn:microsoft.com/office/officeart/2005/8/layout/chevron2"/>
    <dgm:cxn modelId="{0B154659-1630-4D2D-91E9-D78E8C7148A3}" type="presParOf" srcId="{30A22579-0CF8-4A99-B1C3-AF2B9C86DC19}" destId="{87EE7AD9-1A73-43B8-92E2-BB8109137461}" srcOrd="0" destOrd="0" presId="urn:microsoft.com/office/officeart/2005/8/layout/chevron2"/>
    <dgm:cxn modelId="{0AE6E936-A498-4333-98D9-EE2C3A58C8B9}" type="presParOf" srcId="{30A22579-0CF8-4A99-B1C3-AF2B9C86DC19}" destId="{B01B9BC0-D174-43AB-B8C3-A2C83F4866C2}" srcOrd="1" destOrd="0" presId="urn:microsoft.com/office/officeart/2005/8/layout/chevron2"/>
    <dgm:cxn modelId="{4BECE941-443E-4994-9DA5-6DC73F63D2A8}" type="presParOf" srcId="{E4182FA5-9BBC-4D31-8D42-82703469F225}" destId="{30AE7E92-68B3-4A68-B956-57730A28D89A}" srcOrd="7" destOrd="0" presId="urn:microsoft.com/office/officeart/2005/8/layout/chevron2"/>
    <dgm:cxn modelId="{C4D2C79B-74BE-45C5-B4FB-BEDF838F2637}" type="presParOf" srcId="{E4182FA5-9BBC-4D31-8D42-82703469F225}" destId="{56C39FDD-44F1-467B-8CD2-372D82C60DFC}" srcOrd="8" destOrd="0" presId="urn:microsoft.com/office/officeart/2005/8/layout/chevron2"/>
    <dgm:cxn modelId="{0777EB26-0D90-4279-BAF9-D09ED09138AD}" type="presParOf" srcId="{56C39FDD-44F1-467B-8CD2-372D82C60DFC}" destId="{B6CB64C2-0217-47C4-ABF2-9569ADA252E8}" srcOrd="0" destOrd="0" presId="urn:microsoft.com/office/officeart/2005/8/layout/chevron2"/>
    <dgm:cxn modelId="{AEF77972-8E46-473B-BBC5-52126CC9C875}" type="presParOf" srcId="{56C39FDD-44F1-467B-8CD2-372D82C60DFC}" destId="{4784AA2A-8375-4ED8-81AE-189159C0ED0C}" srcOrd="1" destOrd="0" presId="urn:microsoft.com/office/officeart/2005/8/layout/chevron2"/>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50C1E31-C079-47D1-AF68-32A727F609A6}" type="doc">
      <dgm:prSet loTypeId="urn:microsoft.com/office/officeart/2005/8/layout/process1" loCatId="process" qsTypeId="urn:microsoft.com/office/officeart/2005/8/quickstyle/simple1" qsCatId="simple" csTypeId="urn:microsoft.com/office/officeart/2005/8/colors/accent3_1" csCatId="accent3" phldr="1"/>
      <dgm:spPr/>
      <dgm:t>
        <a:bodyPr/>
        <a:lstStyle/>
        <a:p>
          <a:endParaRPr lang="en-IN"/>
        </a:p>
      </dgm:t>
    </dgm:pt>
    <dgm:pt modelId="{C6D20F10-2E26-4FE1-BDC8-C56139CB2CE0}">
      <dgm:prSet phldrT="[Text]" custT="1"/>
      <dgm:spPr/>
      <dgm:t>
        <a:bodyPr/>
        <a:lstStyle/>
        <a:p>
          <a:pPr algn="just">
            <a:buNone/>
          </a:pPr>
          <a:r>
            <a:rPr lang="en-IN" sz="1600" b="1" dirty="0">
              <a:highlight>
                <a:srgbClr val="FFFF00"/>
              </a:highlight>
            </a:rPr>
            <a:t>Initially</a:t>
          </a:r>
        </a:p>
        <a:p>
          <a:pPr algn="just">
            <a:buNone/>
          </a:pPr>
          <a:r>
            <a:rPr lang="en-IN" sz="1600" dirty="0"/>
            <a:t>Failure[0] = 0</a:t>
          </a:r>
        </a:p>
        <a:p>
          <a:pPr algn="just">
            <a:buNone/>
          </a:pPr>
          <a:r>
            <a:rPr lang="en-IN" sz="1600" b="1" dirty="0"/>
            <a:t>Queue = [ ]</a:t>
          </a:r>
        </a:p>
        <a:p>
          <a:pPr algn="just">
            <a:buNone/>
          </a:pPr>
          <a:r>
            <a:rPr lang="en-IN" sz="1600" dirty="0"/>
            <a:t>Children of root</a:t>
          </a:r>
        </a:p>
        <a:p>
          <a:pPr algn="just">
            <a:buNone/>
          </a:pPr>
          <a:r>
            <a:rPr lang="en-IN" sz="1600" b="1" dirty="0"/>
            <a:t>h</a:t>
          </a:r>
        </a:p>
        <a:p>
          <a:pPr algn="just">
            <a:buNone/>
          </a:pPr>
          <a:r>
            <a:rPr lang="en-IN" sz="1600" b="1" dirty="0"/>
            <a:t>s</a:t>
          </a:r>
        </a:p>
        <a:p>
          <a:pPr algn="just">
            <a:buNone/>
          </a:pPr>
          <a:r>
            <a:rPr lang="en-IN" sz="1600" dirty="0"/>
            <a:t>Their failure links are always root.</a:t>
          </a:r>
        </a:p>
        <a:p>
          <a:pPr algn="just">
            <a:buNone/>
          </a:pPr>
          <a:r>
            <a:rPr lang="en-IN" sz="1600" dirty="0"/>
            <a:t>Queue becomes</a:t>
          </a:r>
        </a:p>
        <a:p>
          <a:pPr algn="just">
            <a:buNone/>
          </a:pPr>
          <a:r>
            <a:rPr lang="en-IN" sz="1600" b="1" dirty="0"/>
            <a:t>[h , s]</a:t>
          </a:r>
        </a:p>
      </dgm:t>
    </dgm:pt>
    <dgm:pt modelId="{55390533-09BB-48A7-B171-4C25C611F16F}" type="parTrans" cxnId="{CB82FA73-D827-434E-9579-CD4D0CD624CF}">
      <dgm:prSet/>
      <dgm:spPr/>
      <dgm:t>
        <a:bodyPr/>
        <a:lstStyle/>
        <a:p>
          <a:pPr algn="just"/>
          <a:endParaRPr lang="en-IN" sz="6000"/>
        </a:p>
      </dgm:t>
    </dgm:pt>
    <dgm:pt modelId="{D1BE6432-6AD7-4EE2-B69A-1B572B669B3F}" type="sibTrans" cxnId="{CB82FA73-D827-434E-9579-CD4D0CD624CF}">
      <dgm:prSet custT="1"/>
      <dgm:spPr/>
      <dgm:t>
        <a:bodyPr/>
        <a:lstStyle/>
        <a:p>
          <a:pPr algn="just"/>
          <a:endParaRPr lang="en-IN" sz="1400"/>
        </a:p>
      </dgm:t>
    </dgm:pt>
    <dgm:pt modelId="{2A8EAA87-C55B-4D68-9F2A-7C4CB908B2AD}">
      <dgm:prSet phldrT="[Text]" custT="1"/>
      <dgm:spPr/>
      <dgm:t>
        <a:bodyPr/>
        <a:lstStyle/>
        <a:p>
          <a:pPr algn="just">
            <a:buNone/>
          </a:pPr>
          <a:r>
            <a:rPr lang="en-IN" sz="1600" b="1" dirty="0">
              <a:highlight>
                <a:srgbClr val="FFFF00"/>
              </a:highlight>
            </a:rPr>
            <a:t>Iteration 1</a:t>
          </a:r>
        </a:p>
        <a:p>
          <a:pPr algn="just">
            <a:buNone/>
          </a:pPr>
          <a:r>
            <a:rPr lang="en-IN" sz="1600" b="1" dirty="0"/>
            <a:t>Remove h</a:t>
          </a:r>
        </a:p>
        <a:p>
          <a:pPr algn="just">
            <a:buNone/>
          </a:pPr>
          <a:r>
            <a:rPr lang="en-IN" sz="1600" dirty="0"/>
            <a:t>Queue</a:t>
          </a:r>
        </a:p>
        <a:p>
          <a:pPr algn="just">
            <a:buNone/>
          </a:pPr>
          <a:r>
            <a:rPr lang="en-IN" sz="1600" dirty="0"/>
            <a:t>Before: </a:t>
          </a:r>
          <a:r>
            <a:rPr lang="en-IN" sz="1600" b="1" dirty="0"/>
            <a:t>[h, s]</a:t>
          </a:r>
        </a:p>
        <a:p>
          <a:pPr algn="just">
            <a:buNone/>
          </a:pPr>
          <a:r>
            <a:rPr lang="en-IN" sz="1600" dirty="0"/>
            <a:t>After:  </a:t>
          </a:r>
          <a:r>
            <a:rPr lang="en-IN" sz="1600" b="1" dirty="0"/>
            <a:t>[s]</a:t>
          </a:r>
        </a:p>
        <a:p>
          <a:pPr algn="just">
            <a:buNone/>
          </a:pPr>
          <a:r>
            <a:rPr lang="en-IN" sz="1600" dirty="0"/>
            <a:t>Children of </a:t>
          </a:r>
          <a:r>
            <a:rPr lang="en-IN" sz="1600" b="1" dirty="0"/>
            <a:t>h</a:t>
          </a:r>
          <a:endParaRPr lang="en-IN" sz="1600" dirty="0"/>
        </a:p>
        <a:p>
          <a:pPr algn="just">
            <a:buNone/>
          </a:pPr>
          <a:r>
            <a:rPr lang="en-IN" sz="1600" dirty="0"/>
            <a:t>he</a:t>
          </a:r>
        </a:p>
        <a:p>
          <a:pPr algn="just">
            <a:buNone/>
          </a:pPr>
          <a:r>
            <a:rPr lang="en-IN" sz="1600" dirty="0"/>
            <a:t>hi</a:t>
          </a:r>
        </a:p>
      </dgm:t>
    </dgm:pt>
    <dgm:pt modelId="{84A8A79F-F549-4A8B-A111-29D901455E73}" type="parTrans" cxnId="{15D1CEE4-3620-46D8-BDE1-4EA811575B9E}">
      <dgm:prSet/>
      <dgm:spPr/>
      <dgm:t>
        <a:bodyPr/>
        <a:lstStyle/>
        <a:p>
          <a:pPr algn="just"/>
          <a:endParaRPr lang="en-IN" sz="6000"/>
        </a:p>
      </dgm:t>
    </dgm:pt>
    <dgm:pt modelId="{B8B0DDFD-4433-401B-A50A-7FAFAC476502}" type="sibTrans" cxnId="{15D1CEE4-3620-46D8-BDE1-4EA811575B9E}">
      <dgm:prSet custT="1"/>
      <dgm:spPr/>
      <dgm:t>
        <a:bodyPr/>
        <a:lstStyle/>
        <a:p>
          <a:pPr algn="just"/>
          <a:endParaRPr lang="en-IN" sz="1400"/>
        </a:p>
      </dgm:t>
    </dgm:pt>
    <dgm:pt modelId="{5383A1BA-3B5A-492B-A26E-D852B588B7E3}">
      <dgm:prSet phldrT="[Text]" custT="1"/>
      <dgm:spPr/>
      <dgm:t>
        <a:bodyPr/>
        <a:lstStyle/>
        <a:p>
          <a:pPr algn="just">
            <a:buNone/>
          </a:pPr>
          <a:r>
            <a:rPr lang="en-IN" sz="1600" b="1" dirty="0"/>
            <a:t>Calculate Failure(he)</a:t>
          </a:r>
        </a:p>
        <a:p>
          <a:pPr algn="just">
            <a:buNone/>
          </a:pPr>
          <a:r>
            <a:rPr lang="en-IN" sz="1600" dirty="0"/>
            <a:t>Parent = </a:t>
          </a:r>
          <a:r>
            <a:rPr lang="en-IN" sz="1600" b="1" dirty="0"/>
            <a:t>h</a:t>
          </a:r>
        </a:p>
        <a:p>
          <a:pPr algn="just">
            <a:buNone/>
          </a:pPr>
          <a:r>
            <a:rPr lang="en-IN" sz="1600" dirty="0"/>
            <a:t>Failure(parent) = </a:t>
          </a:r>
          <a:r>
            <a:rPr lang="en-IN" sz="1600" b="1" dirty="0"/>
            <a:t>root</a:t>
          </a:r>
        </a:p>
        <a:p>
          <a:pPr algn="just">
            <a:buNone/>
          </a:pPr>
          <a:r>
            <a:rPr lang="en-IN" sz="1600" dirty="0"/>
            <a:t>From root</a:t>
          </a:r>
        </a:p>
        <a:p>
          <a:pPr algn="just">
            <a:buNone/>
          </a:pPr>
          <a:r>
            <a:rPr lang="en-IN" sz="1600" dirty="0"/>
            <a:t>Is there edge </a:t>
          </a:r>
          <a:r>
            <a:rPr lang="en-IN" sz="1600" b="1" dirty="0"/>
            <a:t>e</a:t>
          </a:r>
          <a:r>
            <a:rPr lang="en-IN" sz="1600" dirty="0"/>
            <a:t>?</a:t>
          </a:r>
        </a:p>
        <a:p>
          <a:pPr algn="just">
            <a:buNone/>
          </a:pPr>
          <a:r>
            <a:rPr lang="en-IN" sz="1600" dirty="0"/>
            <a:t>No</a:t>
          </a:r>
        </a:p>
        <a:p>
          <a:pPr algn="just">
            <a:buNone/>
          </a:pPr>
          <a:r>
            <a:rPr lang="en-IN" sz="1600" dirty="0"/>
            <a:t>Therefore</a:t>
          </a:r>
        </a:p>
        <a:p>
          <a:pPr algn="just">
            <a:buNone/>
          </a:pPr>
          <a:r>
            <a:rPr lang="en-IN" sz="1600" b="1" dirty="0"/>
            <a:t>Failure(he)=root</a:t>
          </a:r>
        </a:p>
      </dgm:t>
    </dgm:pt>
    <dgm:pt modelId="{AB5A58DA-3D2C-4945-AB3A-CA90A2EBFEBF}" type="parTrans" cxnId="{274891EE-42EF-4DB4-AC59-7A419473DA50}">
      <dgm:prSet/>
      <dgm:spPr/>
      <dgm:t>
        <a:bodyPr/>
        <a:lstStyle/>
        <a:p>
          <a:pPr algn="just"/>
          <a:endParaRPr lang="en-IN" sz="6000"/>
        </a:p>
      </dgm:t>
    </dgm:pt>
    <dgm:pt modelId="{670269F1-A5F7-44B1-9D6E-88EEF4FEAE9B}" type="sibTrans" cxnId="{274891EE-42EF-4DB4-AC59-7A419473DA50}">
      <dgm:prSet custT="1"/>
      <dgm:spPr/>
      <dgm:t>
        <a:bodyPr/>
        <a:lstStyle/>
        <a:p>
          <a:pPr algn="just"/>
          <a:endParaRPr lang="en-IN" sz="1400"/>
        </a:p>
      </dgm:t>
    </dgm:pt>
    <dgm:pt modelId="{DB4BDECB-E592-4948-B15E-81F5C2FD3B50}">
      <dgm:prSet phldrT="[Text]" phldr="0" custT="1"/>
      <dgm:spPr/>
      <dgm:t>
        <a:bodyPr/>
        <a:lstStyle/>
        <a:p>
          <a:pPr algn="just">
            <a:buNone/>
          </a:pPr>
          <a:r>
            <a:rPr lang="en-IN" sz="1600" b="1" dirty="0"/>
            <a:t>Calculate Failure(hi)</a:t>
          </a:r>
        </a:p>
        <a:p>
          <a:pPr algn="just">
            <a:buNone/>
          </a:pPr>
          <a:r>
            <a:rPr lang="en-IN" sz="1600" b="1" dirty="0"/>
            <a:t>Failure(parent)=</a:t>
          </a:r>
        </a:p>
        <a:p>
          <a:pPr algn="just">
            <a:buNone/>
          </a:pPr>
          <a:r>
            <a:rPr lang="en-IN" sz="1600" b="1" dirty="0"/>
            <a:t>root</a:t>
          </a:r>
        </a:p>
        <a:p>
          <a:pPr algn="just">
            <a:buNone/>
          </a:pPr>
          <a:r>
            <a:rPr lang="en-IN" sz="1600" dirty="0"/>
            <a:t>From root</a:t>
          </a:r>
        </a:p>
        <a:p>
          <a:pPr algn="just">
            <a:buNone/>
          </a:pPr>
          <a:r>
            <a:rPr lang="en-IN" sz="1600" dirty="0"/>
            <a:t>Edge </a:t>
          </a:r>
          <a:r>
            <a:rPr lang="en-IN" sz="1600" b="1" dirty="0" err="1"/>
            <a:t>i</a:t>
          </a:r>
          <a:r>
            <a:rPr lang="en-IN" sz="1600" dirty="0"/>
            <a:t> ?</a:t>
          </a:r>
        </a:p>
        <a:p>
          <a:pPr algn="just">
            <a:buNone/>
          </a:pPr>
          <a:r>
            <a:rPr lang="en-IN" sz="1600" dirty="0"/>
            <a:t>No</a:t>
          </a:r>
        </a:p>
        <a:p>
          <a:pPr algn="just">
            <a:buNone/>
          </a:pPr>
          <a:r>
            <a:rPr lang="en-IN" sz="1600" dirty="0"/>
            <a:t>Therefore</a:t>
          </a:r>
        </a:p>
        <a:p>
          <a:pPr algn="just">
            <a:buNone/>
          </a:pPr>
          <a:r>
            <a:rPr lang="en-IN" sz="1600" b="1" dirty="0"/>
            <a:t>Failure(hi)=root</a:t>
          </a:r>
        </a:p>
        <a:p>
          <a:pPr algn="just">
            <a:buNone/>
          </a:pPr>
          <a:r>
            <a:rPr lang="en-IN" sz="1600" dirty="0"/>
            <a:t>Queue</a:t>
          </a:r>
        </a:p>
        <a:p>
          <a:pPr algn="just">
            <a:buNone/>
          </a:pPr>
          <a:r>
            <a:rPr lang="en-IN" sz="1600" b="1" dirty="0"/>
            <a:t>[s, he, hi]</a:t>
          </a:r>
        </a:p>
      </dgm:t>
    </dgm:pt>
    <dgm:pt modelId="{6E59BA02-48B9-4F9C-9241-894A4B3D0A53}" type="parTrans" cxnId="{3E5B6602-E500-4FDC-BE7C-AF670B601F37}">
      <dgm:prSet/>
      <dgm:spPr/>
      <dgm:t>
        <a:bodyPr/>
        <a:lstStyle/>
        <a:p>
          <a:pPr algn="just"/>
          <a:endParaRPr lang="en-IN" sz="6000"/>
        </a:p>
      </dgm:t>
    </dgm:pt>
    <dgm:pt modelId="{51121274-F8B2-468B-BA58-BB227366F520}" type="sibTrans" cxnId="{3E5B6602-E500-4FDC-BE7C-AF670B601F37}">
      <dgm:prSet/>
      <dgm:spPr/>
      <dgm:t>
        <a:bodyPr/>
        <a:lstStyle/>
        <a:p>
          <a:pPr algn="just"/>
          <a:endParaRPr lang="en-IN" sz="6000"/>
        </a:p>
      </dgm:t>
    </dgm:pt>
    <dgm:pt modelId="{0B1C1C57-4D72-40DB-9A7C-31CD04DD1088}" type="pres">
      <dgm:prSet presAssocID="{B50C1E31-C079-47D1-AF68-32A727F609A6}" presName="Name0" presStyleCnt="0">
        <dgm:presLayoutVars>
          <dgm:dir/>
          <dgm:resizeHandles val="exact"/>
        </dgm:presLayoutVars>
      </dgm:prSet>
      <dgm:spPr/>
    </dgm:pt>
    <dgm:pt modelId="{5350320C-A8D0-4143-A69D-EE016560EFE9}" type="pres">
      <dgm:prSet presAssocID="{C6D20F10-2E26-4FE1-BDC8-C56139CB2CE0}" presName="node" presStyleLbl="node1" presStyleIdx="0" presStyleCnt="4">
        <dgm:presLayoutVars>
          <dgm:bulletEnabled val="1"/>
        </dgm:presLayoutVars>
      </dgm:prSet>
      <dgm:spPr/>
    </dgm:pt>
    <dgm:pt modelId="{446A0C17-B562-4B9B-B552-4A2048E4C3A3}" type="pres">
      <dgm:prSet presAssocID="{D1BE6432-6AD7-4EE2-B69A-1B572B669B3F}" presName="sibTrans" presStyleLbl="sibTrans2D1" presStyleIdx="0" presStyleCnt="3"/>
      <dgm:spPr/>
    </dgm:pt>
    <dgm:pt modelId="{82F2271F-CB84-42DB-915E-4EBB1920F5D3}" type="pres">
      <dgm:prSet presAssocID="{D1BE6432-6AD7-4EE2-B69A-1B572B669B3F}" presName="connectorText" presStyleLbl="sibTrans2D1" presStyleIdx="0" presStyleCnt="3"/>
      <dgm:spPr/>
    </dgm:pt>
    <dgm:pt modelId="{FFB76B42-9A85-43A5-A46F-F1A2BE4784EC}" type="pres">
      <dgm:prSet presAssocID="{2A8EAA87-C55B-4D68-9F2A-7C4CB908B2AD}" presName="node" presStyleLbl="node1" presStyleIdx="1" presStyleCnt="4">
        <dgm:presLayoutVars>
          <dgm:bulletEnabled val="1"/>
        </dgm:presLayoutVars>
      </dgm:prSet>
      <dgm:spPr/>
    </dgm:pt>
    <dgm:pt modelId="{F3091E69-CAB4-4248-A2BD-DFAD93A0A8A5}" type="pres">
      <dgm:prSet presAssocID="{B8B0DDFD-4433-401B-A50A-7FAFAC476502}" presName="sibTrans" presStyleLbl="sibTrans2D1" presStyleIdx="1" presStyleCnt="3"/>
      <dgm:spPr/>
    </dgm:pt>
    <dgm:pt modelId="{B88767D8-2F42-497F-B694-A9D9C37B17A4}" type="pres">
      <dgm:prSet presAssocID="{B8B0DDFD-4433-401B-A50A-7FAFAC476502}" presName="connectorText" presStyleLbl="sibTrans2D1" presStyleIdx="1" presStyleCnt="3"/>
      <dgm:spPr/>
    </dgm:pt>
    <dgm:pt modelId="{154D35CD-974C-4A75-89DA-0AE1EA346E41}" type="pres">
      <dgm:prSet presAssocID="{5383A1BA-3B5A-492B-A26E-D852B588B7E3}" presName="node" presStyleLbl="node1" presStyleIdx="2" presStyleCnt="4" custLinFactNeighborX="3696" custLinFactNeighborY="-1020">
        <dgm:presLayoutVars>
          <dgm:bulletEnabled val="1"/>
        </dgm:presLayoutVars>
      </dgm:prSet>
      <dgm:spPr/>
    </dgm:pt>
    <dgm:pt modelId="{EEA621E8-086C-4282-B3C3-8381B72A50CD}" type="pres">
      <dgm:prSet presAssocID="{670269F1-A5F7-44B1-9D6E-88EEF4FEAE9B}" presName="sibTrans" presStyleLbl="sibTrans2D1" presStyleIdx="2" presStyleCnt="3"/>
      <dgm:spPr/>
    </dgm:pt>
    <dgm:pt modelId="{3D28DE74-90FF-4C7D-9A6C-92FFCFCDEB11}" type="pres">
      <dgm:prSet presAssocID="{670269F1-A5F7-44B1-9D6E-88EEF4FEAE9B}" presName="connectorText" presStyleLbl="sibTrans2D1" presStyleIdx="2" presStyleCnt="3"/>
      <dgm:spPr/>
    </dgm:pt>
    <dgm:pt modelId="{798E4C17-6185-4217-B562-F457050CBD87}" type="pres">
      <dgm:prSet presAssocID="{DB4BDECB-E592-4948-B15E-81F5C2FD3B50}" presName="node" presStyleLbl="node1" presStyleIdx="3" presStyleCnt="4">
        <dgm:presLayoutVars>
          <dgm:bulletEnabled val="1"/>
        </dgm:presLayoutVars>
      </dgm:prSet>
      <dgm:spPr/>
    </dgm:pt>
  </dgm:ptLst>
  <dgm:cxnLst>
    <dgm:cxn modelId="{3E5B6602-E500-4FDC-BE7C-AF670B601F37}" srcId="{B50C1E31-C079-47D1-AF68-32A727F609A6}" destId="{DB4BDECB-E592-4948-B15E-81F5C2FD3B50}" srcOrd="3" destOrd="0" parTransId="{6E59BA02-48B9-4F9C-9241-894A4B3D0A53}" sibTransId="{51121274-F8B2-468B-BA58-BB227366F520}"/>
    <dgm:cxn modelId="{C393DF18-8F46-4CB3-B61D-D7E2A40731DB}" type="presOf" srcId="{2A8EAA87-C55B-4D68-9F2A-7C4CB908B2AD}" destId="{FFB76B42-9A85-43A5-A46F-F1A2BE4784EC}" srcOrd="0" destOrd="0" presId="urn:microsoft.com/office/officeart/2005/8/layout/process1"/>
    <dgm:cxn modelId="{8C4ECE52-8EDE-4242-9B68-1638C1B5B63F}" type="presOf" srcId="{5383A1BA-3B5A-492B-A26E-D852B588B7E3}" destId="{154D35CD-974C-4A75-89DA-0AE1EA346E41}" srcOrd="0" destOrd="0" presId="urn:microsoft.com/office/officeart/2005/8/layout/process1"/>
    <dgm:cxn modelId="{CB82FA73-D827-434E-9579-CD4D0CD624CF}" srcId="{B50C1E31-C079-47D1-AF68-32A727F609A6}" destId="{C6D20F10-2E26-4FE1-BDC8-C56139CB2CE0}" srcOrd="0" destOrd="0" parTransId="{55390533-09BB-48A7-B171-4C25C611F16F}" sibTransId="{D1BE6432-6AD7-4EE2-B69A-1B572B669B3F}"/>
    <dgm:cxn modelId="{44D85774-3499-4436-8660-C14093B6C1C2}" type="presOf" srcId="{670269F1-A5F7-44B1-9D6E-88EEF4FEAE9B}" destId="{EEA621E8-086C-4282-B3C3-8381B72A50CD}" srcOrd="0" destOrd="0" presId="urn:microsoft.com/office/officeart/2005/8/layout/process1"/>
    <dgm:cxn modelId="{5B30B775-8CAF-439E-B134-EF30543BD268}" type="presOf" srcId="{B50C1E31-C079-47D1-AF68-32A727F609A6}" destId="{0B1C1C57-4D72-40DB-9A7C-31CD04DD1088}" srcOrd="0" destOrd="0" presId="urn:microsoft.com/office/officeart/2005/8/layout/process1"/>
    <dgm:cxn modelId="{ABABD055-BB49-4285-88BD-3471CA679F0A}" type="presOf" srcId="{DB4BDECB-E592-4948-B15E-81F5C2FD3B50}" destId="{798E4C17-6185-4217-B562-F457050CBD87}" srcOrd="0" destOrd="0" presId="urn:microsoft.com/office/officeart/2005/8/layout/process1"/>
    <dgm:cxn modelId="{8CF62C78-DDD1-4AFC-BEA9-7EA3ACB6DBE9}" type="presOf" srcId="{D1BE6432-6AD7-4EE2-B69A-1B572B669B3F}" destId="{446A0C17-B562-4B9B-B552-4A2048E4C3A3}" srcOrd="0" destOrd="0" presId="urn:microsoft.com/office/officeart/2005/8/layout/process1"/>
    <dgm:cxn modelId="{42EFCB94-875C-4438-8E4C-8FD0DE133729}" type="presOf" srcId="{D1BE6432-6AD7-4EE2-B69A-1B572B669B3F}" destId="{82F2271F-CB84-42DB-915E-4EBB1920F5D3}" srcOrd="1" destOrd="0" presId="urn:microsoft.com/office/officeart/2005/8/layout/process1"/>
    <dgm:cxn modelId="{85BF20A8-524A-4178-80FD-4A96287705A7}" type="presOf" srcId="{B8B0DDFD-4433-401B-A50A-7FAFAC476502}" destId="{F3091E69-CAB4-4248-A2BD-DFAD93A0A8A5}" srcOrd="0" destOrd="0" presId="urn:microsoft.com/office/officeart/2005/8/layout/process1"/>
    <dgm:cxn modelId="{B6B6C1B4-17BA-4DA0-BAAD-19BF6125208A}" type="presOf" srcId="{B8B0DDFD-4433-401B-A50A-7FAFAC476502}" destId="{B88767D8-2F42-497F-B694-A9D9C37B17A4}" srcOrd="1" destOrd="0" presId="urn:microsoft.com/office/officeart/2005/8/layout/process1"/>
    <dgm:cxn modelId="{737217C0-EF1C-47E9-A2F3-05829FCDEEB7}" type="presOf" srcId="{670269F1-A5F7-44B1-9D6E-88EEF4FEAE9B}" destId="{3D28DE74-90FF-4C7D-9A6C-92FFCFCDEB11}" srcOrd="1" destOrd="0" presId="urn:microsoft.com/office/officeart/2005/8/layout/process1"/>
    <dgm:cxn modelId="{ABE563DD-139D-4314-ABD3-AF39FB2991DD}" type="presOf" srcId="{C6D20F10-2E26-4FE1-BDC8-C56139CB2CE0}" destId="{5350320C-A8D0-4143-A69D-EE016560EFE9}" srcOrd="0" destOrd="0" presId="urn:microsoft.com/office/officeart/2005/8/layout/process1"/>
    <dgm:cxn modelId="{15D1CEE4-3620-46D8-BDE1-4EA811575B9E}" srcId="{B50C1E31-C079-47D1-AF68-32A727F609A6}" destId="{2A8EAA87-C55B-4D68-9F2A-7C4CB908B2AD}" srcOrd="1" destOrd="0" parTransId="{84A8A79F-F549-4A8B-A111-29D901455E73}" sibTransId="{B8B0DDFD-4433-401B-A50A-7FAFAC476502}"/>
    <dgm:cxn modelId="{274891EE-42EF-4DB4-AC59-7A419473DA50}" srcId="{B50C1E31-C079-47D1-AF68-32A727F609A6}" destId="{5383A1BA-3B5A-492B-A26E-D852B588B7E3}" srcOrd="2" destOrd="0" parTransId="{AB5A58DA-3D2C-4945-AB3A-CA90A2EBFEBF}" sibTransId="{670269F1-A5F7-44B1-9D6E-88EEF4FEAE9B}"/>
    <dgm:cxn modelId="{D873FD0C-CFFF-4B8E-B1EC-5E2775D1E367}" type="presParOf" srcId="{0B1C1C57-4D72-40DB-9A7C-31CD04DD1088}" destId="{5350320C-A8D0-4143-A69D-EE016560EFE9}" srcOrd="0" destOrd="0" presId="urn:microsoft.com/office/officeart/2005/8/layout/process1"/>
    <dgm:cxn modelId="{044069AE-D9F7-4052-B645-AC25D584E0B2}" type="presParOf" srcId="{0B1C1C57-4D72-40DB-9A7C-31CD04DD1088}" destId="{446A0C17-B562-4B9B-B552-4A2048E4C3A3}" srcOrd="1" destOrd="0" presId="urn:microsoft.com/office/officeart/2005/8/layout/process1"/>
    <dgm:cxn modelId="{C87AAFE7-2FEC-477E-8BF4-9629269E3A5D}" type="presParOf" srcId="{446A0C17-B562-4B9B-B552-4A2048E4C3A3}" destId="{82F2271F-CB84-42DB-915E-4EBB1920F5D3}" srcOrd="0" destOrd="0" presId="urn:microsoft.com/office/officeart/2005/8/layout/process1"/>
    <dgm:cxn modelId="{11337078-6F67-40ED-B0A9-4B05AAD19588}" type="presParOf" srcId="{0B1C1C57-4D72-40DB-9A7C-31CD04DD1088}" destId="{FFB76B42-9A85-43A5-A46F-F1A2BE4784EC}" srcOrd="2" destOrd="0" presId="urn:microsoft.com/office/officeart/2005/8/layout/process1"/>
    <dgm:cxn modelId="{A75FC0A1-1BA4-4622-B9DA-AE54DE08D2D9}" type="presParOf" srcId="{0B1C1C57-4D72-40DB-9A7C-31CD04DD1088}" destId="{F3091E69-CAB4-4248-A2BD-DFAD93A0A8A5}" srcOrd="3" destOrd="0" presId="urn:microsoft.com/office/officeart/2005/8/layout/process1"/>
    <dgm:cxn modelId="{928AA5B0-4CA5-43C7-AD96-157A05241D42}" type="presParOf" srcId="{F3091E69-CAB4-4248-A2BD-DFAD93A0A8A5}" destId="{B88767D8-2F42-497F-B694-A9D9C37B17A4}" srcOrd="0" destOrd="0" presId="urn:microsoft.com/office/officeart/2005/8/layout/process1"/>
    <dgm:cxn modelId="{61B35613-3E39-4385-9D81-F96B4C861A7F}" type="presParOf" srcId="{0B1C1C57-4D72-40DB-9A7C-31CD04DD1088}" destId="{154D35CD-974C-4A75-89DA-0AE1EA346E41}" srcOrd="4" destOrd="0" presId="urn:microsoft.com/office/officeart/2005/8/layout/process1"/>
    <dgm:cxn modelId="{0F16AF7C-B869-4E42-83F3-7F1D5CA88895}" type="presParOf" srcId="{0B1C1C57-4D72-40DB-9A7C-31CD04DD1088}" destId="{EEA621E8-086C-4282-B3C3-8381B72A50CD}" srcOrd="5" destOrd="0" presId="urn:microsoft.com/office/officeart/2005/8/layout/process1"/>
    <dgm:cxn modelId="{C0F60DC6-CD5C-4522-8F91-38091A1484A4}" type="presParOf" srcId="{EEA621E8-086C-4282-B3C3-8381B72A50CD}" destId="{3D28DE74-90FF-4C7D-9A6C-92FFCFCDEB11}" srcOrd="0" destOrd="0" presId="urn:microsoft.com/office/officeart/2005/8/layout/process1"/>
    <dgm:cxn modelId="{6C577909-4B64-475C-BAC6-7F6895B816B5}" type="presParOf" srcId="{0B1C1C57-4D72-40DB-9A7C-31CD04DD1088}" destId="{798E4C17-6185-4217-B562-F457050CBD87}"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50C1E31-C079-47D1-AF68-32A727F609A6}" type="doc">
      <dgm:prSet loTypeId="urn:microsoft.com/office/officeart/2005/8/layout/process1" loCatId="process" qsTypeId="urn:microsoft.com/office/officeart/2005/8/quickstyle/simple1" qsCatId="simple" csTypeId="urn:microsoft.com/office/officeart/2005/8/colors/accent3_1" csCatId="accent3" phldr="1"/>
      <dgm:spPr/>
      <dgm:t>
        <a:bodyPr/>
        <a:lstStyle/>
        <a:p>
          <a:endParaRPr lang="en-IN"/>
        </a:p>
      </dgm:t>
    </dgm:pt>
    <dgm:pt modelId="{C6D20F10-2E26-4FE1-BDC8-C56139CB2CE0}">
      <dgm:prSet phldrT="[Text]" custT="1"/>
      <dgm:spPr/>
      <dgm:t>
        <a:bodyPr/>
        <a:lstStyle/>
        <a:p>
          <a:pPr algn="just">
            <a:buNone/>
          </a:pPr>
          <a:r>
            <a:rPr lang="en-IN" sz="1600" b="1" dirty="0">
              <a:highlight>
                <a:srgbClr val="FFFF00"/>
              </a:highlight>
              <a:latin typeface="Times New Roman" panose="02020603050405020304" pitchFamily="18" charset="0"/>
              <a:cs typeface="Times New Roman" panose="02020603050405020304" pitchFamily="18" charset="0"/>
            </a:rPr>
            <a:t>Iteration 2</a:t>
          </a:r>
          <a:endParaRPr lang="en-IN" sz="1600" dirty="0">
            <a:highlight>
              <a:srgbClr val="FFFF00"/>
            </a:highlight>
            <a:latin typeface="Times New Roman" panose="02020603050405020304" pitchFamily="18" charset="0"/>
            <a:cs typeface="Times New Roman" panose="02020603050405020304" pitchFamily="18" charset="0"/>
          </a:endParaRPr>
        </a:p>
        <a:p>
          <a:pPr algn="just">
            <a:buNone/>
          </a:pPr>
          <a:r>
            <a:rPr lang="en-IN" sz="1600" b="0" dirty="0">
              <a:latin typeface="Times New Roman" panose="02020603050405020304" pitchFamily="18" charset="0"/>
              <a:cs typeface="Times New Roman" panose="02020603050405020304" pitchFamily="18" charset="0"/>
            </a:rPr>
            <a:t>Remove</a:t>
          </a:r>
          <a:r>
            <a:rPr lang="en-IN" sz="1600" b="1" dirty="0">
              <a:latin typeface="Times New Roman" panose="02020603050405020304" pitchFamily="18" charset="0"/>
              <a:cs typeface="Times New Roman" panose="02020603050405020304" pitchFamily="18" charset="0"/>
            </a:rPr>
            <a:t> s</a:t>
          </a:r>
          <a:endParaRPr lang="en-IN" sz="1600"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Queue Before:</a:t>
          </a:r>
          <a:r>
            <a:rPr lang="en-IN" sz="1600" b="1" dirty="0">
              <a:latin typeface="Times New Roman" panose="02020603050405020304" pitchFamily="18" charset="0"/>
              <a:cs typeface="Times New Roman" panose="02020603050405020304" pitchFamily="18" charset="0"/>
            </a:rPr>
            <a:t> </a:t>
          </a:r>
        </a:p>
        <a:p>
          <a:pPr algn="just">
            <a:buNone/>
          </a:pPr>
          <a:r>
            <a:rPr lang="en-IN" sz="1600" b="1" dirty="0">
              <a:latin typeface="Times New Roman" panose="02020603050405020304" pitchFamily="18" charset="0"/>
              <a:cs typeface="Times New Roman" panose="02020603050405020304" pitchFamily="18" charset="0"/>
            </a:rPr>
            <a:t>[s, he, hi]</a:t>
          </a:r>
          <a:endParaRPr lang="en-IN" sz="1600"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After:</a:t>
          </a:r>
          <a:r>
            <a:rPr lang="en-IN" sz="1600" b="1" dirty="0">
              <a:latin typeface="Times New Roman" panose="02020603050405020304" pitchFamily="18" charset="0"/>
              <a:cs typeface="Times New Roman" panose="02020603050405020304" pitchFamily="18" charset="0"/>
            </a:rPr>
            <a:t> [he, hi]</a:t>
          </a:r>
          <a:endParaRPr lang="en-IN" sz="1600"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Child: </a:t>
          </a:r>
          <a:r>
            <a:rPr lang="en-IN" sz="1600" b="1" dirty="0" err="1">
              <a:latin typeface="Times New Roman" panose="02020603050405020304" pitchFamily="18" charset="0"/>
              <a:cs typeface="Times New Roman" panose="02020603050405020304" pitchFamily="18" charset="0"/>
            </a:rPr>
            <a:t>sh</a:t>
          </a:r>
          <a:endParaRPr lang="en-IN" sz="1600" b="1"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Failure(parent)=root</a:t>
          </a:r>
        </a:p>
        <a:p>
          <a:pPr algn="just">
            <a:buNone/>
          </a:pPr>
          <a:r>
            <a:rPr lang="en-IN" sz="1600" dirty="0">
              <a:latin typeface="Times New Roman" panose="02020603050405020304" pitchFamily="18" charset="0"/>
              <a:cs typeface="Times New Roman" panose="02020603050405020304" pitchFamily="18" charset="0"/>
            </a:rPr>
            <a:t>From root</a:t>
          </a:r>
        </a:p>
        <a:p>
          <a:pPr algn="just">
            <a:buNone/>
          </a:pPr>
          <a:r>
            <a:rPr lang="en-IN" sz="1600" dirty="0">
              <a:latin typeface="Times New Roman" panose="02020603050405020304" pitchFamily="18" charset="0"/>
              <a:cs typeface="Times New Roman" panose="02020603050405020304" pitchFamily="18" charset="0"/>
            </a:rPr>
            <a:t>Edge </a:t>
          </a:r>
          <a:r>
            <a:rPr lang="en-IN" sz="1600" b="1" dirty="0">
              <a:latin typeface="Times New Roman" panose="02020603050405020304" pitchFamily="18" charset="0"/>
              <a:cs typeface="Times New Roman" panose="02020603050405020304" pitchFamily="18" charset="0"/>
            </a:rPr>
            <a:t>h</a:t>
          </a:r>
          <a:r>
            <a:rPr lang="en-IN" sz="1600" dirty="0">
              <a:latin typeface="Times New Roman" panose="02020603050405020304" pitchFamily="18" charset="0"/>
              <a:cs typeface="Times New Roman" panose="02020603050405020304" pitchFamily="18" charset="0"/>
            </a:rPr>
            <a:t> ? YES</a:t>
          </a:r>
        </a:p>
        <a:p>
          <a:pPr algn="just">
            <a:buNone/>
          </a:pPr>
          <a:r>
            <a:rPr lang="en-IN" sz="1600" dirty="0">
              <a:latin typeface="Times New Roman" panose="02020603050405020304" pitchFamily="18" charset="0"/>
              <a:cs typeface="Times New Roman" panose="02020603050405020304" pitchFamily="18" charset="0"/>
            </a:rPr>
            <a:t>So</a:t>
          </a:r>
        </a:p>
        <a:p>
          <a:pPr algn="just">
            <a:buNone/>
          </a:pPr>
          <a:r>
            <a:rPr lang="en-IN" sz="1600" b="1" dirty="0">
              <a:latin typeface="Times New Roman" panose="02020603050405020304" pitchFamily="18" charset="0"/>
              <a:cs typeface="Times New Roman" panose="02020603050405020304" pitchFamily="18" charset="0"/>
            </a:rPr>
            <a:t>Failure(</a:t>
          </a:r>
          <a:r>
            <a:rPr lang="en-IN" sz="1600" b="1" dirty="0" err="1">
              <a:latin typeface="Times New Roman" panose="02020603050405020304" pitchFamily="18" charset="0"/>
              <a:cs typeface="Times New Roman" panose="02020603050405020304" pitchFamily="18" charset="0"/>
            </a:rPr>
            <a:t>sh</a:t>
          </a:r>
          <a:r>
            <a:rPr lang="en-IN" sz="1600" b="1" dirty="0">
              <a:latin typeface="Times New Roman" panose="02020603050405020304" pitchFamily="18" charset="0"/>
              <a:cs typeface="Times New Roman" panose="02020603050405020304" pitchFamily="18" charset="0"/>
            </a:rPr>
            <a:t>)=h</a:t>
          </a:r>
          <a:endParaRPr lang="en-IN" sz="1600"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Queue: </a:t>
          </a:r>
          <a:r>
            <a:rPr lang="en-IN" sz="1600" b="1" dirty="0">
              <a:latin typeface="Times New Roman" panose="02020603050405020304" pitchFamily="18" charset="0"/>
              <a:cs typeface="Times New Roman" panose="02020603050405020304" pitchFamily="18" charset="0"/>
            </a:rPr>
            <a:t>[he, hi, </a:t>
          </a:r>
          <a:r>
            <a:rPr lang="en-IN" sz="1600" b="1" dirty="0" err="1">
              <a:latin typeface="Times New Roman" panose="02020603050405020304" pitchFamily="18" charset="0"/>
              <a:cs typeface="Times New Roman" panose="02020603050405020304" pitchFamily="18" charset="0"/>
            </a:rPr>
            <a:t>sh</a:t>
          </a:r>
          <a:r>
            <a:rPr lang="en-IN" sz="1600" b="1" dirty="0">
              <a:latin typeface="Times New Roman" panose="02020603050405020304" pitchFamily="18" charset="0"/>
              <a:cs typeface="Times New Roman" panose="02020603050405020304" pitchFamily="18" charset="0"/>
            </a:rPr>
            <a:t>]</a:t>
          </a:r>
        </a:p>
      </dgm:t>
    </dgm:pt>
    <dgm:pt modelId="{55390533-09BB-48A7-B171-4C25C611F16F}" type="parTrans" cxnId="{CB82FA73-D827-434E-9579-CD4D0CD624CF}">
      <dgm:prSet/>
      <dgm:spPr/>
      <dgm:t>
        <a:bodyPr/>
        <a:lstStyle/>
        <a:p>
          <a:pPr algn="just"/>
          <a:endParaRPr lang="en-IN" sz="1600">
            <a:latin typeface="Times New Roman" panose="02020603050405020304" pitchFamily="18" charset="0"/>
            <a:cs typeface="Times New Roman" panose="02020603050405020304" pitchFamily="18" charset="0"/>
          </a:endParaRPr>
        </a:p>
      </dgm:t>
    </dgm:pt>
    <dgm:pt modelId="{D1BE6432-6AD7-4EE2-B69A-1B572B669B3F}" type="sibTrans" cxnId="{CB82FA73-D827-434E-9579-CD4D0CD624CF}">
      <dgm:prSet custT="1"/>
      <dgm:spPr/>
      <dgm:t>
        <a:bodyPr/>
        <a:lstStyle/>
        <a:p>
          <a:pPr algn="just"/>
          <a:endParaRPr lang="en-IN" sz="1600">
            <a:latin typeface="Times New Roman" panose="02020603050405020304" pitchFamily="18" charset="0"/>
            <a:cs typeface="Times New Roman" panose="02020603050405020304" pitchFamily="18" charset="0"/>
          </a:endParaRPr>
        </a:p>
      </dgm:t>
    </dgm:pt>
    <dgm:pt modelId="{2A8EAA87-C55B-4D68-9F2A-7C4CB908B2AD}">
      <dgm:prSet phldrT="[Text]" custT="1"/>
      <dgm:spPr/>
      <dgm:t>
        <a:bodyPr/>
        <a:lstStyle/>
        <a:p>
          <a:pPr algn="just">
            <a:buNone/>
          </a:pPr>
          <a:r>
            <a:rPr lang="en-IN" sz="1600" b="1" dirty="0">
              <a:highlight>
                <a:srgbClr val="FFFF00"/>
              </a:highlight>
              <a:latin typeface="Times New Roman" panose="02020603050405020304" pitchFamily="18" charset="0"/>
              <a:cs typeface="Times New Roman" panose="02020603050405020304" pitchFamily="18" charset="0"/>
            </a:rPr>
            <a:t>Iteration 3</a:t>
          </a:r>
          <a:endParaRPr lang="en-IN" sz="1600" dirty="0">
            <a:highlight>
              <a:srgbClr val="FFFF00"/>
            </a:highlight>
            <a:latin typeface="Times New Roman" panose="02020603050405020304" pitchFamily="18" charset="0"/>
            <a:cs typeface="Times New Roman" panose="02020603050405020304" pitchFamily="18" charset="0"/>
          </a:endParaRPr>
        </a:p>
        <a:p>
          <a:pPr algn="just">
            <a:buNone/>
          </a:pPr>
          <a:r>
            <a:rPr lang="en-IN" sz="1600" b="0" dirty="0">
              <a:latin typeface="Times New Roman" panose="02020603050405020304" pitchFamily="18" charset="0"/>
              <a:cs typeface="Times New Roman" panose="02020603050405020304" pitchFamily="18" charset="0"/>
            </a:rPr>
            <a:t>Remove</a:t>
          </a:r>
          <a:r>
            <a:rPr lang="en-IN" sz="1600" b="1" dirty="0">
              <a:latin typeface="Times New Roman" panose="02020603050405020304" pitchFamily="18" charset="0"/>
              <a:cs typeface="Times New Roman" panose="02020603050405020304" pitchFamily="18" charset="0"/>
            </a:rPr>
            <a:t> he</a:t>
          </a:r>
          <a:endParaRPr lang="en-IN" sz="1600"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Queue</a:t>
          </a:r>
        </a:p>
        <a:p>
          <a:pPr algn="just">
            <a:buNone/>
          </a:pPr>
          <a:r>
            <a:rPr lang="en-IN" sz="1600" dirty="0">
              <a:latin typeface="Times New Roman" panose="02020603050405020304" pitchFamily="18" charset="0"/>
              <a:cs typeface="Times New Roman" panose="02020603050405020304" pitchFamily="18" charset="0"/>
            </a:rPr>
            <a:t>Before:</a:t>
          </a:r>
        </a:p>
        <a:p>
          <a:pPr algn="just">
            <a:buNone/>
          </a:pPr>
          <a:r>
            <a:rPr lang="en-IN" sz="1600" b="1" dirty="0">
              <a:latin typeface="Times New Roman" panose="02020603050405020304" pitchFamily="18" charset="0"/>
              <a:cs typeface="Times New Roman" panose="02020603050405020304" pitchFamily="18" charset="0"/>
            </a:rPr>
            <a:t>[he, hi, </a:t>
          </a:r>
          <a:r>
            <a:rPr lang="en-IN" sz="1600" b="1" dirty="0" err="1">
              <a:latin typeface="Times New Roman" panose="02020603050405020304" pitchFamily="18" charset="0"/>
              <a:cs typeface="Times New Roman" panose="02020603050405020304" pitchFamily="18" charset="0"/>
            </a:rPr>
            <a:t>sh</a:t>
          </a:r>
          <a:r>
            <a:rPr lang="en-IN" sz="1600" b="1"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After: </a:t>
          </a:r>
          <a:r>
            <a:rPr lang="en-IN" sz="1600" b="1" dirty="0">
              <a:latin typeface="Times New Roman" panose="02020603050405020304" pitchFamily="18" charset="0"/>
              <a:cs typeface="Times New Roman" panose="02020603050405020304" pitchFamily="18" charset="0"/>
            </a:rPr>
            <a:t>[hi, </a:t>
          </a:r>
          <a:r>
            <a:rPr lang="en-IN" sz="1600" b="1" dirty="0" err="1">
              <a:latin typeface="Times New Roman" panose="02020603050405020304" pitchFamily="18" charset="0"/>
              <a:cs typeface="Times New Roman" panose="02020603050405020304" pitchFamily="18" charset="0"/>
            </a:rPr>
            <a:t>sh</a:t>
          </a:r>
          <a:r>
            <a:rPr lang="en-IN" sz="1600" b="1"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Child: </a:t>
          </a:r>
          <a:r>
            <a:rPr lang="en-IN" sz="1600" b="1" i="1" dirty="0">
              <a:latin typeface="Times New Roman" panose="02020603050405020304" pitchFamily="18" charset="0"/>
              <a:cs typeface="Times New Roman" panose="02020603050405020304" pitchFamily="18" charset="0"/>
            </a:rPr>
            <a:t>her</a:t>
          </a:r>
        </a:p>
        <a:p>
          <a:pPr algn="just">
            <a:buNone/>
          </a:pPr>
          <a:r>
            <a:rPr lang="en-IN" sz="1600" b="1" dirty="0">
              <a:latin typeface="Times New Roman" panose="02020603050405020304" pitchFamily="18" charset="0"/>
              <a:cs typeface="Times New Roman" panose="02020603050405020304" pitchFamily="18" charset="0"/>
            </a:rPr>
            <a:t>Failure(parent)=root</a:t>
          </a:r>
          <a:endParaRPr lang="en-IN" sz="1600"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From root</a:t>
          </a:r>
        </a:p>
        <a:p>
          <a:pPr algn="just">
            <a:buNone/>
          </a:pPr>
          <a:r>
            <a:rPr lang="en-IN" sz="1600" dirty="0">
              <a:latin typeface="Times New Roman" panose="02020603050405020304" pitchFamily="18" charset="0"/>
              <a:cs typeface="Times New Roman" panose="02020603050405020304" pitchFamily="18" charset="0"/>
            </a:rPr>
            <a:t>Edge </a:t>
          </a:r>
          <a:r>
            <a:rPr lang="en-IN" sz="1600" b="1" dirty="0">
              <a:latin typeface="Times New Roman" panose="02020603050405020304" pitchFamily="18" charset="0"/>
              <a:cs typeface="Times New Roman" panose="02020603050405020304" pitchFamily="18" charset="0"/>
            </a:rPr>
            <a:t>r</a:t>
          </a:r>
          <a:r>
            <a:rPr lang="en-IN" sz="1600" dirty="0">
              <a:latin typeface="Times New Roman" panose="02020603050405020304" pitchFamily="18" charset="0"/>
              <a:cs typeface="Times New Roman" panose="02020603050405020304" pitchFamily="18" charset="0"/>
            </a:rPr>
            <a:t> ? No</a:t>
          </a:r>
        </a:p>
        <a:p>
          <a:pPr algn="just">
            <a:buNone/>
          </a:pPr>
          <a:r>
            <a:rPr lang="en-IN" sz="1600" dirty="0">
              <a:latin typeface="Times New Roman" panose="02020603050405020304" pitchFamily="18" charset="0"/>
              <a:cs typeface="Times New Roman" panose="02020603050405020304" pitchFamily="18" charset="0"/>
            </a:rPr>
            <a:t>Therefore</a:t>
          </a:r>
        </a:p>
        <a:p>
          <a:pPr algn="just">
            <a:buNone/>
          </a:pPr>
          <a:r>
            <a:rPr lang="en-IN" sz="1600" b="1" dirty="0">
              <a:latin typeface="Times New Roman" panose="02020603050405020304" pitchFamily="18" charset="0"/>
              <a:cs typeface="Times New Roman" panose="02020603050405020304" pitchFamily="18" charset="0"/>
            </a:rPr>
            <a:t>Failure(her)=root</a:t>
          </a:r>
          <a:endParaRPr lang="en-IN" sz="1600"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Queue</a:t>
          </a:r>
        </a:p>
        <a:p>
          <a:pPr algn="just">
            <a:buNone/>
          </a:pPr>
          <a:r>
            <a:rPr lang="en-IN" sz="1600" b="1" dirty="0">
              <a:latin typeface="Times New Roman" panose="02020603050405020304" pitchFamily="18" charset="0"/>
              <a:cs typeface="Times New Roman" panose="02020603050405020304" pitchFamily="18" charset="0"/>
            </a:rPr>
            <a:t>[hi, </a:t>
          </a:r>
          <a:r>
            <a:rPr lang="en-IN" sz="1600" b="1" dirty="0" err="1">
              <a:latin typeface="Times New Roman" panose="02020603050405020304" pitchFamily="18" charset="0"/>
              <a:cs typeface="Times New Roman" panose="02020603050405020304" pitchFamily="18" charset="0"/>
            </a:rPr>
            <a:t>sh</a:t>
          </a:r>
          <a:r>
            <a:rPr lang="en-IN" sz="1600" b="1" dirty="0">
              <a:latin typeface="Times New Roman" panose="02020603050405020304" pitchFamily="18" charset="0"/>
              <a:cs typeface="Times New Roman" panose="02020603050405020304" pitchFamily="18" charset="0"/>
            </a:rPr>
            <a:t>, her]</a:t>
          </a:r>
          <a:endParaRPr lang="en-IN" sz="1600" dirty="0">
            <a:latin typeface="Times New Roman" panose="02020603050405020304" pitchFamily="18" charset="0"/>
            <a:cs typeface="Times New Roman" panose="02020603050405020304" pitchFamily="18" charset="0"/>
          </a:endParaRPr>
        </a:p>
      </dgm:t>
    </dgm:pt>
    <dgm:pt modelId="{84A8A79F-F549-4A8B-A111-29D901455E73}" type="parTrans" cxnId="{15D1CEE4-3620-46D8-BDE1-4EA811575B9E}">
      <dgm:prSet/>
      <dgm:spPr/>
      <dgm:t>
        <a:bodyPr/>
        <a:lstStyle/>
        <a:p>
          <a:pPr algn="just"/>
          <a:endParaRPr lang="en-IN" sz="1600">
            <a:latin typeface="Times New Roman" panose="02020603050405020304" pitchFamily="18" charset="0"/>
            <a:cs typeface="Times New Roman" panose="02020603050405020304" pitchFamily="18" charset="0"/>
          </a:endParaRPr>
        </a:p>
      </dgm:t>
    </dgm:pt>
    <dgm:pt modelId="{B8B0DDFD-4433-401B-A50A-7FAFAC476502}" type="sibTrans" cxnId="{15D1CEE4-3620-46D8-BDE1-4EA811575B9E}">
      <dgm:prSet custT="1"/>
      <dgm:spPr/>
      <dgm:t>
        <a:bodyPr/>
        <a:lstStyle/>
        <a:p>
          <a:pPr algn="just"/>
          <a:endParaRPr lang="en-IN" sz="1600">
            <a:latin typeface="Times New Roman" panose="02020603050405020304" pitchFamily="18" charset="0"/>
            <a:cs typeface="Times New Roman" panose="02020603050405020304" pitchFamily="18" charset="0"/>
          </a:endParaRPr>
        </a:p>
      </dgm:t>
    </dgm:pt>
    <dgm:pt modelId="{5383A1BA-3B5A-492B-A26E-D852B588B7E3}">
      <dgm:prSet phldrT="[Text]" custT="1"/>
      <dgm:spPr/>
      <dgm:t>
        <a:bodyPr/>
        <a:lstStyle/>
        <a:p>
          <a:pPr algn="just">
            <a:buNone/>
          </a:pPr>
          <a:r>
            <a:rPr lang="en-IN" sz="1600" b="1" dirty="0">
              <a:highlight>
                <a:srgbClr val="FFFF00"/>
              </a:highlight>
              <a:latin typeface="Times New Roman" panose="02020603050405020304" pitchFamily="18" charset="0"/>
              <a:cs typeface="Times New Roman" panose="02020603050405020304" pitchFamily="18" charset="0"/>
            </a:rPr>
            <a:t>Iteration 4</a:t>
          </a:r>
          <a:endParaRPr lang="en-IN" sz="1600" dirty="0">
            <a:highlight>
              <a:srgbClr val="FFFF00"/>
            </a:highlight>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Remove</a:t>
          </a:r>
          <a:r>
            <a:rPr lang="en-IN" sz="1600" b="1" dirty="0">
              <a:latin typeface="Times New Roman" panose="02020603050405020304" pitchFamily="18" charset="0"/>
              <a:cs typeface="Times New Roman" panose="02020603050405020304" pitchFamily="18" charset="0"/>
            </a:rPr>
            <a:t> hi</a:t>
          </a:r>
          <a:endParaRPr lang="en-IN" sz="1600"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Queue</a:t>
          </a:r>
        </a:p>
        <a:p>
          <a:pPr algn="just">
            <a:buNone/>
          </a:pPr>
          <a:r>
            <a:rPr lang="en-IN" sz="1600" dirty="0">
              <a:latin typeface="Times New Roman" panose="02020603050405020304" pitchFamily="18" charset="0"/>
              <a:cs typeface="Times New Roman" panose="02020603050405020304" pitchFamily="18" charset="0"/>
            </a:rPr>
            <a:t>Before:</a:t>
          </a:r>
        </a:p>
        <a:p>
          <a:pPr algn="just">
            <a:buNone/>
          </a:pPr>
          <a:r>
            <a:rPr lang="en-IN" sz="1600" b="1" dirty="0">
              <a:latin typeface="Times New Roman" panose="02020603050405020304" pitchFamily="18" charset="0"/>
              <a:cs typeface="Times New Roman" panose="02020603050405020304" pitchFamily="18" charset="0"/>
            </a:rPr>
            <a:t>[hi, </a:t>
          </a:r>
          <a:r>
            <a:rPr lang="en-IN" sz="1600" b="1" dirty="0" err="1">
              <a:latin typeface="Times New Roman" panose="02020603050405020304" pitchFamily="18" charset="0"/>
              <a:cs typeface="Times New Roman" panose="02020603050405020304" pitchFamily="18" charset="0"/>
            </a:rPr>
            <a:t>sh</a:t>
          </a:r>
          <a:r>
            <a:rPr lang="en-IN" sz="1600" b="1" dirty="0">
              <a:latin typeface="Times New Roman" panose="02020603050405020304" pitchFamily="18" charset="0"/>
              <a:cs typeface="Times New Roman" panose="02020603050405020304" pitchFamily="18" charset="0"/>
            </a:rPr>
            <a:t>, her]</a:t>
          </a:r>
          <a:endParaRPr lang="en-IN" sz="1600"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After: </a:t>
          </a:r>
          <a:r>
            <a:rPr lang="en-IN" sz="1600" b="1" dirty="0">
              <a:latin typeface="Times New Roman" panose="02020603050405020304" pitchFamily="18" charset="0"/>
              <a:cs typeface="Times New Roman" panose="02020603050405020304" pitchFamily="18" charset="0"/>
            </a:rPr>
            <a:t>[</a:t>
          </a:r>
          <a:r>
            <a:rPr lang="en-IN" sz="1600" b="1" dirty="0" err="1">
              <a:latin typeface="Times New Roman" panose="02020603050405020304" pitchFamily="18" charset="0"/>
              <a:cs typeface="Times New Roman" panose="02020603050405020304" pitchFamily="18" charset="0"/>
            </a:rPr>
            <a:t>sh</a:t>
          </a:r>
          <a:r>
            <a:rPr lang="en-IN" sz="1600" b="1" dirty="0">
              <a:latin typeface="Times New Roman" panose="02020603050405020304" pitchFamily="18" charset="0"/>
              <a:cs typeface="Times New Roman" panose="02020603050405020304" pitchFamily="18" charset="0"/>
            </a:rPr>
            <a:t>, her]</a:t>
          </a:r>
          <a:endParaRPr lang="en-IN" sz="1600"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Child: </a:t>
          </a:r>
          <a:r>
            <a:rPr lang="en-IN" sz="1600" b="1" dirty="0">
              <a:latin typeface="Times New Roman" panose="02020603050405020304" pitchFamily="18" charset="0"/>
              <a:cs typeface="Times New Roman" panose="02020603050405020304" pitchFamily="18" charset="0"/>
            </a:rPr>
            <a:t>his</a:t>
          </a:r>
        </a:p>
        <a:p>
          <a:pPr algn="just">
            <a:buNone/>
          </a:pPr>
          <a:r>
            <a:rPr lang="en-IN" sz="1600" b="1" dirty="0">
              <a:latin typeface="Times New Roman" panose="02020603050405020304" pitchFamily="18" charset="0"/>
              <a:cs typeface="Times New Roman" panose="02020603050405020304" pitchFamily="18" charset="0"/>
            </a:rPr>
            <a:t>Failure(parent)=</a:t>
          </a:r>
        </a:p>
        <a:p>
          <a:pPr algn="just">
            <a:buNone/>
          </a:pPr>
          <a:r>
            <a:rPr lang="en-IN" sz="1600" b="1" dirty="0">
              <a:latin typeface="Times New Roman" panose="02020603050405020304" pitchFamily="18" charset="0"/>
              <a:cs typeface="Times New Roman" panose="02020603050405020304" pitchFamily="18" charset="0"/>
            </a:rPr>
            <a:t>root</a:t>
          </a:r>
          <a:endParaRPr lang="en-IN" sz="1600"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From root</a:t>
          </a:r>
        </a:p>
        <a:p>
          <a:pPr algn="just">
            <a:buNone/>
          </a:pPr>
          <a:r>
            <a:rPr lang="en-IN" sz="1600" dirty="0">
              <a:latin typeface="Times New Roman" panose="02020603050405020304" pitchFamily="18" charset="0"/>
              <a:cs typeface="Times New Roman" panose="02020603050405020304" pitchFamily="18" charset="0"/>
            </a:rPr>
            <a:t>Edge </a:t>
          </a:r>
          <a:r>
            <a:rPr lang="en-IN" sz="1600" b="1" dirty="0">
              <a:latin typeface="Times New Roman" panose="02020603050405020304" pitchFamily="18" charset="0"/>
              <a:cs typeface="Times New Roman" panose="02020603050405020304" pitchFamily="18" charset="0"/>
            </a:rPr>
            <a:t>s</a:t>
          </a:r>
          <a:r>
            <a:rPr lang="en-IN" sz="1600" dirty="0">
              <a:latin typeface="Times New Roman" panose="02020603050405020304" pitchFamily="18" charset="0"/>
              <a:cs typeface="Times New Roman" panose="02020603050405020304" pitchFamily="18" charset="0"/>
            </a:rPr>
            <a:t> ? YES</a:t>
          </a:r>
        </a:p>
        <a:p>
          <a:pPr algn="just">
            <a:buNone/>
          </a:pPr>
          <a:r>
            <a:rPr lang="en-IN" sz="1600" dirty="0">
              <a:latin typeface="Times New Roman" panose="02020603050405020304" pitchFamily="18" charset="0"/>
              <a:cs typeface="Times New Roman" panose="02020603050405020304" pitchFamily="18" charset="0"/>
            </a:rPr>
            <a:t>Therefore</a:t>
          </a:r>
        </a:p>
        <a:p>
          <a:pPr algn="just">
            <a:buNone/>
          </a:pPr>
          <a:r>
            <a:rPr lang="en-IN" sz="1600" b="1" dirty="0">
              <a:latin typeface="Times New Roman" panose="02020603050405020304" pitchFamily="18" charset="0"/>
              <a:cs typeface="Times New Roman" panose="02020603050405020304" pitchFamily="18" charset="0"/>
            </a:rPr>
            <a:t>Failure(his)=s</a:t>
          </a:r>
          <a:endParaRPr lang="en-IN" sz="1600"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Queue</a:t>
          </a:r>
        </a:p>
        <a:p>
          <a:pPr algn="just">
            <a:buNone/>
          </a:pPr>
          <a:r>
            <a:rPr lang="en-IN" sz="1600" b="1" dirty="0">
              <a:latin typeface="Times New Roman" panose="02020603050405020304" pitchFamily="18" charset="0"/>
              <a:cs typeface="Times New Roman" panose="02020603050405020304" pitchFamily="18" charset="0"/>
            </a:rPr>
            <a:t>[</a:t>
          </a:r>
          <a:r>
            <a:rPr lang="en-IN" sz="1600" b="1" dirty="0" err="1">
              <a:latin typeface="Times New Roman" panose="02020603050405020304" pitchFamily="18" charset="0"/>
              <a:cs typeface="Times New Roman" panose="02020603050405020304" pitchFamily="18" charset="0"/>
            </a:rPr>
            <a:t>sh</a:t>
          </a:r>
          <a:r>
            <a:rPr lang="en-IN" sz="1600" b="1" dirty="0">
              <a:latin typeface="Times New Roman" panose="02020603050405020304" pitchFamily="18" charset="0"/>
              <a:cs typeface="Times New Roman" panose="02020603050405020304" pitchFamily="18" charset="0"/>
            </a:rPr>
            <a:t>, her, his]</a:t>
          </a:r>
        </a:p>
      </dgm:t>
    </dgm:pt>
    <dgm:pt modelId="{AB5A58DA-3D2C-4945-AB3A-CA90A2EBFEBF}" type="parTrans" cxnId="{274891EE-42EF-4DB4-AC59-7A419473DA50}">
      <dgm:prSet/>
      <dgm:spPr/>
      <dgm:t>
        <a:bodyPr/>
        <a:lstStyle/>
        <a:p>
          <a:pPr algn="just"/>
          <a:endParaRPr lang="en-IN" sz="1600">
            <a:latin typeface="Times New Roman" panose="02020603050405020304" pitchFamily="18" charset="0"/>
            <a:cs typeface="Times New Roman" panose="02020603050405020304" pitchFamily="18" charset="0"/>
          </a:endParaRPr>
        </a:p>
      </dgm:t>
    </dgm:pt>
    <dgm:pt modelId="{670269F1-A5F7-44B1-9D6E-88EEF4FEAE9B}" type="sibTrans" cxnId="{274891EE-42EF-4DB4-AC59-7A419473DA50}">
      <dgm:prSet custT="1"/>
      <dgm:spPr/>
      <dgm:t>
        <a:bodyPr/>
        <a:lstStyle/>
        <a:p>
          <a:pPr algn="just"/>
          <a:endParaRPr lang="en-IN" sz="1600">
            <a:latin typeface="Times New Roman" panose="02020603050405020304" pitchFamily="18" charset="0"/>
            <a:cs typeface="Times New Roman" panose="02020603050405020304" pitchFamily="18" charset="0"/>
          </a:endParaRPr>
        </a:p>
      </dgm:t>
    </dgm:pt>
    <dgm:pt modelId="{DB4BDECB-E592-4948-B15E-81F5C2FD3B50}">
      <dgm:prSet phldrT="[Text]" phldr="0" custT="1"/>
      <dgm:spPr/>
      <dgm:t>
        <a:bodyPr/>
        <a:lstStyle/>
        <a:p>
          <a:pPr algn="just">
            <a:buNone/>
          </a:pPr>
          <a:r>
            <a:rPr lang="en-IN" sz="1600" b="1" dirty="0">
              <a:highlight>
                <a:srgbClr val="FFFF00"/>
              </a:highlight>
              <a:latin typeface="Times New Roman" panose="02020603050405020304" pitchFamily="18" charset="0"/>
              <a:cs typeface="Times New Roman" panose="02020603050405020304" pitchFamily="18" charset="0"/>
            </a:rPr>
            <a:t>Iteration 5</a:t>
          </a:r>
          <a:endParaRPr lang="en-IN" sz="1600" dirty="0">
            <a:highlight>
              <a:srgbClr val="FFFF00"/>
            </a:highlight>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Remove</a:t>
          </a:r>
          <a:r>
            <a:rPr lang="en-IN" sz="1600" b="1" dirty="0">
              <a:latin typeface="Times New Roman" panose="02020603050405020304" pitchFamily="18" charset="0"/>
              <a:cs typeface="Times New Roman" panose="02020603050405020304" pitchFamily="18" charset="0"/>
            </a:rPr>
            <a:t> </a:t>
          </a:r>
          <a:r>
            <a:rPr lang="en-IN" sz="1600" b="1" dirty="0" err="1">
              <a:latin typeface="Times New Roman" panose="02020603050405020304" pitchFamily="18" charset="0"/>
              <a:cs typeface="Times New Roman" panose="02020603050405020304" pitchFamily="18" charset="0"/>
            </a:rPr>
            <a:t>sh</a:t>
          </a:r>
          <a:endParaRPr lang="en-IN" sz="1600"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Queue</a:t>
          </a:r>
        </a:p>
        <a:p>
          <a:pPr algn="just">
            <a:buNone/>
          </a:pPr>
          <a:r>
            <a:rPr lang="en-IN" sz="1600" dirty="0">
              <a:latin typeface="Times New Roman" panose="02020603050405020304" pitchFamily="18" charset="0"/>
              <a:cs typeface="Times New Roman" panose="02020603050405020304" pitchFamily="18" charset="0"/>
            </a:rPr>
            <a:t>Before:</a:t>
          </a:r>
        </a:p>
        <a:p>
          <a:pPr algn="just">
            <a:buNone/>
          </a:pPr>
          <a:r>
            <a:rPr lang="en-IN" sz="1600" b="1" dirty="0">
              <a:latin typeface="Times New Roman" panose="02020603050405020304" pitchFamily="18" charset="0"/>
              <a:cs typeface="Times New Roman" panose="02020603050405020304" pitchFamily="18" charset="0"/>
            </a:rPr>
            <a:t>[</a:t>
          </a:r>
          <a:r>
            <a:rPr lang="en-IN" sz="1600" b="1" dirty="0" err="1">
              <a:latin typeface="Times New Roman" panose="02020603050405020304" pitchFamily="18" charset="0"/>
              <a:cs typeface="Times New Roman" panose="02020603050405020304" pitchFamily="18" charset="0"/>
            </a:rPr>
            <a:t>sh</a:t>
          </a:r>
          <a:r>
            <a:rPr lang="en-IN" sz="1600" b="1" dirty="0">
              <a:latin typeface="Times New Roman" panose="02020603050405020304" pitchFamily="18" charset="0"/>
              <a:cs typeface="Times New Roman" panose="02020603050405020304" pitchFamily="18" charset="0"/>
            </a:rPr>
            <a:t>, her, his]</a:t>
          </a:r>
          <a:endParaRPr lang="en-IN" sz="1600"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After:</a:t>
          </a:r>
          <a:r>
            <a:rPr lang="en-IN" sz="1600" b="1" dirty="0">
              <a:latin typeface="Times New Roman" panose="02020603050405020304" pitchFamily="18" charset="0"/>
              <a:cs typeface="Times New Roman" panose="02020603050405020304" pitchFamily="18" charset="0"/>
            </a:rPr>
            <a:t>[her, his]</a:t>
          </a:r>
          <a:endParaRPr lang="en-IN" sz="1600"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Child: </a:t>
          </a:r>
          <a:r>
            <a:rPr lang="en-IN" sz="1600" b="1" dirty="0">
              <a:latin typeface="Times New Roman" panose="02020603050405020304" pitchFamily="18" charset="0"/>
              <a:cs typeface="Times New Roman" panose="02020603050405020304" pitchFamily="18" charset="0"/>
            </a:rPr>
            <a:t>she</a:t>
          </a:r>
          <a:endParaRPr lang="en-IN" sz="1600"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Failure(parent)=</a:t>
          </a:r>
          <a:r>
            <a:rPr lang="en-IN" sz="1600" b="1" dirty="0">
              <a:latin typeface="Times New Roman" panose="02020603050405020304" pitchFamily="18" charset="0"/>
              <a:cs typeface="Times New Roman" panose="02020603050405020304" pitchFamily="18" charset="0"/>
            </a:rPr>
            <a:t>h</a:t>
          </a:r>
          <a:endParaRPr lang="en-IN" sz="1600"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Now go to node </a:t>
          </a:r>
          <a:r>
            <a:rPr lang="en-IN" sz="1600" b="1" dirty="0">
              <a:latin typeface="Times New Roman" panose="02020603050405020304" pitchFamily="18" charset="0"/>
              <a:cs typeface="Times New Roman" panose="02020603050405020304" pitchFamily="18" charset="0"/>
            </a:rPr>
            <a:t>h</a:t>
          </a:r>
          <a:endParaRPr lang="en-IN" sz="1600"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From </a:t>
          </a:r>
          <a:r>
            <a:rPr lang="en-IN" sz="1600" b="1" dirty="0">
              <a:latin typeface="Times New Roman" panose="02020603050405020304" pitchFamily="18" charset="0"/>
              <a:cs typeface="Times New Roman" panose="02020603050405020304" pitchFamily="18" charset="0"/>
            </a:rPr>
            <a:t>h</a:t>
          </a:r>
          <a:endParaRPr lang="en-IN" sz="1600"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Edge </a:t>
          </a:r>
          <a:r>
            <a:rPr lang="en-IN" sz="1600" b="1" dirty="0">
              <a:latin typeface="Times New Roman" panose="02020603050405020304" pitchFamily="18" charset="0"/>
              <a:cs typeface="Times New Roman" panose="02020603050405020304" pitchFamily="18" charset="0"/>
            </a:rPr>
            <a:t>e</a:t>
          </a:r>
          <a:r>
            <a:rPr lang="en-IN" sz="1600" dirty="0">
              <a:latin typeface="Times New Roman" panose="02020603050405020304" pitchFamily="18" charset="0"/>
              <a:cs typeface="Times New Roman" panose="02020603050405020304" pitchFamily="18" charset="0"/>
            </a:rPr>
            <a:t> ? YES</a:t>
          </a:r>
        </a:p>
        <a:p>
          <a:pPr algn="just">
            <a:buNone/>
          </a:pPr>
          <a:r>
            <a:rPr lang="en-IN" sz="1600" dirty="0">
              <a:latin typeface="Times New Roman" panose="02020603050405020304" pitchFamily="18" charset="0"/>
              <a:cs typeface="Times New Roman" panose="02020603050405020304" pitchFamily="18" charset="0"/>
            </a:rPr>
            <a:t>Therefore</a:t>
          </a:r>
        </a:p>
        <a:p>
          <a:pPr algn="just">
            <a:buNone/>
          </a:pPr>
          <a:r>
            <a:rPr lang="en-IN" sz="1600" b="1" dirty="0">
              <a:latin typeface="Times New Roman" panose="02020603050405020304" pitchFamily="18" charset="0"/>
              <a:cs typeface="Times New Roman" panose="02020603050405020304" pitchFamily="18" charset="0"/>
            </a:rPr>
            <a:t>Failure(she)=he</a:t>
          </a:r>
          <a:endParaRPr lang="en-IN" sz="1600" dirty="0">
            <a:latin typeface="Times New Roman" panose="02020603050405020304" pitchFamily="18" charset="0"/>
            <a:cs typeface="Times New Roman" panose="02020603050405020304" pitchFamily="18" charset="0"/>
          </a:endParaRPr>
        </a:p>
        <a:p>
          <a:pPr algn="just">
            <a:buNone/>
          </a:pPr>
          <a:r>
            <a:rPr lang="en-IN" sz="1600" dirty="0">
              <a:latin typeface="Times New Roman" panose="02020603050405020304" pitchFamily="18" charset="0"/>
              <a:cs typeface="Times New Roman" panose="02020603050405020304" pitchFamily="18" charset="0"/>
            </a:rPr>
            <a:t>Queue</a:t>
          </a:r>
        </a:p>
        <a:p>
          <a:pPr algn="just">
            <a:buNone/>
          </a:pPr>
          <a:r>
            <a:rPr lang="en-IN" sz="1600" b="1" dirty="0">
              <a:latin typeface="Times New Roman" panose="02020603050405020304" pitchFamily="18" charset="0"/>
              <a:cs typeface="Times New Roman" panose="02020603050405020304" pitchFamily="18" charset="0"/>
            </a:rPr>
            <a:t>[her, his, she]</a:t>
          </a:r>
        </a:p>
      </dgm:t>
    </dgm:pt>
    <dgm:pt modelId="{6E59BA02-48B9-4F9C-9241-894A4B3D0A53}" type="parTrans" cxnId="{3E5B6602-E500-4FDC-BE7C-AF670B601F37}">
      <dgm:prSet/>
      <dgm:spPr/>
      <dgm:t>
        <a:bodyPr/>
        <a:lstStyle/>
        <a:p>
          <a:pPr algn="just"/>
          <a:endParaRPr lang="en-IN" sz="1600">
            <a:latin typeface="Times New Roman" panose="02020603050405020304" pitchFamily="18" charset="0"/>
            <a:cs typeface="Times New Roman" panose="02020603050405020304" pitchFamily="18" charset="0"/>
          </a:endParaRPr>
        </a:p>
      </dgm:t>
    </dgm:pt>
    <dgm:pt modelId="{51121274-F8B2-468B-BA58-BB227366F520}" type="sibTrans" cxnId="{3E5B6602-E500-4FDC-BE7C-AF670B601F37}">
      <dgm:prSet/>
      <dgm:spPr/>
      <dgm:t>
        <a:bodyPr/>
        <a:lstStyle/>
        <a:p>
          <a:pPr algn="just"/>
          <a:endParaRPr lang="en-IN" sz="1600">
            <a:latin typeface="Times New Roman" panose="02020603050405020304" pitchFamily="18" charset="0"/>
            <a:cs typeface="Times New Roman" panose="02020603050405020304" pitchFamily="18" charset="0"/>
          </a:endParaRPr>
        </a:p>
      </dgm:t>
    </dgm:pt>
    <dgm:pt modelId="{0B1C1C57-4D72-40DB-9A7C-31CD04DD1088}" type="pres">
      <dgm:prSet presAssocID="{B50C1E31-C079-47D1-AF68-32A727F609A6}" presName="Name0" presStyleCnt="0">
        <dgm:presLayoutVars>
          <dgm:dir/>
          <dgm:resizeHandles val="exact"/>
        </dgm:presLayoutVars>
      </dgm:prSet>
      <dgm:spPr/>
    </dgm:pt>
    <dgm:pt modelId="{5350320C-A8D0-4143-A69D-EE016560EFE9}" type="pres">
      <dgm:prSet presAssocID="{C6D20F10-2E26-4FE1-BDC8-C56139CB2CE0}" presName="node" presStyleLbl="node1" presStyleIdx="0" presStyleCnt="4">
        <dgm:presLayoutVars>
          <dgm:bulletEnabled val="1"/>
        </dgm:presLayoutVars>
      </dgm:prSet>
      <dgm:spPr/>
    </dgm:pt>
    <dgm:pt modelId="{446A0C17-B562-4B9B-B552-4A2048E4C3A3}" type="pres">
      <dgm:prSet presAssocID="{D1BE6432-6AD7-4EE2-B69A-1B572B669B3F}" presName="sibTrans" presStyleLbl="sibTrans2D1" presStyleIdx="0" presStyleCnt="3"/>
      <dgm:spPr/>
    </dgm:pt>
    <dgm:pt modelId="{82F2271F-CB84-42DB-915E-4EBB1920F5D3}" type="pres">
      <dgm:prSet presAssocID="{D1BE6432-6AD7-4EE2-B69A-1B572B669B3F}" presName="connectorText" presStyleLbl="sibTrans2D1" presStyleIdx="0" presStyleCnt="3"/>
      <dgm:spPr/>
    </dgm:pt>
    <dgm:pt modelId="{FFB76B42-9A85-43A5-A46F-F1A2BE4784EC}" type="pres">
      <dgm:prSet presAssocID="{2A8EAA87-C55B-4D68-9F2A-7C4CB908B2AD}" presName="node" presStyleLbl="node1" presStyleIdx="1" presStyleCnt="4">
        <dgm:presLayoutVars>
          <dgm:bulletEnabled val="1"/>
        </dgm:presLayoutVars>
      </dgm:prSet>
      <dgm:spPr/>
    </dgm:pt>
    <dgm:pt modelId="{F3091E69-CAB4-4248-A2BD-DFAD93A0A8A5}" type="pres">
      <dgm:prSet presAssocID="{B8B0DDFD-4433-401B-A50A-7FAFAC476502}" presName="sibTrans" presStyleLbl="sibTrans2D1" presStyleIdx="1" presStyleCnt="3"/>
      <dgm:spPr/>
    </dgm:pt>
    <dgm:pt modelId="{B88767D8-2F42-497F-B694-A9D9C37B17A4}" type="pres">
      <dgm:prSet presAssocID="{B8B0DDFD-4433-401B-A50A-7FAFAC476502}" presName="connectorText" presStyleLbl="sibTrans2D1" presStyleIdx="1" presStyleCnt="3"/>
      <dgm:spPr/>
    </dgm:pt>
    <dgm:pt modelId="{154D35CD-974C-4A75-89DA-0AE1EA346E41}" type="pres">
      <dgm:prSet presAssocID="{5383A1BA-3B5A-492B-A26E-D852B588B7E3}" presName="node" presStyleLbl="node1" presStyleIdx="2" presStyleCnt="4" custLinFactNeighborX="-5513" custLinFactNeighborY="3585">
        <dgm:presLayoutVars>
          <dgm:bulletEnabled val="1"/>
        </dgm:presLayoutVars>
      </dgm:prSet>
      <dgm:spPr/>
    </dgm:pt>
    <dgm:pt modelId="{EEA621E8-086C-4282-B3C3-8381B72A50CD}" type="pres">
      <dgm:prSet presAssocID="{670269F1-A5F7-44B1-9D6E-88EEF4FEAE9B}" presName="sibTrans" presStyleLbl="sibTrans2D1" presStyleIdx="2" presStyleCnt="3"/>
      <dgm:spPr/>
    </dgm:pt>
    <dgm:pt modelId="{3D28DE74-90FF-4C7D-9A6C-92FFCFCDEB11}" type="pres">
      <dgm:prSet presAssocID="{670269F1-A5F7-44B1-9D6E-88EEF4FEAE9B}" presName="connectorText" presStyleLbl="sibTrans2D1" presStyleIdx="2" presStyleCnt="3"/>
      <dgm:spPr/>
    </dgm:pt>
    <dgm:pt modelId="{798E4C17-6185-4217-B562-F457050CBD87}" type="pres">
      <dgm:prSet presAssocID="{DB4BDECB-E592-4948-B15E-81F5C2FD3B50}" presName="node" presStyleLbl="node1" presStyleIdx="3" presStyleCnt="4" custLinFactNeighborX="572" custLinFactNeighborY="3585">
        <dgm:presLayoutVars>
          <dgm:bulletEnabled val="1"/>
        </dgm:presLayoutVars>
      </dgm:prSet>
      <dgm:spPr/>
    </dgm:pt>
  </dgm:ptLst>
  <dgm:cxnLst>
    <dgm:cxn modelId="{3E5B6602-E500-4FDC-BE7C-AF670B601F37}" srcId="{B50C1E31-C079-47D1-AF68-32A727F609A6}" destId="{DB4BDECB-E592-4948-B15E-81F5C2FD3B50}" srcOrd="3" destOrd="0" parTransId="{6E59BA02-48B9-4F9C-9241-894A4B3D0A53}" sibTransId="{51121274-F8B2-468B-BA58-BB227366F520}"/>
    <dgm:cxn modelId="{D627750B-F5DF-4E51-A41A-2D0C5D904124}" type="presOf" srcId="{D1BE6432-6AD7-4EE2-B69A-1B572B669B3F}" destId="{446A0C17-B562-4B9B-B552-4A2048E4C3A3}" srcOrd="0" destOrd="0" presId="urn:microsoft.com/office/officeart/2005/8/layout/process1"/>
    <dgm:cxn modelId="{81E09B21-E907-4D91-AE64-43F5537A85E8}" type="presOf" srcId="{B8B0DDFD-4433-401B-A50A-7FAFAC476502}" destId="{F3091E69-CAB4-4248-A2BD-DFAD93A0A8A5}" srcOrd="0" destOrd="0" presId="urn:microsoft.com/office/officeart/2005/8/layout/process1"/>
    <dgm:cxn modelId="{3191833B-F695-4507-927A-4D38B12FF8A6}" type="presOf" srcId="{DB4BDECB-E592-4948-B15E-81F5C2FD3B50}" destId="{798E4C17-6185-4217-B562-F457050CBD87}" srcOrd="0" destOrd="0" presId="urn:microsoft.com/office/officeart/2005/8/layout/process1"/>
    <dgm:cxn modelId="{54EC4345-EC89-4FC4-AEF9-E74E7A18E4C0}" type="presOf" srcId="{D1BE6432-6AD7-4EE2-B69A-1B572B669B3F}" destId="{82F2271F-CB84-42DB-915E-4EBB1920F5D3}" srcOrd="1" destOrd="0" presId="urn:microsoft.com/office/officeart/2005/8/layout/process1"/>
    <dgm:cxn modelId="{CB82FA73-D827-434E-9579-CD4D0CD624CF}" srcId="{B50C1E31-C079-47D1-AF68-32A727F609A6}" destId="{C6D20F10-2E26-4FE1-BDC8-C56139CB2CE0}" srcOrd="0" destOrd="0" parTransId="{55390533-09BB-48A7-B171-4C25C611F16F}" sibTransId="{D1BE6432-6AD7-4EE2-B69A-1B572B669B3F}"/>
    <dgm:cxn modelId="{887A569E-CA13-4EA8-9C31-9F38C3E2B230}" type="presOf" srcId="{B50C1E31-C079-47D1-AF68-32A727F609A6}" destId="{0B1C1C57-4D72-40DB-9A7C-31CD04DD1088}" srcOrd="0" destOrd="0" presId="urn:microsoft.com/office/officeart/2005/8/layout/process1"/>
    <dgm:cxn modelId="{828EABAA-8C8F-4DD8-B90A-D116915B128A}" type="presOf" srcId="{5383A1BA-3B5A-492B-A26E-D852B588B7E3}" destId="{154D35CD-974C-4A75-89DA-0AE1EA346E41}" srcOrd="0" destOrd="0" presId="urn:microsoft.com/office/officeart/2005/8/layout/process1"/>
    <dgm:cxn modelId="{8DE01BAD-FA99-45DB-8655-71BC2E8C69E9}" type="presOf" srcId="{670269F1-A5F7-44B1-9D6E-88EEF4FEAE9B}" destId="{EEA621E8-086C-4282-B3C3-8381B72A50CD}" srcOrd="0" destOrd="0" presId="urn:microsoft.com/office/officeart/2005/8/layout/process1"/>
    <dgm:cxn modelId="{457E54BF-C77C-4689-8434-37860A3054D9}" type="presOf" srcId="{B8B0DDFD-4433-401B-A50A-7FAFAC476502}" destId="{B88767D8-2F42-497F-B694-A9D9C37B17A4}" srcOrd="1" destOrd="0" presId="urn:microsoft.com/office/officeart/2005/8/layout/process1"/>
    <dgm:cxn modelId="{DE0D3DC2-6A30-4531-8147-043E714203E7}" type="presOf" srcId="{2A8EAA87-C55B-4D68-9F2A-7C4CB908B2AD}" destId="{FFB76B42-9A85-43A5-A46F-F1A2BE4784EC}" srcOrd="0" destOrd="0" presId="urn:microsoft.com/office/officeart/2005/8/layout/process1"/>
    <dgm:cxn modelId="{15D1CEE4-3620-46D8-BDE1-4EA811575B9E}" srcId="{B50C1E31-C079-47D1-AF68-32A727F609A6}" destId="{2A8EAA87-C55B-4D68-9F2A-7C4CB908B2AD}" srcOrd="1" destOrd="0" parTransId="{84A8A79F-F549-4A8B-A111-29D901455E73}" sibTransId="{B8B0DDFD-4433-401B-A50A-7FAFAC476502}"/>
    <dgm:cxn modelId="{274891EE-42EF-4DB4-AC59-7A419473DA50}" srcId="{B50C1E31-C079-47D1-AF68-32A727F609A6}" destId="{5383A1BA-3B5A-492B-A26E-D852B588B7E3}" srcOrd="2" destOrd="0" parTransId="{AB5A58DA-3D2C-4945-AB3A-CA90A2EBFEBF}" sibTransId="{670269F1-A5F7-44B1-9D6E-88EEF4FEAE9B}"/>
    <dgm:cxn modelId="{28C615F0-5A92-4D8B-A729-F77B73F9258D}" type="presOf" srcId="{C6D20F10-2E26-4FE1-BDC8-C56139CB2CE0}" destId="{5350320C-A8D0-4143-A69D-EE016560EFE9}" srcOrd="0" destOrd="0" presId="urn:microsoft.com/office/officeart/2005/8/layout/process1"/>
    <dgm:cxn modelId="{1C2F94FD-4932-427A-8DA2-E96835377C30}" type="presOf" srcId="{670269F1-A5F7-44B1-9D6E-88EEF4FEAE9B}" destId="{3D28DE74-90FF-4C7D-9A6C-92FFCFCDEB11}" srcOrd="1" destOrd="0" presId="urn:microsoft.com/office/officeart/2005/8/layout/process1"/>
    <dgm:cxn modelId="{4EFC5429-19F3-42CC-95A2-CC2290EB9DF6}" type="presParOf" srcId="{0B1C1C57-4D72-40DB-9A7C-31CD04DD1088}" destId="{5350320C-A8D0-4143-A69D-EE016560EFE9}" srcOrd="0" destOrd="0" presId="urn:microsoft.com/office/officeart/2005/8/layout/process1"/>
    <dgm:cxn modelId="{857132B6-C05B-4A3F-9D0F-4FCA40B9F409}" type="presParOf" srcId="{0B1C1C57-4D72-40DB-9A7C-31CD04DD1088}" destId="{446A0C17-B562-4B9B-B552-4A2048E4C3A3}" srcOrd="1" destOrd="0" presId="urn:microsoft.com/office/officeart/2005/8/layout/process1"/>
    <dgm:cxn modelId="{5896343D-ED31-4BE1-AB60-77AC30346A9C}" type="presParOf" srcId="{446A0C17-B562-4B9B-B552-4A2048E4C3A3}" destId="{82F2271F-CB84-42DB-915E-4EBB1920F5D3}" srcOrd="0" destOrd="0" presId="urn:microsoft.com/office/officeart/2005/8/layout/process1"/>
    <dgm:cxn modelId="{9F0E8E39-F10B-40EE-A910-5BD01105D64A}" type="presParOf" srcId="{0B1C1C57-4D72-40DB-9A7C-31CD04DD1088}" destId="{FFB76B42-9A85-43A5-A46F-F1A2BE4784EC}" srcOrd="2" destOrd="0" presId="urn:microsoft.com/office/officeart/2005/8/layout/process1"/>
    <dgm:cxn modelId="{82131227-DEEC-4DF4-910F-33FB85358EF8}" type="presParOf" srcId="{0B1C1C57-4D72-40DB-9A7C-31CD04DD1088}" destId="{F3091E69-CAB4-4248-A2BD-DFAD93A0A8A5}" srcOrd="3" destOrd="0" presId="urn:microsoft.com/office/officeart/2005/8/layout/process1"/>
    <dgm:cxn modelId="{8884B7B2-A3D0-48E9-AFF7-8BEEB3BDC953}" type="presParOf" srcId="{F3091E69-CAB4-4248-A2BD-DFAD93A0A8A5}" destId="{B88767D8-2F42-497F-B694-A9D9C37B17A4}" srcOrd="0" destOrd="0" presId="urn:microsoft.com/office/officeart/2005/8/layout/process1"/>
    <dgm:cxn modelId="{E0872CF5-2F9C-458B-BCF0-8C9D0C10B5F9}" type="presParOf" srcId="{0B1C1C57-4D72-40DB-9A7C-31CD04DD1088}" destId="{154D35CD-974C-4A75-89DA-0AE1EA346E41}" srcOrd="4" destOrd="0" presId="urn:microsoft.com/office/officeart/2005/8/layout/process1"/>
    <dgm:cxn modelId="{9DC4C3D0-857F-4A2E-89F0-41AE8861294D}" type="presParOf" srcId="{0B1C1C57-4D72-40DB-9A7C-31CD04DD1088}" destId="{EEA621E8-086C-4282-B3C3-8381B72A50CD}" srcOrd="5" destOrd="0" presId="urn:microsoft.com/office/officeart/2005/8/layout/process1"/>
    <dgm:cxn modelId="{37E6D514-6B7C-44D3-B984-A7362598F2D2}" type="presParOf" srcId="{EEA621E8-086C-4282-B3C3-8381B72A50CD}" destId="{3D28DE74-90FF-4C7D-9A6C-92FFCFCDEB11}" srcOrd="0" destOrd="0" presId="urn:microsoft.com/office/officeart/2005/8/layout/process1"/>
    <dgm:cxn modelId="{8785602D-4ADB-4B0C-BE38-A9CE5520E250}" type="presParOf" srcId="{0B1C1C57-4D72-40DB-9A7C-31CD04DD1088}" destId="{798E4C17-6185-4217-B562-F457050CBD87}"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50C1E31-C079-47D1-AF68-32A727F609A6}" type="doc">
      <dgm:prSet loTypeId="urn:microsoft.com/office/officeart/2005/8/layout/process1" loCatId="process" qsTypeId="urn:microsoft.com/office/officeart/2005/8/quickstyle/simple1" qsCatId="simple" csTypeId="urn:microsoft.com/office/officeart/2005/8/colors/accent3_1" csCatId="accent3" phldr="1"/>
      <dgm:spPr/>
      <dgm:t>
        <a:bodyPr/>
        <a:lstStyle/>
        <a:p>
          <a:endParaRPr lang="en-IN"/>
        </a:p>
      </dgm:t>
    </dgm:pt>
    <dgm:pt modelId="{C6D20F10-2E26-4FE1-BDC8-C56139CB2CE0}">
      <dgm:prSet phldrT="[Text]" custT="1"/>
      <dgm:spPr/>
      <dgm:t>
        <a:bodyPr/>
        <a:lstStyle/>
        <a:p>
          <a:pPr algn="just">
            <a:buNone/>
          </a:pPr>
          <a:r>
            <a:rPr lang="en-IN" sz="1800" b="1" dirty="0">
              <a:highlight>
                <a:srgbClr val="FFFF00"/>
              </a:highlight>
            </a:rPr>
            <a:t>Iteration 6</a:t>
          </a:r>
          <a:endParaRPr lang="en-IN" sz="1800" dirty="0">
            <a:highlight>
              <a:srgbClr val="FFFF00"/>
            </a:highlight>
          </a:endParaRPr>
        </a:p>
        <a:p>
          <a:pPr algn="just">
            <a:buNone/>
          </a:pPr>
          <a:r>
            <a:rPr lang="en-IN" sz="1800" b="0" dirty="0"/>
            <a:t>Remove</a:t>
          </a:r>
          <a:r>
            <a:rPr lang="en-IN" sz="1800" b="1" dirty="0"/>
            <a:t> her</a:t>
          </a:r>
          <a:endParaRPr lang="en-IN" sz="1800" dirty="0"/>
        </a:p>
        <a:p>
          <a:pPr algn="just">
            <a:buNone/>
          </a:pPr>
          <a:r>
            <a:rPr lang="en-IN" sz="1800" dirty="0"/>
            <a:t>Queue</a:t>
          </a:r>
        </a:p>
        <a:p>
          <a:pPr algn="just">
            <a:buNone/>
          </a:pPr>
          <a:r>
            <a:rPr lang="en-IN" sz="1800" dirty="0"/>
            <a:t>Before</a:t>
          </a:r>
        </a:p>
        <a:p>
          <a:pPr algn="just">
            <a:buNone/>
          </a:pPr>
          <a:r>
            <a:rPr lang="en-IN" sz="1800" b="1" dirty="0"/>
            <a:t>[her, his, she]</a:t>
          </a:r>
          <a:endParaRPr lang="en-IN" sz="1800" dirty="0"/>
        </a:p>
        <a:p>
          <a:pPr algn="just">
            <a:buNone/>
          </a:pPr>
          <a:r>
            <a:rPr lang="en-IN" sz="1800" dirty="0"/>
            <a:t>After :</a:t>
          </a:r>
          <a:r>
            <a:rPr lang="en-IN" sz="1800" b="1" dirty="0"/>
            <a:t>[his, she]</a:t>
          </a:r>
          <a:endParaRPr lang="en-IN" sz="1800" dirty="0"/>
        </a:p>
        <a:p>
          <a:pPr algn="just">
            <a:buNone/>
          </a:pPr>
          <a:r>
            <a:rPr lang="en-IN" sz="1800" dirty="0"/>
            <a:t>Child: </a:t>
          </a:r>
          <a:r>
            <a:rPr lang="en-IN" sz="1800" b="1" dirty="0"/>
            <a:t>hers</a:t>
          </a:r>
          <a:endParaRPr lang="en-IN" sz="1800" dirty="0"/>
        </a:p>
        <a:p>
          <a:pPr algn="just">
            <a:buNone/>
          </a:pPr>
          <a:r>
            <a:rPr lang="en-IN" sz="1800" dirty="0"/>
            <a:t>Failure(parent)=root</a:t>
          </a:r>
        </a:p>
        <a:p>
          <a:pPr algn="just">
            <a:buNone/>
          </a:pPr>
          <a:r>
            <a:rPr lang="en-IN" sz="1800" dirty="0"/>
            <a:t>From root</a:t>
          </a:r>
        </a:p>
        <a:p>
          <a:pPr algn="just">
            <a:buNone/>
          </a:pPr>
          <a:r>
            <a:rPr lang="en-IN" sz="1800" dirty="0"/>
            <a:t>Edge </a:t>
          </a:r>
          <a:r>
            <a:rPr lang="en-IN" sz="1800" b="1" dirty="0"/>
            <a:t>s</a:t>
          </a:r>
          <a:r>
            <a:rPr lang="en-IN" sz="1800" dirty="0"/>
            <a:t> ? YES</a:t>
          </a:r>
        </a:p>
        <a:p>
          <a:pPr algn="just">
            <a:buNone/>
          </a:pPr>
          <a:r>
            <a:rPr lang="en-IN" sz="1800" dirty="0"/>
            <a:t>Therefore</a:t>
          </a:r>
        </a:p>
        <a:p>
          <a:pPr algn="just">
            <a:buNone/>
          </a:pPr>
          <a:r>
            <a:rPr lang="en-IN" sz="1800" b="1" dirty="0"/>
            <a:t>Failure(hers)=s</a:t>
          </a:r>
          <a:endParaRPr lang="en-IN" sz="1800" dirty="0"/>
        </a:p>
        <a:p>
          <a:pPr algn="just">
            <a:buNone/>
          </a:pPr>
          <a:r>
            <a:rPr lang="en-IN" sz="1800" dirty="0"/>
            <a:t>Queue</a:t>
          </a:r>
        </a:p>
        <a:p>
          <a:pPr algn="just">
            <a:buNone/>
          </a:pPr>
          <a:r>
            <a:rPr lang="en-IN" sz="1800" b="1" dirty="0"/>
            <a:t>[his, she, hers]</a:t>
          </a:r>
        </a:p>
      </dgm:t>
    </dgm:pt>
    <dgm:pt modelId="{55390533-09BB-48A7-B171-4C25C611F16F}" type="parTrans" cxnId="{CB82FA73-D827-434E-9579-CD4D0CD624CF}">
      <dgm:prSet/>
      <dgm:spPr/>
      <dgm:t>
        <a:bodyPr/>
        <a:lstStyle/>
        <a:p>
          <a:pPr algn="just"/>
          <a:endParaRPr lang="en-IN" sz="1800"/>
        </a:p>
      </dgm:t>
    </dgm:pt>
    <dgm:pt modelId="{D1BE6432-6AD7-4EE2-B69A-1B572B669B3F}" type="sibTrans" cxnId="{CB82FA73-D827-434E-9579-CD4D0CD624CF}">
      <dgm:prSet custT="1"/>
      <dgm:spPr/>
      <dgm:t>
        <a:bodyPr/>
        <a:lstStyle/>
        <a:p>
          <a:pPr algn="just"/>
          <a:endParaRPr lang="en-IN" sz="1800"/>
        </a:p>
      </dgm:t>
    </dgm:pt>
    <dgm:pt modelId="{2A8EAA87-C55B-4D68-9F2A-7C4CB908B2AD}">
      <dgm:prSet phldrT="[Text]" custT="1"/>
      <dgm:spPr/>
      <dgm:t>
        <a:bodyPr/>
        <a:lstStyle/>
        <a:p>
          <a:pPr algn="just">
            <a:buNone/>
          </a:pPr>
          <a:r>
            <a:rPr lang="en-IN" sz="1800" b="1" dirty="0">
              <a:highlight>
                <a:srgbClr val="FFFF00"/>
              </a:highlight>
            </a:rPr>
            <a:t>Iteration 7</a:t>
          </a:r>
        </a:p>
        <a:p>
          <a:pPr algn="just">
            <a:buNone/>
          </a:pPr>
          <a:r>
            <a:rPr lang="en-IN" sz="1800" dirty="0"/>
            <a:t>Remove </a:t>
          </a:r>
          <a:r>
            <a:rPr lang="en-IN" sz="1800" b="1" dirty="0"/>
            <a:t>his</a:t>
          </a:r>
          <a:endParaRPr lang="en-IN" sz="1800" dirty="0"/>
        </a:p>
        <a:p>
          <a:pPr algn="just">
            <a:buNone/>
          </a:pPr>
          <a:r>
            <a:rPr lang="en-IN" sz="1800" dirty="0"/>
            <a:t>No children.</a:t>
          </a:r>
        </a:p>
        <a:p>
          <a:pPr algn="just">
            <a:buNone/>
          </a:pPr>
          <a:r>
            <a:rPr lang="en-IN" sz="1800" dirty="0"/>
            <a:t>Queue</a:t>
          </a:r>
        </a:p>
        <a:p>
          <a:pPr algn="just">
            <a:buNone/>
          </a:pPr>
          <a:r>
            <a:rPr lang="en-IN" sz="1800" b="1" dirty="0"/>
            <a:t>[she, hers]</a:t>
          </a:r>
        </a:p>
      </dgm:t>
    </dgm:pt>
    <dgm:pt modelId="{84A8A79F-F549-4A8B-A111-29D901455E73}" type="parTrans" cxnId="{15D1CEE4-3620-46D8-BDE1-4EA811575B9E}">
      <dgm:prSet/>
      <dgm:spPr/>
      <dgm:t>
        <a:bodyPr/>
        <a:lstStyle/>
        <a:p>
          <a:pPr algn="just"/>
          <a:endParaRPr lang="en-IN" sz="1800"/>
        </a:p>
      </dgm:t>
    </dgm:pt>
    <dgm:pt modelId="{B8B0DDFD-4433-401B-A50A-7FAFAC476502}" type="sibTrans" cxnId="{15D1CEE4-3620-46D8-BDE1-4EA811575B9E}">
      <dgm:prSet custT="1"/>
      <dgm:spPr/>
      <dgm:t>
        <a:bodyPr/>
        <a:lstStyle/>
        <a:p>
          <a:pPr algn="just"/>
          <a:endParaRPr lang="en-IN" sz="1800"/>
        </a:p>
      </dgm:t>
    </dgm:pt>
    <dgm:pt modelId="{5383A1BA-3B5A-492B-A26E-D852B588B7E3}">
      <dgm:prSet phldrT="[Text]" custT="1"/>
      <dgm:spPr/>
      <dgm:t>
        <a:bodyPr/>
        <a:lstStyle/>
        <a:p>
          <a:pPr algn="just">
            <a:buNone/>
          </a:pPr>
          <a:r>
            <a:rPr lang="en-IN" sz="1800" b="1" dirty="0">
              <a:highlight>
                <a:srgbClr val="FFFF00"/>
              </a:highlight>
            </a:rPr>
            <a:t>Iteration 8</a:t>
          </a:r>
        </a:p>
        <a:p>
          <a:pPr algn="just">
            <a:buNone/>
          </a:pPr>
          <a:r>
            <a:rPr lang="en-IN" sz="1800" dirty="0"/>
            <a:t>Remove </a:t>
          </a:r>
          <a:r>
            <a:rPr lang="en-IN" sz="1800" b="1" dirty="0"/>
            <a:t>she</a:t>
          </a:r>
          <a:endParaRPr lang="en-IN" sz="1800" dirty="0"/>
        </a:p>
        <a:p>
          <a:pPr algn="just">
            <a:buNone/>
          </a:pPr>
          <a:r>
            <a:rPr lang="en-IN" sz="1800" dirty="0"/>
            <a:t>No children.</a:t>
          </a:r>
        </a:p>
        <a:p>
          <a:pPr algn="just">
            <a:buNone/>
          </a:pPr>
          <a:r>
            <a:rPr lang="en-IN" sz="1800" dirty="0"/>
            <a:t>Queue</a:t>
          </a:r>
        </a:p>
        <a:p>
          <a:pPr algn="just">
            <a:buNone/>
          </a:pPr>
          <a:r>
            <a:rPr lang="en-IN" sz="1800" b="1" dirty="0"/>
            <a:t>[hers]</a:t>
          </a:r>
        </a:p>
      </dgm:t>
    </dgm:pt>
    <dgm:pt modelId="{AB5A58DA-3D2C-4945-AB3A-CA90A2EBFEBF}" type="parTrans" cxnId="{274891EE-42EF-4DB4-AC59-7A419473DA50}">
      <dgm:prSet/>
      <dgm:spPr/>
      <dgm:t>
        <a:bodyPr/>
        <a:lstStyle/>
        <a:p>
          <a:pPr algn="just"/>
          <a:endParaRPr lang="en-IN" sz="1800"/>
        </a:p>
      </dgm:t>
    </dgm:pt>
    <dgm:pt modelId="{670269F1-A5F7-44B1-9D6E-88EEF4FEAE9B}" type="sibTrans" cxnId="{274891EE-42EF-4DB4-AC59-7A419473DA50}">
      <dgm:prSet custT="1"/>
      <dgm:spPr/>
      <dgm:t>
        <a:bodyPr/>
        <a:lstStyle/>
        <a:p>
          <a:pPr algn="just"/>
          <a:endParaRPr lang="en-IN" sz="1800"/>
        </a:p>
      </dgm:t>
    </dgm:pt>
    <dgm:pt modelId="{DB4BDECB-E592-4948-B15E-81F5C2FD3B50}">
      <dgm:prSet phldrT="[Text]" phldr="0" custT="1"/>
      <dgm:spPr/>
      <dgm:t>
        <a:bodyPr/>
        <a:lstStyle/>
        <a:p>
          <a:pPr algn="just">
            <a:buNone/>
          </a:pPr>
          <a:r>
            <a:rPr lang="en-IN" sz="1800" b="1" dirty="0">
              <a:highlight>
                <a:srgbClr val="FFFF00"/>
              </a:highlight>
            </a:rPr>
            <a:t>Iteration 9</a:t>
          </a:r>
        </a:p>
        <a:p>
          <a:pPr algn="just">
            <a:buNone/>
          </a:pPr>
          <a:r>
            <a:rPr lang="en-IN" sz="1800" dirty="0"/>
            <a:t>Remove </a:t>
          </a:r>
          <a:r>
            <a:rPr lang="en-IN" sz="1800" b="1" dirty="0"/>
            <a:t>hers</a:t>
          </a:r>
          <a:endParaRPr lang="en-IN" sz="1800" dirty="0"/>
        </a:p>
        <a:p>
          <a:pPr algn="just">
            <a:buNone/>
          </a:pPr>
          <a:r>
            <a:rPr lang="en-IN" sz="1800" dirty="0"/>
            <a:t>No children.</a:t>
          </a:r>
        </a:p>
        <a:p>
          <a:pPr algn="just">
            <a:buNone/>
          </a:pPr>
          <a:r>
            <a:rPr lang="en-IN" sz="1800" dirty="0"/>
            <a:t>Queue empty.</a:t>
          </a:r>
        </a:p>
        <a:p>
          <a:pPr algn="just">
            <a:buNone/>
          </a:pPr>
          <a:r>
            <a:rPr lang="en-IN" sz="1800" dirty="0"/>
            <a:t>Construction </a:t>
          </a:r>
          <a:r>
            <a:rPr lang="en-IN" sz="1800" b="1" dirty="0"/>
            <a:t>finished</a:t>
          </a:r>
          <a:r>
            <a:rPr lang="en-IN" sz="1800" dirty="0"/>
            <a:t>.</a:t>
          </a:r>
          <a:endParaRPr lang="en-IN" sz="1800" b="1" dirty="0"/>
        </a:p>
      </dgm:t>
    </dgm:pt>
    <dgm:pt modelId="{6E59BA02-48B9-4F9C-9241-894A4B3D0A53}" type="parTrans" cxnId="{3E5B6602-E500-4FDC-BE7C-AF670B601F37}">
      <dgm:prSet/>
      <dgm:spPr/>
      <dgm:t>
        <a:bodyPr/>
        <a:lstStyle/>
        <a:p>
          <a:pPr algn="just"/>
          <a:endParaRPr lang="en-IN" sz="1800"/>
        </a:p>
      </dgm:t>
    </dgm:pt>
    <dgm:pt modelId="{51121274-F8B2-468B-BA58-BB227366F520}" type="sibTrans" cxnId="{3E5B6602-E500-4FDC-BE7C-AF670B601F37}">
      <dgm:prSet/>
      <dgm:spPr/>
      <dgm:t>
        <a:bodyPr/>
        <a:lstStyle/>
        <a:p>
          <a:pPr algn="just"/>
          <a:endParaRPr lang="en-IN" sz="1800"/>
        </a:p>
      </dgm:t>
    </dgm:pt>
    <dgm:pt modelId="{0B1C1C57-4D72-40DB-9A7C-31CD04DD1088}" type="pres">
      <dgm:prSet presAssocID="{B50C1E31-C079-47D1-AF68-32A727F609A6}" presName="Name0" presStyleCnt="0">
        <dgm:presLayoutVars>
          <dgm:dir/>
          <dgm:resizeHandles val="exact"/>
        </dgm:presLayoutVars>
      </dgm:prSet>
      <dgm:spPr/>
    </dgm:pt>
    <dgm:pt modelId="{5350320C-A8D0-4143-A69D-EE016560EFE9}" type="pres">
      <dgm:prSet presAssocID="{C6D20F10-2E26-4FE1-BDC8-C56139CB2CE0}" presName="node" presStyleLbl="node1" presStyleIdx="0" presStyleCnt="4" custScaleX="127419" custScaleY="233991" custLinFactNeighborX="6954" custLinFactNeighborY="-1801">
        <dgm:presLayoutVars>
          <dgm:bulletEnabled val="1"/>
        </dgm:presLayoutVars>
      </dgm:prSet>
      <dgm:spPr/>
    </dgm:pt>
    <dgm:pt modelId="{446A0C17-B562-4B9B-B552-4A2048E4C3A3}" type="pres">
      <dgm:prSet presAssocID="{D1BE6432-6AD7-4EE2-B69A-1B572B669B3F}" presName="sibTrans" presStyleLbl="sibTrans2D1" presStyleIdx="0" presStyleCnt="3"/>
      <dgm:spPr/>
    </dgm:pt>
    <dgm:pt modelId="{82F2271F-CB84-42DB-915E-4EBB1920F5D3}" type="pres">
      <dgm:prSet presAssocID="{D1BE6432-6AD7-4EE2-B69A-1B572B669B3F}" presName="connectorText" presStyleLbl="sibTrans2D1" presStyleIdx="0" presStyleCnt="3"/>
      <dgm:spPr/>
    </dgm:pt>
    <dgm:pt modelId="{FFB76B42-9A85-43A5-A46F-F1A2BE4784EC}" type="pres">
      <dgm:prSet presAssocID="{2A8EAA87-C55B-4D68-9F2A-7C4CB908B2AD}" presName="node" presStyleLbl="node1" presStyleIdx="1" presStyleCnt="4" custScaleY="143869">
        <dgm:presLayoutVars>
          <dgm:bulletEnabled val="1"/>
        </dgm:presLayoutVars>
      </dgm:prSet>
      <dgm:spPr/>
    </dgm:pt>
    <dgm:pt modelId="{F3091E69-CAB4-4248-A2BD-DFAD93A0A8A5}" type="pres">
      <dgm:prSet presAssocID="{B8B0DDFD-4433-401B-A50A-7FAFAC476502}" presName="sibTrans" presStyleLbl="sibTrans2D1" presStyleIdx="1" presStyleCnt="3"/>
      <dgm:spPr/>
    </dgm:pt>
    <dgm:pt modelId="{B88767D8-2F42-497F-B694-A9D9C37B17A4}" type="pres">
      <dgm:prSet presAssocID="{B8B0DDFD-4433-401B-A50A-7FAFAC476502}" presName="connectorText" presStyleLbl="sibTrans2D1" presStyleIdx="1" presStyleCnt="3"/>
      <dgm:spPr/>
    </dgm:pt>
    <dgm:pt modelId="{154D35CD-974C-4A75-89DA-0AE1EA346E41}" type="pres">
      <dgm:prSet presAssocID="{5383A1BA-3B5A-492B-A26E-D852B588B7E3}" presName="node" presStyleLbl="node1" presStyleIdx="2" presStyleCnt="4" custScaleY="139485">
        <dgm:presLayoutVars>
          <dgm:bulletEnabled val="1"/>
        </dgm:presLayoutVars>
      </dgm:prSet>
      <dgm:spPr/>
    </dgm:pt>
    <dgm:pt modelId="{EEA621E8-086C-4282-B3C3-8381B72A50CD}" type="pres">
      <dgm:prSet presAssocID="{670269F1-A5F7-44B1-9D6E-88EEF4FEAE9B}" presName="sibTrans" presStyleLbl="sibTrans2D1" presStyleIdx="2" presStyleCnt="3"/>
      <dgm:spPr/>
    </dgm:pt>
    <dgm:pt modelId="{3D28DE74-90FF-4C7D-9A6C-92FFCFCDEB11}" type="pres">
      <dgm:prSet presAssocID="{670269F1-A5F7-44B1-9D6E-88EEF4FEAE9B}" presName="connectorText" presStyleLbl="sibTrans2D1" presStyleIdx="2" presStyleCnt="3"/>
      <dgm:spPr/>
    </dgm:pt>
    <dgm:pt modelId="{798E4C17-6185-4217-B562-F457050CBD87}" type="pres">
      <dgm:prSet presAssocID="{DB4BDECB-E592-4948-B15E-81F5C2FD3B50}" presName="node" presStyleLbl="node1" presStyleIdx="3" presStyleCnt="4" custScaleY="124803">
        <dgm:presLayoutVars>
          <dgm:bulletEnabled val="1"/>
        </dgm:presLayoutVars>
      </dgm:prSet>
      <dgm:spPr/>
    </dgm:pt>
  </dgm:ptLst>
  <dgm:cxnLst>
    <dgm:cxn modelId="{3E5B6602-E500-4FDC-BE7C-AF670B601F37}" srcId="{B50C1E31-C079-47D1-AF68-32A727F609A6}" destId="{DB4BDECB-E592-4948-B15E-81F5C2FD3B50}" srcOrd="3" destOrd="0" parTransId="{6E59BA02-48B9-4F9C-9241-894A4B3D0A53}" sibTransId="{51121274-F8B2-468B-BA58-BB227366F520}"/>
    <dgm:cxn modelId="{CB82FA73-D827-434E-9579-CD4D0CD624CF}" srcId="{B50C1E31-C079-47D1-AF68-32A727F609A6}" destId="{C6D20F10-2E26-4FE1-BDC8-C56139CB2CE0}" srcOrd="0" destOrd="0" parTransId="{55390533-09BB-48A7-B171-4C25C611F16F}" sibTransId="{D1BE6432-6AD7-4EE2-B69A-1B572B669B3F}"/>
    <dgm:cxn modelId="{EC163285-3E51-45B7-94F6-8DA4EBC4993C}" type="presOf" srcId="{C6D20F10-2E26-4FE1-BDC8-C56139CB2CE0}" destId="{5350320C-A8D0-4143-A69D-EE016560EFE9}" srcOrd="0" destOrd="0" presId="urn:microsoft.com/office/officeart/2005/8/layout/process1"/>
    <dgm:cxn modelId="{33509A92-FCCA-463A-A641-9BDB343671AF}" type="presOf" srcId="{D1BE6432-6AD7-4EE2-B69A-1B572B669B3F}" destId="{446A0C17-B562-4B9B-B552-4A2048E4C3A3}" srcOrd="0" destOrd="0" presId="urn:microsoft.com/office/officeart/2005/8/layout/process1"/>
    <dgm:cxn modelId="{763EDA9F-B6B3-4E25-9413-B0ACFD3E69AD}" type="presOf" srcId="{B8B0DDFD-4433-401B-A50A-7FAFAC476502}" destId="{B88767D8-2F42-497F-B694-A9D9C37B17A4}" srcOrd="1" destOrd="0" presId="urn:microsoft.com/office/officeart/2005/8/layout/process1"/>
    <dgm:cxn modelId="{1D9F11A0-F4FC-4B59-9052-9ED048E08F9D}" type="presOf" srcId="{DB4BDECB-E592-4948-B15E-81F5C2FD3B50}" destId="{798E4C17-6185-4217-B562-F457050CBD87}" srcOrd="0" destOrd="0" presId="urn:microsoft.com/office/officeart/2005/8/layout/process1"/>
    <dgm:cxn modelId="{ACC0E8A2-14CC-4FCF-829B-8B4D3882E848}" type="presOf" srcId="{670269F1-A5F7-44B1-9D6E-88EEF4FEAE9B}" destId="{EEA621E8-086C-4282-B3C3-8381B72A50CD}" srcOrd="0" destOrd="0" presId="urn:microsoft.com/office/officeart/2005/8/layout/process1"/>
    <dgm:cxn modelId="{3E92BDA9-0D34-4A7E-9224-9D034D3BBC6C}" type="presOf" srcId="{B8B0DDFD-4433-401B-A50A-7FAFAC476502}" destId="{F3091E69-CAB4-4248-A2BD-DFAD93A0A8A5}" srcOrd="0" destOrd="0" presId="urn:microsoft.com/office/officeart/2005/8/layout/process1"/>
    <dgm:cxn modelId="{400779CC-58C1-42FE-BCD6-01D01730B045}" type="presOf" srcId="{2A8EAA87-C55B-4D68-9F2A-7C4CB908B2AD}" destId="{FFB76B42-9A85-43A5-A46F-F1A2BE4784EC}" srcOrd="0" destOrd="0" presId="urn:microsoft.com/office/officeart/2005/8/layout/process1"/>
    <dgm:cxn modelId="{C60FC8CE-B914-4844-8EB3-E189BB479A3B}" type="presOf" srcId="{670269F1-A5F7-44B1-9D6E-88EEF4FEAE9B}" destId="{3D28DE74-90FF-4C7D-9A6C-92FFCFCDEB11}" srcOrd="1" destOrd="0" presId="urn:microsoft.com/office/officeart/2005/8/layout/process1"/>
    <dgm:cxn modelId="{CCE728CF-C5AF-4D7F-837D-8BFF2ED0861C}" type="presOf" srcId="{B50C1E31-C079-47D1-AF68-32A727F609A6}" destId="{0B1C1C57-4D72-40DB-9A7C-31CD04DD1088}" srcOrd="0" destOrd="0" presId="urn:microsoft.com/office/officeart/2005/8/layout/process1"/>
    <dgm:cxn modelId="{F41B08D7-41FE-408D-81DA-66D0A64A5735}" type="presOf" srcId="{5383A1BA-3B5A-492B-A26E-D852B588B7E3}" destId="{154D35CD-974C-4A75-89DA-0AE1EA346E41}" srcOrd="0" destOrd="0" presId="urn:microsoft.com/office/officeart/2005/8/layout/process1"/>
    <dgm:cxn modelId="{550D40D9-76F3-4FC8-B226-FF0E928AB993}" type="presOf" srcId="{D1BE6432-6AD7-4EE2-B69A-1B572B669B3F}" destId="{82F2271F-CB84-42DB-915E-4EBB1920F5D3}" srcOrd="1" destOrd="0" presId="urn:microsoft.com/office/officeart/2005/8/layout/process1"/>
    <dgm:cxn modelId="{15D1CEE4-3620-46D8-BDE1-4EA811575B9E}" srcId="{B50C1E31-C079-47D1-AF68-32A727F609A6}" destId="{2A8EAA87-C55B-4D68-9F2A-7C4CB908B2AD}" srcOrd="1" destOrd="0" parTransId="{84A8A79F-F549-4A8B-A111-29D901455E73}" sibTransId="{B8B0DDFD-4433-401B-A50A-7FAFAC476502}"/>
    <dgm:cxn modelId="{274891EE-42EF-4DB4-AC59-7A419473DA50}" srcId="{B50C1E31-C079-47D1-AF68-32A727F609A6}" destId="{5383A1BA-3B5A-492B-A26E-D852B588B7E3}" srcOrd="2" destOrd="0" parTransId="{AB5A58DA-3D2C-4945-AB3A-CA90A2EBFEBF}" sibTransId="{670269F1-A5F7-44B1-9D6E-88EEF4FEAE9B}"/>
    <dgm:cxn modelId="{2E640388-8A0F-4187-BA74-CE96B5ED9525}" type="presParOf" srcId="{0B1C1C57-4D72-40DB-9A7C-31CD04DD1088}" destId="{5350320C-A8D0-4143-A69D-EE016560EFE9}" srcOrd="0" destOrd="0" presId="urn:microsoft.com/office/officeart/2005/8/layout/process1"/>
    <dgm:cxn modelId="{8FE4498F-BC00-4106-BA0F-6CF60AFD9852}" type="presParOf" srcId="{0B1C1C57-4D72-40DB-9A7C-31CD04DD1088}" destId="{446A0C17-B562-4B9B-B552-4A2048E4C3A3}" srcOrd="1" destOrd="0" presId="urn:microsoft.com/office/officeart/2005/8/layout/process1"/>
    <dgm:cxn modelId="{D175F689-38C5-4103-BF0F-6BA0198C5FF6}" type="presParOf" srcId="{446A0C17-B562-4B9B-B552-4A2048E4C3A3}" destId="{82F2271F-CB84-42DB-915E-4EBB1920F5D3}" srcOrd="0" destOrd="0" presId="urn:microsoft.com/office/officeart/2005/8/layout/process1"/>
    <dgm:cxn modelId="{E9EC8E5B-C31C-4D24-82FA-B6B702D2169D}" type="presParOf" srcId="{0B1C1C57-4D72-40DB-9A7C-31CD04DD1088}" destId="{FFB76B42-9A85-43A5-A46F-F1A2BE4784EC}" srcOrd="2" destOrd="0" presId="urn:microsoft.com/office/officeart/2005/8/layout/process1"/>
    <dgm:cxn modelId="{AF73A8C3-E048-459C-93C8-BA98C6C419C6}" type="presParOf" srcId="{0B1C1C57-4D72-40DB-9A7C-31CD04DD1088}" destId="{F3091E69-CAB4-4248-A2BD-DFAD93A0A8A5}" srcOrd="3" destOrd="0" presId="urn:microsoft.com/office/officeart/2005/8/layout/process1"/>
    <dgm:cxn modelId="{2B28D088-5112-4177-8E71-02A4FE76C226}" type="presParOf" srcId="{F3091E69-CAB4-4248-A2BD-DFAD93A0A8A5}" destId="{B88767D8-2F42-497F-B694-A9D9C37B17A4}" srcOrd="0" destOrd="0" presId="urn:microsoft.com/office/officeart/2005/8/layout/process1"/>
    <dgm:cxn modelId="{0F6CA217-C535-4985-909B-433BCCBB4AEF}" type="presParOf" srcId="{0B1C1C57-4D72-40DB-9A7C-31CD04DD1088}" destId="{154D35CD-974C-4A75-89DA-0AE1EA346E41}" srcOrd="4" destOrd="0" presId="urn:microsoft.com/office/officeart/2005/8/layout/process1"/>
    <dgm:cxn modelId="{C8BD844A-5946-445C-A47E-DBF5329EC071}" type="presParOf" srcId="{0B1C1C57-4D72-40DB-9A7C-31CD04DD1088}" destId="{EEA621E8-086C-4282-B3C3-8381B72A50CD}" srcOrd="5" destOrd="0" presId="urn:microsoft.com/office/officeart/2005/8/layout/process1"/>
    <dgm:cxn modelId="{D122E1A0-FEC6-4B35-A01C-B919D0DB659C}" type="presParOf" srcId="{EEA621E8-086C-4282-B3C3-8381B72A50CD}" destId="{3D28DE74-90FF-4C7D-9A6C-92FFCFCDEB11}" srcOrd="0" destOrd="0" presId="urn:microsoft.com/office/officeart/2005/8/layout/process1"/>
    <dgm:cxn modelId="{E8B37DEC-584E-4459-9EF4-FE1C9F83AA7A}" type="presParOf" srcId="{0B1C1C57-4D72-40DB-9A7C-31CD04DD1088}" destId="{798E4C17-6185-4217-B562-F457050CBD87}"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50C1E31-C079-47D1-AF68-32A727F609A6}" type="doc">
      <dgm:prSet loTypeId="urn:microsoft.com/office/officeart/2005/8/layout/process1" loCatId="process" qsTypeId="urn:microsoft.com/office/officeart/2005/8/quickstyle/simple1" qsCatId="simple" csTypeId="urn:microsoft.com/office/officeart/2005/8/colors/accent3_1" csCatId="accent3" phldr="1"/>
      <dgm:spPr/>
      <dgm:t>
        <a:bodyPr/>
        <a:lstStyle/>
        <a:p>
          <a:endParaRPr lang="en-IN"/>
        </a:p>
      </dgm:t>
    </dgm:pt>
    <dgm:pt modelId="{C6D20F10-2E26-4FE1-BDC8-C56139CB2CE0}">
      <dgm:prSet phldrT="[Text]" custT="1"/>
      <dgm:spPr/>
      <dgm:t>
        <a:bodyPr/>
        <a:lstStyle/>
        <a:p>
          <a:pPr algn="just">
            <a:buNone/>
          </a:pPr>
          <a:r>
            <a:rPr lang="en-IN" sz="2000" b="1" dirty="0"/>
            <a:t>Each node stores which patterns end there.</a:t>
          </a:r>
        </a:p>
        <a:p>
          <a:pPr algn="just">
            <a:buNone/>
          </a:pPr>
          <a:r>
            <a:rPr lang="en-IN" sz="2000" b="1" dirty="0"/>
            <a:t>Initially</a:t>
          </a:r>
        </a:p>
        <a:p>
          <a:pPr algn="just">
            <a:buNone/>
          </a:pPr>
          <a:endParaRPr lang="en-IN" sz="2000" b="1" dirty="0"/>
        </a:p>
        <a:p>
          <a:pPr algn="just">
            <a:buNone/>
          </a:pPr>
          <a:endParaRPr lang="en-IN" sz="2000" b="1" dirty="0"/>
        </a:p>
        <a:p>
          <a:pPr algn="just">
            <a:buNone/>
          </a:pPr>
          <a:endParaRPr lang="en-IN" sz="2000" b="1" dirty="0"/>
        </a:p>
        <a:p>
          <a:pPr algn="just">
            <a:buNone/>
          </a:pPr>
          <a:endParaRPr lang="en-IN" sz="2000" b="1" dirty="0"/>
        </a:p>
        <a:p>
          <a:pPr algn="just">
            <a:buNone/>
          </a:pPr>
          <a:endParaRPr lang="en-IN" sz="2000" b="1" dirty="0"/>
        </a:p>
        <a:p>
          <a:pPr algn="just">
            <a:buNone/>
          </a:pPr>
          <a:endParaRPr lang="en-IN" sz="2000" b="1" dirty="0"/>
        </a:p>
        <a:p>
          <a:pPr algn="just">
            <a:buNone/>
          </a:pPr>
          <a:endParaRPr lang="en-IN" sz="2000" b="1" dirty="0"/>
        </a:p>
      </dgm:t>
    </dgm:pt>
    <dgm:pt modelId="{55390533-09BB-48A7-B171-4C25C611F16F}" type="parTrans" cxnId="{CB82FA73-D827-434E-9579-CD4D0CD624CF}">
      <dgm:prSet/>
      <dgm:spPr/>
      <dgm:t>
        <a:bodyPr/>
        <a:lstStyle/>
        <a:p>
          <a:pPr algn="just"/>
          <a:endParaRPr lang="en-IN" sz="5400"/>
        </a:p>
      </dgm:t>
    </dgm:pt>
    <dgm:pt modelId="{D1BE6432-6AD7-4EE2-B69A-1B572B669B3F}" type="sibTrans" cxnId="{CB82FA73-D827-434E-9579-CD4D0CD624CF}">
      <dgm:prSet custT="1"/>
      <dgm:spPr/>
      <dgm:t>
        <a:bodyPr/>
        <a:lstStyle/>
        <a:p>
          <a:pPr algn="just"/>
          <a:endParaRPr lang="en-IN" sz="1200"/>
        </a:p>
      </dgm:t>
    </dgm:pt>
    <dgm:pt modelId="{2A8EAA87-C55B-4D68-9F2A-7C4CB908B2AD}">
      <dgm:prSet phldrT="[Text]" custT="1"/>
      <dgm:spPr/>
      <dgm:t>
        <a:bodyPr/>
        <a:lstStyle/>
        <a:p>
          <a:pPr algn="just">
            <a:buNone/>
          </a:pPr>
          <a:r>
            <a:rPr lang="en-IN" sz="2400" dirty="0"/>
            <a:t>Now copy outputs from failure links.</a:t>
          </a:r>
        </a:p>
        <a:p>
          <a:pPr algn="just">
            <a:buNone/>
          </a:pPr>
          <a:r>
            <a:rPr lang="en-IN" sz="2400" dirty="0"/>
            <a:t>Example</a:t>
          </a:r>
        </a:p>
        <a:p>
          <a:pPr algn="just">
            <a:buNone/>
          </a:pPr>
          <a:r>
            <a:rPr lang="en-IN" sz="2400" b="1" dirty="0"/>
            <a:t>Failure(she)=he</a:t>
          </a:r>
        </a:p>
        <a:p>
          <a:pPr algn="just">
            <a:buNone/>
          </a:pPr>
          <a:r>
            <a:rPr lang="en-IN" sz="2400" dirty="0"/>
            <a:t>Therefore</a:t>
          </a:r>
        </a:p>
        <a:p>
          <a:pPr algn="just">
            <a:buNone/>
          </a:pPr>
          <a:r>
            <a:rPr lang="en-IN" sz="2400" dirty="0"/>
            <a:t>Output(she) = she + Output(he) = </a:t>
          </a:r>
          <a:r>
            <a:rPr lang="en-IN" sz="2400" b="1" dirty="0"/>
            <a:t>she, he</a:t>
          </a:r>
        </a:p>
      </dgm:t>
    </dgm:pt>
    <dgm:pt modelId="{84A8A79F-F549-4A8B-A111-29D901455E73}" type="parTrans" cxnId="{15D1CEE4-3620-46D8-BDE1-4EA811575B9E}">
      <dgm:prSet/>
      <dgm:spPr/>
      <dgm:t>
        <a:bodyPr/>
        <a:lstStyle/>
        <a:p>
          <a:pPr algn="just"/>
          <a:endParaRPr lang="en-IN" sz="5400"/>
        </a:p>
      </dgm:t>
    </dgm:pt>
    <dgm:pt modelId="{B8B0DDFD-4433-401B-A50A-7FAFAC476502}" type="sibTrans" cxnId="{15D1CEE4-3620-46D8-BDE1-4EA811575B9E}">
      <dgm:prSet custT="1"/>
      <dgm:spPr/>
      <dgm:t>
        <a:bodyPr/>
        <a:lstStyle/>
        <a:p>
          <a:pPr algn="just"/>
          <a:endParaRPr lang="en-IN" sz="1200"/>
        </a:p>
      </dgm:t>
    </dgm:pt>
    <dgm:pt modelId="{0B1C1C57-4D72-40DB-9A7C-31CD04DD1088}" type="pres">
      <dgm:prSet presAssocID="{B50C1E31-C079-47D1-AF68-32A727F609A6}" presName="Name0" presStyleCnt="0">
        <dgm:presLayoutVars>
          <dgm:dir/>
          <dgm:resizeHandles val="exact"/>
        </dgm:presLayoutVars>
      </dgm:prSet>
      <dgm:spPr/>
    </dgm:pt>
    <dgm:pt modelId="{5350320C-A8D0-4143-A69D-EE016560EFE9}" type="pres">
      <dgm:prSet presAssocID="{C6D20F10-2E26-4FE1-BDC8-C56139CB2CE0}" presName="node" presStyleLbl="node1" presStyleIdx="0" presStyleCnt="2" custLinFactNeighborX="-7055" custLinFactNeighborY="12179">
        <dgm:presLayoutVars>
          <dgm:bulletEnabled val="1"/>
        </dgm:presLayoutVars>
      </dgm:prSet>
      <dgm:spPr/>
    </dgm:pt>
    <dgm:pt modelId="{446A0C17-B562-4B9B-B552-4A2048E4C3A3}" type="pres">
      <dgm:prSet presAssocID="{D1BE6432-6AD7-4EE2-B69A-1B572B669B3F}" presName="sibTrans" presStyleLbl="sibTrans2D1" presStyleIdx="0" presStyleCnt="1" custAng="173172" custScaleX="140516" custScaleY="105297"/>
      <dgm:spPr/>
    </dgm:pt>
    <dgm:pt modelId="{82F2271F-CB84-42DB-915E-4EBB1920F5D3}" type="pres">
      <dgm:prSet presAssocID="{D1BE6432-6AD7-4EE2-B69A-1B572B669B3F}" presName="connectorText" presStyleLbl="sibTrans2D1" presStyleIdx="0" presStyleCnt="1"/>
      <dgm:spPr/>
    </dgm:pt>
    <dgm:pt modelId="{FFB76B42-9A85-43A5-A46F-F1A2BE4784EC}" type="pres">
      <dgm:prSet presAssocID="{2A8EAA87-C55B-4D68-9F2A-7C4CB908B2AD}" presName="node" presStyleLbl="node1" presStyleIdx="1" presStyleCnt="2" custScaleX="99732" custScaleY="89999" custLinFactNeighborX="-9654" custLinFactNeighborY="-5876">
        <dgm:presLayoutVars>
          <dgm:bulletEnabled val="1"/>
        </dgm:presLayoutVars>
      </dgm:prSet>
      <dgm:spPr/>
    </dgm:pt>
  </dgm:ptLst>
  <dgm:cxnLst>
    <dgm:cxn modelId="{FE425E05-7090-41FD-870B-FCDB4070A371}" type="presOf" srcId="{D1BE6432-6AD7-4EE2-B69A-1B572B669B3F}" destId="{82F2271F-CB84-42DB-915E-4EBB1920F5D3}" srcOrd="1" destOrd="0" presId="urn:microsoft.com/office/officeart/2005/8/layout/process1"/>
    <dgm:cxn modelId="{585A7B36-42EE-4B94-ADBB-F3D87DCF8AEA}" type="presOf" srcId="{D1BE6432-6AD7-4EE2-B69A-1B572B669B3F}" destId="{446A0C17-B562-4B9B-B552-4A2048E4C3A3}" srcOrd="0" destOrd="0" presId="urn:microsoft.com/office/officeart/2005/8/layout/process1"/>
    <dgm:cxn modelId="{0EFF7438-5F6B-4BD9-9D56-197BDBB83E88}" type="presOf" srcId="{2A8EAA87-C55B-4D68-9F2A-7C4CB908B2AD}" destId="{FFB76B42-9A85-43A5-A46F-F1A2BE4784EC}" srcOrd="0" destOrd="0" presId="urn:microsoft.com/office/officeart/2005/8/layout/process1"/>
    <dgm:cxn modelId="{CC429A6B-1C30-4B11-8193-628930B47B37}" type="presOf" srcId="{C6D20F10-2E26-4FE1-BDC8-C56139CB2CE0}" destId="{5350320C-A8D0-4143-A69D-EE016560EFE9}" srcOrd="0" destOrd="0" presId="urn:microsoft.com/office/officeart/2005/8/layout/process1"/>
    <dgm:cxn modelId="{1859D16F-B2F8-4572-836C-9E7DF71D56A7}" type="presOf" srcId="{B50C1E31-C079-47D1-AF68-32A727F609A6}" destId="{0B1C1C57-4D72-40DB-9A7C-31CD04DD1088}" srcOrd="0" destOrd="0" presId="urn:microsoft.com/office/officeart/2005/8/layout/process1"/>
    <dgm:cxn modelId="{CB82FA73-D827-434E-9579-CD4D0CD624CF}" srcId="{B50C1E31-C079-47D1-AF68-32A727F609A6}" destId="{C6D20F10-2E26-4FE1-BDC8-C56139CB2CE0}" srcOrd="0" destOrd="0" parTransId="{55390533-09BB-48A7-B171-4C25C611F16F}" sibTransId="{D1BE6432-6AD7-4EE2-B69A-1B572B669B3F}"/>
    <dgm:cxn modelId="{15D1CEE4-3620-46D8-BDE1-4EA811575B9E}" srcId="{B50C1E31-C079-47D1-AF68-32A727F609A6}" destId="{2A8EAA87-C55B-4D68-9F2A-7C4CB908B2AD}" srcOrd="1" destOrd="0" parTransId="{84A8A79F-F549-4A8B-A111-29D901455E73}" sibTransId="{B8B0DDFD-4433-401B-A50A-7FAFAC476502}"/>
    <dgm:cxn modelId="{BF418945-C2C1-46EE-9062-9353324D29D2}" type="presParOf" srcId="{0B1C1C57-4D72-40DB-9A7C-31CD04DD1088}" destId="{5350320C-A8D0-4143-A69D-EE016560EFE9}" srcOrd="0" destOrd="0" presId="urn:microsoft.com/office/officeart/2005/8/layout/process1"/>
    <dgm:cxn modelId="{B01DB707-8CBF-40B7-A1BC-C989A23C64CC}" type="presParOf" srcId="{0B1C1C57-4D72-40DB-9A7C-31CD04DD1088}" destId="{446A0C17-B562-4B9B-B552-4A2048E4C3A3}" srcOrd="1" destOrd="0" presId="urn:microsoft.com/office/officeart/2005/8/layout/process1"/>
    <dgm:cxn modelId="{F68459E9-B008-41C1-905C-404D439D35F8}" type="presParOf" srcId="{446A0C17-B562-4B9B-B552-4A2048E4C3A3}" destId="{82F2271F-CB84-42DB-915E-4EBB1920F5D3}" srcOrd="0" destOrd="0" presId="urn:microsoft.com/office/officeart/2005/8/layout/process1"/>
    <dgm:cxn modelId="{113D894F-1B27-48FC-8B82-1976C7736B69}" type="presParOf" srcId="{0B1C1C57-4D72-40DB-9A7C-31CD04DD1088}" destId="{FFB76B42-9A85-43A5-A46F-F1A2BE4784EC}" srcOrd="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524CF8E-904C-4D92-8A76-775F7189E1A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2C4B166C-7EB4-49A2-8740-5C2828A33153}">
      <dgm:prSet phldrT="[Text]" custT="1"/>
      <dgm:spPr/>
      <dgm:t>
        <a:bodyPr/>
        <a:lstStyle/>
        <a:p>
          <a:pPr>
            <a:buNone/>
          </a:pPr>
          <a:r>
            <a:rPr lang="en-IN" sz="2400" b="1" dirty="0">
              <a:solidFill>
                <a:schemeClr val="tx1"/>
              </a:solidFill>
            </a:rPr>
            <a:t>What is a Suffix?</a:t>
          </a:r>
        </a:p>
      </dgm:t>
    </dgm:pt>
    <dgm:pt modelId="{96FCAD02-DC91-4EE8-8AE2-0D56505641E8}" type="parTrans" cxnId="{C46C0965-D9D7-4D97-85F5-AEC8656EB7DB}">
      <dgm:prSet/>
      <dgm:spPr/>
      <dgm:t>
        <a:bodyPr/>
        <a:lstStyle/>
        <a:p>
          <a:endParaRPr lang="en-IN" sz="2400"/>
        </a:p>
      </dgm:t>
    </dgm:pt>
    <dgm:pt modelId="{9851DF3C-5D56-490B-9EE8-B7027C49D0B6}" type="sibTrans" cxnId="{C46C0965-D9D7-4D97-85F5-AEC8656EB7DB}">
      <dgm:prSet/>
      <dgm:spPr/>
      <dgm:t>
        <a:bodyPr/>
        <a:lstStyle/>
        <a:p>
          <a:endParaRPr lang="en-IN" sz="2400"/>
        </a:p>
      </dgm:t>
    </dgm:pt>
    <dgm:pt modelId="{3C6A6061-55C2-49C0-B8F3-1B5CE3022FD7}">
      <dgm:prSet phldrT="[Text]" custT="1"/>
      <dgm:spPr/>
      <dgm:t>
        <a:bodyPr/>
        <a:lstStyle/>
        <a:p>
          <a:pPr>
            <a:buNone/>
          </a:pPr>
          <a:r>
            <a:rPr lang="en-IN" sz="2400" b="0" dirty="0"/>
            <a:t>A suffix is a substring that starts at any position in the string and extends to the end.</a:t>
          </a:r>
        </a:p>
      </dgm:t>
    </dgm:pt>
    <dgm:pt modelId="{31CE7716-BF5C-412A-B44D-12835975F456}" type="parTrans" cxnId="{500B14CE-E222-407D-BA96-E6B4A6F9E4CF}">
      <dgm:prSet/>
      <dgm:spPr/>
      <dgm:t>
        <a:bodyPr/>
        <a:lstStyle/>
        <a:p>
          <a:endParaRPr lang="en-IN" sz="2400"/>
        </a:p>
      </dgm:t>
    </dgm:pt>
    <dgm:pt modelId="{6A60D045-0F31-4146-9112-315D78EC3504}" type="sibTrans" cxnId="{500B14CE-E222-407D-BA96-E6B4A6F9E4CF}">
      <dgm:prSet/>
      <dgm:spPr/>
      <dgm:t>
        <a:bodyPr/>
        <a:lstStyle/>
        <a:p>
          <a:endParaRPr lang="en-IN" sz="2400"/>
        </a:p>
      </dgm:t>
    </dgm:pt>
    <dgm:pt modelId="{CA8E5D85-EE2A-4B9D-B33B-714D9AE89A07}">
      <dgm:prSet custT="1"/>
      <dgm:spPr/>
      <dgm:t>
        <a:bodyPr/>
        <a:lstStyle/>
        <a:p>
          <a:pPr>
            <a:buNone/>
          </a:pPr>
          <a:r>
            <a:rPr lang="en-IN" sz="2400" b="0" dirty="0"/>
            <a:t>For example,</a:t>
          </a:r>
        </a:p>
      </dgm:t>
    </dgm:pt>
    <dgm:pt modelId="{74969B56-4CB3-46C8-9410-067D7B323E10}" type="parTrans" cxnId="{B91189A1-9B78-476C-8DF6-E33FFAEB8E3A}">
      <dgm:prSet/>
      <dgm:spPr/>
      <dgm:t>
        <a:bodyPr/>
        <a:lstStyle/>
        <a:p>
          <a:endParaRPr lang="en-IN" sz="2400"/>
        </a:p>
      </dgm:t>
    </dgm:pt>
    <dgm:pt modelId="{E2213C56-2F3B-4FF4-990D-4C0A05AC728A}" type="sibTrans" cxnId="{B91189A1-9B78-476C-8DF6-E33FFAEB8E3A}">
      <dgm:prSet/>
      <dgm:spPr/>
      <dgm:t>
        <a:bodyPr/>
        <a:lstStyle/>
        <a:p>
          <a:endParaRPr lang="en-IN" sz="2400"/>
        </a:p>
      </dgm:t>
    </dgm:pt>
    <dgm:pt modelId="{3969393C-266B-42ED-B860-5479CF04C493}">
      <dgm:prSet custT="1"/>
      <dgm:spPr/>
      <dgm:t>
        <a:bodyPr/>
        <a:lstStyle/>
        <a:p>
          <a:pPr>
            <a:buNone/>
          </a:pPr>
          <a:r>
            <a:rPr lang="en-IN" sz="2400" b="0" dirty="0"/>
            <a:t>String = banana</a:t>
          </a:r>
        </a:p>
      </dgm:t>
    </dgm:pt>
    <dgm:pt modelId="{666B42A7-6146-4A65-AEA1-3F3425597008}" type="parTrans" cxnId="{0B12C7D5-FF64-4762-A035-52CE748BFFE4}">
      <dgm:prSet/>
      <dgm:spPr/>
      <dgm:t>
        <a:bodyPr/>
        <a:lstStyle/>
        <a:p>
          <a:endParaRPr lang="en-IN" sz="2400"/>
        </a:p>
      </dgm:t>
    </dgm:pt>
    <dgm:pt modelId="{6A2CAA89-F5B6-4057-9B8E-34080EC66FB1}" type="sibTrans" cxnId="{0B12C7D5-FF64-4762-A035-52CE748BFFE4}">
      <dgm:prSet/>
      <dgm:spPr/>
      <dgm:t>
        <a:bodyPr/>
        <a:lstStyle/>
        <a:p>
          <a:endParaRPr lang="en-IN" sz="2400"/>
        </a:p>
      </dgm:t>
    </dgm:pt>
    <dgm:pt modelId="{DF690F49-D20A-4182-91D7-984300ED1A69}">
      <dgm:prSet custT="1"/>
      <dgm:spPr/>
      <dgm:t>
        <a:bodyPr/>
        <a:lstStyle/>
        <a:p>
          <a:pPr>
            <a:buNone/>
          </a:pPr>
          <a:r>
            <a:rPr lang="en-IN" sz="2400" b="0" dirty="0"/>
            <a:t>All suffixes are:</a:t>
          </a:r>
        </a:p>
      </dgm:t>
    </dgm:pt>
    <dgm:pt modelId="{C766E6CA-B8F4-40D2-8424-4AA3FAB696AC}" type="parTrans" cxnId="{95E79979-13D6-46D4-A867-DE21BB0E053E}">
      <dgm:prSet/>
      <dgm:spPr/>
      <dgm:t>
        <a:bodyPr/>
        <a:lstStyle/>
        <a:p>
          <a:endParaRPr lang="en-IN" sz="2400"/>
        </a:p>
      </dgm:t>
    </dgm:pt>
    <dgm:pt modelId="{FCE54A70-BC73-4DB1-884D-C41FF00D5013}" type="sibTrans" cxnId="{95E79979-13D6-46D4-A867-DE21BB0E053E}">
      <dgm:prSet/>
      <dgm:spPr/>
      <dgm:t>
        <a:bodyPr/>
        <a:lstStyle/>
        <a:p>
          <a:endParaRPr lang="en-IN" sz="2400"/>
        </a:p>
      </dgm:t>
    </dgm:pt>
    <dgm:pt modelId="{163802A6-FA3D-46F4-92B4-D6F850311B4F}">
      <dgm:prSet custT="1"/>
      <dgm:spPr/>
      <dgm:t>
        <a:bodyPr/>
        <a:lstStyle/>
        <a:p>
          <a:pPr>
            <a:buNone/>
          </a:pPr>
          <a:r>
            <a:rPr lang="en-IN" sz="2400" b="0" dirty="0"/>
            <a:t>There are n suffixes for a string of length n.</a:t>
          </a:r>
        </a:p>
      </dgm:t>
    </dgm:pt>
    <dgm:pt modelId="{E8BF586A-F2F0-4EB6-9698-13354E6D4224}" type="parTrans" cxnId="{AF6F368A-FC0F-4BE5-9D06-D9039C22F314}">
      <dgm:prSet/>
      <dgm:spPr/>
      <dgm:t>
        <a:bodyPr/>
        <a:lstStyle/>
        <a:p>
          <a:endParaRPr lang="en-IN" sz="2400"/>
        </a:p>
      </dgm:t>
    </dgm:pt>
    <dgm:pt modelId="{0A561596-038F-4823-99A5-58613765205D}" type="sibTrans" cxnId="{AF6F368A-FC0F-4BE5-9D06-D9039C22F314}">
      <dgm:prSet/>
      <dgm:spPr/>
      <dgm:t>
        <a:bodyPr/>
        <a:lstStyle/>
        <a:p>
          <a:endParaRPr lang="en-IN" sz="2400"/>
        </a:p>
      </dgm:t>
    </dgm:pt>
    <dgm:pt modelId="{F1539E76-A52F-4660-BB46-66C92BEFDC60}">
      <dgm:prSet custT="1"/>
      <dgm:spPr/>
      <dgm:t>
        <a:bodyPr/>
        <a:lstStyle/>
        <a:p>
          <a:pPr>
            <a:buNone/>
          </a:pPr>
          <a:endParaRPr lang="en-IN" sz="2400" dirty="0"/>
        </a:p>
      </dgm:t>
    </dgm:pt>
    <dgm:pt modelId="{3E5E5C9B-488C-4982-91FF-D0970F4C214A}" type="parTrans" cxnId="{C825A288-B720-4277-A487-16D680A2E54C}">
      <dgm:prSet/>
      <dgm:spPr/>
      <dgm:t>
        <a:bodyPr/>
        <a:lstStyle/>
        <a:p>
          <a:endParaRPr lang="en-IN" sz="2400"/>
        </a:p>
      </dgm:t>
    </dgm:pt>
    <dgm:pt modelId="{46665467-5064-496B-A841-E43340A37C7E}" type="sibTrans" cxnId="{C825A288-B720-4277-A487-16D680A2E54C}">
      <dgm:prSet/>
      <dgm:spPr/>
      <dgm:t>
        <a:bodyPr/>
        <a:lstStyle/>
        <a:p>
          <a:endParaRPr lang="en-IN" sz="2400"/>
        </a:p>
      </dgm:t>
    </dgm:pt>
    <dgm:pt modelId="{58B8147D-83B1-4F8D-8566-0C3798C49DD4}">
      <dgm:prSet custT="1"/>
      <dgm:spPr/>
      <dgm:t>
        <a:bodyPr/>
        <a:lstStyle/>
        <a:p>
          <a:pPr>
            <a:buNone/>
          </a:pPr>
          <a:endParaRPr lang="en-IN" sz="2400" dirty="0"/>
        </a:p>
      </dgm:t>
    </dgm:pt>
    <dgm:pt modelId="{733D7253-779F-442C-9310-A34E96076E41}" type="parTrans" cxnId="{094A869F-F53F-4FCD-9FF0-8A80AE36A41A}">
      <dgm:prSet/>
      <dgm:spPr/>
      <dgm:t>
        <a:bodyPr/>
        <a:lstStyle/>
        <a:p>
          <a:endParaRPr lang="en-IN" sz="2400"/>
        </a:p>
      </dgm:t>
    </dgm:pt>
    <dgm:pt modelId="{CBCA722C-1DB1-4184-AEC8-B02F50014ED8}" type="sibTrans" cxnId="{094A869F-F53F-4FCD-9FF0-8A80AE36A41A}">
      <dgm:prSet/>
      <dgm:spPr/>
      <dgm:t>
        <a:bodyPr/>
        <a:lstStyle/>
        <a:p>
          <a:endParaRPr lang="en-IN" sz="2400"/>
        </a:p>
      </dgm:t>
    </dgm:pt>
    <dgm:pt modelId="{E837448F-766A-478B-AD04-7EC8FFF87093}">
      <dgm:prSet custT="1"/>
      <dgm:spPr/>
      <dgm:t>
        <a:bodyPr/>
        <a:lstStyle/>
        <a:p>
          <a:pPr>
            <a:buNone/>
          </a:pPr>
          <a:endParaRPr lang="en-IN" sz="2400" dirty="0"/>
        </a:p>
      </dgm:t>
    </dgm:pt>
    <dgm:pt modelId="{09DEF1DC-BAB9-4037-93E8-418DA4E4B835}" type="parTrans" cxnId="{CFD3C09F-BBF8-4011-A6EC-479875E4E4BD}">
      <dgm:prSet/>
      <dgm:spPr/>
      <dgm:t>
        <a:bodyPr/>
        <a:lstStyle/>
        <a:p>
          <a:endParaRPr lang="en-IN" sz="2400"/>
        </a:p>
      </dgm:t>
    </dgm:pt>
    <dgm:pt modelId="{33E60638-9B29-4D4B-A989-16846A00B22C}" type="sibTrans" cxnId="{CFD3C09F-BBF8-4011-A6EC-479875E4E4BD}">
      <dgm:prSet/>
      <dgm:spPr/>
      <dgm:t>
        <a:bodyPr/>
        <a:lstStyle/>
        <a:p>
          <a:endParaRPr lang="en-IN" sz="2400"/>
        </a:p>
      </dgm:t>
    </dgm:pt>
    <dgm:pt modelId="{8A5BD4DF-9213-4DF8-A91A-0D03AC4198A6}">
      <dgm:prSet custT="1"/>
      <dgm:spPr/>
      <dgm:t>
        <a:bodyPr/>
        <a:lstStyle/>
        <a:p>
          <a:pPr>
            <a:buNone/>
          </a:pPr>
          <a:endParaRPr lang="en-IN" sz="2400" dirty="0"/>
        </a:p>
      </dgm:t>
    </dgm:pt>
    <dgm:pt modelId="{9FF52E11-9BD9-413E-8545-9CCA8CF912D4}" type="parTrans" cxnId="{661CC59E-65D8-40F2-95F3-74BCDE1D9B5E}">
      <dgm:prSet/>
      <dgm:spPr/>
      <dgm:t>
        <a:bodyPr/>
        <a:lstStyle/>
        <a:p>
          <a:endParaRPr lang="en-IN" sz="2400"/>
        </a:p>
      </dgm:t>
    </dgm:pt>
    <dgm:pt modelId="{3941DE05-E7D8-4C57-BC60-3EABB878EF2F}" type="sibTrans" cxnId="{661CC59E-65D8-40F2-95F3-74BCDE1D9B5E}">
      <dgm:prSet/>
      <dgm:spPr/>
      <dgm:t>
        <a:bodyPr/>
        <a:lstStyle/>
        <a:p>
          <a:endParaRPr lang="en-IN" sz="2400"/>
        </a:p>
      </dgm:t>
    </dgm:pt>
    <dgm:pt modelId="{7A2A9A07-324D-4C8F-B8AD-424CC5196B41}">
      <dgm:prSet custT="1"/>
      <dgm:spPr/>
      <dgm:t>
        <a:bodyPr/>
        <a:lstStyle/>
        <a:p>
          <a:pPr>
            <a:buNone/>
          </a:pPr>
          <a:endParaRPr lang="en-IN" sz="2400" dirty="0"/>
        </a:p>
      </dgm:t>
    </dgm:pt>
    <dgm:pt modelId="{D1ACF89E-3721-4B6D-8704-D3BE867D10AD}" type="parTrans" cxnId="{FFAF0035-A698-4BC8-81FB-4CDE4657DAE6}">
      <dgm:prSet/>
      <dgm:spPr/>
      <dgm:t>
        <a:bodyPr/>
        <a:lstStyle/>
        <a:p>
          <a:endParaRPr lang="en-IN" sz="2400"/>
        </a:p>
      </dgm:t>
    </dgm:pt>
    <dgm:pt modelId="{500E2FC3-EA26-45B1-BFC7-76A735BA1F99}" type="sibTrans" cxnId="{FFAF0035-A698-4BC8-81FB-4CDE4657DAE6}">
      <dgm:prSet/>
      <dgm:spPr/>
      <dgm:t>
        <a:bodyPr/>
        <a:lstStyle/>
        <a:p>
          <a:endParaRPr lang="en-IN" sz="2400"/>
        </a:p>
      </dgm:t>
    </dgm:pt>
    <dgm:pt modelId="{5AA8D24B-5AC0-45CE-9856-C592381814D6}">
      <dgm:prSet custT="1"/>
      <dgm:spPr/>
      <dgm:t>
        <a:bodyPr/>
        <a:lstStyle/>
        <a:p>
          <a:pPr>
            <a:buNone/>
          </a:pPr>
          <a:endParaRPr lang="en-IN" sz="2400" dirty="0"/>
        </a:p>
      </dgm:t>
    </dgm:pt>
    <dgm:pt modelId="{876ADEEA-7BF8-45F6-ABFE-FBBDF9B0A2FF}" type="parTrans" cxnId="{FC9F3A30-D820-424F-ADA0-12C3299447BE}">
      <dgm:prSet/>
      <dgm:spPr/>
      <dgm:t>
        <a:bodyPr/>
        <a:lstStyle/>
        <a:p>
          <a:endParaRPr lang="en-IN" sz="2400"/>
        </a:p>
      </dgm:t>
    </dgm:pt>
    <dgm:pt modelId="{FD6EFCD8-CD0D-4B2E-B65D-3A80DD308460}" type="sibTrans" cxnId="{FC9F3A30-D820-424F-ADA0-12C3299447BE}">
      <dgm:prSet/>
      <dgm:spPr/>
      <dgm:t>
        <a:bodyPr/>
        <a:lstStyle/>
        <a:p>
          <a:endParaRPr lang="en-IN" sz="2400"/>
        </a:p>
      </dgm:t>
    </dgm:pt>
    <dgm:pt modelId="{FCB411B5-B482-4758-9FB0-4382E545E6D1}">
      <dgm:prSet custT="1"/>
      <dgm:spPr/>
      <dgm:t>
        <a:bodyPr/>
        <a:lstStyle/>
        <a:p>
          <a:pPr>
            <a:buNone/>
          </a:pPr>
          <a:endParaRPr lang="en-IN" sz="2400" dirty="0"/>
        </a:p>
      </dgm:t>
    </dgm:pt>
    <dgm:pt modelId="{62615D9E-1D26-4F37-841B-1C45A8351445}" type="parTrans" cxnId="{A9DBD1E5-9353-44D4-81AF-5ABDD0009F46}">
      <dgm:prSet/>
      <dgm:spPr/>
      <dgm:t>
        <a:bodyPr/>
        <a:lstStyle/>
        <a:p>
          <a:endParaRPr lang="en-IN" sz="2400"/>
        </a:p>
      </dgm:t>
    </dgm:pt>
    <dgm:pt modelId="{EB2D6E26-CE34-4C48-8CD2-2194F7927BC5}" type="sibTrans" cxnId="{A9DBD1E5-9353-44D4-81AF-5ABDD0009F46}">
      <dgm:prSet/>
      <dgm:spPr/>
      <dgm:t>
        <a:bodyPr/>
        <a:lstStyle/>
        <a:p>
          <a:endParaRPr lang="en-IN" sz="2400"/>
        </a:p>
      </dgm:t>
    </dgm:pt>
    <dgm:pt modelId="{52A6A0CC-8508-4687-9DCD-81CD2A82BD49}" type="pres">
      <dgm:prSet presAssocID="{F524CF8E-904C-4D92-8A76-775F7189E1A0}" presName="linear" presStyleCnt="0">
        <dgm:presLayoutVars>
          <dgm:animLvl val="lvl"/>
          <dgm:resizeHandles val="exact"/>
        </dgm:presLayoutVars>
      </dgm:prSet>
      <dgm:spPr/>
    </dgm:pt>
    <dgm:pt modelId="{34E3C31A-170A-424A-A9FE-953D342DDB68}" type="pres">
      <dgm:prSet presAssocID="{2C4B166C-7EB4-49A2-8740-5C2828A33153}" presName="parentText" presStyleLbl="node1" presStyleIdx="0" presStyleCnt="1" custLinFactNeighborX="601" custLinFactNeighborY="-5359">
        <dgm:presLayoutVars>
          <dgm:chMax val="0"/>
          <dgm:bulletEnabled val="1"/>
        </dgm:presLayoutVars>
      </dgm:prSet>
      <dgm:spPr/>
    </dgm:pt>
    <dgm:pt modelId="{A7F36DA1-0370-4EBC-A2D3-8421A855B5AA}" type="pres">
      <dgm:prSet presAssocID="{2C4B166C-7EB4-49A2-8740-5C2828A33153}" presName="childText" presStyleLbl="revTx" presStyleIdx="0" presStyleCnt="1">
        <dgm:presLayoutVars>
          <dgm:bulletEnabled val="1"/>
        </dgm:presLayoutVars>
      </dgm:prSet>
      <dgm:spPr/>
    </dgm:pt>
  </dgm:ptLst>
  <dgm:cxnLst>
    <dgm:cxn modelId="{C67E701E-2861-4434-96C4-6F8D84675AAF}" type="presOf" srcId="{FCB411B5-B482-4758-9FB0-4382E545E6D1}" destId="{A7F36DA1-0370-4EBC-A2D3-8421A855B5AA}" srcOrd="0" destOrd="5" presId="urn:microsoft.com/office/officeart/2005/8/layout/vList2"/>
    <dgm:cxn modelId="{893D1026-2B68-4939-9993-80C01E49807D}" type="presOf" srcId="{58B8147D-83B1-4F8D-8566-0C3798C49DD4}" destId="{A7F36DA1-0370-4EBC-A2D3-8421A855B5AA}" srcOrd="0" destOrd="7" presId="urn:microsoft.com/office/officeart/2005/8/layout/vList2"/>
    <dgm:cxn modelId="{FC9F3A30-D820-424F-ADA0-12C3299447BE}" srcId="{2C4B166C-7EB4-49A2-8740-5C2828A33153}" destId="{5AA8D24B-5AC0-45CE-9856-C592381814D6}" srcOrd="4" destOrd="0" parTransId="{876ADEEA-7BF8-45F6-ABFE-FBBDF9B0A2FF}" sibTransId="{FD6EFCD8-CD0D-4B2E-B65D-3A80DD308460}"/>
    <dgm:cxn modelId="{FFAF0035-A698-4BC8-81FB-4CDE4657DAE6}" srcId="{2C4B166C-7EB4-49A2-8740-5C2828A33153}" destId="{7A2A9A07-324D-4C8F-B8AD-424CC5196B41}" srcOrd="10" destOrd="0" parTransId="{D1ACF89E-3721-4B6D-8704-D3BE867D10AD}" sibTransId="{500E2FC3-EA26-45B1-BFC7-76A735BA1F99}"/>
    <dgm:cxn modelId="{C719AD40-4DF9-4F59-B33C-FCF8001D38CD}" type="presOf" srcId="{F524CF8E-904C-4D92-8A76-775F7189E1A0}" destId="{52A6A0CC-8508-4687-9DCD-81CD2A82BD49}" srcOrd="0" destOrd="0" presId="urn:microsoft.com/office/officeart/2005/8/layout/vList2"/>
    <dgm:cxn modelId="{C46C0965-D9D7-4D97-85F5-AEC8656EB7DB}" srcId="{F524CF8E-904C-4D92-8A76-775F7189E1A0}" destId="{2C4B166C-7EB4-49A2-8740-5C2828A33153}" srcOrd="0" destOrd="0" parTransId="{96FCAD02-DC91-4EE8-8AE2-0D56505641E8}" sibTransId="{9851DF3C-5D56-490B-9EE8-B7027C49D0B6}"/>
    <dgm:cxn modelId="{2216D778-ABC8-4B3E-81E2-194EF06E1C5C}" type="presOf" srcId="{E837448F-766A-478B-AD04-7EC8FFF87093}" destId="{A7F36DA1-0370-4EBC-A2D3-8421A855B5AA}" srcOrd="0" destOrd="8" presId="urn:microsoft.com/office/officeart/2005/8/layout/vList2"/>
    <dgm:cxn modelId="{95E79979-13D6-46D4-A867-DE21BB0E053E}" srcId="{2C4B166C-7EB4-49A2-8740-5C2828A33153}" destId="{DF690F49-D20A-4182-91D7-984300ED1A69}" srcOrd="3" destOrd="0" parTransId="{C766E6CA-B8F4-40D2-8424-4AA3FAB696AC}" sibTransId="{FCE54A70-BC73-4DB1-884D-C41FF00D5013}"/>
    <dgm:cxn modelId="{B2180D7B-0105-4299-8A52-607AF6EC29D2}" type="presOf" srcId="{5AA8D24B-5AC0-45CE-9856-C592381814D6}" destId="{A7F36DA1-0370-4EBC-A2D3-8421A855B5AA}" srcOrd="0" destOrd="4" presId="urn:microsoft.com/office/officeart/2005/8/layout/vList2"/>
    <dgm:cxn modelId="{763C0086-43C6-4344-9425-D770E7DAEB32}" type="presOf" srcId="{163802A6-FA3D-46F4-92B4-D6F850311B4F}" destId="{A7F36DA1-0370-4EBC-A2D3-8421A855B5AA}" srcOrd="0" destOrd="11" presId="urn:microsoft.com/office/officeart/2005/8/layout/vList2"/>
    <dgm:cxn modelId="{C825A288-B720-4277-A487-16D680A2E54C}" srcId="{2C4B166C-7EB4-49A2-8740-5C2828A33153}" destId="{F1539E76-A52F-4660-BB46-66C92BEFDC60}" srcOrd="6" destOrd="0" parTransId="{3E5E5C9B-488C-4982-91FF-D0970F4C214A}" sibTransId="{46665467-5064-496B-A841-E43340A37C7E}"/>
    <dgm:cxn modelId="{ED7BD589-9119-4B5C-9F11-1AF4B1439A31}" type="presOf" srcId="{F1539E76-A52F-4660-BB46-66C92BEFDC60}" destId="{A7F36DA1-0370-4EBC-A2D3-8421A855B5AA}" srcOrd="0" destOrd="6" presId="urn:microsoft.com/office/officeart/2005/8/layout/vList2"/>
    <dgm:cxn modelId="{AF6F368A-FC0F-4BE5-9D06-D9039C22F314}" srcId="{2C4B166C-7EB4-49A2-8740-5C2828A33153}" destId="{163802A6-FA3D-46F4-92B4-D6F850311B4F}" srcOrd="11" destOrd="0" parTransId="{E8BF586A-F2F0-4EB6-9698-13354E6D4224}" sibTransId="{0A561596-038F-4823-99A5-58613765205D}"/>
    <dgm:cxn modelId="{CDCAC38C-6E89-43B9-9531-5AD3FF051F9C}" type="presOf" srcId="{8A5BD4DF-9213-4DF8-A91A-0D03AC4198A6}" destId="{A7F36DA1-0370-4EBC-A2D3-8421A855B5AA}" srcOrd="0" destOrd="9" presId="urn:microsoft.com/office/officeart/2005/8/layout/vList2"/>
    <dgm:cxn modelId="{661CC59E-65D8-40F2-95F3-74BCDE1D9B5E}" srcId="{2C4B166C-7EB4-49A2-8740-5C2828A33153}" destId="{8A5BD4DF-9213-4DF8-A91A-0D03AC4198A6}" srcOrd="9" destOrd="0" parTransId="{9FF52E11-9BD9-413E-8545-9CCA8CF912D4}" sibTransId="{3941DE05-E7D8-4C57-BC60-3EABB878EF2F}"/>
    <dgm:cxn modelId="{094A869F-F53F-4FCD-9FF0-8A80AE36A41A}" srcId="{2C4B166C-7EB4-49A2-8740-5C2828A33153}" destId="{58B8147D-83B1-4F8D-8566-0C3798C49DD4}" srcOrd="7" destOrd="0" parTransId="{733D7253-779F-442C-9310-A34E96076E41}" sibTransId="{CBCA722C-1DB1-4184-AEC8-B02F50014ED8}"/>
    <dgm:cxn modelId="{CFD3C09F-BBF8-4011-A6EC-479875E4E4BD}" srcId="{2C4B166C-7EB4-49A2-8740-5C2828A33153}" destId="{E837448F-766A-478B-AD04-7EC8FFF87093}" srcOrd="8" destOrd="0" parTransId="{09DEF1DC-BAB9-4037-93E8-418DA4E4B835}" sibTransId="{33E60638-9B29-4D4B-A989-16846A00B22C}"/>
    <dgm:cxn modelId="{B91189A1-9B78-476C-8DF6-E33FFAEB8E3A}" srcId="{2C4B166C-7EB4-49A2-8740-5C2828A33153}" destId="{CA8E5D85-EE2A-4B9D-B33B-714D9AE89A07}" srcOrd="1" destOrd="0" parTransId="{74969B56-4CB3-46C8-9410-067D7B323E10}" sibTransId="{E2213C56-2F3B-4FF4-990D-4C0A05AC728A}"/>
    <dgm:cxn modelId="{785DE5A1-9FCA-42B3-B55B-BAA1580383D8}" type="presOf" srcId="{DF690F49-D20A-4182-91D7-984300ED1A69}" destId="{A7F36DA1-0370-4EBC-A2D3-8421A855B5AA}" srcOrd="0" destOrd="3" presId="urn:microsoft.com/office/officeart/2005/8/layout/vList2"/>
    <dgm:cxn modelId="{9F6D65A9-C8EC-4BD8-88F6-84E06BDE688B}" type="presOf" srcId="{3969393C-266B-42ED-B860-5479CF04C493}" destId="{A7F36DA1-0370-4EBC-A2D3-8421A855B5AA}" srcOrd="0" destOrd="2" presId="urn:microsoft.com/office/officeart/2005/8/layout/vList2"/>
    <dgm:cxn modelId="{0FF3A5C1-7C73-42A6-8CCC-B080CF04DBC5}" type="presOf" srcId="{CA8E5D85-EE2A-4B9D-B33B-714D9AE89A07}" destId="{A7F36DA1-0370-4EBC-A2D3-8421A855B5AA}" srcOrd="0" destOrd="1" presId="urn:microsoft.com/office/officeart/2005/8/layout/vList2"/>
    <dgm:cxn modelId="{500B14CE-E222-407D-BA96-E6B4A6F9E4CF}" srcId="{2C4B166C-7EB4-49A2-8740-5C2828A33153}" destId="{3C6A6061-55C2-49C0-B8F3-1B5CE3022FD7}" srcOrd="0" destOrd="0" parTransId="{31CE7716-BF5C-412A-B44D-12835975F456}" sibTransId="{6A60D045-0F31-4146-9112-315D78EC3504}"/>
    <dgm:cxn modelId="{497BBED3-3CF0-41D3-A13A-D7755412196B}" type="presOf" srcId="{3C6A6061-55C2-49C0-B8F3-1B5CE3022FD7}" destId="{A7F36DA1-0370-4EBC-A2D3-8421A855B5AA}" srcOrd="0" destOrd="0" presId="urn:microsoft.com/office/officeart/2005/8/layout/vList2"/>
    <dgm:cxn modelId="{0B12C7D5-FF64-4762-A035-52CE748BFFE4}" srcId="{2C4B166C-7EB4-49A2-8740-5C2828A33153}" destId="{3969393C-266B-42ED-B860-5479CF04C493}" srcOrd="2" destOrd="0" parTransId="{666B42A7-6146-4A65-AEA1-3F3425597008}" sibTransId="{6A2CAA89-F5B6-4057-9B8E-34080EC66FB1}"/>
    <dgm:cxn modelId="{C554BFE4-CDE5-4357-9946-531A40154746}" type="presOf" srcId="{7A2A9A07-324D-4C8F-B8AD-424CC5196B41}" destId="{A7F36DA1-0370-4EBC-A2D3-8421A855B5AA}" srcOrd="0" destOrd="10" presId="urn:microsoft.com/office/officeart/2005/8/layout/vList2"/>
    <dgm:cxn modelId="{A9DBD1E5-9353-44D4-81AF-5ABDD0009F46}" srcId="{2C4B166C-7EB4-49A2-8740-5C2828A33153}" destId="{FCB411B5-B482-4758-9FB0-4382E545E6D1}" srcOrd="5" destOrd="0" parTransId="{62615D9E-1D26-4F37-841B-1C45A8351445}" sibTransId="{EB2D6E26-CE34-4C48-8CD2-2194F7927BC5}"/>
    <dgm:cxn modelId="{734050F3-0738-413D-983F-5EB25D607051}" type="presOf" srcId="{2C4B166C-7EB4-49A2-8740-5C2828A33153}" destId="{34E3C31A-170A-424A-A9FE-953D342DDB68}" srcOrd="0" destOrd="0" presId="urn:microsoft.com/office/officeart/2005/8/layout/vList2"/>
    <dgm:cxn modelId="{C31AA151-848F-488F-954E-2E7CF5D4FFD1}" type="presParOf" srcId="{52A6A0CC-8508-4687-9DCD-81CD2A82BD49}" destId="{34E3C31A-170A-424A-A9FE-953D342DDB68}" srcOrd="0" destOrd="0" presId="urn:microsoft.com/office/officeart/2005/8/layout/vList2"/>
    <dgm:cxn modelId="{04D9E6F7-F510-4B52-93C6-E39A7CA7880A}" type="presParOf" srcId="{52A6A0CC-8508-4687-9DCD-81CD2A82BD49}" destId="{A7F36DA1-0370-4EBC-A2D3-8421A855B5AA}" srcOrd="1" destOrd="0" presId="urn:microsoft.com/office/officeart/2005/8/layout/vList2"/>
  </dgm:cxnLst>
  <dgm:bg/>
  <dgm:whole>
    <a:ln>
      <a:solidFill>
        <a:schemeClr val="accent1"/>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524CF8E-904C-4D92-8A76-775F7189E1A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2C4B166C-7EB4-49A2-8740-5C2828A33153}">
      <dgm:prSet phldrT="[Text]"/>
      <dgm:spPr/>
      <dgm:t>
        <a:bodyPr/>
        <a:lstStyle/>
        <a:p>
          <a:pPr>
            <a:buNone/>
          </a:pPr>
          <a:r>
            <a:rPr lang="en-IN" b="1" dirty="0"/>
            <a:t>What is a Suffix Array?</a:t>
          </a:r>
        </a:p>
      </dgm:t>
    </dgm:pt>
    <dgm:pt modelId="{96FCAD02-DC91-4EE8-8AE2-0D56505641E8}" type="parTrans" cxnId="{C46C0965-D9D7-4D97-85F5-AEC8656EB7DB}">
      <dgm:prSet/>
      <dgm:spPr/>
      <dgm:t>
        <a:bodyPr/>
        <a:lstStyle/>
        <a:p>
          <a:endParaRPr lang="en-IN"/>
        </a:p>
      </dgm:t>
    </dgm:pt>
    <dgm:pt modelId="{9851DF3C-5D56-490B-9EE8-B7027C49D0B6}" type="sibTrans" cxnId="{C46C0965-D9D7-4D97-85F5-AEC8656EB7DB}">
      <dgm:prSet/>
      <dgm:spPr/>
      <dgm:t>
        <a:bodyPr/>
        <a:lstStyle/>
        <a:p>
          <a:endParaRPr lang="en-IN"/>
        </a:p>
      </dgm:t>
    </dgm:pt>
    <dgm:pt modelId="{3C6A6061-55C2-49C0-B8F3-1B5CE3022FD7}">
      <dgm:prSet phldrT="[Text]"/>
      <dgm:spPr/>
      <dgm:t>
        <a:bodyPr/>
        <a:lstStyle/>
        <a:p>
          <a:pPr>
            <a:buNone/>
          </a:pPr>
          <a:r>
            <a:rPr lang="en-IN" dirty="0"/>
            <a:t>A </a:t>
          </a:r>
          <a:r>
            <a:rPr lang="en-IN" b="1" dirty="0"/>
            <a:t>Suffix Array (SA)</a:t>
          </a:r>
          <a:r>
            <a:rPr lang="en-IN" dirty="0"/>
            <a:t> is an array containing the </a:t>
          </a:r>
          <a:r>
            <a:rPr lang="en-IN" b="1" dirty="0"/>
            <a:t>starting indices of all suffixes sorted in lexicographical (dictionary) order</a:t>
          </a:r>
          <a:r>
            <a:rPr lang="en-IN" dirty="0"/>
            <a:t>.</a:t>
          </a:r>
        </a:p>
      </dgm:t>
    </dgm:pt>
    <dgm:pt modelId="{31CE7716-BF5C-412A-B44D-12835975F456}" type="parTrans" cxnId="{500B14CE-E222-407D-BA96-E6B4A6F9E4CF}">
      <dgm:prSet/>
      <dgm:spPr/>
      <dgm:t>
        <a:bodyPr/>
        <a:lstStyle/>
        <a:p>
          <a:endParaRPr lang="en-IN"/>
        </a:p>
      </dgm:t>
    </dgm:pt>
    <dgm:pt modelId="{6A60D045-0F31-4146-9112-315D78EC3504}" type="sibTrans" cxnId="{500B14CE-E222-407D-BA96-E6B4A6F9E4CF}">
      <dgm:prSet/>
      <dgm:spPr/>
      <dgm:t>
        <a:bodyPr/>
        <a:lstStyle/>
        <a:p>
          <a:endParaRPr lang="en-IN"/>
        </a:p>
      </dgm:t>
    </dgm:pt>
    <dgm:pt modelId="{ACC6C58B-86BB-4D9A-8849-33C0AB9F49F5}">
      <dgm:prSet/>
      <dgm:spPr/>
      <dgm:t>
        <a:bodyPr/>
        <a:lstStyle/>
        <a:p>
          <a:pPr>
            <a:buNone/>
          </a:pPr>
          <a:r>
            <a:rPr lang="en-IN" b="1" u="sng" dirty="0">
              <a:highlight>
                <a:srgbClr val="FFFF00"/>
              </a:highlight>
            </a:rPr>
            <a:t>Example</a:t>
          </a:r>
        </a:p>
      </dgm:t>
    </dgm:pt>
    <dgm:pt modelId="{CCD3C2F1-24B5-4DEE-9F64-0AA3A0540B7A}" type="parTrans" cxnId="{891C9BFC-3A1D-40E5-81CF-0A9DF3599A98}">
      <dgm:prSet/>
      <dgm:spPr/>
      <dgm:t>
        <a:bodyPr/>
        <a:lstStyle/>
        <a:p>
          <a:endParaRPr lang="en-IN"/>
        </a:p>
      </dgm:t>
    </dgm:pt>
    <dgm:pt modelId="{32E14E1D-B60A-42A5-AD35-B6F20266D020}" type="sibTrans" cxnId="{891C9BFC-3A1D-40E5-81CF-0A9DF3599A98}">
      <dgm:prSet/>
      <dgm:spPr/>
      <dgm:t>
        <a:bodyPr/>
        <a:lstStyle/>
        <a:p>
          <a:endParaRPr lang="en-IN"/>
        </a:p>
      </dgm:t>
    </dgm:pt>
    <dgm:pt modelId="{8DE69120-06B2-4D26-909B-69F60D3135BC}">
      <dgm:prSet/>
      <dgm:spPr/>
      <dgm:t>
        <a:bodyPr/>
        <a:lstStyle/>
        <a:p>
          <a:pPr>
            <a:buNone/>
          </a:pPr>
          <a:r>
            <a:rPr lang="en-IN" dirty="0"/>
            <a:t>String: </a:t>
          </a:r>
          <a:r>
            <a:rPr lang="en-IN" b="1" dirty="0"/>
            <a:t>banana</a:t>
          </a:r>
        </a:p>
      </dgm:t>
    </dgm:pt>
    <dgm:pt modelId="{CCBDAD58-FC0F-4E61-B1B0-63A09851DDDD}" type="parTrans" cxnId="{C7F1B905-F3D5-4A85-8B2C-C427346DA918}">
      <dgm:prSet/>
      <dgm:spPr/>
      <dgm:t>
        <a:bodyPr/>
        <a:lstStyle/>
        <a:p>
          <a:endParaRPr lang="en-IN"/>
        </a:p>
      </dgm:t>
    </dgm:pt>
    <dgm:pt modelId="{F2C81360-95C9-4053-8F99-069F643C932D}" type="sibTrans" cxnId="{C7F1B905-F3D5-4A85-8B2C-C427346DA918}">
      <dgm:prSet/>
      <dgm:spPr/>
      <dgm:t>
        <a:bodyPr/>
        <a:lstStyle/>
        <a:p>
          <a:endParaRPr lang="en-IN"/>
        </a:p>
      </dgm:t>
    </dgm:pt>
    <dgm:pt modelId="{FDB1A463-CDB9-4F2A-A32E-27EFBE989C2C}">
      <dgm:prSet/>
      <dgm:spPr/>
      <dgm:t>
        <a:bodyPr/>
        <a:lstStyle/>
        <a:p>
          <a:pPr>
            <a:buNone/>
          </a:pPr>
          <a:r>
            <a:rPr lang="en-IN" b="1" dirty="0"/>
            <a:t>Step 1: Generate all suffixes</a:t>
          </a:r>
        </a:p>
      </dgm:t>
    </dgm:pt>
    <dgm:pt modelId="{82B48541-6FE9-42E4-85AC-F769CFA32F63}" type="parTrans" cxnId="{8EECB8C7-20B8-4550-8ADE-A1715DE2D4AC}">
      <dgm:prSet/>
      <dgm:spPr/>
      <dgm:t>
        <a:bodyPr/>
        <a:lstStyle/>
        <a:p>
          <a:endParaRPr lang="en-IN"/>
        </a:p>
      </dgm:t>
    </dgm:pt>
    <dgm:pt modelId="{4133E49D-CD10-4544-9D88-BE178AE4CD83}" type="sibTrans" cxnId="{8EECB8C7-20B8-4550-8ADE-A1715DE2D4AC}">
      <dgm:prSet/>
      <dgm:spPr/>
      <dgm:t>
        <a:bodyPr/>
        <a:lstStyle/>
        <a:p>
          <a:endParaRPr lang="en-IN"/>
        </a:p>
      </dgm:t>
    </dgm:pt>
    <dgm:pt modelId="{957B7596-5304-4434-A5F7-9B487EE69CF7}">
      <dgm:prSet/>
      <dgm:spPr/>
      <dgm:t>
        <a:bodyPr/>
        <a:lstStyle/>
        <a:p>
          <a:pPr>
            <a:buNone/>
          </a:pPr>
          <a:endParaRPr lang="en-IN" b="1" dirty="0"/>
        </a:p>
      </dgm:t>
    </dgm:pt>
    <dgm:pt modelId="{C265DE87-D9B1-4D7B-8F83-D28AE608FCCB}" type="parTrans" cxnId="{A2D238D7-9CB3-48FF-AE5A-6839D4EA813C}">
      <dgm:prSet/>
      <dgm:spPr/>
      <dgm:t>
        <a:bodyPr/>
        <a:lstStyle/>
        <a:p>
          <a:endParaRPr lang="en-IN"/>
        </a:p>
      </dgm:t>
    </dgm:pt>
    <dgm:pt modelId="{D4A3AB91-31E9-49F3-BD8A-330979CEE446}" type="sibTrans" cxnId="{A2D238D7-9CB3-48FF-AE5A-6839D4EA813C}">
      <dgm:prSet/>
      <dgm:spPr/>
      <dgm:t>
        <a:bodyPr/>
        <a:lstStyle/>
        <a:p>
          <a:endParaRPr lang="en-IN"/>
        </a:p>
      </dgm:t>
    </dgm:pt>
    <dgm:pt modelId="{5E62F623-076E-420A-BC43-6DC4AE5F1097}">
      <dgm:prSet/>
      <dgm:spPr/>
      <dgm:t>
        <a:bodyPr/>
        <a:lstStyle/>
        <a:p>
          <a:pPr>
            <a:buNone/>
          </a:pPr>
          <a:endParaRPr lang="en-IN" b="1" dirty="0"/>
        </a:p>
      </dgm:t>
    </dgm:pt>
    <dgm:pt modelId="{864ED8AF-A493-47B5-AF09-B57E2959D827}" type="parTrans" cxnId="{27A32592-4A3D-40BC-B301-9BA301ED30B9}">
      <dgm:prSet/>
      <dgm:spPr/>
      <dgm:t>
        <a:bodyPr/>
        <a:lstStyle/>
        <a:p>
          <a:endParaRPr lang="en-IN"/>
        </a:p>
      </dgm:t>
    </dgm:pt>
    <dgm:pt modelId="{F5F671C7-47DC-42EC-AA4E-7F38743874D5}" type="sibTrans" cxnId="{27A32592-4A3D-40BC-B301-9BA301ED30B9}">
      <dgm:prSet/>
      <dgm:spPr/>
      <dgm:t>
        <a:bodyPr/>
        <a:lstStyle/>
        <a:p>
          <a:endParaRPr lang="en-IN"/>
        </a:p>
      </dgm:t>
    </dgm:pt>
    <dgm:pt modelId="{5408EE20-1056-41CB-B561-83081B65D7F4}">
      <dgm:prSet/>
      <dgm:spPr/>
      <dgm:t>
        <a:bodyPr/>
        <a:lstStyle/>
        <a:p>
          <a:pPr>
            <a:buNone/>
          </a:pPr>
          <a:endParaRPr lang="en-IN" b="1" dirty="0"/>
        </a:p>
      </dgm:t>
    </dgm:pt>
    <dgm:pt modelId="{E1B122DC-B1CC-47EC-A2EF-1E06887B1141}" type="parTrans" cxnId="{65E6E677-C1CE-4697-AF01-C45E5089C7DB}">
      <dgm:prSet/>
      <dgm:spPr/>
      <dgm:t>
        <a:bodyPr/>
        <a:lstStyle/>
        <a:p>
          <a:endParaRPr lang="en-IN"/>
        </a:p>
      </dgm:t>
    </dgm:pt>
    <dgm:pt modelId="{701F5BB4-B16B-4B40-8F91-2E83E0815AE3}" type="sibTrans" cxnId="{65E6E677-C1CE-4697-AF01-C45E5089C7DB}">
      <dgm:prSet/>
      <dgm:spPr/>
      <dgm:t>
        <a:bodyPr/>
        <a:lstStyle/>
        <a:p>
          <a:endParaRPr lang="en-IN"/>
        </a:p>
      </dgm:t>
    </dgm:pt>
    <dgm:pt modelId="{C1C19233-F93A-4F52-94E7-B81E44C94F26}">
      <dgm:prSet/>
      <dgm:spPr/>
      <dgm:t>
        <a:bodyPr/>
        <a:lstStyle/>
        <a:p>
          <a:pPr>
            <a:buNone/>
          </a:pPr>
          <a:endParaRPr lang="en-IN" b="1" dirty="0"/>
        </a:p>
      </dgm:t>
    </dgm:pt>
    <dgm:pt modelId="{2645F474-7BC8-45E5-A6A4-7B85B0E7AE73}" type="parTrans" cxnId="{0EC241CD-8936-4D28-847F-AAE23CDEA82F}">
      <dgm:prSet/>
      <dgm:spPr/>
      <dgm:t>
        <a:bodyPr/>
        <a:lstStyle/>
        <a:p>
          <a:endParaRPr lang="en-IN"/>
        </a:p>
      </dgm:t>
    </dgm:pt>
    <dgm:pt modelId="{139F02A7-C8E6-4AF5-92F7-D5A0DED190E5}" type="sibTrans" cxnId="{0EC241CD-8936-4D28-847F-AAE23CDEA82F}">
      <dgm:prSet/>
      <dgm:spPr/>
      <dgm:t>
        <a:bodyPr/>
        <a:lstStyle/>
        <a:p>
          <a:endParaRPr lang="en-IN"/>
        </a:p>
      </dgm:t>
    </dgm:pt>
    <dgm:pt modelId="{667C4026-F9DF-4BDC-B05F-DE68FF5AB06E}">
      <dgm:prSet/>
      <dgm:spPr/>
      <dgm:t>
        <a:bodyPr/>
        <a:lstStyle/>
        <a:p>
          <a:pPr>
            <a:buNone/>
          </a:pPr>
          <a:endParaRPr lang="en-IN" b="1" dirty="0"/>
        </a:p>
      </dgm:t>
    </dgm:pt>
    <dgm:pt modelId="{A09EA1A5-4656-47CD-88E5-7D6FB81E0E75}" type="parTrans" cxnId="{8FA072F2-889E-4D3F-8C72-06C2E84A233F}">
      <dgm:prSet/>
      <dgm:spPr/>
      <dgm:t>
        <a:bodyPr/>
        <a:lstStyle/>
        <a:p>
          <a:endParaRPr lang="en-IN"/>
        </a:p>
      </dgm:t>
    </dgm:pt>
    <dgm:pt modelId="{B96CBDA5-0847-450A-9A47-27F0C7D527B7}" type="sibTrans" cxnId="{8FA072F2-889E-4D3F-8C72-06C2E84A233F}">
      <dgm:prSet/>
      <dgm:spPr/>
      <dgm:t>
        <a:bodyPr/>
        <a:lstStyle/>
        <a:p>
          <a:endParaRPr lang="en-IN"/>
        </a:p>
      </dgm:t>
    </dgm:pt>
    <dgm:pt modelId="{E42C61AA-9C59-45DE-9476-46C447B19CB4}">
      <dgm:prSet/>
      <dgm:spPr/>
      <dgm:t>
        <a:bodyPr/>
        <a:lstStyle/>
        <a:p>
          <a:pPr>
            <a:buNone/>
          </a:pPr>
          <a:endParaRPr lang="en-IN" b="1" dirty="0"/>
        </a:p>
      </dgm:t>
    </dgm:pt>
    <dgm:pt modelId="{E0FE3EDC-74AE-4C81-8FA6-23B110FF2634}" type="parTrans" cxnId="{88D20170-A794-49B3-934D-252BBC090B1B}">
      <dgm:prSet/>
      <dgm:spPr/>
      <dgm:t>
        <a:bodyPr/>
        <a:lstStyle/>
        <a:p>
          <a:endParaRPr lang="en-IN"/>
        </a:p>
      </dgm:t>
    </dgm:pt>
    <dgm:pt modelId="{10A5DD3F-69E0-4F18-B7FA-2FE53D0FA7F4}" type="sibTrans" cxnId="{88D20170-A794-49B3-934D-252BBC090B1B}">
      <dgm:prSet/>
      <dgm:spPr/>
      <dgm:t>
        <a:bodyPr/>
        <a:lstStyle/>
        <a:p>
          <a:endParaRPr lang="en-IN"/>
        </a:p>
      </dgm:t>
    </dgm:pt>
    <dgm:pt modelId="{93EB5D68-12CB-42EE-A37D-CE2A4B41EA7F}">
      <dgm:prSet/>
      <dgm:spPr/>
      <dgm:t>
        <a:bodyPr/>
        <a:lstStyle/>
        <a:p>
          <a:pPr>
            <a:buNone/>
          </a:pPr>
          <a:endParaRPr lang="en-IN" b="1" dirty="0"/>
        </a:p>
      </dgm:t>
    </dgm:pt>
    <dgm:pt modelId="{EBF9D08F-D7A7-409E-9189-EC7928CBD37E}" type="parTrans" cxnId="{15699A27-5D7F-478B-BBCC-45E5B054D69F}">
      <dgm:prSet/>
      <dgm:spPr/>
      <dgm:t>
        <a:bodyPr/>
        <a:lstStyle/>
        <a:p>
          <a:endParaRPr lang="en-IN"/>
        </a:p>
      </dgm:t>
    </dgm:pt>
    <dgm:pt modelId="{804D1663-FEE6-4180-B6D3-54E2C05CCB8E}" type="sibTrans" cxnId="{15699A27-5D7F-478B-BBCC-45E5B054D69F}">
      <dgm:prSet/>
      <dgm:spPr/>
      <dgm:t>
        <a:bodyPr/>
        <a:lstStyle/>
        <a:p>
          <a:endParaRPr lang="en-IN"/>
        </a:p>
      </dgm:t>
    </dgm:pt>
    <dgm:pt modelId="{85A98245-3957-4191-9A07-02B7CEE23DBB}">
      <dgm:prSet/>
      <dgm:spPr/>
      <dgm:t>
        <a:bodyPr/>
        <a:lstStyle/>
        <a:p>
          <a:pPr>
            <a:buNone/>
          </a:pPr>
          <a:endParaRPr lang="en-IN" b="1" dirty="0"/>
        </a:p>
      </dgm:t>
    </dgm:pt>
    <dgm:pt modelId="{A734EF10-8612-4A35-9DA4-B1B428A4BACE}" type="parTrans" cxnId="{6B1C1425-AD12-4091-891C-DC23B4752ECA}">
      <dgm:prSet/>
      <dgm:spPr/>
      <dgm:t>
        <a:bodyPr/>
        <a:lstStyle/>
        <a:p>
          <a:endParaRPr lang="en-IN"/>
        </a:p>
      </dgm:t>
    </dgm:pt>
    <dgm:pt modelId="{56211984-892E-4949-8AB3-3DDA5D657F9B}" type="sibTrans" cxnId="{6B1C1425-AD12-4091-891C-DC23B4752ECA}">
      <dgm:prSet/>
      <dgm:spPr/>
      <dgm:t>
        <a:bodyPr/>
        <a:lstStyle/>
        <a:p>
          <a:endParaRPr lang="en-IN"/>
        </a:p>
      </dgm:t>
    </dgm:pt>
    <dgm:pt modelId="{84824420-22CD-4492-8643-F307E2A34D50}">
      <dgm:prSet/>
      <dgm:spPr/>
      <dgm:t>
        <a:bodyPr/>
        <a:lstStyle/>
        <a:p>
          <a:pPr>
            <a:buNone/>
          </a:pPr>
          <a:endParaRPr lang="en-IN" b="1" dirty="0"/>
        </a:p>
      </dgm:t>
    </dgm:pt>
    <dgm:pt modelId="{77073E12-788F-4FF0-91BD-BA1477DB58BE}" type="parTrans" cxnId="{CE404560-9F51-463E-8C93-C1C2CBFEF64D}">
      <dgm:prSet/>
      <dgm:spPr/>
      <dgm:t>
        <a:bodyPr/>
        <a:lstStyle/>
        <a:p>
          <a:endParaRPr lang="en-IN"/>
        </a:p>
      </dgm:t>
    </dgm:pt>
    <dgm:pt modelId="{3237DF66-4233-408B-ADBA-B9DE0D31BB61}" type="sibTrans" cxnId="{CE404560-9F51-463E-8C93-C1C2CBFEF64D}">
      <dgm:prSet/>
      <dgm:spPr/>
      <dgm:t>
        <a:bodyPr/>
        <a:lstStyle/>
        <a:p>
          <a:endParaRPr lang="en-IN"/>
        </a:p>
      </dgm:t>
    </dgm:pt>
    <dgm:pt modelId="{52A6A0CC-8508-4687-9DCD-81CD2A82BD49}" type="pres">
      <dgm:prSet presAssocID="{F524CF8E-904C-4D92-8A76-775F7189E1A0}" presName="linear" presStyleCnt="0">
        <dgm:presLayoutVars>
          <dgm:animLvl val="lvl"/>
          <dgm:resizeHandles val="exact"/>
        </dgm:presLayoutVars>
      </dgm:prSet>
      <dgm:spPr/>
    </dgm:pt>
    <dgm:pt modelId="{34E3C31A-170A-424A-A9FE-953D342DDB68}" type="pres">
      <dgm:prSet presAssocID="{2C4B166C-7EB4-49A2-8740-5C2828A33153}" presName="parentText" presStyleLbl="node1" presStyleIdx="0" presStyleCnt="1">
        <dgm:presLayoutVars>
          <dgm:chMax val="0"/>
          <dgm:bulletEnabled val="1"/>
        </dgm:presLayoutVars>
      </dgm:prSet>
      <dgm:spPr/>
    </dgm:pt>
    <dgm:pt modelId="{A7F36DA1-0370-4EBC-A2D3-8421A855B5AA}" type="pres">
      <dgm:prSet presAssocID="{2C4B166C-7EB4-49A2-8740-5C2828A33153}" presName="childText" presStyleLbl="revTx" presStyleIdx="0" presStyleCnt="1">
        <dgm:presLayoutVars>
          <dgm:bulletEnabled val="1"/>
        </dgm:presLayoutVars>
      </dgm:prSet>
      <dgm:spPr/>
    </dgm:pt>
  </dgm:ptLst>
  <dgm:cxnLst>
    <dgm:cxn modelId="{C7F1B905-F3D5-4A85-8B2C-C427346DA918}" srcId="{2C4B166C-7EB4-49A2-8740-5C2828A33153}" destId="{8DE69120-06B2-4D26-909B-69F60D3135BC}" srcOrd="2" destOrd="0" parTransId="{CCBDAD58-FC0F-4E61-B1B0-63A09851DDDD}" sibTransId="{F2C81360-95C9-4053-8F99-069F643C932D}"/>
    <dgm:cxn modelId="{61460C1E-285C-433B-B913-2A6628409626}" type="presOf" srcId="{3C6A6061-55C2-49C0-B8F3-1B5CE3022FD7}" destId="{A7F36DA1-0370-4EBC-A2D3-8421A855B5AA}" srcOrd="0" destOrd="0" presId="urn:microsoft.com/office/officeart/2005/8/layout/vList2"/>
    <dgm:cxn modelId="{6B1C1425-AD12-4091-891C-DC23B4752ECA}" srcId="{2C4B166C-7EB4-49A2-8740-5C2828A33153}" destId="{85A98245-3957-4191-9A07-02B7CEE23DBB}" srcOrd="11" destOrd="0" parTransId="{A734EF10-8612-4A35-9DA4-B1B428A4BACE}" sibTransId="{56211984-892E-4949-8AB3-3DDA5D657F9B}"/>
    <dgm:cxn modelId="{15699A27-5D7F-478B-BBCC-45E5B054D69F}" srcId="{2C4B166C-7EB4-49A2-8740-5C2828A33153}" destId="{93EB5D68-12CB-42EE-A37D-CE2A4B41EA7F}" srcOrd="10" destOrd="0" parTransId="{EBF9D08F-D7A7-409E-9189-EC7928CBD37E}" sibTransId="{804D1663-FEE6-4180-B6D3-54E2C05CCB8E}"/>
    <dgm:cxn modelId="{1B6B2B29-F3B8-46FB-ADB4-BCB304E3E213}" type="presOf" srcId="{84824420-22CD-4492-8643-F307E2A34D50}" destId="{A7F36DA1-0370-4EBC-A2D3-8421A855B5AA}" srcOrd="0" destOrd="12" presId="urn:microsoft.com/office/officeart/2005/8/layout/vList2"/>
    <dgm:cxn modelId="{63E5AE29-3F82-4AF2-837A-64BAC7F4AA59}" type="presOf" srcId="{93EB5D68-12CB-42EE-A37D-CE2A4B41EA7F}" destId="{A7F36DA1-0370-4EBC-A2D3-8421A855B5AA}" srcOrd="0" destOrd="10" presId="urn:microsoft.com/office/officeart/2005/8/layout/vList2"/>
    <dgm:cxn modelId="{27CA5D5E-BD17-4ADA-94FB-BEC8B7C6C2F9}" type="presOf" srcId="{667C4026-F9DF-4BDC-B05F-DE68FF5AB06E}" destId="{A7F36DA1-0370-4EBC-A2D3-8421A855B5AA}" srcOrd="0" destOrd="8" presId="urn:microsoft.com/office/officeart/2005/8/layout/vList2"/>
    <dgm:cxn modelId="{CE404560-9F51-463E-8C93-C1C2CBFEF64D}" srcId="{2C4B166C-7EB4-49A2-8740-5C2828A33153}" destId="{84824420-22CD-4492-8643-F307E2A34D50}" srcOrd="12" destOrd="0" parTransId="{77073E12-788F-4FF0-91BD-BA1477DB58BE}" sibTransId="{3237DF66-4233-408B-ADBA-B9DE0D31BB61}"/>
    <dgm:cxn modelId="{9A15C262-70FD-4DD9-8947-8AA6B6B7BA07}" type="presOf" srcId="{2C4B166C-7EB4-49A2-8740-5C2828A33153}" destId="{34E3C31A-170A-424A-A9FE-953D342DDB68}" srcOrd="0" destOrd="0" presId="urn:microsoft.com/office/officeart/2005/8/layout/vList2"/>
    <dgm:cxn modelId="{C46C0965-D9D7-4D97-85F5-AEC8656EB7DB}" srcId="{F524CF8E-904C-4D92-8A76-775F7189E1A0}" destId="{2C4B166C-7EB4-49A2-8740-5C2828A33153}" srcOrd="0" destOrd="0" parTransId="{96FCAD02-DC91-4EE8-8AE2-0D56505641E8}" sibTransId="{9851DF3C-5D56-490B-9EE8-B7027C49D0B6}"/>
    <dgm:cxn modelId="{3ECE3B48-637D-4A84-BC0F-57663C0A62F1}" type="presOf" srcId="{ACC6C58B-86BB-4D9A-8849-33C0AB9F49F5}" destId="{A7F36DA1-0370-4EBC-A2D3-8421A855B5AA}" srcOrd="0" destOrd="1" presId="urn:microsoft.com/office/officeart/2005/8/layout/vList2"/>
    <dgm:cxn modelId="{88D20170-A794-49B3-934D-252BBC090B1B}" srcId="{2C4B166C-7EB4-49A2-8740-5C2828A33153}" destId="{E42C61AA-9C59-45DE-9476-46C447B19CB4}" srcOrd="9" destOrd="0" parTransId="{E0FE3EDC-74AE-4C81-8FA6-23B110FF2634}" sibTransId="{10A5DD3F-69E0-4F18-B7FA-2FE53D0FA7F4}"/>
    <dgm:cxn modelId="{89137754-CD81-43C3-ABB3-FBA65CD0A95B}" type="presOf" srcId="{E42C61AA-9C59-45DE-9476-46C447B19CB4}" destId="{A7F36DA1-0370-4EBC-A2D3-8421A855B5AA}" srcOrd="0" destOrd="9" presId="urn:microsoft.com/office/officeart/2005/8/layout/vList2"/>
    <dgm:cxn modelId="{65E6E677-C1CE-4697-AF01-C45E5089C7DB}" srcId="{2C4B166C-7EB4-49A2-8740-5C2828A33153}" destId="{5408EE20-1056-41CB-B561-83081B65D7F4}" srcOrd="6" destOrd="0" parTransId="{E1B122DC-B1CC-47EC-A2EF-1E06887B1141}" sibTransId="{701F5BB4-B16B-4B40-8F91-2E83E0815AE3}"/>
    <dgm:cxn modelId="{91B80258-750D-4B12-B75D-1CCBC4C12EAF}" type="presOf" srcId="{5E62F623-076E-420A-BC43-6DC4AE5F1097}" destId="{A7F36DA1-0370-4EBC-A2D3-8421A855B5AA}" srcOrd="0" destOrd="5" presId="urn:microsoft.com/office/officeart/2005/8/layout/vList2"/>
    <dgm:cxn modelId="{EB129B85-1C21-474F-A858-C5ECFED90135}" type="presOf" srcId="{8DE69120-06B2-4D26-909B-69F60D3135BC}" destId="{A7F36DA1-0370-4EBC-A2D3-8421A855B5AA}" srcOrd="0" destOrd="2" presId="urn:microsoft.com/office/officeart/2005/8/layout/vList2"/>
    <dgm:cxn modelId="{CB50C78F-7259-4974-8CE3-E0324DC01570}" type="presOf" srcId="{5408EE20-1056-41CB-B561-83081B65D7F4}" destId="{A7F36DA1-0370-4EBC-A2D3-8421A855B5AA}" srcOrd="0" destOrd="6" presId="urn:microsoft.com/office/officeart/2005/8/layout/vList2"/>
    <dgm:cxn modelId="{27A32592-4A3D-40BC-B301-9BA301ED30B9}" srcId="{2C4B166C-7EB4-49A2-8740-5C2828A33153}" destId="{5E62F623-076E-420A-BC43-6DC4AE5F1097}" srcOrd="5" destOrd="0" parTransId="{864ED8AF-A493-47B5-AF09-B57E2959D827}" sibTransId="{F5F671C7-47DC-42EC-AA4E-7F38743874D5}"/>
    <dgm:cxn modelId="{29C327A6-146D-4E2C-8422-9E9B33DBF59B}" type="presOf" srcId="{FDB1A463-CDB9-4F2A-A32E-27EFBE989C2C}" destId="{A7F36DA1-0370-4EBC-A2D3-8421A855B5AA}" srcOrd="0" destOrd="3" presId="urn:microsoft.com/office/officeart/2005/8/layout/vList2"/>
    <dgm:cxn modelId="{515A00B7-0E41-4423-8595-D3206E6FC8DE}" type="presOf" srcId="{957B7596-5304-4434-A5F7-9B487EE69CF7}" destId="{A7F36DA1-0370-4EBC-A2D3-8421A855B5AA}" srcOrd="0" destOrd="4" presId="urn:microsoft.com/office/officeart/2005/8/layout/vList2"/>
    <dgm:cxn modelId="{0589E1C5-B6F4-4892-A385-F71BBF7217D3}" type="presOf" srcId="{F524CF8E-904C-4D92-8A76-775F7189E1A0}" destId="{52A6A0CC-8508-4687-9DCD-81CD2A82BD49}" srcOrd="0" destOrd="0" presId="urn:microsoft.com/office/officeart/2005/8/layout/vList2"/>
    <dgm:cxn modelId="{8EECB8C7-20B8-4550-8ADE-A1715DE2D4AC}" srcId="{2C4B166C-7EB4-49A2-8740-5C2828A33153}" destId="{FDB1A463-CDB9-4F2A-A32E-27EFBE989C2C}" srcOrd="3" destOrd="0" parTransId="{82B48541-6FE9-42E4-85AC-F769CFA32F63}" sibTransId="{4133E49D-CD10-4544-9D88-BE178AE4CD83}"/>
    <dgm:cxn modelId="{0EC241CD-8936-4D28-847F-AAE23CDEA82F}" srcId="{2C4B166C-7EB4-49A2-8740-5C2828A33153}" destId="{C1C19233-F93A-4F52-94E7-B81E44C94F26}" srcOrd="7" destOrd="0" parTransId="{2645F474-7BC8-45E5-A6A4-7B85B0E7AE73}" sibTransId="{139F02A7-C8E6-4AF5-92F7-D5A0DED190E5}"/>
    <dgm:cxn modelId="{500B14CE-E222-407D-BA96-E6B4A6F9E4CF}" srcId="{2C4B166C-7EB4-49A2-8740-5C2828A33153}" destId="{3C6A6061-55C2-49C0-B8F3-1B5CE3022FD7}" srcOrd="0" destOrd="0" parTransId="{31CE7716-BF5C-412A-B44D-12835975F456}" sibTransId="{6A60D045-0F31-4146-9112-315D78EC3504}"/>
    <dgm:cxn modelId="{A2D238D7-9CB3-48FF-AE5A-6839D4EA813C}" srcId="{2C4B166C-7EB4-49A2-8740-5C2828A33153}" destId="{957B7596-5304-4434-A5F7-9B487EE69CF7}" srcOrd="4" destOrd="0" parTransId="{C265DE87-D9B1-4D7B-8F83-D28AE608FCCB}" sibTransId="{D4A3AB91-31E9-49F3-BD8A-330979CEE446}"/>
    <dgm:cxn modelId="{991977DF-E4DB-4CE4-8D72-B6A64701688E}" type="presOf" srcId="{85A98245-3957-4191-9A07-02B7CEE23DBB}" destId="{A7F36DA1-0370-4EBC-A2D3-8421A855B5AA}" srcOrd="0" destOrd="11" presId="urn:microsoft.com/office/officeart/2005/8/layout/vList2"/>
    <dgm:cxn modelId="{700A08E5-F7B5-49EE-A926-9B25CC5C26AB}" type="presOf" srcId="{C1C19233-F93A-4F52-94E7-B81E44C94F26}" destId="{A7F36DA1-0370-4EBC-A2D3-8421A855B5AA}" srcOrd="0" destOrd="7" presId="urn:microsoft.com/office/officeart/2005/8/layout/vList2"/>
    <dgm:cxn modelId="{8FA072F2-889E-4D3F-8C72-06C2E84A233F}" srcId="{2C4B166C-7EB4-49A2-8740-5C2828A33153}" destId="{667C4026-F9DF-4BDC-B05F-DE68FF5AB06E}" srcOrd="8" destOrd="0" parTransId="{A09EA1A5-4656-47CD-88E5-7D6FB81E0E75}" sibTransId="{B96CBDA5-0847-450A-9A47-27F0C7D527B7}"/>
    <dgm:cxn modelId="{891C9BFC-3A1D-40E5-81CF-0A9DF3599A98}" srcId="{2C4B166C-7EB4-49A2-8740-5C2828A33153}" destId="{ACC6C58B-86BB-4D9A-8849-33C0AB9F49F5}" srcOrd="1" destOrd="0" parTransId="{CCD3C2F1-24B5-4DEE-9F64-0AA3A0540B7A}" sibTransId="{32E14E1D-B60A-42A5-AD35-B6F20266D020}"/>
    <dgm:cxn modelId="{C36D109B-AB07-427A-A40D-9B8327BD4CBD}" type="presParOf" srcId="{52A6A0CC-8508-4687-9DCD-81CD2A82BD49}" destId="{34E3C31A-170A-424A-A9FE-953D342DDB68}" srcOrd="0" destOrd="0" presId="urn:microsoft.com/office/officeart/2005/8/layout/vList2"/>
    <dgm:cxn modelId="{99284DDC-ED37-465E-969D-1B8AEDAC27A1}" type="presParOf" srcId="{52A6A0CC-8508-4687-9DCD-81CD2A82BD49}" destId="{A7F36DA1-0370-4EBC-A2D3-8421A855B5AA}" srcOrd="1" destOrd="0" presId="urn:microsoft.com/office/officeart/2005/8/layout/vList2"/>
  </dgm:cxnLst>
  <dgm:bg/>
  <dgm:whole>
    <a:ln>
      <a:solidFill>
        <a:schemeClr val="accent1"/>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524CF8E-904C-4D92-8A76-775F7189E1A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2C4B166C-7EB4-49A2-8740-5C2828A33153}">
      <dgm:prSet phldrT="[Text]"/>
      <dgm:spPr/>
      <dgm:t>
        <a:bodyPr/>
        <a:lstStyle/>
        <a:p>
          <a:pPr>
            <a:buNone/>
          </a:pPr>
          <a:r>
            <a:rPr lang="en-IN" dirty="0"/>
            <a:t>Step 2: Sort the suffixes alphabetically</a:t>
          </a:r>
        </a:p>
      </dgm:t>
    </dgm:pt>
    <dgm:pt modelId="{96FCAD02-DC91-4EE8-8AE2-0D56505641E8}" type="parTrans" cxnId="{C46C0965-D9D7-4D97-85F5-AEC8656EB7DB}">
      <dgm:prSet/>
      <dgm:spPr/>
      <dgm:t>
        <a:bodyPr/>
        <a:lstStyle/>
        <a:p>
          <a:endParaRPr lang="en-IN"/>
        </a:p>
      </dgm:t>
    </dgm:pt>
    <dgm:pt modelId="{9851DF3C-5D56-490B-9EE8-B7027C49D0B6}" type="sibTrans" cxnId="{C46C0965-D9D7-4D97-85F5-AEC8656EB7DB}">
      <dgm:prSet/>
      <dgm:spPr/>
      <dgm:t>
        <a:bodyPr/>
        <a:lstStyle/>
        <a:p>
          <a:endParaRPr lang="en-IN"/>
        </a:p>
      </dgm:t>
    </dgm:pt>
    <dgm:pt modelId="{3C6A6061-55C2-49C0-B8F3-1B5CE3022FD7}">
      <dgm:prSet phldrT="[Text]"/>
      <dgm:spPr/>
      <dgm:t>
        <a:bodyPr/>
        <a:lstStyle/>
        <a:p>
          <a:pPr>
            <a:buNone/>
          </a:pPr>
          <a:endParaRPr lang="en-IN" dirty="0"/>
        </a:p>
      </dgm:t>
    </dgm:pt>
    <dgm:pt modelId="{31CE7716-BF5C-412A-B44D-12835975F456}" type="parTrans" cxnId="{500B14CE-E222-407D-BA96-E6B4A6F9E4CF}">
      <dgm:prSet/>
      <dgm:spPr/>
      <dgm:t>
        <a:bodyPr/>
        <a:lstStyle/>
        <a:p>
          <a:endParaRPr lang="en-IN"/>
        </a:p>
      </dgm:t>
    </dgm:pt>
    <dgm:pt modelId="{6A60D045-0F31-4146-9112-315D78EC3504}" type="sibTrans" cxnId="{500B14CE-E222-407D-BA96-E6B4A6F9E4CF}">
      <dgm:prSet/>
      <dgm:spPr/>
      <dgm:t>
        <a:bodyPr/>
        <a:lstStyle/>
        <a:p>
          <a:endParaRPr lang="en-IN"/>
        </a:p>
      </dgm:t>
    </dgm:pt>
    <dgm:pt modelId="{957B7596-5304-4434-A5F7-9B487EE69CF7}">
      <dgm:prSet/>
      <dgm:spPr/>
      <dgm:t>
        <a:bodyPr/>
        <a:lstStyle/>
        <a:p>
          <a:pPr>
            <a:buNone/>
          </a:pPr>
          <a:endParaRPr lang="en-IN" b="1" dirty="0"/>
        </a:p>
      </dgm:t>
    </dgm:pt>
    <dgm:pt modelId="{C265DE87-D9B1-4D7B-8F83-D28AE608FCCB}" type="parTrans" cxnId="{A2D238D7-9CB3-48FF-AE5A-6839D4EA813C}">
      <dgm:prSet/>
      <dgm:spPr/>
      <dgm:t>
        <a:bodyPr/>
        <a:lstStyle/>
        <a:p>
          <a:endParaRPr lang="en-IN"/>
        </a:p>
      </dgm:t>
    </dgm:pt>
    <dgm:pt modelId="{D4A3AB91-31E9-49F3-BD8A-330979CEE446}" type="sibTrans" cxnId="{A2D238D7-9CB3-48FF-AE5A-6839D4EA813C}">
      <dgm:prSet/>
      <dgm:spPr/>
      <dgm:t>
        <a:bodyPr/>
        <a:lstStyle/>
        <a:p>
          <a:endParaRPr lang="en-IN"/>
        </a:p>
      </dgm:t>
    </dgm:pt>
    <dgm:pt modelId="{5E62F623-076E-420A-BC43-6DC4AE5F1097}">
      <dgm:prSet/>
      <dgm:spPr/>
      <dgm:t>
        <a:bodyPr/>
        <a:lstStyle/>
        <a:p>
          <a:pPr>
            <a:buNone/>
          </a:pPr>
          <a:endParaRPr lang="en-IN" b="1" dirty="0"/>
        </a:p>
      </dgm:t>
    </dgm:pt>
    <dgm:pt modelId="{864ED8AF-A493-47B5-AF09-B57E2959D827}" type="parTrans" cxnId="{27A32592-4A3D-40BC-B301-9BA301ED30B9}">
      <dgm:prSet/>
      <dgm:spPr/>
      <dgm:t>
        <a:bodyPr/>
        <a:lstStyle/>
        <a:p>
          <a:endParaRPr lang="en-IN"/>
        </a:p>
      </dgm:t>
    </dgm:pt>
    <dgm:pt modelId="{F5F671C7-47DC-42EC-AA4E-7F38743874D5}" type="sibTrans" cxnId="{27A32592-4A3D-40BC-B301-9BA301ED30B9}">
      <dgm:prSet/>
      <dgm:spPr/>
      <dgm:t>
        <a:bodyPr/>
        <a:lstStyle/>
        <a:p>
          <a:endParaRPr lang="en-IN"/>
        </a:p>
      </dgm:t>
    </dgm:pt>
    <dgm:pt modelId="{5408EE20-1056-41CB-B561-83081B65D7F4}">
      <dgm:prSet/>
      <dgm:spPr/>
      <dgm:t>
        <a:bodyPr/>
        <a:lstStyle/>
        <a:p>
          <a:pPr>
            <a:buNone/>
          </a:pPr>
          <a:endParaRPr lang="en-IN" b="1" dirty="0"/>
        </a:p>
      </dgm:t>
    </dgm:pt>
    <dgm:pt modelId="{E1B122DC-B1CC-47EC-A2EF-1E06887B1141}" type="parTrans" cxnId="{65E6E677-C1CE-4697-AF01-C45E5089C7DB}">
      <dgm:prSet/>
      <dgm:spPr/>
      <dgm:t>
        <a:bodyPr/>
        <a:lstStyle/>
        <a:p>
          <a:endParaRPr lang="en-IN"/>
        </a:p>
      </dgm:t>
    </dgm:pt>
    <dgm:pt modelId="{701F5BB4-B16B-4B40-8F91-2E83E0815AE3}" type="sibTrans" cxnId="{65E6E677-C1CE-4697-AF01-C45E5089C7DB}">
      <dgm:prSet/>
      <dgm:spPr/>
      <dgm:t>
        <a:bodyPr/>
        <a:lstStyle/>
        <a:p>
          <a:endParaRPr lang="en-IN"/>
        </a:p>
      </dgm:t>
    </dgm:pt>
    <dgm:pt modelId="{C1C19233-F93A-4F52-94E7-B81E44C94F26}">
      <dgm:prSet/>
      <dgm:spPr/>
      <dgm:t>
        <a:bodyPr/>
        <a:lstStyle/>
        <a:p>
          <a:pPr>
            <a:buNone/>
          </a:pPr>
          <a:endParaRPr lang="en-IN" b="1" dirty="0"/>
        </a:p>
      </dgm:t>
    </dgm:pt>
    <dgm:pt modelId="{2645F474-7BC8-45E5-A6A4-7B85B0E7AE73}" type="parTrans" cxnId="{0EC241CD-8936-4D28-847F-AAE23CDEA82F}">
      <dgm:prSet/>
      <dgm:spPr/>
      <dgm:t>
        <a:bodyPr/>
        <a:lstStyle/>
        <a:p>
          <a:endParaRPr lang="en-IN"/>
        </a:p>
      </dgm:t>
    </dgm:pt>
    <dgm:pt modelId="{139F02A7-C8E6-4AF5-92F7-D5A0DED190E5}" type="sibTrans" cxnId="{0EC241CD-8936-4D28-847F-AAE23CDEA82F}">
      <dgm:prSet/>
      <dgm:spPr/>
      <dgm:t>
        <a:bodyPr/>
        <a:lstStyle/>
        <a:p>
          <a:endParaRPr lang="en-IN"/>
        </a:p>
      </dgm:t>
    </dgm:pt>
    <dgm:pt modelId="{667C4026-F9DF-4BDC-B05F-DE68FF5AB06E}">
      <dgm:prSet/>
      <dgm:spPr/>
      <dgm:t>
        <a:bodyPr/>
        <a:lstStyle/>
        <a:p>
          <a:pPr>
            <a:buNone/>
          </a:pPr>
          <a:endParaRPr lang="en-IN" b="1" dirty="0"/>
        </a:p>
      </dgm:t>
    </dgm:pt>
    <dgm:pt modelId="{A09EA1A5-4656-47CD-88E5-7D6FB81E0E75}" type="parTrans" cxnId="{8FA072F2-889E-4D3F-8C72-06C2E84A233F}">
      <dgm:prSet/>
      <dgm:spPr/>
      <dgm:t>
        <a:bodyPr/>
        <a:lstStyle/>
        <a:p>
          <a:endParaRPr lang="en-IN"/>
        </a:p>
      </dgm:t>
    </dgm:pt>
    <dgm:pt modelId="{B96CBDA5-0847-450A-9A47-27F0C7D527B7}" type="sibTrans" cxnId="{8FA072F2-889E-4D3F-8C72-06C2E84A233F}">
      <dgm:prSet/>
      <dgm:spPr/>
      <dgm:t>
        <a:bodyPr/>
        <a:lstStyle/>
        <a:p>
          <a:endParaRPr lang="en-IN"/>
        </a:p>
      </dgm:t>
    </dgm:pt>
    <dgm:pt modelId="{E42C61AA-9C59-45DE-9476-46C447B19CB4}">
      <dgm:prSet/>
      <dgm:spPr/>
      <dgm:t>
        <a:bodyPr/>
        <a:lstStyle/>
        <a:p>
          <a:pPr>
            <a:buNone/>
          </a:pPr>
          <a:endParaRPr lang="en-IN" b="1" dirty="0"/>
        </a:p>
      </dgm:t>
    </dgm:pt>
    <dgm:pt modelId="{E0FE3EDC-74AE-4C81-8FA6-23B110FF2634}" type="parTrans" cxnId="{88D20170-A794-49B3-934D-252BBC090B1B}">
      <dgm:prSet/>
      <dgm:spPr/>
      <dgm:t>
        <a:bodyPr/>
        <a:lstStyle/>
        <a:p>
          <a:endParaRPr lang="en-IN"/>
        </a:p>
      </dgm:t>
    </dgm:pt>
    <dgm:pt modelId="{10A5DD3F-69E0-4F18-B7FA-2FE53D0FA7F4}" type="sibTrans" cxnId="{88D20170-A794-49B3-934D-252BBC090B1B}">
      <dgm:prSet/>
      <dgm:spPr/>
      <dgm:t>
        <a:bodyPr/>
        <a:lstStyle/>
        <a:p>
          <a:endParaRPr lang="en-IN"/>
        </a:p>
      </dgm:t>
    </dgm:pt>
    <dgm:pt modelId="{93EB5D68-12CB-42EE-A37D-CE2A4B41EA7F}">
      <dgm:prSet/>
      <dgm:spPr/>
      <dgm:t>
        <a:bodyPr/>
        <a:lstStyle/>
        <a:p>
          <a:pPr>
            <a:buNone/>
          </a:pPr>
          <a:endParaRPr lang="en-IN" b="1" dirty="0"/>
        </a:p>
      </dgm:t>
    </dgm:pt>
    <dgm:pt modelId="{EBF9D08F-D7A7-409E-9189-EC7928CBD37E}" type="parTrans" cxnId="{15699A27-5D7F-478B-BBCC-45E5B054D69F}">
      <dgm:prSet/>
      <dgm:spPr/>
      <dgm:t>
        <a:bodyPr/>
        <a:lstStyle/>
        <a:p>
          <a:endParaRPr lang="en-IN"/>
        </a:p>
      </dgm:t>
    </dgm:pt>
    <dgm:pt modelId="{804D1663-FEE6-4180-B6D3-54E2C05CCB8E}" type="sibTrans" cxnId="{15699A27-5D7F-478B-BBCC-45E5B054D69F}">
      <dgm:prSet/>
      <dgm:spPr/>
      <dgm:t>
        <a:bodyPr/>
        <a:lstStyle/>
        <a:p>
          <a:endParaRPr lang="en-IN"/>
        </a:p>
      </dgm:t>
    </dgm:pt>
    <dgm:pt modelId="{85A98245-3957-4191-9A07-02B7CEE23DBB}">
      <dgm:prSet/>
      <dgm:spPr/>
      <dgm:t>
        <a:bodyPr/>
        <a:lstStyle/>
        <a:p>
          <a:pPr>
            <a:buNone/>
          </a:pPr>
          <a:endParaRPr lang="en-IN" b="1" dirty="0"/>
        </a:p>
      </dgm:t>
    </dgm:pt>
    <dgm:pt modelId="{A734EF10-8612-4A35-9DA4-B1B428A4BACE}" type="parTrans" cxnId="{6B1C1425-AD12-4091-891C-DC23B4752ECA}">
      <dgm:prSet/>
      <dgm:spPr/>
      <dgm:t>
        <a:bodyPr/>
        <a:lstStyle/>
        <a:p>
          <a:endParaRPr lang="en-IN"/>
        </a:p>
      </dgm:t>
    </dgm:pt>
    <dgm:pt modelId="{56211984-892E-4949-8AB3-3DDA5D657F9B}" type="sibTrans" cxnId="{6B1C1425-AD12-4091-891C-DC23B4752ECA}">
      <dgm:prSet/>
      <dgm:spPr/>
      <dgm:t>
        <a:bodyPr/>
        <a:lstStyle/>
        <a:p>
          <a:endParaRPr lang="en-IN"/>
        </a:p>
      </dgm:t>
    </dgm:pt>
    <dgm:pt modelId="{84824420-22CD-4492-8643-F307E2A34D50}">
      <dgm:prSet/>
      <dgm:spPr/>
      <dgm:t>
        <a:bodyPr/>
        <a:lstStyle/>
        <a:p>
          <a:pPr>
            <a:buNone/>
          </a:pPr>
          <a:endParaRPr lang="en-IN" b="1" dirty="0"/>
        </a:p>
      </dgm:t>
    </dgm:pt>
    <dgm:pt modelId="{77073E12-788F-4FF0-91BD-BA1477DB58BE}" type="parTrans" cxnId="{CE404560-9F51-463E-8C93-C1C2CBFEF64D}">
      <dgm:prSet/>
      <dgm:spPr/>
      <dgm:t>
        <a:bodyPr/>
        <a:lstStyle/>
        <a:p>
          <a:endParaRPr lang="en-IN"/>
        </a:p>
      </dgm:t>
    </dgm:pt>
    <dgm:pt modelId="{3237DF66-4233-408B-ADBA-B9DE0D31BB61}" type="sibTrans" cxnId="{CE404560-9F51-463E-8C93-C1C2CBFEF64D}">
      <dgm:prSet/>
      <dgm:spPr/>
      <dgm:t>
        <a:bodyPr/>
        <a:lstStyle/>
        <a:p>
          <a:endParaRPr lang="en-IN"/>
        </a:p>
      </dgm:t>
    </dgm:pt>
    <dgm:pt modelId="{52A6A0CC-8508-4687-9DCD-81CD2A82BD49}" type="pres">
      <dgm:prSet presAssocID="{F524CF8E-904C-4D92-8A76-775F7189E1A0}" presName="linear" presStyleCnt="0">
        <dgm:presLayoutVars>
          <dgm:animLvl val="lvl"/>
          <dgm:resizeHandles val="exact"/>
        </dgm:presLayoutVars>
      </dgm:prSet>
      <dgm:spPr/>
    </dgm:pt>
    <dgm:pt modelId="{34E3C31A-170A-424A-A9FE-953D342DDB68}" type="pres">
      <dgm:prSet presAssocID="{2C4B166C-7EB4-49A2-8740-5C2828A33153}" presName="parentText" presStyleLbl="node1" presStyleIdx="0" presStyleCnt="1" custScaleY="54227">
        <dgm:presLayoutVars>
          <dgm:chMax val="0"/>
          <dgm:bulletEnabled val="1"/>
        </dgm:presLayoutVars>
      </dgm:prSet>
      <dgm:spPr/>
    </dgm:pt>
    <dgm:pt modelId="{A7F36DA1-0370-4EBC-A2D3-8421A855B5AA}" type="pres">
      <dgm:prSet presAssocID="{2C4B166C-7EB4-49A2-8740-5C2828A33153}" presName="childText" presStyleLbl="revTx" presStyleIdx="0" presStyleCnt="1">
        <dgm:presLayoutVars>
          <dgm:bulletEnabled val="1"/>
        </dgm:presLayoutVars>
      </dgm:prSet>
      <dgm:spPr/>
    </dgm:pt>
  </dgm:ptLst>
  <dgm:cxnLst>
    <dgm:cxn modelId="{ED47C80D-5312-4961-990D-BEEAE5CA3380}" type="presOf" srcId="{5408EE20-1056-41CB-B561-83081B65D7F4}" destId="{A7F36DA1-0370-4EBC-A2D3-8421A855B5AA}" srcOrd="0" destOrd="3" presId="urn:microsoft.com/office/officeart/2005/8/layout/vList2"/>
    <dgm:cxn modelId="{9234591F-BD76-4C7B-B8A2-235BC09C44F1}" type="presOf" srcId="{5E62F623-076E-420A-BC43-6DC4AE5F1097}" destId="{A7F36DA1-0370-4EBC-A2D3-8421A855B5AA}" srcOrd="0" destOrd="2" presId="urn:microsoft.com/office/officeart/2005/8/layout/vList2"/>
    <dgm:cxn modelId="{C6D20921-B1E7-4EF5-97A4-F3A9BAE4AD5A}" type="presOf" srcId="{F524CF8E-904C-4D92-8A76-775F7189E1A0}" destId="{52A6A0CC-8508-4687-9DCD-81CD2A82BD49}" srcOrd="0" destOrd="0" presId="urn:microsoft.com/office/officeart/2005/8/layout/vList2"/>
    <dgm:cxn modelId="{6B1C1425-AD12-4091-891C-DC23B4752ECA}" srcId="{2C4B166C-7EB4-49A2-8740-5C2828A33153}" destId="{85A98245-3957-4191-9A07-02B7CEE23DBB}" srcOrd="8" destOrd="0" parTransId="{A734EF10-8612-4A35-9DA4-B1B428A4BACE}" sibTransId="{56211984-892E-4949-8AB3-3DDA5D657F9B}"/>
    <dgm:cxn modelId="{15699A27-5D7F-478B-BBCC-45E5B054D69F}" srcId="{2C4B166C-7EB4-49A2-8740-5C2828A33153}" destId="{93EB5D68-12CB-42EE-A37D-CE2A4B41EA7F}" srcOrd="7" destOrd="0" parTransId="{EBF9D08F-D7A7-409E-9189-EC7928CBD37E}" sibTransId="{804D1663-FEE6-4180-B6D3-54E2C05CCB8E}"/>
    <dgm:cxn modelId="{83AED62C-C718-47EE-92DC-E60684C47C47}" type="presOf" srcId="{93EB5D68-12CB-42EE-A37D-CE2A4B41EA7F}" destId="{A7F36DA1-0370-4EBC-A2D3-8421A855B5AA}" srcOrd="0" destOrd="7" presId="urn:microsoft.com/office/officeart/2005/8/layout/vList2"/>
    <dgm:cxn modelId="{0962D033-84D3-421C-ADFF-B8A26451B095}" type="presOf" srcId="{84824420-22CD-4492-8643-F307E2A34D50}" destId="{A7F36DA1-0370-4EBC-A2D3-8421A855B5AA}" srcOrd="0" destOrd="9" presId="urn:microsoft.com/office/officeart/2005/8/layout/vList2"/>
    <dgm:cxn modelId="{CE404560-9F51-463E-8C93-C1C2CBFEF64D}" srcId="{2C4B166C-7EB4-49A2-8740-5C2828A33153}" destId="{84824420-22CD-4492-8643-F307E2A34D50}" srcOrd="9" destOrd="0" parTransId="{77073E12-788F-4FF0-91BD-BA1477DB58BE}" sibTransId="{3237DF66-4233-408B-ADBA-B9DE0D31BB61}"/>
    <dgm:cxn modelId="{C46C0965-D9D7-4D97-85F5-AEC8656EB7DB}" srcId="{F524CF8E-904C-4D92-8A76-775F7189E1A0}" destId="{2C4B166C-7EB4-49A2-8740-5C2828A33153}" srcOrd="0" destOrd="0" parTransId="{96FCAD02-DC91-4EE8-8AE2-0D56505641E8}" sibTransId="{9851DF3C-5D56-490B-9EE8-B7027C49D0B6}"/>
    <dgm:cxn modelId="{88D20170-A794-49B3-934D-252BBC090B1B}" srcId="{2C4B166C-7EB4-49A2-8740-5C2828A33153}" destId="{E42C61AA-9C59-45DE-9476-46C447B19CB4}" srcOrd="6" destOrd="0" parTransId="{E0FE3EDC-74AE-4C81-8FA6-23B110FF2634}" sibTransId="{10A5DD3F-69E0-4F18-B7FA-2FE53D0FA7F4}"/>
    <dgm:cxn modelId="{EFA28053-01C2-424E-888C-A72C54C3EE83}" type="presOf" srcId="{C1C19233-F93A-4F52-94E7-B81E44C94F26}" destId="{A7F36DA1-0370-4EBC-A2D3-8421A855B5AA}" srcOrd="0" destOrd="4" presId="urn:microsoft.com/office/officeart/2005/8/layout/vList2"/>
    <dgm:cxn modelId="{65E6E677-C1CE-4697-AF01-C45E5089C7DB}" srcId="{2C4B166C-7EB4-49A2-8740-5C2828A33153}" destId="{5408EE20-1056-41CB-B561-83081B65D7F4}" srcOrd="3" destOrd="0" parTransId="{E1B122DC-B1CC-47EC-A2EF-1E06887B1141}" sibTransId="{701F5BB4-B16B-4B40-8F91-2E83E0815AE3}"/>
    <dgm:cxn modelId="{409FFF79-7A76-4268-BFA2-2ED9B549D4CE}" type="presOf" srcId="{3C6A6061-55C2-49C0-B8F3-1B5CE3022FD7}" destId="{A7F36DA1-0370-4EBC-A2D3-8421A855B5AA}" srcOrd="0" destOrd="0" presId="urn:microsoft.com/office/officeart/2005/8/layout/vList2"/>
    <dgm:cxn modelId="{CA8A8591-4246-4F4D-8845-C8252EDFB34A}" type="presOf" srcId="{667C4026-F9DF-4BDC-B05F-DE68FF5AB06E}" destId="{A7F36DA1-0370-4EBC-A2D3-8421A855B5AA}" srcOrd="0" destOrd="5" presId="urn:microsoft.com/office/officeart/2005/8/layout/vList2"/>
    <dgm:cxn modelId="{27A32592-4A3D-40BC-B301-9BA301ED30B9}" srcId="{2C4B166C-7EB4-49A2-8740-5C2828A33153}" destId="{5E62F623-076E-420A-BC43-6DC4AE5F1097}" srcOrd="2" destOrd="0" parTransId="{864ED8AF-A493-47B5-AF09-B57E2959D827}" sibTransId="{F5F671C7-47DC-42EC-AA4E-7F38743874D5}"/>
    <dgm:cxn modelId="{A26DB592-83C2-428E-B46C-DB8792C4BA8C}" type="presOf" srcId="{E42C61AA-9C59-45DE-9476-46C447B19CB4}" destId="{A7F36DA1-0370-4EBC-A2D3-8421A855B5AA}" srcOrd="0" destOrd="6" presId="urn:microsoft.com/office/officeart/2005/8/layout/vList2"/>
    <dgm:cxn modelId="{07C0B497-E43F-438E-A796-66E73369F544}" type="presOf" srcId="{2C4B166C-7EB4-49A2-8740-5C2828A33153}" destId="{34E3C31A-170A-424A-A9FE-953D342DDB68}" srcOrd="0" destOrd="0" presId="urn:microsoft.com/office/officeart/2005/8/layout/vList2"/>
    <dgm:cxn modelId="{8A510B9E-986C-40BA-BEA5-F1E4DC880E13}" type="presOf" srcId="{957B7596-5304-4434-A5F7-9B487EE69CF7}" destId="{A7F36DA1-0370-4EBC-A2D3-8421A855B5AA}" srcOrd="0" destOrd="1" presId="urn:microsoft.com/office/officeart/2005/8/layout/vList2"/>
    <dgm:cxn modelId="{0EC241CD-8936-4D28-847F-AAE23CDEA82F}" srcId="{2C4B166C-7EB4-49A2-8740-5C2828A33153}" destId="{C1C19233-F93A-4F52-94E7-B81E44C94F26}" srcOrd="4" destOrd="0" parTransId="{2645F474-7BC8-45E5-A6A4-7B85B0E7AE73}" sibTransId="{139F02A7-C8E6-4AF5-92F7-D5A0DED190E5}"/>
    <dgm:cxn modelId="{500B14CE-E222-407D-BA96-E6B4A6F9E4CF}" srcId="{2C4B166C-7EB4-49A2-8740-5C2828A33153}" destId="{3C6A6061-55C2-49C0-B8F3-1B5CE3022FD7}" srcOrd="0" destOrd="0" parTransId="{31CE7716-BF5C-412A-B44D-12835975F456}" sibTransId="{6A60D045-0F31-4146-9112-315D78EC3504}"/>
    <dgm:cxn modelId="{A2D238D7-9CB3-48FF-AE5A-6839D4EA813C}" srcId="{2C4B166C-7EB4-49A2-8740-5C2828A33153}" destId="{957B7596-5304-4434-A5F7-9B487EE69CF7}" srcOrd="1" destOrd="0" parTransId="{C265DE87-D9B1-4D7B-8F83-D28AE608FCCB}" sibTransId="{D4A3AB91-31E9-49F3-BD8A-330979CEE446}"/>
    <dgm:cxn modelId="{8FA072F2-889E-4D3F-8C72-06C2E84A233F}" srcId="{2C4B166C-7EB4-49A2-8740-5C2828A33153}" destId="{667C4026-F9DF-4BDC-B05F-DE68FF5AB06E}" srcOrd="5" destOrd="0" parTransId="{A09EA1A5-4656-47CD-88E5-7D6FB81E0E75}" sibTransId="{B96CBDA5-0847-450A-9A47-27F0C7D527B7}"/>
    <dgm:cxn modelId="{D17A16FB-6B92-464B-BA03-E19E5AC45FFF}" type="presOf" srcId="{85A98245-3957-4191-9A07-02B7CEE23DBB}" destId="{A7F36DA1-0370-4EBC-A2D3-8421A855B5AA}" srcOrd="0" destOrd="8" presId="urn:microsoft.com/office/officeart/2005/8/layout/vList2"/>
    <dgm:cxn modelId="{CDA0E66A-092C-4E9D-87DC-A9C3AA06CC49}" type="presParOf" srcId="{52A6A0CC-8508-4687-9DCD-81CD2A82BD49}" destId="{34E3C31A-170A-424A-A9FE-953D342DDB68}" srcOrd="0" destOrd="0" presId="urn:microsoft.com/office/officeart/2005/8/layout/vList2"/>
    <dgm:cxn modelId="{468580AB-0261-4D0D-9208-B60F33DDD531}" type="presParOf" srcId="{52A6A0CC-8508-4687-9DCD-81CD2A82BD49}" destId="{A7F36DA1-0370-4EBC-A2D3-8421A855B5AA}" srcOrd="1" destOrd="0" presId="urn:microsoft.com/office/officeart/2005/8/layout/vList2"/>
  </dgm:cxnLst>
  <dgm:bg/>
  <dgm:whole>
    <a:ln>
      <a:solidFill>
        <a:schemeClr val="accent1"/>
      </a:solidFill>
    </a:ln>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524CF8E-904C-4D92-8A76-775F7189E1A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2C4B166C-7EB4-49A2-8740-5C2828A33153}">
      <dgm:prSet phldrT="[Text]"/>
      <dgm:spPr/>
      <dgm:t>
        <a:bodyPr/>
        <a:lstStyle/>
        <a:p>
          <a:pPr>
            <a:buNone/>
          </a:pPr>
          <a:r>
            <a:rPr lang="en-IN" dirty="0"/>
            <a:t>Step 3: Construct the Suffix Array</a:t>
          </a:r>
        </a:p>
      </dgm:t>
    </dgm:pt>
    <dgm:pt modelId="{96FCAD02-DC91-4EE8-8AE2-0D56505641E8}" type="parTrans" cxnId="{C46C0965-D9D7-4D97-85F5-AEC8656EB7DB}">
      <dgm:prSet/>
      <dgm:spPr/>
      <dgm:t>
        <a:bodyPr/>
        <a:lstStyle/>
        <a:p>
          <a:endParaRPr lang="en-IN"/>
        </a:p>
      </dgm:t>
    </dgm:pt>
    <dgm:pt modelId="{9851DF3C-5D56-490B-9EE8-B7027C49D0B6}" type="sibTrans" cxnId="{C46C0965-D9D7-4D97-85F5-AEC8656EB7DB}">
      <dgm:prSet/>
      <dgm:spPr/>
      <dgm:t>
        <a:bodyPr/>
        <a:lstStyle/>
        <a:p>
          <a:endParaRPr lang="en-IN"/>
        </a:p>
      </dgm:t>
    </dgm:pt>
    <dgm:pt modelId="{3C6A6061-55C2-49C0-B8F3-1B5CE3022FD7}">
      <dgm:prSet phldrT="[Text]" custT="1"/>
      <dgm:spPr/>
      <dgm:t>
        <a:bodyPr/>
        <a:lstStyle/>
        <a:p>
          <a:pPr>
            <a:buNone/>
          </a:pPr>
          <a:r>
            <a:rPr lang="en-IN" sz="2400" b="1" dirty="0"/>
            <a:t>The suffix array stores only the starting indices.</a:t>
          </a:r>
        </a:p>
      </dgm:t>
    </dgm:pt>
    <dgm:pt modelId="{31CE7716-BF5C-412A-B44D-12835975F456}" type="parTrans" cxnId="{500B14CE-E222-407D-BA96-E6B4A6F9E4CF}">
      <dgm:prSet/>
      <dgm:spPr/>
      <dgm:t>
        <a:bodyPr/>
        <a:lstStyle/>
        <a:p>
          <a:endParaRPr lang="en-IN"/>
        </a:p>
      </dgm:t>
    </dgm:pt>
    <dgm:pt modelId="{6A60D045-0F31-4146-9112-315D78EC3504}" type="sibTrans" cxnId="{500B14CE-E222-407D-BA96-E6B4A6F9E4CF}">
      <dgm:prSet/>
      <dgm:spPr/>
      <dgm:t>
        <a:bodyPr/>
        <a:lstStyle/>
        <a:p>
          <a:endParaRPr lang="en-IN"/>
        </a:p>
      </dgm:t>
    </dgm:pt>
    <dgm:pt modelId="{957B7596-5304-4434-A5F7-9B487EE69CF7}">
      <dgm:prSet custT="1"/>
      <dgm:spPr/>
      <dgm:t>
        <a:bodyPr/>
        <a:lstStyle/>
        <a:p>
          <a:pPr>
            <a:buNone/>
          </a:pPr>
          <a:endParaRPr lang="en-IN" sz="2400" b="1" dirty="0"/>
        </a:p>
      </dgm:t>
    </dgm:pt>
    <dgm:pt modelId="{C265DE87-D9B1-4D7B-8F83-D28AE608FCCB}" type="parTrans" cxnId="{A2D238D7-9CB3-48FF-AE5A-6839D4EA813C}">
      <dgm:prSet/>
      <dgm:spPr/>
      <dgm:t>
        <a:bodyPr/>
        <a:lstStyle/>
        <a:p>
          <a:endParaRPr lang="en-IN"/>
        </a:p>
      </dgm:t>
    </dgm:pt>
    <dgm:pt modelId="{D4A3AB91-31E9-49F3-BD8A-330979CEE446}" type="sibTrans" cxnId="{A2D238D7-9CB3-48FF-AE5A-6839D4EA813C}">
      <dgm:prSet/>
      <dgm:spPr/>
      <dgm:t>
        <a:bodyPr/>
        <a:lstStyle/>
        <a:p>
          <a:endParaRPr lang="en-IN"/>
        </a:p>
      </dgm:t>
    </dgm:pt>
    <dgm:pt modelId="{5E62F623-076E-420A-BC43-6DC4AE5F1097}">
      <dgm:prSet custT="1"/>
      <dgm:spPr/>
      <dgm:t>
        <a:bodyPr/>
        <a:lstStyle/>
        <a:p>
          <a:pPr>
            <a:buNone/>
          </a:pPr>
          <a:endParaRPr lang="en-IN" sz="2400" b="1" dirty="0"/>
        </a:p>
      </dgm:t>
    </dgm:pt>
    <dgm:pt modelId="{F5F671C7-47DC-42EC-AA4E-7F38743874D5}" type="sibTrans" cxnId="{27A32592-4A3D-40BC-B301-9BA301ED30B9}">
      <dgm:prSet/>
      <dgm:spPr/>
      <dgm:t>
        <a:bodyPr/>
        <a:lstStyle/>
        <a:p>
          <a:endParaRPr lang="en-IN"/>
        </a:p>
      </dgm:t>
    </dgm:pt>
    <dgm:pt modelId="{864ED8AF-A493-47B5-AF09-B57E2959D827}" type="parTrans" cxnId="{27A32592-4A3D-40BC-B301-9BA301ED30B9}">
      <dgm:prSet/>
      <dgm:spPr/>
      <dgm:t>
        <a:bodyPr/>
        <a:lstStyle/>
        <a:p>
          <a:endParaRPr lang="en-IN"/>
        </a:p>
      </dgm:t>
    </dgm:pt>
    <dgm:pt modelId="{5408EE20-1056-41CB-B561-83081B65D7F4}">
      <dgm:prSet custT="1"/>
      <dgm:spPr/>
      <dgm:t>
        <a:bodyPr/>
        <a:lstStyle/>
        <a:p>
          <a:pPr>
            <a:buNone/>
          </a:pPr>
          <a:endParaRPr lang="en-IN" sz="2400" b="1" dirty="0"/>
        </a:p>
      </dgm:t>
    </dgm:pt>
    <dgm:pt modelId="{701F5BB4-B16B-4B40-8F91-2E83E0815AE3}" type="sibTrans" cxnId="{65E6E677-C1CE-4697-AF01-C45E5089C7DB}">
      <dgm:prSet/>
      <dgm:spPr/>
      <dgm:t>
        <a:bodyPr/>
        <a:lstStyle/>
        <a:p>
          <a:endParaRPr lang="en-IN"/>
        </a:p>
      </dgm:t>
    </dgm:pt>
    <dgm:pt modelId="{E1B122DC-B1CC-47EC-A2EF-1E06887B1141}" type="parTrans" cxnId="{65E6E677-C1CE-4697-AF01-C45E5089C7DB}">
      <dgm:prSet/>
      <dgm:spPr/>
      <dgm:t>
        <a:bodyPr/>
        <a:lstStyle/>
        <a:p>
          <a:endParaRPr lang="en-IN"/>
        </a:p>
      </dgm:t>
    </dgm:pt>
    <dgm:pt modelId="{C1C19233-F93A-4F52-94E7-B81E44C94F26}">
      <dgm:prSet custT="1"/>
      <dgm:spPr/>
      <dgm:t>
        <a:bodyPr/>
        <a:lstStyle/>
        <a:p>
          <a:pPr>
            <a:buNone/>
          </a:pPr>
          <a:endParaRPr lang="en-IN" sz="2400" b="1" dirty="0"/>
        </a:p>
      </dgm:t>
    </dgm:pt>
    <dgm:pt modelId="{139F02A7-C8E6-4AF5-92F7-D5A0DED190E5}" type="sibTrans" cxnId="{0EC241CD-8936-4D28-847F-AAE23CDEA82F}">
      <dgm:prSet/>
      <dgm:spPr/>
      <dgm:t>
        <a:bodyPr/>
        <a:lstStyle/>
        <a:p>
          <a:endParaRPr lang="en-IN"/>
        </a:p>
      </dgm:t>
    </dgm:pt>
    <dgm:pt modelId="{2645F474-7BC8-45E5-A6A4-7B85B0E7AE73}" type="parTrans" cxnId="{0EC241CD-8936-4D28-847F-AAE23CDEA82F}">
      <dgm:prSet/>
      <dgm:spPr/>
      <dgm:t>
        <a:bodyPr/>
        <a:lstStyle/>
        <a:p>
          <a:endParaRPr lang="en-IN"/>
        </a:p>
      </dgm:t>
    </dgm:pt>
    <dgm:pt modelId="{667C4026-F9DF-4BDC-B05F-DE68FF5AB06E}">
      <dgm:prSet custT="1"/>
      <dgm:spPr/>
      <dgm:t>
        <a:bodyPr/>
        <a:lstStyle/>
        <a:p>
          <a:pPr>
            <a:buNone/>
          </a:pPr>
          <a:endParaRPr lang="en-IN" sz="2400" b="1" dirty="0"/>
        </a:p>
      </dgm:t>
    </dgm:pt>
    <dgm:pt modelId="{B96CBDA5-0847-450A-9A47-27F0C7D527B7}" type="sibTrans" cxnId="{8FA072F2-889E-4D3F-8C72-06C2E84A233F}">
      <dgm:prSet/>
      <dgm:spPr/>
      <dgm:t>
        <a:bodyPr/>
        <a:lstStyle/>
        <a:p>
          <a:endParaRPr lang="en-IN"/>
        </a:p>
      </dgm:t>
    </dgm:pt>
    <dgm:pt modelId="{A09EA1A5-4656-47CD-88E5-7D6FB81E0E75}" type="parTrans" cxnId="{8FA072F2-889E-4D3F-8C72-06C2E84A233F}">
      <dgm:prSet/>
      <dgm:spPr/>
      <dgm:t>
        <a:bodyPr/>
        <a:lstStyle/>
        <a:p>
          <a:endParaRPr lang="en-IN"/>
        </a:p>
      </dgm:t>
    </dgm:pt>
    <dgm:pt modelId="{E42C61AA-9C59-45DE-9476-46C447B19CB4}">
      <dgm:prSet custT="1"/>
      <dgm:spPr/>
      <dgm:t>
        <a:bodyPr/>
        <a:lstStyle/>
        <a:p>
          <a:pPr>
            <a:buNone/>
          </a:pPr>
          <a:endParaRPr lang="en-IN" sz="2400" b="1" dirty="0"/>
        </a:p>
      </dgm:t>
    </dgm:pt>
    <dgm:pt modelId="{10A5DD3F-69E0-4F18-B7FA-2FE53D0FA7F4}" type="sibTrans" cxnId="{88D20170-A794-49B3-934D-252BBC090B1B}">
      <dgm:prSet/>
      <dgm:spPr/>
      <dgm:t>
        <a:bodyPr/>
        <a:lstStyle/>
        <a:p>
          <a:endParaRPr lang="en-IN"/>
        </a:p>
      </dgm:t>
    </dgm:pt>
    <dgm:pt modelId="{E0FE3EDC-74AE-4C81-8FA6-23B110FF2634}" type="parTrans" cxnId="{88D20170-A794-49B3-934D-252BBC090B1B}">
      <dgm:prSet/>
      <dgm:spPr/>
      <dgm:t>
        <a:bodyPr/>
        <a:lstStyle/>
        <a:p>
          <a:endParaRPr lang="en-IN"/>
        </a:p>
      </dgm:t>
    </dgm:pt>
    <dgm:pt modelId="{93EB5D68-12CB-42EE-A37D-CE2A4B41EA7F}">
      <dgm:prSet custT="1"/>
      <dgm:spPr/>
      <dgm:t>
        <a:bodyPr/>
        <a:lstStyle/>
        <a:p>
          <a:pPr>
            <a:buNone/>
          </a:pPr>
          <a:endParaRPr lang="en-IN" sz="2400" b="1" dirty="0"/>
        </a:p>
      </dgm:t>
    </dgm:pt>
    <dgm:pt modelId="{804D1663-FEE6-4180-B6D3-54E2C05CCB8E}" type="sibTrans" cxnId="{15699A27-5D7F-478B-BBCC-45E5B054D69F}">
      <dgm:prSet/>
      <dgm:spPr/>
      <dgm:t>
        <a:bodyPr/>
        <a:lstStyle/>
        <a:p>
          <a:endParaRPr lang="en-IN"/>
        </a:p>
      </dgm:t>
    </dgm:pt>
    <dgm:pt modelId="{EBF9D08F-D7A7-409E-9189-EC7928CBD37E}" type="parTrans" cxnId="{15699A27-5D7F-478B-BBCC-45E5B054D69F}">
      <dgm:prSet/>
      <dgm:spPr/>
      <dgm:t>
        <a:bodyPr/>
        <a:lstStyle/>
        <a:p>
          <a:endParaRPr lang="en-IN"/>
        </a:p>
      </dgm:t>
    </dgm:pt>
    <dgm:pt modelId="{85A98245-3957-4191-9A07-02B7CEE23DBB}">
      <dgm:prSet custT="1"/>
      <dgm:spPr/>
      <dgm:t>
        <a:bodyPr/>
        <a:lstStyle/>
        <a:p>
          <a:pPr>
            <a:buNone/>
          </a:pPr>
          <a:endParaRPr lang="en-IN" sz="2400" b="1" dirty="0"/>
        </a:p>
      </dgm:t>
    </dgm:pt>
    <dgm:pt modelId="{56211984-892E-4949-8AB3-3DDA5D657F9B}" type="sibTrans" cxnId="{6B1C1425-AD12-4091-891C-DC23B4752ECA}">
      <dgm:prSet/>
      <dgm:spPr/>
      <dgm:t>
        <a:bodyPr/>
        <a:lstStyle/>
        <a:p>
          <a:endParaRPr lang="en-IN"/>
        </a:p>
      </dgm:t>
    </dgm:pt>
    <dgm:pt modelId="{A734EF10-8612-4A35-9DA4-B1B428A4BACE}" type="parTrans" cxnId="{6B1C1425-AD12-4091-891C-DC23B4752ECA}">
      <dgm:prSet/>
      <dgm:spPr/>
      <dgm:t>
        <a:bodyPr/>
        <a:lstStyle/>
        <a:p>
          <a:endParaRPr lang="en-IN"/>
        </a:p>
      </dgm:t>
    </dgm:pt>
    <dgm:pt modelId="{84824420-22CD-4492-8643-F307E2A34D50}">
      <dgm:prSet/>
      <dgm:spPr/>
      <dgm:t>
        <a:bodyPr/>
        <a:lstStyle/>
        <a:p>
          <a:pPr>
            <a:buNone/>
          </a:pPr>
          <a:endParaRPr lang="en-IN" sz="2400" b="1" dirty="0"/>
        </a:p>
      </dgm:t>
    </dgm:pt>
    <dgm:pt modelId="{3237DF66-4233-408B-ADBA-B9DE0D31BB61}" type="sibTrans" cxnId="{CE404560-9F51-463E-8C93-C1C2CBFEF64D}">
      <dgm:prSet/>
      <dgm:spPr/>
      <dgm:t>
        <a:bodyPr/>
        <a:lstStyle/>
        <a:p>
          <a:endParaRPr lang="en-IN"/>
        </a:p>
      </dgm:t>
    </dgm:pt>
    <dgm:pt modelId="{77073E12-788F-4FF0-91BD-BA1477DB58BE}" type="parTrans" cxnId="{CE404560-9F51-463E-8C93-C1C2CBFEF64D}">
      <dgm:prSet/>
      <dgm:spPr/>
      <dgm:t>
        <a:bodyPr/>
        <a:lstStyle/>
        <a:p>
          <a:endParaRPr lang="en-IN"/>
        </a:p>
      </dgm:t>
    </dgm:pt>
    <dgm:pt modelId="{52A6A0CC-8508-4687-9DCD-81CD2A82BD49}" type="pres">
      <dgm:prSet presAssocID="{F524CF8E-904C-4D92-8A76-775F7189E1A0}" presName="linear" presStyleCnt="0">
        <dgm:presLayoutVars>
          <dgm:animLvl val="lvl"/>
          <dgm:resizeHandles val="exact"/>
        </dgm:presLayoutVars>
      </dgm:prSet>
      <dgm:spPr/>
    </dgm:pt>
    <dgm:pt modelId="{34E3C31A-170A-424A-A9FE-953D342DDB68}" type="pres">
      <dgm:prSet presAssocID="{2C4B166C-7EB4-49A2-8740-5C2828A33153}" presName="parentText" presStyleLbl="node1" presStyleIdx="0" presStyleCnt="1" custScaleY="19172" custLinFactNeighborX="2489" custLinFactNeighborY="-8274">
        <dgm:presLayoutVars>
          <dgm:chMax val="0"/>
          <dgm:bulletEnabled val="1"/>
        </dgm:presLayoutVars>
      </dgm:prSet>
      <dgm:spPr/>
    </dgm:pt>
    <dgm:pt modelId="{A7F36DA1-0370-4EBC-A2D3-8421A855B5AA}" type="pres">
      <dgm:prSet presAssocID="{2C4B166C-7EB4-49A2-8740-5C2828A33153}" presName="childText" presStyleLbl="revTx" presStyleIdx="0" presStyleCnt="1" custLinFactNeighborX="2489" custLinFactNeighborY="-3643">
        <dgm:presLayoutVars>
          <dgm:bulletEnabled val="1"/>
        </dgm:presLayoutVars>
      </dgm:prSet>
      <dgm:spPr/>
    </dgm:pt>
  </dgm:ptLst>
  <dgm:cxnLst>
    <dgm:cxn modelId="{00381504-2BFA-45D8-AE3F-E39C390B7F71}" type="presOf" srcId="{F524CF8E-904C-4D92-8A76-775F7189E1A0}" destId="{52A6A0CC-8508-4687-9DCD-81CD2A82BD49}" srcOrd="0" destOrd="0" presId="urn:microsoft.com/office/officeart/2005/8/layout/vList2"/>
    <dgm:cxn modelId="{76686E10-1ABF-4DDF-8812-6EF782E20DF6}" type="presOf" srcId="{85A98245-3957-4191-9A07-02B7CEE23DBB}" destId="{A7F36DA1-0370-4EBC-A2D3-8421A855B5AA}" srcOrd="0" destOrd="8" presId="urn:microsoft.com/office/officeart/2005/8/layout/vList2"/>
    <dgm:cxn modelId="{DC84901D-E802-4B6C-96D6-47D8EBFF98A2}" type="presOf" srcId="{93EB5D68-12CB-42EE-A37D-CE2A4B41EA7F}" destId="{A7F36DA1-0370-4EBC-A2D3-8421A855B5AA}" srcOrd="0" destOrd="7" presId="urn:microsoft.com/office/officeart/2005/8/layout/vList2"/>
    <dgm:cxn modelId="{6B1C1425-AD12-4091-891C-DC23B4752ECA}" srcId="{2C4B166C-7EB4-49A2-8740-5C2828A33153}" destId="{85A98245-3957-4191-9A07-02B7CEE23DBB}" srcOrd="8" destOrd="0" parTransId="{A734EF10-8612-4A35-9DA4-B1B428A4BACE}" sibTransId="{56211984-892E-4949-8AB3-3DDA5D657F9B}"/>
    <dgm:cxn modelId="{15699A27-5D7F-478B-BBCC-45E5B054D69F}" srcId="{2C4B166C-7EB4-49A2-8740-5C2828A33153}" destId="{93EB5D68-12CB-42EE-A37D-CE2A4B41EA7F}" srcOrd="7" destOrd="0" parTransId="{EBF9D08F-D7A7-409E-9189-EC7928CBD37E}" sibTransId="{804D1663-FEE6-4180-B6D3-54E2C05CCB8E}"/>
    <dgm:cxn modelId="{8D77D437-5A17-4A3B-B3E2-411D674D7D3A}" type="presOf" srcId="{957B7596-5304-4434-A5F7-9B487EE69CF7}" destId="{A7F36DA1-0370-4EBC-A2D3-8421A855B5AA}" srcOrd="0" destOrd="1" presId="urn:microsoft.com/office/officeart/2005/8/layout/vList2"/>
    <dgm:cxn modelId="{CE404560-9F51-463E-8C93-C1C2CBFEF64D}" srcId="{2C4B166C-7EB4-49A2-8740-5C2828A33153}" destId="{84824420-22CD-4492-8643-F307E2A34D50}" srcOrd="9" destOrd="0" parTransId="{77073E12-788F-4FF0-91BD-BA1477DB58BE}" sibTransId="{3237DF66-4233-408B-ADBA-B9DE0D31BB61}"/>
    <dgm:cxn modelId="{BF5A5F64-D37B-4FBC-ACEF-B1052D47810B}" type="presOf" srcId="{667C4026-F9DF-4BDC-B05F-DE68FF5AB06E}" destId="{A7F36DA1-0370-4EBC-A2D3-8421A855B5AA}" srcOrd="0" destOrd="5" presId="urn:microsoft.com/office/officeart/2005/8/layout/vList2"/>
    <dgm:cxn modelId="{C46C0965-D9D7-4D97-85F5-AEC8656EB7DB}" srcId="{F524CF8E-904C-4D92-8A76-775F7189E1A0}" destId="{2C4B166C-7EB4-49A2-8740-5C2828A33153}" srcOrd="0" destOrd="0" parTransId="{96FCAD02-DC91-4EE8-8AE2-0D56505641E8}" sibTransId="{9851DF3C-5D56-490B-9EE8-B7027C49D0B6}"/>
    <dgm:cxn modelId="{E1BF544C-0727-4EBB-BF9B-77999330902B}" type="presOf" srcId="{5408EE20-1056-41CB-B561-83081B65D7F4}" destId="{A7F36DA1-0370-4EBC-A2D3-8421A855B5AA}" srcOrd="0" destOrd="3" presId="urn:microsoft.com/office/officeart/2005/8/layout/vList2"/>
    <dgm:cxn modelId="{68BA876C-67E3-470F-8E17-C4F719902CE6}" type="presOf" srcId="{2C4B166C-7EB4-49A2-8740-5C2828A33153}" destId="{34E3C31A-170A-424A-A9FE-953D342DDB68}" srcOrd="0" destOrd="0" presId="urn:microsoft.com/office/officeart/2005/8/layout/vList2"/>
    <dgm:cxn modelId="{88D20170-A794-49B3-934D-252BBC090B1B}" srcId="{2C4B166C-7EB4-49A2-8740-5C2828A33153}" destId="{E42C61AA-9C59-45DE-9476-46C447B19CB4}" srcOrd="6" destOrd="0" parTransId="{E0FE3EDC-74AE-4C81-8FA6-23B110FF2634}" sibTransId="{10A5DD3F-69E0-4F18-B7FA-2FE53D0FA7F4}"/>
    <dgm:cxn modelId="{40ABF174-F872-4116-9CB1-ECA423B98F7B}" type="presOf" srcId="{84824420-22CD-4492-8643-F307E2A34D50}" destId="{A7F36DA1-0370-4EBC-A2D3-8421A855B5AA}" srcOrd="0" destOrd="9" presId="urn:microsoft.com/office/officeart/2005/8/layout/vList2"/>
    <dgm:cxn modelId="{65E6E677-C1CE-4697-AF01-C45E5089C7DB}" srcId="{2C4B166C-7EB4-49A2-8740-5C2828A33153}" destId="{5408EE20-1056-41CB-B561-83081B65D7F4}" srcOrd="3" destOrd="0" parTransId="{E1B122DC-B1CC-47EC-A2EF-1E06887B1141}" sibTransId="{701F5BB4-B16B-4B40-8F91-2E83E0815AE3}"/>
    <dgm:cxn modelId="{27A32592-4A3D-40BC-B301-9BA301ED30B9}" srcId="{2C4B166C-7EB4-49A2-8740-5C2828A33153}" destId="{5E62F623-076E-420A-BC43-6DC4AE5F1097}" srcOrd="2" destOrd="0" parTransId="{864ED8AF-A493-47B5-AF09-B57E2959D827}" sibTransId="{F5F671C7-47DC-42EC-AA4E-7F38743874D5}"/>
    <dgm:cxn modelId="{8E7B3C9C-94E3-4E46-A74A-3AE954C6F684}" type="presOf" srcId="{3C6A6061-55C2-49C0-B8F3-1B5CE3022FD7}" destId="{A7F36DA1-0370-4EBC-A2D3-8421A855B5AA}" srcOrd="0" destOrd="0" presId="urn:microsoft.com/office/officeart/2005/8/layout/vList2"/>
    <dgm:cxn modelId="{32ECD5AB-DF8F-409D-A3F6-0E214E46E0D4}" type="presOf" srcId="{E42C61AA-9C59-45DE-9476-46C447B19CB4}" destId="{A7F36DA1-0370-4EBC-A2D3-8421A855B5AA}" srcOrd="0" destOrd="6" presId="urn:microsoft.com/office/officeart/2005/8/layout/vList2"/>
    <dgm:cxn modelId="{283FFAAC-7DF1-4FB2-83AF-1C65253CC232}" type="presOf" srcId="{C1C19233-F93A-4F52-94E7-B81E44C94F26}" destId="{A7F36DA1-0370-4EBC-A2D3-8421A855B5AA}" srcOrd="0" destOrd="4" presId="urn:microsoft.com/office/officeart/2005/8/layout/vList2"/>
    <dgm:cxn modelId="{0EC241CD-8936-4D28-847F-AAE23CDEA82F}" srcId="{2C4B166C-7EB4-49A2-8740-5C2828A33153}" destId="{C1C19233-F93A-4F52-94E7-B81E44C94F26}" srcOrd="4" destOrd="0" parTransId="{2645F474-7BC8-45E5-A6A4-7B85B0E7AE73}" sibTransId="{139F02A7-C8E6-4AF5-92F7-D5A0DED190E5}"/>
    <dgm:cxn modelId="{500B14CE-E222-407D-BA96-E6B4A6F9E4CF}" srcId="{2C4B166C-7EB4-49A2-8740-5C2828A33153}" destId="{3C6A6061-55C2-49C0-B8F3-1B5CE3022FD7}" srcOrd="0" destOrd="0" parTransId="{31CE7716-BF5C-412A-B44D-12835975F456}" sibTransId="{6A60D045-0F31-4146-9112-315D78EC3504}"/>
    <dgm:cxn modelId="{A2D238D7-9CB3-48FF-AE5A-6839D4EA813C}" srcId="{2C4B166C-7EB4-49A2-8740-5C2828A33153}" destId="{957B7596-5304-4434-A5F7-9B487EE69CF7}" srcOrd="1" destOrd="0" parTransId="{C265DE87-D9B1-4D7B-8F83-D28AE608FCCB}" sibTransId="{D4A3AB91-31E9-49F3-BD8A-330979CEE446}"/>
    <dgm:cxn modelId="{421653F0-B0B0-4F21-8DD9-934707D104A3}" type="presOf" srcId="{5E62F623-076E-420A-BC43-6DC4AE5F1097}" destId="{A7F36DA1-0370-4EBC-A2D3-8421A855B5AA}" srcOrd="0" destOrd="2" presId="urn:microsoft.com/office/officeart/2005/8/layout/vList2"/>
    <dgm:cxn modelId="{8FA072F2-889E-4D3F-8C72-06C2E84A233F}" srcId="{2C4B166C-7EB4-49A2-8740-5C2828A33153}" destId="{667C4026-F9DF-4BDC-B05F-DE68FF5AB06E}" srcOrd="5" destOrd="0" parTransId="{A09EA1A5-4656-47CD-88E5-7D6FB81E0E75}" sibTransId="{B96CBDA5-0847-450A-9A47-27F0C7D527B7}"/>
    <dgm:cxn modelId="{85C2A4CA-D6D1-435C-B8CF-D2C21F29FD37}" type="presParOf" srcId="{52A6A0CC-8508-4687-9DCD-81CD2A82BD49}" destId="{34E3C31A-170A-424A-A9FE-953D342DDB68}" srcOrd="0" destOrd="0" presId="urn:microsoft.com/office/officeart/2005/8/layout/vList2"/>
    <dgm:cxn modelId="{EEB8DD30-2D10-4EFF-8854-F4B26D0797EA}" type="presParOf" srcId="{52A6A0CC-8508-4687-9DCD-81CD2A82BD49}" destId="{A7F36DA1-0370-4EBC-A2D3-8421A855B5AA}" srcOrd="1" destOrd="0" presId="urn:microsoft.com/office/officeart/2005/8/layout/vList2"/>
  </dgm:cxnLst>
  <dgm:bg/>
  <dgm:whole>
    <a:ln>
      <a:solidFill>
        <a:schemeClr val="accent1"/>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524CF8E-904C-4D92-8A76-775F7189E1A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2C4B166C-7EB4-49A2-8740-5C2828A33153}">
      <dgm:prSet phldrT="[Text]" custT="1"/>
      <dgm:spPr/>
      <dgm:t>
        <a:bodyPr/>
        <a:lstStyle/>
        <a:p>
          <a:pPr>
            <a:buNone/>
          </a:pPr>
          <a:r>
            <a:rPr lang="en-IN" sz="2000" b="1" dirty="0">
              <a:solidFill>
                <a:schemeClr val="bg1"/>
              </a:solidFill>
            </a:rPr>
            <a:t>Longest Common Prefix (LCP) Array</a:t>
          </a:r>
        </a:p>
      </dgm:t>
    </dgm:pt>
    <dgm:pt modelId="{96FCAD02-DC91-4EE8-8AE2-0D56505641E8}" type="parTrans" cxnId="{C46C0965-D9D7-4D97-85F5-AEC8656EB7DB}">
      <dgm:prSet/>
      <dgm:spPr/>
      <dgm:t>
        <a:bodyPr/>
        <a:lstStyle/>
        <a:p>
          <a:endParaRPr lang="en-IN" sz="2000"/>
        </a:p>
      </dgm:t>
    </dgm:pt>
    <dgm:pt modelId="{9851DF3C-5D56-490B-9EE8-B7027C49D0B6}" type="sibTrans" cxnId="{C46C0965-D9D7-4D97-85F5-AEC8656EB7DB}">
      <dgm:prSet/>
      <dgm:spPr/>
      <dgm:t>
        <a:bodyPr/>
        <a:lstStyle/>
        <a:p>
          <a:endParaRPr lang="en-IN" sz="2000"/>
        </a:p>
      </dgm:t>
    </dgm:pt>
    <dgm:pt modelId="{3C6A6061-55C2-49C0-B8F3-1B5CE3022FD7}">
      <dgm:prSet phldrT="[Text]" custT="1"/>
      <dgm:spPr/>
      <dgm:t>
        <a:bodyPr/>
        <a:lstStyle/>
        <a:p>
          <a:pPr algn="just">
            <a:buNone/>
          </a:pPr>
          <a:r>
            <a:rPr lang="en-IN" sz="2000" dirty="0"/>
            <a:t>The </a:t>
          </a:r>
          <a:r>
            <a:rPr lang="en-IN" sz="2000" b="1" dirty="0"/>
            <a:t>LCP Array</a:t>
          </a:r>
          <a:r>
            <a:rPr lang="en-IN" sz="2000" dirty="0"/>
            <a:t> stores the </a:t>
          </a:r>
          <a:r>
            <a:rPr lang="en-IN" sz="2000" b="1" dirty="0"/>
            <a:t>length of the common prefix between two adjacent suffixes in the sorted suffix array</a:t>
          </a:r>
          <a:r>
            <a:rPr lang="en-IN" sz="2000" dirty="0"/>
            <a:t>.</a:t>
          </a:r>
        </a:p>
      </dgm:t>
    </dgm:pt>
    <dgm:pt modelId="{31CE7716-BF5C-412A-B44D-12835975F456}" type="parTrans" cxnId="{500B14CE-E222-407D-BA96-E6B4A6F9E4CF}">
      <dgm:prSet/>
      <dgm:spPr/>
      <dgm:t>
        <a:bodyPr/>
        <a:lstStyle/>
        <a:p>
          <a:endParaRPr lang="en-IN" sz="2000"/>
        </a:p>
      </dgm:t>
    </dgm:pt>
    <dgm:pt modelId="{6A60D045-0F31-4146-9112-315D78EC3504}" type="sibTrans" cxnId="{500B14CE-E222-407D-BA96-E6B4A6F9E4CF}">
      <dgm:prSet/>
      <dgm:spPr/>
      <dgm:t>
        <a:bodyPr/>
        <a:lstStyle/>
        <a:p>
          <a:endParaRPr lang="en-IN" sz="2000"/>
        </a:p>
      </dgm:t>
    </dgm:pt>
    <dgm:pt modelId="{C7D34B00-989D-4E7B-B94B-44729DAE6DD8}">
      <dgm:prSet phldrT="[Text]" custT="1"/>
      <dgm:spPr/>
      <dgm:t>
        <a:bodyPr/>
        <a:lstStyle/>
        <a:p>
          <a:pPr algn="l">
            <a:buNone/>
          </a:pPr>
          <a:endParaRPr lang="en-IN" sz="2000" dirty="0"/>
        </a:p>
      </dgm:t>
    </dgm:pt>
    <dgm:pt modelId="{15FF6C20-8A5A-4AB8-B682-08582251D6F8}" type="parTrans" cxnId="{181B1128-21C0-4C6B-8A4A-5A555339FC02}">
      <dgm:prSet/>
      <dgm:spPr/>
      <dgm:t>
        <a:bodyPr/>
        <a:lstStyle/>
        <a:p>
          <a:endParaRPr lang="en-IN" sz="2000"/>
        </a:p>
      </dgm:t>
    </dgm:pt>
    <dgm:pt modelId="{A2F81711-000A-40BF-898C-55876DD1761D}" type="sibTrans" cxnId="{181B1128-21C0-4C6B-8A4A-5A555339FC02}">
      <dgm:prSet/>
      <dgm:spPr/>
      <dgm:t>
        <a:bodyPr/>
        <a:lstStyle/>
        <a:p>
          <a:endParaRPr lang="en-IN" sz="2000"/>
        </a:p>
      </dgm:t>
    </dgm:pt>
    <dgm:pt modelId="{68550B1E-EE6A-4F15-B497-6C32C6471E78}">
      <dgm:prSet phldrT="[Text]" custT="1"/>
      <dgm:spPr/>
      <dgm:t>
        <a:bodyPr/>
        <a:lstStyle/>
        <a:p>
          <a:pPr algn="l">
            <a:buNone/>
          </a:pPr>
          <a:endParaRPr lang="en-IN" sz="2000" dirty="0"/>
        </a:p>
      </dgm:t>
    </dgm:pt>
    <dgm:pt modelId="{E8D0353B-4B8E-41B9-8123-A6AB623C3D21}" type="parTrans" cxnId="{1637ACB4-9EC3-440E-B7C7-BA6CBCDBB3A4}">
      <dgm:prSet/>
      <dgm:spPr/>
      <dgm:t>
        <a:bodyPr/>
        <a:lstStyle/>
        <a:p>
          <a:endParaRPr lang="en-IN" sz="2000"/>
        </a:p>
      </dgm:t>
    </dgm:pt>
    <dgm:pt modelId="{E7795DDB-1096-4ABD-88E8-FC8FFFC70DAC}" type="sibTrans" cxnId="{1637ACB4-9EC3-440E-B7C7-BA6CBCDBB3A4}">
      <dgm:prSet/>
      <dgm:spPr/>
      <dgm:t>
        <a:bodyPr/>
        <a:lstStyle/>
        <a:p>
          <a:endParaRPr lang="en-IN" sz="2000"/>
        </a:p>
      </dgm:t>
    </dgm:pt>
    <dgm:pt modelId="{2B3508B7-D9DB-4FF0-ADF0-32ACC29755F5}">
      <dgm:prSet phldrT="[Text]" custT="1"/>
      <dgm:spPr/>
      <dgm:t>
        <a:bodyPr/>
        <a:lstStyle/>
        <a:p>
          <a:pPr algn="l">
            <a:buNone/>
          </a:pPr>
          <a:endParaRPr lang="en-IN" sz="2000" dirty="0"/>
        </a:p>
      </dgm:t>
    </dgm:pt>
    <dgm:pt modelId="{57842A05-C504-4DD1-A700-4F39078C4D53}" type="parTrans" cxnId="{61F65357-3EB1-4295-A841-C97A9AB7E230}">
      <dgm:prSet/>
      <dgm:spPr/>
      <dgm:t>
        <a:bodyPr/>
        <a:lstStyle/>
        <a:p>
          <a:endParaRPr lang="en-IN" sz="2000"/>
        </a:p>
      </dgm:t>
    </dgm:pt>
    <dgm:pt modelId="{C81E8B0F-5610-49B4-AD76-1661FF3B4CBD}" type="sibTrans" cxnId="{61F65357-3EB1-4295-A841-C97A9AB7E230}">
      <dgm:prSet/>
      <dgm:spPr/>
      <dgm:t>
        <a:bodyPr/>
        <a:lstStyle/>
        <a:p>
          <a:endParaRPr lang="en-IN" sz="2000"/>
        </a:p>
      </dgm:t>
    </dgm:pt>
    <dgm:pt modelId="{936D2287-1012-4817-945A-C54A634105C4}">
      <dgm:prSet phldrT="[Text]" custT="1"/>
      <dgm:spPr/>
      <dgm:t>
        <a:bodyPr/>
        <a:lstStyle/>
        <a:p>
          <a:pPr algn="l">
            <a:buNone/>
          </a:pPr>
          <a:endParaRPr lang="en-IN" sz="2000" dirty="0"/>
        </a:p>
      </dgm:t>
    </dgm:pt>
    <dgm:pt modelId="{148CA6C0-2987-4E7F-8BA6-87616C558E75}" type="parTrans" cxnId="{53F89D56-2FE3-41F8-976B-65639B05C717}">
      <dgm:prSet/>
      <dgm:spPr/>
      <dgm:t>
        <a:bodyPr/>
        <a:lstStyle/>
        <a:p>
          <a:endParaRPr lang="en-IN" sz="2000"/>
        </a:p>
      </dgm:t>
    </dgm:pt>
    <dgm:pt modelId="{A335A02D-4900-47B2-8BD2-98331EE3E22C}" type="sibTrans" cxnId="{53F89D56-2FE3-41F8-976B-65639B05C717}">
      <dgm:prSet/>
      <dgm:spPr/>
      <dgm:t>
        <a:bodyPr/>
        <a:lstStyle/>
        <a:p>
          <a:endParaRPr lang="en-IN" sz="2000"/>
        </a:p>
      </dgm:t>
    </dgm:pt>
    <dgm:pt modelId="{43697D3D-ED47-442E-8A78-7B2CC83FB154}">
      <dgm:prSet phldrT="[Text]" custT="1"/>
      <dgm:spPr/>
      <dgm:t>
        <a:bodyPr/>
        <a:lstStyle/>
        <a:p>
          <a:pPr algn="l">
            <a:buNone/>
          </a:pPr>
          <a:endParaRPr lang="en-IN" sz="2000" dirty="0"/>
        </a:p>
      </dgm:t>
    </dgm:pt>
    <dgm:pt modelId="{2D20D253-C880-42A0-8F03-24B8B4849D44}" type="parTrans" cxnId="{30FAAE7F-38BC-424C-BE47-B58F7A38BB06}">
      <dgm:prSet/>
      <dgm:spPr/>
      <dgm:t>
        <a:bodyPr/>
        <a:lstStyle/>
        <a:p>
          <a:endParaRPr lang="en-IN" sz="2000"/>
        </a:p>
      </dgm:t>
    </dgm:pt>
    <dgm:pt modelId="{65878263-5682-45D5-860C-50181B009D0F}" type="sibTrans" cxnId="{30FAAE7F-38BC-424C-BE47-B58F7A38BB06}">
      <dgm:prSet/>
      <dgm:spPr/>
      <dgm:t>
        <a:bodyPr/>
        <a:lstStyle/>
        <a:p>
          <a:endParaRPr lang="en-IN" sz="2000"/>
        </a:p>
      </dgm:t>
    </dgm:pt>
    <dgm:pt modelId="{B44DEF7B-96EB-4D4E-9708-0C91E81DED92}">
      <dgm:prSet phldrT="[Text]" custT="1"/>
      <dgm:spPr/>
      <dgm:t>
        <a:bodyPr/>
        <a:lstStyle/>
        <a:p>
          <a:pPr algn="l">
            <a:buNone/>
          </a:pPr>
          <a:endParaRPr lang="en-IN" sz="2000" dirty="0"/>
        </a:p>
      </dgm:t>
    </dgm:pt>
    <dgm:pt modelId="{D808A2B5-2B73-419E-BF0A-5A5CEF89E6CC}" type="parTrans" cxnId="{34CB8019-D6FB-4FDC-9DF4-702B1D3F0665}">
      <dgm:prSet/>
      <dgm:spPr/>
      <dgm:t>
        <a:bodyPr/>
        <a:lstStyle/>
        <a:p>
          <a:endParaRPr lang="en-IN" sz="2000"/>
        </a:p>
      </dgm:t>
    </dgm:pt>
    <dgm:pt modelId="{52537CA0-B4B9-46A6-AFB0-13D4109EA412}" type="sibTrans" cxnId="{34CB8019-D6FB-4FDC-9DF4-702B1D3F0665}">
      <dgm:prSet/>
      <dgm:spPr/>
      <dgm:t>
        <a:bodyPr/>
        <a:lstStyle/>
        <a:p>
          <a:endParaRPr lang="en-IN" sz="2000"/>
        </a:p>
      </dgm:t>
    </dgm:pt>
    <dgm:pt modelId="{BEFE0897-F435-40EF-9BD0-A73C8160B45E}">
      <dgm:prSet phldrT="[Text]" custT="1"/>
      <dgm:spPr/>
      <dgm:t>
        <a:bodyPr/>
        <a:lstStyle/>
        <a:p>
          <a:pPr algn="l">
            <a:buNone/>
          </a:pPr>
          <a:endParaRPr lang="en-IN" sz="2000" dirty="0"/>
        </a:p>
      </dgm:t>
    </dgm:pt>
    <dgm:pt modelId="{EC405FAD-20CF-4042-B971-0778E5512680}" type="parTrans" cxnId="{AB59E6FF-A53E-4C9B-AF34-C5D1C49B5814}">
      <dgm:prSet/>
      <dgm:spPr/>
      <dgm:t>
        <a:bodyPr/>
        <a:lstStyle/>
        <a:p>
          <a:endParaRPr lang="en-IN" sz="2000"/>
        </a:p>
      </dgm:t>
    </dgm:pt>
    <dgm:pt modelId="{3A3D22A9-DA97-47BC-B2F6-38ACB5FDB653}" type="sibTrans" cxnId="{AB59E6FF-A53E-4C9B-AF34-C5D1C49B5814}">
      <dgm:prSet/>
      <dgm:spPr/>
      <dgm:t>
        <a:bodyPr/>
        <a:lstStyle/>
        <a:p>
          <a:endParaRPr lang="en-IN" sz="2000"/>
        </a:p>
      </dgm:t>
    </dgm:pt>
    <dgm:pt modelId="{24F03CE6-1D4C-4544-804A-73F53E1A138F}">
      <dgm:prSet phldrT="[Text]" custT="1"/>
      <dgm:spPr/>
      <dgm:t>
        <a:bodyPr/>
        <a:lstStyle/>
        <a:p>
          <a:pPr algn="l">
            <a:buNone/>
          </a:pPr>
          <a:endParaRPr lang="en-IN" sz="2000" dirty="0"/>
        </a:p>
      </dgm:t>
    </dgm:pt>
    <dgm:pt modelId="{C364CB9E-2DB9-4C89-82EF-C9EF5C515CAF}" type="parTrans" cxnId="{5AD77CE4-B216-4518-B734-AE40A23ECFB7}">
      <dgm:prSet/>
      <dgm:spPr/>
      <dgm:t>
        <a:bodyPr/>
        <a:lstStyle/>
        <a:p>
          <a:endParaRPr lang="en-IN" sz="2000"/>
        </a:p>
      </dgm:t>
    </dgm:pt>
    <dgm:pt modelId="{A5E575E0-81E8-4913-893D-A116E8DF3246}" type="sibTrans" cxnId="{5AD77CE4-B216-4518-B734-AE40A23ECFB7}">
      <dgm:prSet/>
      <dgm:spPr/>
      <dgm:t>
        <a:bodyPr/>
        <a:lstStyle/>
        <a:p>
          <a:endParaRPr lang="en-IN" sz="2000"/>
        </a:p>
      </dgm:t>
    </dgm:pt>
    <dgm:pt modelId="{CD67237F-53ED-4235-9B08-6226A8ED8C71}">
      <dgm:prSet phldrT="[Text]" custT="1"/>
      <dgm:spPr/>
      <dgm:t>
        <a:bodyPr/>
        <a:lstStyle/>
        <a:p>
          <a:pPr algn="l">
            <a:buNone/>
          </a:pPr>
          <a:endParaRPr lang="en-IN" sz="2000" dirty="0"/>
        </a:p>
      </dgm:t>
    </dgm:pt>
    <dgm:pt modelId="{C52C3D08-0EF3-4160-BD3F-F0126781B65F}" type="parTrans" cxnId="{9DFE77FA-6A51-4DC2-BEBC-6E34602E28C9}">
      <dgm:prSet/>
      <dgm:spPr/>
      <dgm:t>
        <a:bodyPr/>
        <a:lstStyle/>
        <a:p>
          <a:endParaRPr lang="en-IN" sz="2000"/>
        </a:p>
      </dgm:t>
    </dgm:pt>
    <dgm:pt modelId="{CA596BD7-400C-4FCA-9778-D4B4094C6D65}" type="sibTrans" cxnId="{9DFE77FA-6A51-4DC2-BEBC-6E34602E28C9}">
      <dgm:prSet/>
      <dgm:spPr/>
      <dgm:t>
        <a:bodyPr/>
        <a:lstStyle/>
        <a:p>
          <a:endParaRPr lang="en-IN" sz="2000"/>
        </a:p>
      </dgm:t>
    </dgm:pt>
    <dgm:pt modelId="{0C305D1E-4A79-4826-83EB-121F7A0292E6}">
      <dgm:prSet phldrT="[Text]" custT="1"/>
      <dgm:spPr/>
      <dgm:t>
        <a:bodyPr/>
        <a:lstStyle/>
        <a:p>
          <a:pPr algn="l">
            <a:buNone/>
          </a:pPr>
          <a:endParaRPr lang="en-IN" sz="2000" dirty="0"/>
        </a:p>
      </dgm:t>
    </dgm:pt>
    <dgm:pt modelId="{A15EA489-796F-49AA-A936-FD9E4C84165F}" type="parTrans" cxnId="{CD5B07A3-2D88-4783-9267-5D31FF78BBCF}">
      <dgm:prSet/>
      <dgm:spPr/>
      <dgm:t>
        <a:bodyPr/>
        <a:lstStyle/>
        <a:p>
          <a:endParaRPr lang="en-IN" sz="2000"/>
        </a:p>
      </dgm:t>
    </dgm:pt>
    <dgm:pt modelId="{001F9E9D-0250-4EE4-B9B9-9506EC2EB72C}" type="sibTrans" cxnId="{CD5B07A3-2D88-4783-9267-5D31FF78BBCF}">
      <dgm:prSet/>
      <dgm:spPr/>
      <dgm:t>
        <a:bodyPr/>
        <a:lstStyle/>
        <a:p>
          <a:endParaRPr lang="en-IN" sz="2000"/>
        </a:p>
      </dgm:t>
    </dgm:pt>
    <dgm:pt modelId="{8528FF10-8A5D-4B0D-9A35-14FA41D4F932}">
      <dgm:prSet phldrT="[Text]" custT="1"/>
      <dgm:spPr/>
      <dgm:t>
        <a:bodyPr/>
        <a:lstStyle/>
        <a:p>
          <a:pPr algn="l">
            <a:buNone/>
          </a:pPr>
          <a:endParaRPr lang="en-IN" sz="2000" dirty="0"/>
        </a:p>
      </dgm:t>
    </dgm:pt>
    <dgm:pt modelId="{BF8F0E42-7DBF-4F5E-A145-C1BB0675E514}" type="parTrans" cxnId="{8D5CD3E0-C866-41C3-88D3-3E5C147B67D2}">
      <dgm:prSet/>
      <dgm:spPr/>
      <dgm:t>
        <a:bodyPr/>
        <a:lstStyle/>
        <a:p>
          <a:endParaRPr lang="en-IN" sz="2000"/>
        </a:p>
      </dgm:t>
    </dgm:pt>
    <dgm:pt modelId="{6B55B5B9-2EB8-4C9C-8B69-03B2938147E2}" type="sibTrans" cxnId="{8D5CD3E0-C866-41C3-88D3-3E5C147B67D2}">
      <dgm:prSet/>
      <dgm:spPr/>
      <dgm:t>
        <a:bodyPr/>
        <a:lstStyle/>
        <a:p>
          <a:endParaRPr lang="en-IN" sz="2000"/>
        </a:p>
      </dgm:t>
    </dgm:pt>
    <dgm:pt modelId="{0B1FA3F0-30AC-41A1-8A48-737C74A5D8BC}">
      <dgm:prSet phldrT="[Text]" custT="1"/>
      <dgm:spPr/>
      <dgm:t>
        <a:bodyPr/>
        <a:lstStyle/>
        <a:p>
          <a:pPr algn="l">
            <a:buNone/>
          </a:pPr>
          <a:endParaRPr lang="en-IN" sz="2000" dirty="0"/>
        </a:p>
      </dgm:t>
    </dgm:pt>
    <dgm:pt modelId="{BC657E01-FDD6-4F1D-BC67-6457F48A02A2}" type="parTrans" cxnId="{2A2A6D12-8719-4638-BDBA-760CC71FE736}">
      <dgm:prSet/>
      <dgm:spPr/>
      <dgm:t>
        <a:bodyPr/>
        <a:lstStyle/>
        <a:p>
          <a:endParaRPr lang="en-IN" sz="2000"/>
        </a:p>
      </dgm:t>
    </dgm:pt>
    <dgm:pt modelId="{88DC4566-B583-4F05-840B-DE1BF6324221}" type="sibTrans" cxnId="{2A2A6D12-8719-4638-BDBA-760CC71FE736}">
      <dgm:prSet/>
      <dgm:spPr/>
      <dgm:t>
        <a:bodyPr/>
        <a:lstStyle/>
        <a:p>
          <a:endParaRPr lang="en-IN" sz="2000"/>
        </a:p>
      </dgm:t>
    </dgm:pt>
    <dgm:pt modelId="{B3C3EA53-7D2E-4ABC-9893-ED1749CA428F}">
      <dgm:prSet custT="1"/>
      <dgm:spPr/>
      <dgm:t>
        <a:bodyPr/>
        <a:lstStyle/>
        <a:p>
          <a:pPr algn="l">
            <a:buNone/>
          </a:pPr>
          <a:r>
            <a:rPr lang="en-IN" sz="2000" dirty="0"/>
            <a:t>Sorted suffixes:</a:t>
          </a:r>
        </a:p>
      </dgm:t>
    </dgm:pt>
    <dgm:pt modelId="{A0F6A22A-CA65-49F3-8ACC-057E42C09C14}" type="parTrans" cxnId="{B840BD1D-C4A5-49BB-8B2F-F8C95C037D02}">
      <dgm:prSet/>
      <dgm:spPr/>
      <dgm:t>
        <a:bodyPr/>
        <a:lstStyle/>
        <a:p>
          <a:endParaRPr lang="en-IN" sz="2000"/>
        </a:p>
      </dgm:t>
    </dgm:pt>
    <dgm:pt modelId="{750E71E9-E0DB-4F1A-AF3A-64CC29247A5F}" type="sibTrans" cxnId="{B840BD1D-C4A5-49BB-8B2F-F8C95C037D02}">
      <dgm:prSet/>
      <dgm:spPr/>
      <dgm:t>
        <a:bodyPr/>
        <a:lstStyle/>
        <a:p>
          <a:endParaRPr lang="en-IN" sz="2000"/>
        </a:p>
      </dgm:t>
    </dgm:pt>
    <dgm:pt modelId="{7323CC8F-9509-4B96-82E8-AA61DB31B6FF}">
      <dgm:prSet phldrT="[Text]" custT="1"/>
      <dgm:spPr/>
      <dgm:t>
        <a:bodyPr/>
        <a:lstStyle/>
        <a:p>
          <a:pPr algn="l">
            <a:buNone/>
          </a:pPr>
          <a:r>
            <a:rPr lang="en-IN" sz="2000" b="1" dirty="0"/>
            <a:t>Example</a:t>
          </a:r>
          <a:endParaRPr lang="en-IN" sz="2000" dirty="0"/>
        </a:p>
      </dgm:t>
    </dgm:pt>
    <dgm:pt modelId="{F1235A26-E2D6-46D2-A9B1-7E7E52A69426}" type="parTrans" cxnId="{C0A76B6D-0D34-4931-8292-0F151F6F4E32}">
      <dgm:prSet/>
      <dgm:spPr/>
      <dgm:t>
        <a:bodyPr/>
        <a:lstStyle/>
        <a:p>
          <a:endParaRPr lang="en-IN"/>
        </a:p>
      </dgm:t>
    </dgm:pt>
    <dgm:pt modelId="{A4AE733F-3545-49B9-AC62-E0F7EA355F85}" type="sibTrans" cxnId="{C0A76B6D-0D34-4931-8292-0F151F6F4E32}">
      <dgm:prSet/>
      <dgm:spPr/>
      <dgm:t>
        <a:bodyPr/>
        <a:lstStyle/>
        <a:p>
          <a:endParaRPr lang="en-IN"/>
        </a:p>
      </dgm:t>
    </dgm:pt>
    <dgm:pt modelId="{52A6A0CC-8508-4687-9DCD-81CD2A82BD49}" type="pres">
      <dgm:prSet presAssocID="{F524CF8E-904C-4D92-8A76-775F7189E1A0}" presName="linear" presStyleCnt="0">
        <dgm:presLayoutVars>
          <dgm:animLvl val="lvl"/>
          <dgm:resizeHandles val="exact"/>
        </dgm:presLayoutVars>
      </dgm:prSet>
      <dgm:spPr/>
    </dgm:pt>
    <dgm:pt modelId="{34E3C31A-170A-424A-A9FE-953D342DDB68}" type="pres">
      <dgm:prSet presAssocID="{2C4B166C-7EB4-49A2-8740-5C2828A33153}" presName="parentText" presStyleLbl="node1" presStyleIdx="0" presStyleCnt="1" custLinFactNeighborX="1460" custLinFactNeighborY="-25665">
        <dgm:presLayoutVars>
          <dgm:chMax val="0"/>
          <dgm:bulletEnabled val="1"/>
        </dgm:presLayoutVars>
      </dgm:prSet>
      <dgm:spPr/>
    </dgm:pt>
    <dgm:pt modelId="{A7F36DA1-0370-4EBC-A2D3-8421A855B5AA}" type="pres">
      <dgm:prSet presAssocID="{2C4B166C-7EB4-49A2-8740-5C2828A33153}" presName="childText" presStyleLbl="revTx" presStyleIdx="0" presStyleCnt="1" custScaleY="133305">
        <dgm:presLayoutVars>
          <dgm:bulletEnabled val="1"/>
        </dgm:presLayoutVars>
      </dgm:prSet>
      <dgm:spPr/>
    </dgm:pt>
  </dgm:ptLst>
  <dgm:cxnLst>
    <dgm:cxn modelId="{1A0B820C-509D-4B1B-8DE4-A064BC223F14}" type="presOf" srcId="{0C305D1E-4A79-4826-83EB-121F7A0292E6}" destId="{A7F36DA1-0370-4EBC-A2D3-8421A855B5AA}" srcOrd="0" destOrd="12" presId="urn:microsoft.com/office/officeart/2005/8/layout/vList2"/>
    <dgm:cxn modelId="{2A2A6D12-8719-4638-BDBA-760CC71FE736}" srcId="{2C4B166C-7EB4-49A2-8740-5C2828A33153}" destId="{0B1FA3F0-30AC-41A1-8A48-737C74A5D8BC}" srcOrd="14" destOrd="0" parTransId="{BC657E01-FDD6-4F1D-BC67-6457F48A02A2}" sibTransId="{88DC4566-B583-4F05-840B-DE1BF6324221}"/>
    <dgm:cxn modelId="{34CB8019-D6FB-4FDC-9DF4-702B1D3F0665}" srcId="{2C4B166C-7EB4-49A2-8740-5C2828A33153}" destId="{B44DEF7B-96EB-4D4E-9708-0C91E81DED92}" srcOrd="8" destOrd="0" parTransId="{D808A2B5-2B73-419E-BF0A-5A5CEF89E6CC}" sibTransId="{52537CA0-B4B9-46A6-AFB0-13D4109EA412}"/>
    <dgm:cxn modelId="{B840BD1D-C4A5-49BB-8B2F-F8C95C037D02}" srcId="{2C4B166C-7EB4-49A2-8740-5C2828A33153}" destId="{B3C3EA53-7D2E-4ABC-9893-ED1749CA428F}" srcOrd="3" destOrd="0" parTransId="{A0F6A22A-CA65-49F3-8ACC-057E42C09C14}" sibTransId="{750E71E9-E0DB-4F1A-AF3A-64CC29247A5F}"/>
    <dgm:cxn modelId="{8E15A91F-61E3-4345-BE1D-9800C964C270}" type="presOf" srcId="{2C4B166C-7EB4-49A2-8740-5C2828A33153}" destId="{34E3C31A-170A-424A-A9FE-953D342DDB68}" srcOrd="0" destOrd="0" presId="urn:microsoft.com/office/officeart/2005/8/layout/vList2"/>
    <dgm:cxn modelId="{181B1128-21C0-4C6B-8A4A-5A555339FC02}" srcId="{2C4B166C-7EB4-49A2-8740-5C2828A33153}" destId="{C7D34B00-989D-4E7B-B94B-44729DAE6DD8}" srcOrd="1" destOrd="0" parTransId="{15FF6C20-8A5A-4AB8-B682-08582251D6F8}" sibTransId="{A2F81711-000A-40BF-898C-55876DD1761D}"/>
    <dgm:cxn modelId="{2368362F-7F56-4E0F-BA3E-B3114F043481}" type="presOf" srcId="{B44DEF7B-96EB-4D4E-9708-0C91E81DED92}" destId="{A7F36DA1-0370-4EBC-A2D3-8421A855B5AA}" srcOrd="0" destOrd="8" presId="urn:microsoft.com/office/officeart/2005/8/layout/vList2"/>
    <dgm:cxn modelId="{FBD8762F-A26A-4A89-AC0B-1BE1B6CC5B0B}" type="presOf" srcId="{43697D3D-ED47-442E-8A78-7B2CC83FB154}" destId="{A7F36DA1-0370-4EBC-A2D3-8421A855B5AA}" srcOrd="0" destOrd="7" presId="urn:microsoft.com/office/officeart/2005/8/layout/vList2"/>
    <dgm:cxn modelId="{812F5A3E-8AA6-4A65-9AC8-009D3C456C07}" type="presOf" srcId="{3C6A6061-55C2-49C0-B8F3-1B5CE3022FD7}" destId="{A7F36DA1-0370-4EBC-A2D3-8421A855B5AA}" srcOrd="0" destOrd="0" presId="urn:microsoft.com/office/officeart/2005/8/layout/vList2"/>
    <dgm:cxn modelId="{821C075D-51DC-4830-B461-48FDFD73E55A}" type="presOf" srcId="{B3C3EA53-7D2E-4ABC-9893-ED1749CA428F}" destId="{A7F36DA1-0370-4EBC-A2D3-8421A855B5AA}" srcOrd="0" destOrd="3" presId="urn:microsoft.com/office/officeart/2005/8/layout/vList2"/>
    <dgm:cxn modelId="{C46C0965-D9D7-4D97-85F5-AEC8656EB7DB}" srcId="{F524CF8E-904C-4D92-8A76-775F7189E1A0}" destId="{2C4B166C-7EB4-49A2-8740-5C2828A33153}" srcOrd="0" destOrd="0" parTransId="{96FCAD02-DC91-4EE8-8AE2-0D56505641E8}" sibTransId="{9851DF3C-5D56-490B-9EE8-B7027C49D0B6}"/>
    <dgm:cxn modelId="{C0A76B6D-0D34-4931-8292-0F151F6F4E32}" srcId="{2C4B166C-7EB4-49A2-8740-5C2828A33153}" destId="{7323CC8F-9509-4B96-82E8-AA61DB31B6FF}" srcOrd="2" destOrd="0" parTransId="{F1235A26-E2D6-46D2-A9B1-7E7E52A69426}" sibTransId="{A4AE733F-3545-49B9-AC62-E0F7EA355F85}"/>
    <dgm:cxn modelId="{5F9C246E-4E91-478C-9A8B-042EF1CA488C}" type="presOf" srcId="{24F03CE6-1D4C-4544-804A-73F53E1A138F}" destId="{A7F36DA1-0370-4EBC-A2D3-8421A855B5AA}" srcOrd="0" destOrd="10" presId="urn:microsoft.com/office/officeart/2005/8/layout/vList2"/>
    <dgm:cxn modelId="{53F89D56-2FE3-41F8-976B-65639B05C717}" srcId="{2C4B166C-7EB4-49A2-8740-5C2828A33153}" destId="{936D2287-1012-4817-945A-C54A634105C4}" srcOrd="6" destOrd="0" parTransId="{148CA6C0-2987-4E7F-8BA6-87616C558E75}" sibTransId="{A335A02D-4900-47B2-8BD2-98331EE3E22C}"/>
    <dgm:cxn modelId="{61F65357-3EB1-4295-A841-C97A9AB7E230}" srcId="{2C4B166C-7EB4-49A2-8740-5C2828A33153}" destId="{2B3508B7-D9DB-4FF0-ADF0-32ACC29755F5}" srcOrd="5" destOrd="0" parTransId="{57842A05-C504-4DD1-A700-4F39078C4D53}" sibTransId="{C81E8B0F-5610-49B4-AD76-1661FF3B4CBD}"/>
    <dgm:cxn modelId="{EDF84A58-EF12-4438-B610-1043D294A980}" type="presOf" srcId="{2B3508B7-D9DB-4FF0-ADF0-32ACC29755F5}" destId="{A7F36DA1-0370-4EBC-A2D3-8421A855B5AA}" srcOrd="0" destOrd="5" presId="urn:microsoft.com/office/officeart/2005/8/layout/vList2"/>
    <dgm:cxn modelId="{30FAAE7F-38BC-424C-BE47-B58F7A38BB06}" srcId="{2C4B166C-7EB4-49A2-8740-5C2828A33153}" destId="{43697D3D-ED47-442E-8A78-7B2CC83FB154}" srcOrd="7" destOrd="0" parTransId="{2D20D253-C880-42A0-8F03-24B8B4849D44}" sibTransId="{65878263-5682-45D5-860C-50181B009D0F}"/>
    <dgm:cxn modelId="{69476880-BBEE-4A75-B014-B8D2E3F885FB}" type="presOf" srcId="{F524CF8E-904C-4D92-8A76-775F7189E1A0}" destId="{52A6A0CC-8508-4687-9DCD-81CD2A82BD49}" srcOrd="0" destOrd="0" presId="urn:microsoft.com/office/officeart/2005/8/layout/vList2"/>
    <dgm:cxn modelId="{CD5B07A3-2D88-4783-9267-5D31FF78BBCF}" srcId="{2C4B166C-7EB4-49A2-8740-5C2828A33153}" destId="{0C305D1E-4A79-4826-83EB-121F7A0292E6}" srcOrd="12" destOrd="0" parTransId="{A15EA489-796F-49AA-A936-FD9E4C84165F}" sibTransId="{001F9E9D-0250-4EE4-B9B9-9506EC2EB72C}"/>
    <dgm:cxn modelId="{C43253A5-E518-4F01-B3CE-C0FDBAB28FC5}" type="presOf" srcId="{936D2287-1012-4817-945A-C54A634105C4}" destId="{A7F36DA1-0370-4EBC-A2D3-8421A855B5AA}" srcOrd="0" destOrd="6" presId="urn:microsoft.com/office/officeart/2005/8/layout/vList2"/>
    <dgm:cxn modelId="{BCF01CA9-6CEA-4E85-A16E-1DD041AAE1A2}" type="presOf" srcId="{BEFE0897-F435-40EF-9BD0-A73C8160B45E}" destId="{A7F36DA1-0370-4EBC-A2D3-8421A855B5AA}" srcOrd="0" destOrd="9" presId="urn:microsoft.com/office/officeart/2005/8/layout/vList2"/>
    <dgm:cxn modelId="{1637ACB4-9EC3-440E-B7C7-BA6CBCDBB3A4}" srcId="{2C4B166C-7EB4-49A2-8740-5C2828A33153}" destId="{68550B1E-EE6A-4F15-B497-6C32C6471E78}" srcOrd="4" destOrd="0" parTransId="{E8D0353B-4B8E-41B9-8123-A6AB623C3D21}" sibTransId="{E7795DDB-1096-4ABD-88E8-FC8FFFC70DAC}"/>
    <dgm:cxn modelId="{F3A7E4B4-7F4C-4417-93C7-68B699CA014F}" type="presOf" srcId="{68550B1E-EE6A-4F15-B497-6C32C6471E78}" destId="{A7F36DA1-0370-4EBC-A2D3-8421A855B5AA}" srcOrd="0" destOrd="4" presId="urn:microsoft.com/office/officeart/2005/8/layout/vList2"/>
    <dgm:cxn modelId="{C76CBDC1-47B3-458B-9616-E9F95EDF2F70}" type="presOf" srcId="{0B1FA3F0-30AC-41A1-8A48-737C74A5D8BC}" destId="{A7F36DA1-0370-4EBC-A2D3-8421A855B5AA}" srcOrd="0" destOrd="14" presId="urn:microsoft.com/office/officeart/2005/8/layout/vList2"/>
    <dgm:cxn modelId="{500B14CE-E222-407D-BA96-E6B4A6F9E4CF}" srcId="{2C4B166C-7EB4-49A2-8740-5C2828A33153}" destId="{3C6A6061-55C2-49C0-B8F3-1B5CE3022FD7}" srcOrd="0" destOrd="0" parTransId="{31CE7716-BF5C-412A-B44D-12835975F456}" sibTransId="{6A60D045-0F31-4146-9112-315D78EC3504}"/>
    <dgm:cxn modelId="{8D5CD3E0-C866-41C3-88D3-3E5C147B67D2}" srcId="{2C4B166C-7EB4-49A2-8740-5C2828A33153}" destId="{8528FF10-8A5D-4B0D-9A35-14FA41D4F932}" srcOrd="13" destOrd="0" parTransId="{BF8F0E42-7DBF-4F5E-A145-C1BB0675E514}" sibTransId="{6B55B5B9-2EB8-4C9C-8B69-03B2938147E2}"/>
    <dgm:cxn modelId="{5AD77CE4-B216-4518-B734-AE40A23ECFB7}" srcId="{2C4B166C-7EB4-49A2-8740-5C2828A33153}" destId="{24F03CE6-1D4C-4544-804A-73F53E1A138F}" srcOrd="10" destOrd="0" parTransId="{C364CB9E-2DB9-4C89-82EF-C9EF5C515CAF}" sibTransId="{A5E575E0-81E8-4913-893D-A116E8DF3246}"/>
    <dgm:cxn modelId="{D7A553EE-7D70-4089-AC4A-ECA86C859AFA}" type="presOf" srcId="{C7D34B00-989D-4E7B-B94B-44729DAE6DD8}" destId="{A7F36DA1-0370-4EBC-A2D3-8421A855B5AA}" srcOrd="0" destOrd="1" presId="urn:microsoft.com/office/officeart/2005/8/layout/vList2"/>
    <dgm:cxn modelId="{1783BBF4-847A-4534-A711-D8ABAA81FFC0}" type="presOf" srcId="{8528FF10-8A5D-4B0D-9A35-14FA41D4F932}" destId="{A7F36DA1-0370-4EBC-A2D3-8421A855B5AA}" srcOrd="0" destOrd="13" presId="urn:microsoft.com/office/officeart/2005/8/layout/vList2"/>
    <dgm:cxn modelId="{AFB3D4F4-025B-441C-8B25-0977C635B452}" type="presOf" srcId="{CD67237F-53ED-4235-9B08-6226A8ED8C71}" destId="{A7F36DA1-0370-4EBC-A2D3-8421A855B5AA}" srcOrd="0" destOrd="11" presId="urn:microsoft.com/office/officeart/2005/8/layout/vList2"/>
    <dgm:cxn modelId="{9DFE77FA-6A51-4DC2-BEBC-6E34602E28C9}" srcId="{2C4B166C-7EB4-49A2-8740-5C2828A33153}" destId="{CD67237F-53ED-4235-9B08-6226A8ED8C71}" srcOrd="11" destOrd="0" parTransId="{C52C3D08-0EF3-4160-BD3F-F0126781B65F}" sibTransId="{CA596BD7-400C-4FCA-9778-D4B4094C6D65}"/>
    <dgm:cxn modelId="{698DCCFD-BFEE-4164-9FCB-C543969AADEF}" type="presOf" srcId="{7323CC8F-9509-4B96-82E8-AA61DB31B6FF}" destId="{A7F36DA1-0370-4EBC-A2D3-8421A855B5AA}" srcOrd="0" destOrd="2" presId="urn:microsoft.com/office/officeart/2005/8/layout/vList2"/>
    <dgm:cxn modelId="{AB59E6FF-A53E-4C9B-AF34-C5D1C49B5814}" srcId="{2C4B166C-7EB4-49A2-8740-5C2828A33153}" destId="{BEFE0897-F435-40EF-9BD0-A73C8160B45E}" srcOrd="9" destOrd="0" parTransId="{EC405FAD-20CF-4042-B971-0778E5512680}" sibTransId="{3A3D22A9-DA97-47BC-B2F6-38ACB5FDB653}"/>
    <dgm:cxn modelId="{3D00F479-FEDE-4B77-A7BA-EB20AE55B6D6}" type="presParOf" srcId="{52A6A0CC-8508-4687-9DCD-81CD2A82BD49}" destId="{34E3C31A-170A-424A-A9FE-953D342DDB68}" srcOrd="0" destOrd="0" presId="urn:microsoft.com/office/officeart/2005/8/layout/vList2"/>
    <dgm:cxn modelId="{8E538789-FB9C-41D0-9A4C-DB48397DD880}" type="presParOf" srcId="{52A6A0CC-8508-4687-9DCD-81CD2A82BD49}" destId="{A7F36DA1-0370-4EBC-A2D3-8421A855B5AA}" srcOrd="1" destOrd="0" presId="urn:microsoft.com/office/officeart/2005/8/layout/vList2"/>
  </dgm:cxnLst>
  <dgm:bg/>
  <dgm:whole>
    <a:ln>
      <a:solidFill>
        <a:schemeClr val="accent1"/>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524CF8E-904C-4D92-8A76-775F7189E1A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2C4B166C-7EB4-49A2-8740-5C2828A33153}">
      <dgm:prSet phldrT="[Text]" custT="1"/>
      <dgm:spPr/>
      <dgm:t>
        <a:bodyPr/>
        <a:lstStyle/>
        <a:p>
          <a:pPr>
            <a:buNone/>
          </a:pPr>
          <a:r>
            <a:rPr lang="en-IN" sz="2000" b="1" dirty="0">
              <a:latin typeface="Times New Roman" panose="02020603050405020304" pitchFamily="18" charset="0"/>
              <a:cs typeface="Times New Roman" panose="02020603050405020304" pitchFamily="18" charset="0"/>
            </a:rPr>
            <a:t>Kasai Algorithm</a:t>
          </a:r>
        </a:p>
      </dgm:t>
    </dgm:pt>
    <dgm:pt modelId="{96FCAD02-DC91-4EE8-8AE2-0D56505641E8}" type="parTrans" cxnId="{C46C0965-D9D7-4D97-85F5-AEC8656EB7DB}">
      <dgm:prSet/>
      <dgm:spPr/>
      <dgm:t>
        <a:bodyPr/>
        <a:lstStyle/>
        <a:p>
          <a:endParaRPr lang="en-IN">
            <a:latin typeface="Times New Roman" panose="02020603050405020304" pitchFamily="18" charset="0"/>
            <a:cs typeface="Times New Roman" panose="02020603050405020304" pitchFamily="18" charset="0"/>
          </a:endParaRPr>
        </a:p>
      </dgm:t>
    </dgm:pt>
    <dgm:pt modelId="{9851DF3C-5D56-490B-9EE8-B7027C49D0B6}" type="sibTrans" cxnId="{C46C0965-D9D7-4D97-85F5-AEC8656EB7DB}">
      <dgm:prSet/>
      <dgm:spPr/>
      <dgm:t>
        <a:bodyPr/>
        <a:lstStyle/>
        <a:p>
          <a:endParaRPr lang="en-IN">
            <a:latin typeface="Times New Roman" panose="02020603050405020304" pitchFamily="18" charset="0"/>
            <a:cs typeface="Times New Roman" panose="02020603050405020304" pitchFamily="18" charset="0"/>
          </a:endParaRPr>
        </a:p>
      </dgm:t>
    </dgm:pt>
    <dgm:pt modelId="{3C6A6061-55C2-49C0-B8F3-1B5CE3022FD7}">
      <dgm:prSet phldrT="[Text]" custT="1"/>
      <dgm:spPr/>
      <dgm:t>
        <a:bodyPr/>
        <a:lstStyle/>
        <a:p>
          <a:pPr algn="l">
            <a:buFont typeface="Wingdings" panose="05000000000000000000" pitchFamily="2" charset="2"/>
            <a:buChar char="§"/>
          </a:pPr>
          <a:r>
            <a:rPr lang="en-IN" sz="3200" dirty="0">
              <a:latin typeface="Times New Roman" panose="02020603050405020304" pitchFamily="18" charset="0"/>
              <a:cs typeface="Times New Roman" panose="02020603050405020304" pitchFamily="18" charset="0"/>
            </a:rPr>
            <a:t>The </a:t>
          </a:r>
          <a:r>
            <a:rPr lang="en-IN" sz="3200" b="1" dirty="0">
              <a:latin typeface="Times New Roman" panose="02020603050405020304" pitchFamily="18" charset="0"/>
              <a:cs typeface="Times New Roman" panose="02020603050405020304" pitchFamily="18" charset="0"/>
            </a:rPr>
            <a:t>Kasai Algorithm</a:t>
          </a:r>
          <a:r>
            <a:rPr lang="en-IN" sz="3200" dirty="0">
              <a:latin typeface="Times New Roman" panose="02020603050405020304" pitchFamily="18" charset="0"/>
              <a:cs typeface="Times New Roman" panose="02020603050405020304" pitchFamily="18" charset="0"/>
            </a:rPr>
            <a:t> efficiently constructs the LCP array from the suffix array in </a:t>
          </a:r>
          <a:r>
            <a:rPr lang="en-IN" sz="3200" b="1" dirty="0">
              <a:latin typeface="Times New Roman" panose="02020603050405020304" pitchFamily="18" charset="0"/>
              <a:cs typeface="Times New Roman" panose="02020603050405020304" pitchFamily="18" charset="0"/>
            </a:rPr>
            <a:t>O(n)</a:t>
          </a:r>
          <a:r>
            <a:rPr lang="en-IN" sz="3200" dirty="0">
              <a:latin typeface="Times New Roman" panose="02020603050405020304" pitchFamily="18" charset="0"/>
              <a:cs typeface="Times New Roman" panose="02020603050405020304" pitchFamily="18" charset="0"/>
            </a:rPr>
            <a:t> time.</a:t>
          </a:r>
        </a:p>
      </dgm:t>
    </dgm:pt>
    <dgm:pt modelId="{31CE7716-BF5C-412A-B44D-12835975F456}" type="parTrans" cxnId="{500B14CE-E222-407D-BA96-E6B4A6F9E4CF}">
      <dgm:prSet/>
      <dgm:spPr/>
      <dgm:t>
        <a:bodyPr/>
        <a:lstStyle/>
        <a:p>
          <a:endParaRPr lang="en-IN">
            <a:latin typeface="Times New Roman" panose="02020603050405020304" pitchFamily="18" charset="0"/>
            <a:cs typeface="Times New Roman" panose="02020603050405020304" pitchFamily="18" charset="0"/>
          </a:endParaRPr>
        </a:p>
      </dgm:t>
    </dgm:pt>
    <dgm:pt modelId="{6A60D045-0F31-4146-9112-315D78EC3504}" type="sibTrans" cxnId="{500B14CE-E222-407D-BA96-E6B4A6F9E4CF}">
      <dgm:prSet/>
      <dgm:spPr/>
      <dgm:t>
        <a:bodyPr/>
        <a:lstStyle/>
        <a:p>
          <a:endParaRPr lang="en-IN">
            <a:latin typeface="Times New Roman" panose="02020603050405020304" pitchFamily="18" charset="0"/>
            <a:cs typeface="Times New Roman" panose="02020603050405020304" pitchFamily="18" charset="0"/>
          </a:endParaRPr>
        </a:p>
      </dgm:t>
    </dgm:pt>
    <dgm:pt modelId="{DA223487-7936-4355-A61D-55766376666D}">
      <dgm:prSet custT="1"/>
      <dgm:spPr/>
      <dgm:t>
        <a:bodyPr/>
        <a:lstStyle/>
        <a:p>
          <a:pPr algn="just">
            <a:buNone/>
          </a:pPr>
          <a:r>
            <a:rPr lang="en-IN" sz="3200" b="1" dirty="0">
              <a:latin typeface="Times New Roman" panose="02020603050405020304" pitchFamily="18" charset="0"/>
              <a:cs typeface="Times New Roman" panose="02020603050405020304" pitchFamily="18" charset="0"/>
            </a:rPr>
            <a:t>Main Idea of Kasai Algorithm</a:t>
          </a:r>
          <a:endParaRPr lang="en-IN" sz="3200" dirty="0">
            <a:latin typeface="Times New Roman" panose="02020603050405020304" pitchFamily="18" charset="0"/>
            <a:cs typeface="Times New Roman" panose="02020603050405020304" pitchFamily="18" charset="0"/>
          </a:endParaRPr>
        </a:p>
      </dgm:t>
    </dgm:pt>
    <dgm:pt modelId="{1F3DBA6A-FAE5-47AF-90C9-25FFB721AD1D}" type="parTrans" cxnId="{C3B10FE5-D047-4102-AE48-5112AE338B6A}">
      <dgm:prSet/>
      <dgm:spPr/>
      <dgm:t>
        <a:bodyPr/>
        <a:lstStyle/>
        <a:p>
          <a:endParaRPr lang="en-IN">
            <a:latin typeface="Times New Roman" panose="02020603050405020304" pitchFamily="18" charset="0"/>
            <a:cs typeface="Times New Roman" panose="02020603050405020304" pitchFamily="18" charset="0"/>
          </a:endParaRPr>
        </a:p>
      </dgm:t>
    </dgm:pt>
    <dgm:pt modelId="{E934B84B-9126-45B3-932A-1093619082C0}" type="sibTrans" cxnId="{C3B10FE5-D047-4102-AE48-5112AE338B6A}">
      <dgm:prSet/>
      <dgm:spPr/>
      <dgm:t>
        <a:bodyPr/>
        <a:lstStyle/>
        <a:p>
          <a:endParaRPr lang="en-IN">
            <a:latin typeface="Times New Roman" panose="02020603050405020304" pitchFamily="18" charset="0"/>
            <a:cs typeface="Times New Roman" panose="02020603050405020304" pitchFamily="18" charset="0"/>
          </a:endParaRPr>
        </a:p>
      </dgm:t>
    </dgm:pt>
    <dgm:pt modelId="{B667362F-BB9F-4D9C-8BC3-84366508ADB8}">
      <dgm:prSet custT="1"/>
      <dgm:spPr/>
      <dgm:t>
        <a:bodyPr/>
        <a:lstStyle/>
        <a:p>
          <a:pPr algn="l">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If two suffixes share a common prefix of length </a:t>
          </a:r>
          <a:r>
            <a:rPr lang="en-IN" sz="3200" b="1" dirty="0">
              <a:latin typeface="Times New Roman" panose="02020603050405020304" pitchFamily="18" charset="0"/>
              <a:cs typeface="Times New Roman" panose="02020603050405020304" pitchFamily="18" charset="0"/>
            </a:rPr>
            <a:t>k</a:t>
          </a:r>
          <a:r>
            <a:rPr lang="en-IN" sz="3200" dirty="0">
              <a:latin typeface="Times New Roman" panose="02020603050405020304" pitchFamily="18" charset="0"/>
              <a:cs typeface="Times New Roman" panose="02020603050405020304" pitchFamily="18" charset="0"/>
            </a:rPr>
            <a:t>, then the next suffix comparison will share at least </a:t>
          </a:r>
          <a:r>
            <a:rPr lang="en-IN" sz="3200" b="1" dirty="0">
              <a:latin typeface="Times New Roman" panose="02020603050405020304" pitchFamily="18" charset="0"/>
              <a:cs typeface="Times New Roman" panose="02020603050405020304" pitchFamily="18" charset="0"/>
            </a:rPr>
            <a:t>k− 1 </a:t>
          </a:r>
          <a:r>
            <a:rPr lang="en-IN" sz="3200" dirty="0">
              <a:latin typeface="Times New Roman" panose="02020603050405020304" pitchFamily="18" charset="0"/>
              <a:cs typeface="Times New Roman" panose="02020603050405020304" pitchFamily="18" charset="0"/>
            </a:rPr>
            <a:t>characters.</a:t>
          </a:r>
        </a:p>
      </dgm:t>
    </dgm:pt>
    <dgm:pt modelId="{43071B8D-5BCC-4B52-8207-F75AB85D3A5A}" type="parTrans" cxnId="{093C0130-1D94-4BB4-B6DA-92DE11D6B096}">
      <dgm:prSet/>
      <dgm:spPr/>
      <dgm:t>
        <a:bodyPr/>
        <a:lstStyle/>
        <a:p>
          <a:endParaRPr lang="en-IN">
            <a:latin typeface="Times New Roman" panose="02020603050405020304" pitchFamily="18" charset="0"/>
            <a:cs typeface="Times New Roman" panose="02020603050405020304" pitchFamily="18" charset="0"/>
          </a:endParaRPr>
        </a:p>
      </dgm:t>
    </dgm:pt>
    <dgm:pt modelId="{D6D39125-BC01-4BA4-9FCB-E4EFB53CF045}" type="sibTrans" cxnId="{093C0130-1D94-4BB4-B6DA-92DE11D6B096}">
      <dgm:prSet/>
      <dgm:spPr/>
      <dgm:t>
        <a:bodyPr/>
        <a:lstStyle/>
        <a:p>
          <a:endParaRPr lang="en-IN">
            <a:latin typeface="Times New Roman" panose="02020603050405020304" pitchFamily="18" charset="0"/>
            <a:cs typeface="Times New Roman" panose="02020603050405020304" pitchFamily="18" charset="0"/>
          </a:endParaRPr>
        </a:p>
      </dgm:t>
    </dgm:pt>
    <dgm:pt modelId="{B0633905-5176-4305-ADB8-231F577BA709}">
      <dgm:prSet custT="1"/>
      <dgm:spPr/>
      <dgm:t>
        <a:bodyPr/>
        <a:lstStyle/>
        <a:p>
          <a:pPr algn="l">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Instead of comparing from the beginning every time, Kasai </a:t>
          </a:r>
          <a:r>
            <a:rPr lang="en-IN" sz="3200" b="1" dirty="0">
              <a:latin typeface="Times New Roman" panose="02020603050405020304" pitchFamily="18" charset="0"/>
              <a:cs typeface="Times New Roman" panose="02020603050405020304" pitchFamily="18" charset="0"/>
            </a:rPr>
            <a:t>reuses previous comparisons</a:t>
          </a:r>
          <a:r>
            <a:rPr lang="en-IN" sz="3200" dirty="0">
              <a:latin typeface="Times New Roman" panose="02020603050405020304" pitchFamily="18" charset="0"/>
              <a:cs typeface="Times New Roman" panose="02020603050405020304" pitchFamily="18" charset="0"/>
            </a:rPr>
            <a:t>.</a:t>
          </a:r>
        </a:p>
      </dgm:t>
    </dgm:pt>
    <dgm:pt modelId="{B129850E-4553-4C81-AAA6-B04EBEAEAB22}" type="parTrans" cxnId="{1A7CE4BC-0591-4460-8002-AD8E3EF1CCDF}">
      <dgm:prSet/>
      <dgm:spPr/>
      <dgm:t>
        <a:bodyPr/>
        <a:lstStyle/>
        <a:p>
          <a:endParaRPr lang="en-IN">
            <a:latin typeface="Times New Roman" panose="02020603050405020304" pitchFamily="18" charset="0"/>
            <a:cs typeface="Times New Roman" panose="02020603050405020304" pitchFamily="18" charset="0"/>
          </a:endParaRPr>
        </a:p>
      </dgm:t>
    </dgm:pt>
    <dgm:pt modelId="{EE64B624-8AD6-45CB-94AC-1B5A71FF15ED}" type="sibTrans" cxnId="{1A7CE4BC-0591-4460-8002-AD8E3EF1CCDF}">
      <dgm:prSet/>
      <dgm:spPr/>
      <dgm:t>
        <a:bodyPr/>
        <a:lstStyle/>
        <a:p>
          <a:endParaRPr lang="en-IN">
            <a:latin typeface="Times New Roman" panose="02020603050405020304" pitchFamily="18" charset="0"/>
            <a:cs typeface="Times New Roman" panose="02020603050405020304" pitchFamily="18" charset="0"/>
          </a:endParaRPr>
        </a:p>
      </dgm:t>
    </dgm:pt>
    <dgm:pt modelId="{267F6B3F-1616-45C0-BE50-6E645A4F8E10}">
      <dgm:prSet phldrT="[Text]" custT="1"/>
      <dgm:spPr/>
      <dgm:t>
        <a:bodyPr/>
        <a:lstStyle/>
        <a:p>
          <a:pPr algn="l">
            <a:buFont typeface="Wingdings" panose="05000000000000000000" pitchFamily="2" charset="2"/>
            <a:buChar char="§"/>
          </a:pPr>
          <a:r>
            <a:rPr lang="en-IN" sz="3200" dirty="0">
              <a:latin typeface="Times New Roman" panose="02020603050405020304" pitchFamily="18" charset="0"/>
              <a:cs typeface="Times New Roman" panose="02020603050405020304" pitchFamily="18" charset="0"/>
            </a:rPr>
            <a:t>Without Kasai, comparing every adjacent suffix character by character would take </a:t>
          </a:r>
          <a:r>
            <a:rPr lang="en-IN" sz="3200" b="1" dirty="0">
              <a:latin typeface="Times New Roman" panose="02020603050405020304" pitchFamily="18" charset="0"/>
              <a:cs typeface="Times New Roman" panose="02020603050405020304" pitchFamily="18" charset="0"/>
            </a:rPr>
            <a:t>O(n²)</a:t>
          </a:r>
          <a:r>
            <a:rPr lang="en-IN" sz="3200" dirty="0">
              <a:latin typeface="Times New Roman" panose="02020603050405020304" pitchFamily="18" charset="0"/>
              <a:cs typeface="Times New Roman" panose="02020603050405020304" pitchFamily="18" charset="0"/>
            </a:rPr>
            <a:t>.</a:t>
          </a:r>
        </a:p>
      </dgm:t>
    </dgm:pt>
    <dgm:pt modelId="{BA7BF886-FE3A-4085-9197-201FF4DE1F03}" type="parTrans" cxnId="{BDFC9F17-05A6-4832-820D-CC9E6C72E76B}">
      <dgm:prSet/>
      <dgm:spPr/>
      <dgm:t>
        <a:bodyPr/>
        <a:lstStyle/>
        <a:p>
          <a:endParaRPr lang="en-IN"/>
        </a:p>
      </dgm:t>
    </dgm:pt>
    <dgm:pt modelId="{B8F23CEE-331C-480E-B1B8-E3D8F20BD7C0}" type="sibTrans" cxnId="{BDFC9F17-05A6-4832-820D-CC9E6C72E76B}">
      <dgm:prSet/>
      <dgm:spPr/>
      <dgm:t>
        <a:bodyPr/>
        <a:lstStyle/>
        <a:p>
          <a:endParaRPr lang="en-IN"/>
        </a:p>
      </dgm:t>
    </dgm:pt>
    <dgm:pt modelId="{1FCEA214-86ED-4B7C-A304-2000FE92AF04}">
      <dgm:prSet phldrT="[Text]" custT="1"/>
      <dgm:spPr/>
      <dgm:t>
        <a:bodyPr/>
        <a:lstStyle/>
        <a:p>
          <a:pPr algn="l">
            <a:buFont typeface="Wingdings" panose="05000000000000000000" pitchFamily="2" charset="2"/>
            <a:buChar char="§"/>
          </a:pPr>
          <a:r>
            <a:rPr lang="en-IN" sz="3200" dirty="0">
              <a:latin typeface="Times New Roman" panose="02020603050405020304" pitchFamily="18" charset="0"/>
              <a:cs typeface="Times New Roman" panose="02020603050405020304" pitchFamily="18" charset="0"/>
            </a:rPr>
            <a:t>Kasai reduces this to </a:t>
          </a:r>
          <a:r>
            <a:rPr lang="en-IN" sz="3200" b="1" dirty="0">
              <a:latin typeface="Times New Roman" panose="02020603050405020304" pitchFamily="18" charset="0"/>
              <a:cs typeface="Times New Roman" panose="02020603050405020304" pitchFamily="18" charset="0"/>
            </a:rPr>
            <a:t>O(n)</a:t>
          </a:r>
          <a:r>
            <a:rPr lang="en-IN" sz="3200" dirty="0">
              <a:latin typeface="Times New Roman" panose="02020603050405020304" pitchFamily="18" charset="0"/>
              <a:cs typeface="Times New Roman" panose="02020603050405020304" pitchFamily="18" charset="0"/>
            </a:rPr>
            <a:t>.</a:t>
          </a:r>
        </a:p>
      </dgm:t>
    </dgm:pt>
    <dgm:pt modelId="{06C7B42E-9DDB-489E-B3E2-7B4D440CA695}" type="parTrans" cxnId="{DBEFA5BA-EA98-4681-9F3D-3CC195A647C7}">
      <dgm:prSet/>
      <dgm:spPr/>
      <dgm:t>
        <a:bodyPr/>
        <a:lstStyle/>
        <a:p>
          <a:endParaRPr lang="en-IN"/>
        </a:p>
      </dgm:t>
    </dgm:pt>
    <dgm:pt modelId="{1AD33E52-B5A8-4B38-9032-FDF51D21D904}" type="sibTrans" cxnId="{DBEFA5BA-EA98-4681-9F3D-3CC195A647C7}">
      <dgm:prSet/>
      <dgm:spPr/>
      <dgm:t>
        <a:bodyPr/>
        <a:lstStyle/>
        <a:p>
          <a:endParaRPr lang="en-IN"/>
        </a:p>
      </dgm:t>
    </dgm:pt>
    <dgm:pt modelId="{D87D949D-6039-44DF-BC49-CFC6968695DE}">
      <dgm:prSet phldrT="[Text]" custT="1"/>
      <dgm:spPr/>
      <dgm:t>
        <a:bodyPr/>
        <a:lstStyle/>
        <a:p>
          <a:pPr algn="l">
            <a:buFont typeface="Wingdings" panose="05000000000000000000" pitchFamily="2" charset="2"/>
            <a:buNone/>
          </a:pPr>
          <a:endParaRPr lang="en-IN" sz="3200" dirty="0">
            <a:latin typeface="Times New Roman" panose="02020603050405020304" pitchFamily="18" charset="0"/>
            <a:cs typeface="Times New Roman" panose="02020603050405020304" pitchFamily="18" charset="0"/>
          </a:endParaRPr>
        </a:p>
      </dgm:t>
    </dgm:pt>
    <dgm:pt modelId="{10193816-F16E-4D18-9586-52DABE668C78}" type="parTrans" cxnId="{0948D4A8-A079-4339-9E3C-7022DB8482C3}">
      <dgm:prSet/>
      <dgm:spPr/>
      <dgm:t>
        <a:bodyPr/>
        <a:lstStyle/>
        <a:p>
          <a:endParaRPr lang="en-IN"/>
        </a:p>
      </dgm:t>
    </dgm:pt>
    <dgm:pt modelId="{AB0CB792-93D5-49B0-8F12-E70E6B81948F}" type="sibTrans" cxnId="{0948D4A8-A079-4339-9E3C-7022DB8482C3}">
      <dgm:prSet/>
      <dgm:spPr/>
      <dgm:t>
        <a:bodyPr/>
        <a:lstStyle/>
        <a:p>
          <a:endParaRPr lang="en-IN"/>
        </a:p>
      </dgm:t>
    </dgm:pt>
    <dgm:pt modelId="{52A6A0CC-8508-4687-9DCD-81CD2A82BD49}" type="pres">
      <dgm:prSet presAssocID="{F524CF8E-904C-4D92-8A76-775F7189E1A0}" presName="linear" presStyleCnt="0">
        <dgm:presLayoutVars>
          <dgm:animLvl val="lvl"/>
          <dgm:resizeHandles val="exact"/>
        </dgm:presLayoutVars>
      </dgm:prSet>
      <dgm:spPr/>
    </dgm:pt>
    <dgm:pt modelId="{34E3C31A-170A-424A-A9FE-953D342DDB68}" type="pres">
      <dgm:prSet presAssocID="{2C4B166C-7EB4-49A2-8740-5C2828A33153}" presName="parentText" presStyleLbl="node1" presStyleIdx="0" presStyleCnt="1" custLinFactNeighborX="-255" custLinFactNeighborY="0">
        <dgm:presLayoutVars>
          <dgm:chMax val="0"/>
          <dgm:bulletEnabled val="1"/>
        </dgm:presLayoutVars>
      </dgm:prSet>
      <dgm:spPr/>
    </dgm:pt>
    <dgm:pt modelId="{A7F36DA1-0370-4EBC-A2D3-8421A855B5AA}" type="pres">
      <dgm:prSet presAssocID="{2C4B166C-7EB4-49A2-8740-5C2828A33153}" presName="childText" presStyleLbl="revTx" presStyleIdx="0" presStyleCnt="1" custScaleY="99151" custLinFactNeighborX="-2805" custLinFactNeighborY="54815">
        <dgm:presLayoutVars>
          <dgm:bulletEnabled val="1"/>
        </dgm:presLayoutVars>
      </dgm:prSet>
      <dgm:spPr/>
    </dgm:pt>
  </dgm:ptLst>
  <dgm:cxnLst>
    <dgm:cxn modelId="{BDFC9F17-05A6-4832-820D-CC9E6C72E76B}" srcId="{2C4B166C-7EB4-49A2-8740-5C2828A33153}" destId="{267F6B3F-1616-45C0-BE50-6E645A4F8E10}" srcOrd="1" destOrd="0" parTransId="{BA7BF886-FE3A-4085-9197-201FF4DE1F03}" sibTransId="{B8F23CEE-331C-480E-B1B8-E3D8F20BD7C0}"/>
    <dgm:cxn modelId="{093C0130-1D94-4BB4-B6DA-92DE11D6B096}" srcId="{2C4B166C-7EB4-49A2-8740-5C2828A33153}" destId="{B667362F-BB9F-4D9C-8BC3-84366508ADB8}" srcOrd="5" destOrd="0" parTransId="{43071B8D-5BCC-4B52-8207-F75AB85D3A5A}" sibTransId="{D6D39125-BC01-4BA4-9FCB-E4EFB53CF045}"/>
    <dgm:cxn modelId="{2ECA0062-E140-4253-8520-0AC6DF8FF5DF}" type="presOf" srcId="{B0633905-5176-4305-ADB8-231F577BA709}" destId="{A7F36DA1-0370-4EBC-A2D3-8421A855B5AA}" srcOrd="0" destOrd="6" presId="urn:microsoft.com/office/officeart/2005/8/layout/vList2"/>
    <dgm:cxn modelId="{C46C0965-D9D7-4D97-85F5-AEC8656EB7DB}" srcId="{F524CF8E-904C-4D92-8A76-775F7189E1A0}" destId="{2C4B166C-7EB4-49A2-8740-5C2828A33153}" srcOrd="0" destOrd="0" parTransId="{96FCAD02-DC91-4EE8-8AE2-0D56505641E8}" sibTransId="{9851DF3C-5D56-490B-9EE8-B7027C49D0B6}"/>
    <dgm:cxn modelId="{56B0C84A-FF97-4626-ACCE-F4024D8EA10B}" type="presOf" srcId="{3C6A6061-55C2-49C0-B8F3-1B5CE3022FD7}" destId="{A7F36DA1-0370-4EBC-A2D3-8421A855B5AA}" srcOrd="0" destOrd="0" presId="urn:microsoft.com/office/officeart/2005/8/layout/vList2"/>
    <dgm:cxn modelId="{1A70C674-AEE1-439E-99AF-F8C3BB6669D2}" type="presOf" srcId="{2C4B166C-7EB4-49A2-8740-5C2828A33153}" destId="{34E3C31A-170A-424A-A9FE-953D342DDB68}" srcOrd="0" destOrd="0" presId="urn:microsoft.com/office/officeart/2005/8/layout/vList2"/>
    <dgm:cxn modelId="{43E4095A-7CD6-4433-8DC3-F056715D254B}" type="presOf" srcId="{1FCEA214-86ED-4B7C-A304-2000FE92AF04}" destId="{A7F36DA1-0370-4EBC-A2D3-8421A855B5AA}" srcOrd="0" destOrd="2" presId="urn:microsoft.com/office/officeart/2005/8/layout/vList2"/>
    <dgm:cxn modelId="{E02F969F-574B-4431-98DC-4094D03B31A7}" type="presOf" srcId="{DA223487-7936-4355-A61D-55766376666D}" destId="{A7F36DA1-0370-4EBC-A2D3-8421A855B5AA}" srcOrd="0" destOrd="4" presId="urn:microsoft.com/office/officeart/2005/8/layout/vList2"/>
    <dgm:cxn modelId="{0948D4A8-A079-4339-9E3C-7022DB8482C3}" srcId="{2C4B166C-7EB4-49A2-8740-5C2828A33153}" destId="{D87D949D-6039-44DF-BC49-CFC6968695DE}" srcOrd="3" destOrd="0" parTransId="{10193816-F16E-4D18-9586-52DABE668C78}" sibTransId="{AB0CB792-93D5-49B0-8F12-E70E6B81948F}"/>
    <dgm:cxn modelId="{C4E71CB2-9C3A-4281-8FBC-11A79DE498FA}" type="presOf" srcId="{D87D949D-6039-44DF-BC49-CFC6968695DE}" destId="{A7F36DA1-0370-4EBC-A2D3-8421A855B5AA}" srcOrd="0" destOrd="3" presId="urn:microsoft.com/office/officeart/2005/8/layout/vList2"/>
    <dgm:cxn modelId="{DBEFA5BA-EA98-4681-9F3D-3CC195A647C7}" srcId="{2C4B166C-7EB4-49A2-8740-5C2828A33153}" destId="{1FCEA214-86ED-4B7C-A304-2000FE92AF04}" srcOrd="2" destOrd="0" parTransId="{06C7B42E-9DDB-489E-B3E2-7B4D440CA695}" sibTransId="{1AD33E52-B5A8-4B38-9032-FDF51D21D904}"/>
    <dgm:cxn modelId="{1A7CE4BC-0591-4460-8002-AD8E3EF1CCDF}" srcId="{2C4B166C-7EB4-49A2-8740-5C2828A33153}" destId="{B0633905-5176-4305-ADB8-231F577BA709}" srcOrd="6" destOrd="0" parTransId="{B129850E-4553-4C81-AAA6-B04EBEAEAB22}" sibTransId="{EE64B624-8AD6-45CB-94AC-1B5A71FF15ED}"/>
    <dgm:cxn modelId="{49B581CD-0456-40AF-B58F-693A3547D797}" type="presOf" srcId="{267F6B3F-1616-45C0-BE50-6E645A4F8E10}" destId="{A7F36DA1-0370-4EBC-A2D3-8421A855B5AA}" srcOrd="0" destOrd="1" presId="urn:microsoft.com/office/officeart/2005/8/layout/vList2"/>
    <dgm:cxn modelId="{500B14CE-E222-407D-BA96-E6B4A6F9E4CF}" srcId="{2C4B166C-7EB4-49A2-8740-5C2828A33153}" destId="{3C6A6061-55C2-49C0-B8F3-1B5CE3022FD7}" srcOrd="0" destOrd="0" parTransId="{31CE7716-BF5C-412A-B44D-12835975F456}" sibTransId="{6A60D045-0F31-4146-9112-315D78EC3504}"/>
    <dgm:cxn modelId="{492883DD-6D50-44D8-971C-22E575068059}" type="presOf" srcId="{B667362F-BB9F-4D9C-8BC3-84366508ADB8}" destId="{A7F36DA1-0370-4EBC-A2D3-8421A855B5AA}" srcOrd="0" destOrd="5" presId="urn:microsoft.com/office/officeart/2005/8/layout/vList2"/>
    <dgm:cxn modelId="{AC4E10E3-A6BF-40F3-9D54-2EDC02B5AE05}" type="presOf" srcId="{F524CF8E-904C-4D92-8A76-775F7189E1A0}" destId="{52A6A0CC-8508-4687-9DCD-81CD2A82BD49}" srcOrd="0" destOrd="0" presId="urn:microsoft.com/office/officeart/2005/8/layout/vList2"/>
    <dgm:cxn modelId="{C3B10FE5-D047-4102-AE48-5112AE338B6A}" srcId="{2C4B166C-7EB4-49A2-8740-5C2828A33153}" destId="{DA223487-7936-4355-A61D-55766376666D}" srcOrd="4" destOrd="0" parTransId="{1F3DBA6A-FAE5-47AF-90C9-25FFB721AD1D}" sibTransId="{E934B84B-9126-45B3-932A-1093619082C0}"/>
    <dgm:cxn modelId="{585E8B50-31C9-45B3-8D9E-EE3E379C0337}" type="presParOf" srcId="{52A6A0CC-8508-4687-9DCD-81CD2A82BD49}" destId="{34E3C31A-170A-424A-A9FE-953D342DDB68}" srcOrd="0" destOrd="0" presId="urn:microsoft.com/office/officeart/2005/8/layout/vList2"/>
    <dgm:cxn modelId="{6388E4CD-0CE6-4ED9-937A-87A7451BF27E}" type="presParOf" srcId="{52A6A0CC-8508-4687-9DCD-81CD2A82BD49}" destId="{A7F36DA1-0370-4EBC-A2D3-8421A855B5AA}" srcOrd="1" destOrd="0" presId="urn:microsoft.com/office/officeart/2005/8/layout/vList2"/>
  </dgm:cxnLst>
  <dgm:bg/>
  <dgm:whole>
    <a:ln>
      <a:solidFill>
        <a:schemeClr val="accent1"/>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524CF8E-904C-4D92-8A76-775F7189E1A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2C4B166C-7EB4-49A2-8740-5C2828A33153}">
      <dgm:prSet phldrT="[Text]" custT="1"/>
      <dgm:spPr/>
      <dgm:t>
        <a:bodyPr/>
        <a:lstStyle/>
        <a:p>
          <a:pPr>
            <a:buNone/>
          </a:pPr>
          <a:r>
            <a:rPr lang="en-IN" sz="2000" b="1" dirty="0"/>
            <a:t>Step 1</a:t>
          </a:r>
          <a:endParaRPr lang="en-IN" sz="2000" b="1" dirty="0">
            <a:latin typeface="Times New Roman" panose="02020603050405020304" pitchFamily="18" charset="0"/>
            <a:cs typeface="Times New Roman" panose="02020603050405020304" pitchFamily="18" charset="0"/>
          </a:endParaRPr>
        </a:p>
      </dgm:t>
    </dgm:pt>
    <dgm:pt modelId="{96FCAD02-DC91-4EE8-8AE2-0D56505641E8}" type="parTrans" cxnId="{C46C0965-D9D7-4D97-85F5-AEC8656EB7DB}">
      <dgm:prSet/>
      <dgm:spPr/>
      <dgm:t>
        <a:bodyPr/>
        <a:lstStyle/>
        <a:p>
          <a:endParaRPr lang="en-IN">
            <a:latin typeface="Times New Roman" panose="02020603050405020304" pitchFamily="18" charset="0"/>
            <a:cs typeface="Times New Roman" panose="02020603050405020304" pitchFamily="18" charset="0"/>
          </a:endParaRPr>
        </a:p>
      </dgm:t>
    </dgm:pt>
    <dgm:pt modelId="{9851DF3C-5D56-490B-9EE8-B7027C49D0B6}" type="sibTrans" cxnId="{C46C0965-D9D7-4D97-85F5-AEC8656EB7DB}">
      <dgm:prSet/>
      <dgm:spPr/>
      <dgm:t>
        <a:bodyPr/>
        <a:lstStyle/>
        <a:p>
          <a:endParaRPr lang="en-IN">
            <a:latin typeface="Times New Roman" panose="02020603050405020304" pitchFamily="18" charset="0"/>
            <a:cs typeface="Times New Roman" panose="02020603050405020304" pitchFamily="18" charset="0"/>
          </a:endParaRPr>
        </a:p>
      </dgm:t>
    </dgm:pt>
    <dgm:pt modelId="{3C6A6061-55C2-49C0-B8F3-1B5CE3022FD7}">
      <dgm:prSet phldrT="[Text]" custT="1"/>
      <dgm:spPr/>
      <dgm:t>
        <a:bodyPr/>
        <a:lstStyle/>
        <a:p>
          <a:pPr algn="just">
            <a:buFont typeface="Wingdings" panose="05000000000000000000" pitchFamily="2" charset="2"/>
            <a:buChar char="§"/>
          </a:pPr>
          <a:r>
            <a:rPr lang="en-IN" sz="2000" dirty="0"/>
            <a:t>Given Suffix Array (SA)</a:t>
          </a:r>
          <a:endParaRPr lang="en-IN" sz="2000" dirty="0">
            <a:latin typeface="Times New Roman" panose="02020603050405020304" pitchFamily="18" charset="0"/>
            <a:cs typeface="Times New Roman" panose="02020603050405020304" pitchFamily="18" charset="0"/>
          </a:endParaRPr>
        </a:p>
      </dgm:t>
    </dgm:pt>
    <dgm:pt modelId="{31CE7716-BF5C-412A-B44D-12835975F456}" type="parTrans" cxnId="{500B14CE-E222-407D-BA96-E6B4A6F9E4CF}">
      <dgm:prSet/>
      <dgm:spPr/>
      <dgm:t>
        <a:bodyPr/>
        <a:lstStyle/>
        <a:p>
          <a:endParaRPr lang="en-IN">
            <a:latin typeface="Times New Roman" panose="02020603050405020304" pitchFamily="18" charset="0"/>
            <a:cs typeface="Times New Roman" panose="02020603050405020304" pitchFamily="18" charset="0"/>
          </a:endParaRPr>
        </a:p>
      </dgm:t>
    </dgm:pt>
    <dgm:pt modelId="{6A60D045-0F31-4146-9112-315D78EC3504}" type="sibTrans" cxnId="{500B14CE-E222-407D-BA96-E6B4A6F9E4CF}">
      <dgm:prSet/>
      <dgm:spPr/>
      <dgm:t>
        <a:bodyPr/>
        <a:lstStyle/>
        <a:p>
          <a:endParaRPr lang="en-IN">
            <a:latin typeface="Times New Roman" panose="02020603050405020304" pitchFamily="18" charset="0"/>
            <a:cs typeface="Times New Roman" panose="02020603050405020304" pitchFamily="18" charset="0"/>
          </a:endParaRPr>
        </a:p>
      </dgm:t>
    </dgm:pt>
    <dgm:pt modelId="{BB572D6D-C209-484D-9736-F54AEECF0ED4}">
      <dgm:prSet custT="1"/>
      <dgm:spPr/>
      <dgm:t>
        <a:bodyPr/>
        <a:lstStyle/>
        <a:p>
          <a:pPr>
            <a:buNone/>
          </a:pPr>
          <a:r>
            <a:rPr lang="en-IN" sz="2000" b="1" dirty="0"/>
            <a:t>Example</a:t>
          </a:r>
        </a:p>
      </dgm:t>
    </dgm:pt>
    <dgm:pt modelId="{58AFDB04-ED5D-4DD0-B813-E46D28D82E5D}" type="parTrans" cxnId="{677A5DDB-6C14-4E02-B476-E9DAAA5D8962}">
      <dgm:prSet/>
      <dgm:spPr/>
      <dgm:t>
        <a:bodyPr/>
        <a:lstStyle/>
        <a:p>
          <a:endParaRPr lang="en-IN"/>
        </a:p>
      </dgm:t>
    </dgm:pt>
    <dgm:pt modelId="{C30410BF-7A4F-4848-A669-BBE50C7C0A8F}" type="sibTrans" cxnId="{677A5DDB-6C14-4E02-B476-E9DAAA5D8962}">
      <dgm:prSet/>
      <dgm:spPr/>
      <dgm:t>
        <a:bodyPr/>
        <a:lstStyle/>
        <a:p>
          <a:endParaRPr lang="en-IN"/>
        </a:p>
      </dgm:t>
    </dgm:pt>
    <dgm:pt modelId="{38919294-5372-4785-9869-33C450486BBA}">
      <dgm:prSet custT="1"/>
      <dgm:spPr/>
      <dgm:t>
        <a:bodyPr/>
        <a:lstStyle/>
        <a:p>
          <a:pPr>
            <a:buNone/>
          </a:pPr>
          <a:r>
            <a:rPr lang="en-IN" sz="2000" dirty="0"/>
            <a:t>Suffix Array,  SA = [5,3,1,0,4,2]</a:t>
          </a:r>
        </a:p>
      </dgm:t>
    </dgm:pt>
    <dgm:pt modelId="{5C714523-A05D-431F-AA66-FD449E07D5B9}" type="parTrans" cxnId="{782BF8FA-6465-43A1-B431-C7DACA338C32}">
      <dgm:prSet/>
      <dgm:spPr/>
      <dgm:t>
        <a:bodyPr/>
        <a:lstStyle/>
        <a:p>
          <a:endParaRPr lang="en-IN"/>
        </a:p>
      </dgm:t>
    </dgm:pt>
    <dgm:pt modelId="{D5546B25-EF2F-44CC-9F30-2D25E3DEF69A}" type="sibTrans" cxnId="{782BF8FA-6465-43A1-B431-C7DACA338C32}">
      <dgm:prSet/>
      <dgm:spPr/>
      <dgm:t>
        <a:bodyPr/>
        <a:lstStyle/>
        <a:p>
          <a:endParaRPr lang="en-IN"/>
        </a:p>
      </dgm:t>
    </dgm:pt>
    <dgm:pt modelId="{E9C7E7FC-C8BC-4B13-9BB9-94D0034C72BC}">
      <dgm:prSet/>
      <dgm:spPr/>
      <dgm:t>
        <a:bodyPr/>
        <a:lstStyle/>
        <a:p>
          <a:pPr>
            <a:buNone/>
          </a:pPr>
          <a:endParaRPr lang="en-IN" sz="1100" dirty="0"/>
        </a:p>
      </dgm:t>
    </dgm:pt>
    <dgm:pt modelId="{08AB62DE-31AD-4FD3-9713-82CA0E800C54}" type="parTrans" cxnId="{20EAC81A-D8E2-4F4B-9DE4-A34CAD590C2D}">
      <dgm:prSet/>
      <dgm:spPr/>
      <dgm:t>
        <a:bodyPr/>
        <a:lstStyle/>
        <a:p>
          <a:endParaRPr lang="en-IN"/>
        </a:p>
      </dgm:t>
    </dgm:pt>
    <dgm:pt modelId="{4916EB90-3362-48EB-AF47-FF81F79482EB}" type="sibTrans" cxnId="{20EAC81A-D8E2-4F4B-9DE4-A34CAD590C2D}">
      <dgm:prSet/>
      <dgm:spPr/>
      <dgm:t>
        <a:bodyPr/>
        <a:lstStyle/>
        <a:p>
          <a:endParaRPr lang="en-IN"/>
        </a:p>
      </dgm:t>
    </dgm:pt>
    <dgm:pt modelId="{4AB94BEA-5D1E-48AC-9DFE-54643E23608B}">
      <dgm:prSet/>
      <dgm:spPr/>
      <dgm:t>
        <a:bodyPr/>
        <a:lstStyle/>
        <a:p>
          <a:pPr>
            <a:buNone/>
          </a:pPr>
          <a:endParaRPr lang="en-IN" sz="1100" dirty="0"/>
        </a:p>
      </dgm:t>
    </dgm:pt>
    <dgm:pt modelId="{BDAB1824-6EF3-4451-9621-8F1A19A615D1}" type="parTrans" cxnId="{29764A6D-AC28-491B-AD41-58FB48B89CEF}">
      <dgm:prSet/>
      <dgm:spPr/>
      <dgm:t>
        <a:bodyPr/>
        <a:lstStyle/>
        <a:p>
          <a:endParaRPr lang="en-IN"/>
        </a:p>
      </dgm:t>
    </dgm:pt>
    <dgm:pt modelId="{02932F08-9387-4FF4-BF39-895B22D8560E}" type="sibTrans" cxnId="{29764A6D-AC28-491B-AD41-58FB48B89CEF}">
      <dgm:prSet/>
      <dgm:spPr/>
      <dgm:t>
        <a:bodyPr/>
        <a:lstStyle/>
        <a:p>
          <a:endParaRPr lang="en-IN"/>
        </a:p>
      </dgm:t>
    </dgm:pt>
    <dgm:pt modelId="{02591D41-3C6C-4BC3-BE76-A3146DA99B32}">
      <dgm:prSet/>
      <dgm:spPr/>
      <dgm:t>
        <a:bodyPr/>
        <a:lstStyle/>
        <a:p>
          <a:pPr>
            <a:buNone/>
          </a:pPr>
          <a:endParaRPr lang="en-IN" sz="1100" dirty="0"/>
        </a:p>
      </dgm:t>
    </dgm:pt>
    <dgm:pt modelId="{4B7BAC20-635A-490C-8DB6-D4F6B58D0CBF}" type="parTrans" cxnId="{548C1A16-C833-4AF4-A48C-62037146177A}">
      <dgm:prSet/>
      <dgm:spPr/>
      <dgm:t>
        <a:bodyPr/>
        <a:lstStyle/>
        <a:p>
          <a:endParaRPr lang="en-IN"/>
        </a:p>
      </dgm:t>
    </dgm:pt>
    <dgm:pt modelId="{75EA7968-398C-4595-9636-AB2580582E92}" type="sibTrans" cxnId="{548C1A16-C833-4AF4-A48C-62037146177A}">
      <dgm:prSet/>
      <dgm:spPr/>
      <dgm:t>
        <a:bodyPr/>
        <a:lstStyle/>
        <a:p>
          <a:endParaRPr lang="en-IN"/>
        </a:p>
      </dgm:t>
    </dgm:pt>
    <dgm:pt modelId="{AFC61B4B-EC5B-4219-AB75-F6C8EB5D08D3}">
      <dgm:prSet/>
      <dgm:spPr/>
      <dgm:t>
        <a:bodyPr/>
        <a:lstStyle/>
        <a:p>
          <a:pPr>
            <a:buNone/>
          </a:pPr>
          <a:endParaRPr lang="en-IN" sz="1100" dirty="0"/>
        </a:p>
      </dgm:t>
    </dgm:pt>
    <dgm:pt modelId="{13747BE3-56DB-43CE-B754-DE72596513A2}" type="parTrans" cxnId="{BE8C7DB2-63E5-4BCF-9DB5-124D9B68E52A}">
      <dgm:prSet/>
      <dgm:spPr/>
      <dgm:t>
        <a:bodyPr/>
        <a:lstStyle/>
        <a:p>
          <a:endParaRPr lang="en-IN"/>
        </a:p>
      </dgm:t>
    </dgm:pt>
    <dgm:pt modelId="{A5B1CF6A-C059-42DC-A035-076600AD1A7D}" type="sibTrans" cxnId="{BE8C7DB2-63E5-4BCF-9DB5-124D9B68E52A}">
      <dgm:prSet/>
      <dgm:spPr/>
      <dgm:t>
        <a:bodyPr/>
        <a:lstStyle/>
        <a:p>
          <a:endParaRPr lang="en-IN"/>
        </a:p>
      </dgm:t>
    </dgm:pt>
    <dgm:pt modelId="{A613669F-C787-4C40-9C48-A9603698838B}">
      <dgm:prSet/>
      <dgm:spPr/>
      <dgm:t>
        <a:bodyPr/>
        <a:lstStyle/>
        <a:p>
          <a:pPr>
            <a:buNone/>
          </a:pPr>
          <a:endParaRPr lang="en-IN" sz="1100" dirty="0"/>
        </a:p>
      </dgm:t>
    </dgm:pt>
    <dgm:pt modelId="{60D2EA56-6DDD-491B-AB4A-90FD755CA11A}" type="parTrans" cxnId="{3EBB7242-332B-4D74-BA4B-361F11FDAE1A}">
      <dgm:prSet/>
      <dgm:spPr/>
      <dgm:t>
        <a:bodyPr/>
        <a:lstStyle/>
        <a:p>
          <a:endParaRPr lang="en-IN"/>
        </a:p>
      </dgm:t>
    </dgm:pt>
    <dgm:pt modelId="{9ADE19E5-135F-40D1-AC3E-83BC932132A1}" type="sibTrans" cxnId="{3EBB7242-332B-4D74-BA4B-361F11FDAE1A}">
      <dgm:prSet/>
      <dgm:spPr/>
      <dgm:t>
        <a:bodyPr/>
        <a:lstStyle/>
        <a:p>
          <a:endParaRPr lang="en-IN"/>
        </a:p>
      </dgm:t>
    </dgm:pt>
    <dgm:pt modelId="{3FE5A7EC-B32C-4E0F-8E5A-FBFF7FCC1D8A}">
      <dgm:prSet/>
      <dgm:spPr/>
      <dgm:t>
        <a:bodyPr/>
        <a:lstStyle/>
        <a:p>
          <a:pPr>
            <a:buNone/>
          </a:pPr>
          <a:endParaRPr lang="en-IN" sz="1100" dirty="0"/>
        </a:p>
      </dgm:t>
    </dgm:pt>
    <dgm:pt modelId="{6C8A1B5A-B6C2-4C93-8992-F8CE0EB32FEA}" type="parTrans" cxnId="{2720E9DF-213B-4106-A208-7F4A680F9754}">
      <dgm:prSet/>
      <dgm:spPr/>
      <dgm:t>
        <a:bodyPr/>
        <a:lstStyle/>
        <a:p>
          <a:endParaRPr lang="en-IN"/>
        </a:p>
      </dgm:t>
    </dgm:pt>
    <dgm:pt modelId="{9294B982-F9AC-4CCA-9008-6AE4A38B1F31}" type="sibTrans" cxnId="{2720E9DF-213B-4106-A208-7F4A680F9754}">
      <dgm:prSet/>
      <dgm:spPr/>
      <dgm:t>
        <a:bodyPr/>
        <a:lstStyle/>
        <a:p>
          <a:endParaRPr lang="en-IN"/>
        </a:p>
      </dgm:t>
    </dgm:pt>
    <dgm:pt modelId="{AC6F42CC-1314-4BFF-9D11-7F7FF0B78B78}">
      <dgm:prSet/>
      <dgm:spPr/>
      <dgm:t>
        <a:bodyPr/>
        <a:lstStyle/>
        <a:p>
          <a:pPr>
            <a:buNone/>
          </a:pPr>
          <a:endParaRPr lang="en-IN" sz="1100" dirty="0"/>
        </a:p>
      </dgm:t>
    </dgm:pt>
    <dgm:pt modelId="{D7EE5EA7-3113-4450-AD10-3AAD40633240}" type="parTrans" cxnId="{F60CFED3-B045-45DB-9AF4-1F44AE3821E2}">
      <dgm:prSet/>
      <dgm:spPr/>
      <dgm:t>
        <a:bodyPr/>
        <a:lstStyle/>
        <a:p>
          <a:endParaRPr lang="en-IN"/>
        </a:p>
      </dgm:t>
    </dgm:pt>
    <dgm:pt modelId="{5C8E726C-465F-4E01-A5B5-40C761B83E7B}" type="sibTrans" cxnId="{F60CFED3-B045-45DB-9AF4-1F44AE3821E2}">
      <dgm:prSet/>
      <dgm:spPr/>
      <dgm:t>
        <a:bodyPr/>
        <a:lstStyle/>
        <a:p>
          <a:endParaRPr lang="en-IN"/>
        </a:p>
      </dgm:t>
    </dgm:pt>
    <dgm:pt modelId="{218251A7-7E18-48CC-B103-2A8310A19274}">
      <dgm:prSet phldrT="[Text]" custT="1"/>
      <dgm:spPr/>
      <dgm:t>
        <a:bodyPr/>
        <a:lstStyle/>
        <a:p>
          <a:pPr algn="just">
            <a:buFont typeface="Wingdings" panose="05000000000000000000" pitchFamily="2" charset="2"/>
            <a:buChar char="§"/>
          </a:pPr>
          <a:r>
            <a:rPr lang="en-IN" sz="2000" dirty="0"/>
            <a:t>Construct the </a:t>
          </a:r>
          <a:r>
            <a:rPr lang="en-IN" sz="2000" b="1" dirty="0"/>
            <a:t>Rank Array</a:t>
          </a:r>
          <a:r>
            <a:rPr lang="en-IN" sz="2000" dirty="0"/>
            <a:t>.</a:t>
          </a:r>
          <a:endParaRPr lang="en-IN" sz="2000" dirty="0">
            <a:latin typeface="Times New Roman" panose="02020603050405020304" pitchFamily="18" charset="0"/>
            <a:cs typeface="Times New Roman" panose="02020603050405020304" pitchFamily="18" charset="0"/>
          </a:endParaRPr>
        </a:p>
      </dgm:t>
    </dgm:pt>
    <dgm:pt modelId="{F9D4B463-7AD2-4EA5-888C-B6B1FE611E56}" type="parTrans" cxnId="{2B5E4609-D001-4496-A1D4-6377669FB7CA}">
      <dgm:prSet/>
      <dgm:spPr/>
      <dgm:t>
        <a:bodyPr/>
        <a:lstStyle/>
        <a:p>
          <a:endParaRPr lang="en-IN"/>
        </a:p>
      </dgm:t>
    </dgm:pt>
    <dgm:pt modelId="{0D9F5D98-0C2C-40A9-A005-CDE57D7021F1}" type="sibTrans" cxnId="{2B5E4609-D001-4496-A1D4-6377669FB7CA}">
      <dgm:prSet/>
      <dgm:spPr/>
      <dgm:t>
        <a:bodyPr/>
        <a:lstStyle/>
        <a:p>
          <a:endParaRPr lang="en-IN"/>
        </a:p>
      </dgm:t>
    </dgm:pt>
    <dgm:pt modelId="{A49DFC63-4193-4983-A77B-1BC057689729}">
      <dgm:prSet phldrT="[Text]" custT="1"/>
      <dgm:spPr/>
      <dgm:t>
        <a:bodyPr/>
        <a:lstStyle/>
        <a:p>
          <a:pPr algn="just">
            <a:buFont typeface="Wingdings" panose="05000000000000000000" pitchFamily="2" charset="2"/>
            <a:buChar char="§"/>
          </a:pPr>
          <a:r>
            <a:rPr lang="en-IN" sz="2000" dirty="0"/>
            <a:t>The rank array stores the position of each suffix in the suffix array.</a:t>
          </a:r>
          <a:endParaRPr lang="en-IN" sz="2000" dirty="0">
            <a:latin typeface="Times New Roman" panose="02020603050405020304" pitchFamily="18" charset="0"/>
            <a:cs typeface="Times New Roman" panose="02020603050405020304" pitchFamily="18" charset="0"/>
          </a:endParaRPr>
        </a:p>
      </dgm:t>
    </dgm:pt>
    <dgm:pt modelId="{A0B71507-7BB8-41C4-9278-D7A092D882A5}" type="parTrans" cxnId="{7E412D85-E2AF-4FF1-AE5A-A393E14D2788}">
      <dgm:prSet/>
      <dgm:spPr/>
      <dgm:t>
        <a:bodyPr/>
        <a:lstStyle/>
        <a:p>
          <a:endParaRPr lang="en-IN"/>
        </a:p>
      </dgm:t>
    </dgm:pt>
    <dgm:pt modelId="{8CB2A37C-7904-4F80-877E-68C53D268254}" type="sibTrans" cxnId="{7E412D85-E2AF-4FF1-AE5A-A393E14D2788}">
      <dgm:prSet/>
      <dgm:spPr/>
      <dgm:t>
        <a:bodyPr/>
        <a:lstStyle/>
        <a:p>
          <a:endParaRPr lang="en-IN"/>
        </a:p>
      </dgm:t>
    </dgm:pt>
    <dgm:pt modelId="{52A6A0CC-8508-4687-9DCD-81CD2A82BD49}" type="pres">
      <dgm:prSet presAssocID="{F524CF8E-904C-4D92-8A76-775F7189E1A0}" presName="linear" presStyleCnt="0">
        <dgm:presLayoutVars>
          <dgm:animLvl val="lvl"/>
          <dgm:resizeHandles val="exact"/>
        </dgm:presLayoutVars>
      </dgm:prSet>
      <dgm:spPr/>
    </dgm:pt>
    <dgm:pt modelId="{34E3C31A-170A-424A-A9FE-953D342DDB68}" type="pres">
      <dgm:prSet presAssocID="{2C4B166C-7EB4-49A2-8740-5C2828A33153}" presName="parentText" presStyleLbl="node1" presStyleIdx="0" presStyleCnt="1" custScaleY="173182" custLinFactNeighborX="100">
        <dgm:presLayoutVars>
          <dgm:chMax val="0"/>
          <dgm:bulletEnabled val="1"/>
        </dgm:presLayoutVars>
      </dgm:prSet>
      <dgm:spPr/>
    </dgm:pt>
    <dgm:pt modelId="{A7F36DA1-0370-4EBC-A2D3-8421A855B5AA}" type="pres">
      <dgm:prSet presAssocID="{2C4B166C-7EB4-49A2-8740-5C2828A33153}" presName="childText" presStyleLbl="revTx" presStyleIdx="0" presStyleCnt="1" custScaleY="2000000">
        <dgm:presLayoutVars>
          <dgm:bulletEnabled val="1"/>
        </dgm:presLayoutVars>
      </dgm:prSet>
      <dgm:spPr/>
    </dgm:pt>
  </dgm:ptLst>
  <dgm:cxnLst>
    <dgm:cxn modelId="{E1A3CF04-BAF1-4C0A-A624-C93B2EC27EA1}" type="presOf" srcId="{02591D41-3C6C-4BC3-BE76-A3146DA99B32}" destId="{A7F36DA1-0370-4EBC-A2D3-8421A855B5AA}" srcOrd="0" destOrd="7" presId="urn:microsoft.com/office/officeart/2005/8/layout/vList2"/>
    <dgm:cxn modelId="{C6541907-F1D0-4D8B-B058-0DA0FBA1D008}" type="presOf" srcId="{F524CF8E-904C-4D92-8A76-775F7189E1A0}" destId="{52A6A0CC-8508-4687-9DCD-81CD2A82BD49}" srcOrd="0" destOrd="0" presId="urn:microsoft.com/office/officeart/2005/8/layout/vList2"/>
    <dgm:cxn modelId="{2B5E4609-D001-4496-A1D4-6377669FB7CA}" srcId="{2C4B166C-7EB4-49A2-8740-5C2828A33153}" destId="{218251A7-7E18-48CC-B103-2A8310A19274}" srcOrd="1" destOrd="0" parTransId="{F9D4B463-7AD2-4EA5-888C-B6B1FE611E56}" sibTransId="{0D9F5D98-0C2C-40A9-A005-CDE57D7021F1}"/>
    <dgm:cxn modelId="{548C1A16-C833-4AF4-A48C-62037146177A}" srcId="{2C4B166C-7EB4-49A2-8740-5C2828A33153}" destId="{02591D41-3C6C-4BC3-BE76-A3146DA99B32}" srcOrd="7" destOrd="0" parTransId="{4B7BAC20-635A-490C-8DB6-D4F6B58D0CBF}" sibTransId="{75EA7968-398C-4595-9636-AB2580582E92}"/>
    <dgm:cxn modelId="{3A271B1A-26B9-4AF6-BA03-CCC2C601236E}" type="presOf" srcId="{BB572D6D-C209-484D-9736-F54AEECF0ED4}" destId="{A7F36DA1-0370-4EBC-A2D3-8421A855B5AA}" srcOrd="0" destOrd="3" presId="urn:microsoft.com/office/officeart/2005/8/layout/vList2"/>
    <dgm:cxn modelId="{20EAC81A-D8E2-4F4B-9DE4-A34CAD590C2D}" srcId="{2C4B166C-7EB4-49A2-8740-5C2828A33153}" destId="{E9C7E7FC-C8BC-4B13-9BB9-94D0034C72BC}" srcOrd="5" destOrd="0" parTransId="{08AB62DE-31AD-4FD3-9713-82CA0E800C54}" sibTransId="{4916EB90-3362-48EB-AF47-FF81F79482EB}"/>
    <dgm:cxn modelId="{4C7A251C-39C0-4814-8E8E-9A760E44432F}" type="presOf" srcId="{4AB94BEA-5D1E-48AC-9DFE-54643E23608B}" destId="{A7F36DA1-0370-4EBC-A2D3-8421A855B5AA}" srcOrd="0" destOrd="6" presId="urn:microsoft.com/office/officeart/2005/8/layout/vList2"/>
    <dgm:cxn modelId="{D234491E-1F24-431F-8D08-7D719D6A51E0}" type="presOf" srcId="{218251A7-7E18-48CC-B103-2A8310A19274}" destId="{A7F36DA1-0370-4EBC-A2D3-8421A855B5AA}" srcOrd="0" destOrd="1" presId="urn:microsoft.com/office/officeart/2005/8/layout/vList2"/>
    <dgm:cxn modelId="{3EBB7242-332B-4D74-BA4B-361F11FDAE1A}" srcId="{2C4B166C-7EB4-49A2-8740-5C2828A33153}" destId="{A613669F-C787-4C40-9C48-A9603698838B}" srcOrd="9" destOrd="0" parTransId="{60D2EA56-6DDD-491B-AB4A-90FD755CA11A}" sibTransId="{9ADE19E5-135F-40D1-AC3E-83BC932132A1}"/>
    <dgm:cxn modelId="{C46C0965-D9D7-4D97-85F5-AEC8656EB7DB}" srcId="{F524CF8E-904C-4D92-8A76-775F7189E1A0}" destId="{2C4B166C-7EB4-49A2-8740-5C2828A33153}" srcOrd="0" destOrd="0" parTransId="{96FCAD02-DC91-4EE8-8AE2-0D56505641E8}" sibTransId="{9851DF3C-5D56-490B-9EE8-B7027C49D0B6}"/>
    <dgm:cxn modelId="{3104D545-68B9-42A0-A9DC-23275ECB8BF3}" type="presOf" srcId="{3C6A6061-55C2-49C0-B8F3-1B5CE3022FD7}" destId="{A7F36DA1-0370-4EBC-A2D3-8421A855B5AA}" srcOrd="0" destOrd="0" presId="urn:microsoft.com/office/officeart/2005/8/layout/vList2"/>
    <dgm:cxn modelId="{1352084C-CD22-4C65-A2BF-E56E1E497CFB}" type="presOf" srcId="{38919294-5372-4785-9869-33C450486BBA}" destId="{A7F36DA1-0370-4EBC-A2D3-8421A855B5AA}" srcOrd="0" destOrd="4" presId="urn:microsoft.com/office/officeart/2005/8/layout/vList2"/>
    <dgm:cxn modelId="{29764A6D-AC28-491B-AD41-58FB48B89CEF}" srcId="{2C4B166C-7EB4-49A2-8740-5C2828A33153}" destId="{4AB94BEA-5D1E-48AC-9DFE-54643E23608B}" srcOrd="6" destOrd="0" parTransId="{BDAB1824-6EF3-4451-9621-8F1A19A615D1}" sibTransId="{02932F08-9387-4FF4-BF39-895B22D8560E}"/>
    <dgm:cxn modelId="{2AF11571-8E53-4F49-A3A8-006804816A2E}" type="presOf" srcId="{AC6F42CC-1314-4BFF-9D11-7F7FF0B78B78}" destId="{A7F36DA1-0370-4EBC-A2D3-8421A855B5AA}" srcOrd="0" destOrd="11" presId="urn:microsoft.com/office/officeart/2005/8/layout/vList2"/>
    <dgm:cxn modelId="{E3A4AA71-4039-4F1D-B8EE-976BAB8CF199}" type="presOf" srcId="{A613669F-C787-4C40-9C48-A9603698838B}" destId="{A7F36DA1-0370-4EBC-A2D3-8421A855B5AA}" srcOrd="0" destOrd="9" presId="urn:microsoft.com/office/officeart/2005/8/layout/vList2"/>
    <dgm:cxn modelId="{D8482184-D59C-45B3-A4A9-B672B2B0D782}" type="presOf" srcId="{3FE5A7EC-B32C-4E0F-8E5A-FBFF7FCC1D8A}" destId="{A7F36DA1-0370-4EBC-A2D3-8421A855B5AA}" srcOrd="0" destOrd="10" presId="urn:microsoft.com/office/officeart/2005/8/layout/vList2"/>
    <dgm:cxn modelId="{7E412D85-E2AF-4FF1-AE5A-A393E14D2788}" srcId="{2C4B166C-7EB4-49A2-8740-5C2828A33153}" destId="{A49DFC63-4193-4983-A77B-1BC057689729}" srcOrd="2" destOrd="0" parTransId="{A0B71507-7BB8-41C4-9278-D7A092D882A5}" sibTransId="{8CB2A37C-7904-4F80-877E-68C53D268254}"/>
    <dgm:cxn modelId="{FB5EE6A3-10BA-4155-B551-7148E76C8B6F}" type="presOf" srcId="{A49DFC63-4193-4983-A77B-1BC057689729}" destId="{A7F36DA1-0370-4EBC-A2D3-8421A855B5AA}" srcOrd="0" destOrd="2" presId="urn:microsoft.com/office/officeart/2005/8/layout/vList2"/>
    <dgm:cxn modelId="{0DE47BAD-09BF-4857-821D-9E14EFC60E64}" type="presOf" srcId="{AFC61B4B-EC5B-4219-AB75-F6C8EB5D08D3}" destId="{A7F36DA1-0370-4EBC-A2D3-8421A855B5AA}" srcOrd="0" destOrd="8" presId="urn:microsoft.com/office/officeart/2005/8/layout/vList2"/>
    <dgm:cxn modelId="{BE8C7DB2-63E5-4BCF-9DB5-124D9B68E52A}" srcId="{2C4B166C-7EB4-49A2-8740-5C2828A33153}" destId="{AFC61B4B-EC5B-4219-AB75-F6C8EB5D08D3}" srcOrd="8" destOrd="0" parTransId="{13747BE3-56DB-43CE-B754-DE72596513A2}" sibTransId="{A5B1CF6A-C059-42DC-A035-076600AD1A7D}"/>
    <dgm:cxn modelId="{F6A1EFC5-4303-488E-8748-59343B57EF77}" type="presOf" srcId="{E9C7E7FC-C8BC-4B13-9BB9-94D0034C72BC}" destId="{A7F36DA1-0370-4EBC-A2D3-8421A855B5AA}" srcOrd="0" destOrd="5" presId="urn:microsoft.com/office/officeart/2005/8/layout/vList2"/>
    <dgm:cxn modelId="{500B14CE-E222-407D-BA96-E6B4A6F9E4CF}" srcId="{2C4B166C-7EB4-49A2-8740-5C2828A33153}" destId="{3C6A6061-55C2-49C0-B8F3-1B5CE3022FD7}" srcOrd="0" destOrd="0" parTransId="{31CE7716-BF5C-412A-B44D-12835975F456}" sibTransId="{6A60D045-0F31-4146-9112-315D78EC3504}"/>
    <dgm:cxn modelId="{F60CFED3-B045-45DB-9AF4-1F44AE3821E2}" srcId="{2C4B166C-7EB4-49A2-8740-5C2828A33153}" destId="{AC6F42CC-1314-4BFF-9D11-7F7FF0B78B78}" srcOrd="11" destOrd="0" parTransId="{D7EE5EA7-3113-4450-AD10-3AAD40633240}" sibTransId="{5C8E726C-465F-4E01-A5B5-40C761B83E7B}"/>
    <dgm:cxn modelId="{677A5DDB-6C14-4E02-B476-E9DAAA5D8962}" srcId="{2C4B166C-7EB4-49A2-8740-5C2828A33153}" destId="{BB572D6D-C209-484D-9736-F54AEECF0ED4}" srcOrd="3" destOrd="0" parTransId="{58AFDB04-ED5D-4DD0-B813-E46D28D82E5D}" sibTransId="{C30410BF-7A4F-4848-A669-BBE50C7C0A8F}"/>
    <dgm:cxn modelId="{2720E9DF-213B-4106-A208-7F4A680F9754}" srcId="{2C4B166C-7EB4-49A2-8740-5C2828A33153}" destId="{3FE5A7EC-B32C-4E0F-8E5A-FBFF7FCC1D8A}" srcOrd="10" destOrd="0" parTransId="{6C8A1B5A-B6C2-4C93-8992-F8CE0EB32FEA}" sibTransId="{9294B982-F9AC-4CCA-9008-6AE4A38B1F31}"/>
    <dgm:cxn modelId="{304E87F2-29E5-4386-8CF0-A667B549961F}" type="presOf" srcId="{2C4B166C-7EB4-49A2-8740-5C2828A33153}" destId="{34E3C31A-170A-424A-A9FE-953D342DDB68}" srcOrd="0" destOrd="0" presId="urn:microsoft.com/office/officeart/2005/8/layout/vList2"/>
    <dgm:cxn modelId="{782BF8FA-6465-43A1-B431-C7DACA338C32}" srcId="{2C4B166C-7EB4-49A2-8740-5C2828A33153}" destId="{38919294-5372-4785-9869-33C450486BBA}" srcOrd="4" destOrd="0" parTransId="{5C714523-A05D-431F-AA66-FD449E07D5B9}" sibTransId="{D5546B25-EF2F-44CC-9F30-2D25E3DEF69A}"/>
    <dgm:cxn modelId="{7E1748B9-CE28-4F98-B68B-2333D161C123}" type="presParOf" srcId="{52A6A0CC-8508-4687-9DCD-81CD2A82BD49}" destId="{34E3C31A-170A-424A-A9FE-953D342DDB68}" srcOrd="0" destOrd="0" presId="urn:microsoft.com/office/officeart/2005/8/layout/vList2"/>
    <dgm:cxn modelId="{343E0E62-1076-43A0-A79E-3D9887719A1B}" type="presParOf" srcId="{52A6A0CC-8508-4687-9DCD-81CD2A82BD49}" destId="{A7F36DA1-0370-4EBC-A2D3-8421A855B5AA}" srcOrd="1" destOrd="0" presId="urn:microsoft.com/office/officeart/2005/8/layout/vList2"/>
  </dgm:cxnLst>
  <dgm:bg/>
  <dgm:whole>
    <a:ln>
      <a:solidFill>
        <a:schemeClr val="accent1"/>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524CF8E-904C-4D92-8A76-775F7189E1A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2C4B166C-7EB4-49A2-8740-5C2828A33153}">
      <dgm:prSet phldrT="[Text]" custT="1"/>
      <dgm:spPr/>
      <dgm:t>
        <a:bodyPr/>
        <a:lstStyle/>
        <a:p>
          <a:pPr>
            <a:buNone/>
          </a:pPr>
          <a:r>
            <a:rPr lang="en-IN" sz="2000" b="1" dirty="0"/>
            <a:t>Step 2</a:t>
          </a:r>
          <a:endParaRPr lang="en-IN" sz="2000" b="1" dirty="0">
            <a:latin typeface="Times New Roman" panose="02020603050405020304" pitchFamily="18" charset="0"/>
            <a:cs typeface="Times New Roman" panose="02020603050405020304" pitchFamily="18" charset="0"/>
          </a:endParaRPr>
        </a:p>
      </dgm:t>
    </dgm:pt>
    <dgm:pt modelId="{96FCAD02-DC91-4EE8-8AE2-0D56505641E8}" type="parTrans" cxnId="{C46C0965-D9D7-4D97-85F5-AEC8656EB7DB}">
      <dgm:prSet/>
      <dgm:spPr/>
      <dgm:t>
        <a:bodyPr/>
        <a:lstStyle/>
        <a:p>
          <a:endParaRPr lang="en-IN">
            <a:latin typeface="Times New Roman" panose="02020603050405020304" pitchFamily="18" charset="0"/>
            <a:cs typeface="Times New Roman" panose="02020603050405020304" pitchFamily="18" charset="0"/>
          </a:endParaRPr>
        </a:p>
      </dgm:t>
    </dgm:pt>
    <dgm:pt modelId="{9851DF3C-5D56-490B-9EE8-B7027C49D0B6}" type="sibTrans" cxnId="{C46C0965-D9D7-4D97-85F5-AEC8656EB7DB}">
      <dgm:prSet/>
      <dgm:spPr/>
      <dgm:t>
        <a:bodyPr/>
        <a:lstStyle/>
        <a:p>
          <a:endParaRPr lang="en-IN">
            <a:latin typeface="Times New Roman" panose="02020603050405020304" pitchFamily="18" charset="0"/>
            <a:cs typeface="Times New Roman" panose="02020603050405020304" pitchFamily="18" charset="0"/>
          </a:endParaRPr>
        </a:p>
      </dgm:t>
    </dgm:pt>
    <dgm:pt modelId="{3C6A6061-55C2-49C0-B8F3-1B5CE3022FD7}">
      <dgm:prSet phldrT="[Text]" custT="1"/>
      <dgm:spPr/>
      <dgm:t>
        <a:bodyPr/>
        <a:lstStyle/>
        <a:p>
          <a:pPr algn="just">
            <a:buNone/>
          </a:pPr>
          <a:r>
            <a:rPr lang="en-IN" sz="2400" dirty="0"/>
            <a:t>Initialize</a:t>
          </a:r>
          <a:endParaRPr lang="en-IN" sz="2400" dirty="0">
            <a:latin typeface="Times New Roman" panose="02020603050405020304" pitchFamily="18" charset="0"/>
            <a:cs typeface="Times New Roman" panose="02020603050405020304" pitchFamily="18" charset="0"/>
          </a:endParaRPr>
        </a:p>
      </dgm:t>
    </dgm:pt>
    <dgm:pt modelId="{31CE7716-BF5C-412A-B44D-12835975F456}" type="parTrans" cxnId="{500B14CE-E222-407D-BA96-E6B4A6F9E4CF}">
      <dgm:prSet/>
      <dgm:spPr/>
      <dgm:t>
        <a:bodyPr/>
        <a:lstStyle/>
        <a:p>
          <a:endParaRPr lang="en-IN">
            <a:latin typeface="Times New Roman" panose="02020603050405020304" pitchFamily="18" charset="0"/>
            <a:cs typeface="Times New Roman" panose="02020603050405020304" pitchFamily="18" charset="0"/>
          </a:endParaRPr>
        </a:p>
      </dgm:t>
    </dgm:pt>
    <dgm:pt modelId="{6A60D045-0F31-4146-9112-315D78EC3504}" type="sibTrans" cxnId="{500B14CE-E222-407D-BA96-E6B4A6F9E4CF}">
      <dgm:prSet/>
      <dgm:spPr/>
      <dgm:t>
        <a:bodyPr/>
        <a:lstStyle/>
        <a:p>
          <a:endParaRPr lang="en-IN">
            <a:latin typeface="Times New Roman" panose="02020603050405020304" pitchFamily="18" charset="0"/>
            <a:cs typeface="Times New Roman" panose="02020603050405020304" pitchFamily="18" charset="0"/>
          </a:endParaRPr>
        </a:p>
      </dgm:t>
    </dgm:pt>
    <dgm:pt modelId="{1BBC877B-3388-4E92-9A5A-2F409ABFC167}">
      <dgm:prSet phldrT="[Text]"/>
      <dgm:spPr/>
      <dgm:t>
        <a:bodyPr/>
        <a:lstStyle/>
        <a:p>
          <a:pPr algn="just">
            <a:buFont typeface="Wingdings" panose="05000000000000000000" pitchFamily="2" charset="2"/>
            <a:buNone/>
          </a:pPr>
          <a:endParaRPr lang="en-IN" sz="1600" dirty="0">
            <a:latin typeface="Times New Roman" panose="02020603050405020304" pitchFamily="18" charset="0"/>
            <a:cs typeface="Times New Roman" panose="02020603050405020304" pitchFamily="18" charset="0"/>
          </a:endParaRPr>
        </a:p>
      </dgm:t>
    </dgm:pt>
    <dgm:pt modelId="{057202FF-D27F-4B6E-960B-66F03BE58364}" type="parTrans" cxnId="{8FF17479-E3B4-4928-B325-1521862AED1B}">
      <dgm:prSet/>
      <dgm:spPr/>
      <dgm:t>
        <a:bodyPr/>
        <a:lstStyle/>
        <a:p>
          <a:endParaRPr lang="en-IN"/>
        </a:p>
      </dgm:t>
    </dgm:pt>
    <dgm:pt modelId="{9C709469-07ED-4949-8096-E41F376BD9DB}" type="sibTrans" cxnId="{8FF17479-E3B4-4928-B325-1521862AED1B}">
      <dgm:prSet/>
      <dgm:spPr/>
      <dgm:t>
        <a:bodyPr/>
        <a:lstStyle/>
        <a:p>
          <a:endParaRPr lang="en-IN"/>
        </a:p>
      </dgm:t>
    </dgm:pt>
    <dgm:pt modelId="{AB057AC5-2BBD-4E45-BFC0-97BC9B39EC4D}">
      <dgm:prSet phldrT="[Text]"/>
      <dgm:spPr/>
      <dgm:t>
        <a:bodyPr/>
        <a:lstStyle/>
        <a:p>
          <a:pPr algn="just">
            <a:buFont typeface="Wingdings" panose="05000000000000000000" pitchFamily="2" charset="2"/>
            <a:buNone/>
          </a:pPr>
          <a:endParaRPr lang="en-IN" sz="1600" dirty="0">
            <a:latin typeface="Times New Roman" panose="02020603050405020304" pitchFamily="18" charset="0"/>
            <a:cs typeface="Times New Roman" panose="02020603050405020304" pitchFamily="18" charset="0"/>
          </a:endParaRPr>
        </a:p>
      </dgm:t>
    </dgm:pt>
    <dgm:pt modelId="{32AC51A0-1227-4073-8125-6E311EB39C89}" type="parTrans" cxnId="{7166D658-71CC-4911-8925-44A0EF535FB2}">
      <dgm:prSet/>
      <dgm:spPr/>
      <dgm:t>
        <a:bodyPr/>
        <a:lstStyle/>
        <a:p>
          <a:endParaRPr lang="en-IN"/>
        </a:p>
      </dgm:t>
    </dgm:pt>
    <dgm:pt modelId="{098C7F69-7EB4-4C23-977C-562EFA64707A}" type="sibTrans" cxnId="{7166D658-71CC-4911-8925-44A0EF535FB2}">
      <dgm:prSet/>
      <dgm:spPr/>
      <dgm:t>
        <a:bodyPr/>
        <a:lstStyle/>
        <a:p>
          <a:endParaRPr lang="en-IN"/>
        </a:p>
      </dgm:t>
    </dgm:pt>
    <dgm:pt modelId="{52230255-F75C-46FE-8015-8BEA736B3104}">
      <dgm:prSet phldrT="[Text]"/>
      <dgm:spPr/>
      <dgm:t>
        <a:bodyPr/>
        <a:lstStyle/>
        <a:p>
          <a:pPr algn="just">
            <a:buFont typeface="Wingdings" panose="05000000000000000000" pitchFamily="2" charset="2"/>
            <a:buNone/>
          </a:pPr>
          <a:endParaRPr lang="en-IN" sz="1600" dirty="0">
            <a:latin typeface="Times New Roman" panose="02020603050405020304" pitchFamily="18" charset="0"/>
            <a:cs typeface="Times New Roman" panose="02020603050405020304" pitchFamily="18" charset="0"/>
          </a:endParaRPr>
        </a:p>
      </dgm:t>
    </dgm:pt>
    <dgm:pt modelId="{E56423DA-D955-4F76-8DF8-C94B453A4BA1}" type="parTrans" cxnId="{8104DC82-A7F8-4087-8FCA-641528CF859F}">
      <dgm:prSet/>
      <dgm:spPr/>
      <dgm:t>
        <a:bodyPr/>
        <a:lstStyle/>
        <a:p>
          <a:endParaRPr lang="en-IN"/>
        </a:p>
      </dgm:t>
    </dgm:pt>
    <dgm:pt modelId="{F7BECF89-6379-46C0-A2D0-E7453F783629}" type="sibTrans" cxnId="{8104DC82-A7F8-4087-8FCA-641528CF859F}">
      <dgm:prSet/>
      <dgm:spPr/>
      <dgm:t>
        <a:bodyPr/>
        <a:lstStyle/>
        <a:p>
          <a:endParaRPr lang="en-IN"/>
        </a:p>
      </dgm:t>
    </dgm:pt>
    <dgm:pt modelId="{2F2C6E54-53C5-4538-B7B6-52C9233DF7FF}">
      <dgm:prSet phldrT="[Text]"/>
      <dgm:spPr/>
      <dgm:t>
        <a:bodyPr/>
        <a:lstStyle/>
        <a:p>
          <a:pPr algn="just">
            <a:buFont typeface="Wingdings" panose="05000000000000000000" pitchFamily="2" charset="2"/>
            <a:buNone/>
          </a:pPr>
          <a:endParaRPr lang="en-IN" sz="1600" dirty="0">
            <a:latin typeface="Times New Roman" panose="02020603050405020304" pitchFamily="18" charset="0"/>
            <a:cs typeface="Times New Roman" panose="02020603050405020304" pitchFamily="18" charset="0"/>
          </a:endParaRPr>
        </a:p>
      </dgm:t>
    </dgm:pt>
    <dgm:pt modelId="{C1BCFBB3-F544-410B-857A-D06768B6DFD2}" type="parTrans" cxnId="{AA4E64DC-A126-4582-A5F6-32579E145A2D}">
      <dgm:prSet/>
      <dgm:spPr/>
      <dgm:t>
        <a:bodyPr/>
        <a:lstStyle/>
        <a:p>
          <a:endParaRPr lang="en-IN"/>
        </a:p>
      </dgm:t>
    </dgm:pt>
    <dgm:pt modelId="{42090142-9D5C-476B-BA2C-0FA205E5577D}" type="sibTrans" cxnId="{AA4E64DC-A126-4582-A5F6-32579E145A2D}">
      <dgm:prSet/>
      <dgm:spPr/>
      <dgm:t>
        <a:bodyPr/>
        <a:lstStyle/>
        <a:p>
          <a:endParaRPr lang="en-IN"/>
        </a:p>
      </dgm:t>
    </dgm:pt>
    <dgm:pt modelId="{B7ED52A4-54C9-4112-8D83-B06C0E580AA9}">
      <dgm:prSet phldrT="[Text]"/>
      <dgm:spPr/>
      <dgm:t>
        <a:bodyPr/>
        <a:lstStyle/>
        <a:p>
          <a:pPr algn="just">
            <a:buFont typeface="Wingdings" panose="05000000000000000000" pitchFamily="2" charset="2"/>
            <a:buNone/>
          </a:pPr>
          <a:endParaRPr lang="en-IN" sz="1600" dirty="0">
            <a:latin typeface="Times New Roman" panose="02020603050405020304" pitchFamily="18" charset="0"/>
            <a:cs typeface="Times New Roman" panose="02020603050405020304" pitchFamily="18" charset="0"/>
          </a:endParaRPr>
        </a:p>
      </dgm:t>
    </dgm:pt>
    <dgm:pt modelId="{D0CACD98-B974-42D9-B7BC-AE5AB5DBC2ED}" type="parTrans" cxnId="{FCB83026-CE1B-4D18-8CC1-072AC2297B42}">
      <dgm:prSet/>
      <dgm:spPr/>
      <dgm:t>
        <a:bodyPr/>
        <a:lstStyle/>
        <a:p>
          <a:endParaRPr lang="en-IN"/>
        </a:p>
      </dgm:t>
    </dgm:pt>
    <dgm:pt modelId="{802C23D3-79A4-475C-AEF3-AC7445A9B54F}" type="sibTrans" cxnId="{FCB83026-CE1B-4D18-8CC1-072AC2297B42}">
      <dgm:prSet/>
      <dgm:spPr/>
      <dgm:t>
        <a:bodyPr/>
        <a:lstStyle/>
        <a:p>
          <a:endParaRPr lang="en-IN"/>
        </a:p>
      </dgm:t>
    </dgm:pt>
    <dgm:pt modelId="{8171172F-B5EF-48AB-A8C2-5500EA88682F}">
      <dgm:prSet phldrT="[Text]"/>
      <dgm:spPr/>
      <dgm:t>
        <a:bodyPr/>
        <a:lstStyle/>
        <a:p>
          <a:pPr algn="just">
            <a:buFont typeface="Wingdings" panose="05000000000000000000" pitchFamily="2" charset="2"/>
            <a:buNone/>
          </a:pPr>
          <a:endParaRPr lang="en-IN" sz="1600" dirty="0">
            <a:latin typeface="Times New Roman" panose="02020603050405020304" pitchFamily="18" charset="0"/>
            <a:cs typeface="Times New Roman" panose="02020603050405020304" pitchFamily="18" charset="0"/>
          </a:endParaRPr>
        </a:p>
      </dgm:t>
    </dgm:pt>
    <dgm:pt modelId="{EAF1515C-4F3A-44BB-A1BF-0A09BD391493}" type="parTrans" cxnId="{F2BE6286-A9CD-4360-8C3D-EA43CEAB95F9}">
      <dgm:prSet/>
      <dgm:spPr/>
      <dgm:t>
        <a:bodyPr/>
        <a:lstStyle/>
        <a:p>
          <a:endParaRPr lang="en-IN"/>
        </a:p>
      </dgm:t>
    </dgm:pt>
    <dgm:pt modelId="{9EA17BF5-4427-431A-BAD7-31BC48010E87}" type="sibTrans" cxnId="{F2BE6286-A9CD-4360-8C3D-EA43CEAB95F9}">
      <dgm:prSet/>
      <dgm:spPr/>
      <dgm:t>
        <a:bodyPr/>
        <a:lstStyle/>
        <a:p>
          <a:endParaRPr lang="en-IN"/>
        </a:p>
      </dgm:t>
    </dgm:pt>
    <dgm:pt modelId="{CFBD53AE-C756-482A-B60E-15B7AAA37A5F}">
      <dgm:prSet custT="1"/>
      <dgm:spPr/>
      <dgm:t>
        <a:bodyPr/>
        <a:lstStyle/>
        <a:p>
          <a:pPr>
            <a:buNone/>
          </a:pPr>
          <a:r>
            <a:rPr lang="en-IN" sz="2400" dirty="0"/>
            <a:t>k = 0</a:t>
          </a:r>
        </a:p>
      </dgm:t>
    </dgm:pt>
    <dgm:pt modelId="{57FE4559-A25C-4605-8FEF-E15142634596}" type="parTrans" cxnId="{74395E9B-0C23-477A-BB95-77F81476801B}">
      <dgm:prSet/>
      <dgm:spPr/>
      <dgm:t>
        <a:bodyPr/>
        <a:lstStyle/>
        <a:p>
          <a:endParaRPr lang="en-IN"/>
        </a:p>
      </dgm:t>
    </dgm:pt>
    <dgm:pt modelId="{FEAC2AE7-A4B0-4C66-A325-4B27D7E80CA2}" type="sibTrans" cxnId="{74395E9B-0C23-477A-BB95-77F81476801B}">
      <dgm:prSet/>
      <dgm:spPr/>
      <dgm:t>
        <a:bodyPr/>
        <a:lstStyle/>
        <a:p>
          <a:endParaRPr lang="en-IN"/>
        </a:p>
      </dgm:t>
    </dgm:pt>
    <dgm:pt modelId="{79B7AB63-BD9B-4D74-905F-392A4EFF0B3A}">
      <dgm:prSet custT="1"/>
      <dgm:spPr/>
      <dgm:t>
        <a:bodyPr/>
        <a:lstStyle/>
        <a:p>
          <a:pPr>
            <a:buNone/>
          </a:pPr>
          <a:r>
            <a:rPr lang="en-IN" sz="2400" dirty="0"/>
            <a:t>where </a:t>
          </a:r>
          <a:r>
            <a:rPr lang="en-IN" sz="2400" b="1" dirty="0"/>
            <a:t>k</a:t>
          </a:r>
          <a:r>
            <a:rPr lang="en-IN" sz="2400" dirty="0"/>
            <a:t> is the current common prefix length.</a:t>
          </a:r>
        </a:p>
      </dgm:t>
    </dgm:pt>
    <dgm:pt modelId="{21D0036D-20EE-4729-90BA-19E8DB4C2519}" type="parTrans" cxnId="{01983838-0F54-4E6E-8ED7-565ECCC4F3D8}">
      <dgm:prSet/>
      <dgm:spPr/>
      <dgm:t>
        <a:bodyPr/>
        <a:lstStyle/>
        <a:p>
          <a:endParaRPr lang="en-IN"/>
        </a:p>
      </dgm:t>
    </dgm:pt>
    <dgm:pt modelId="{6E4421F5-41FF-48E5-A7AE-798A0F2DFA52}" type="sibTrans" cxnId="{01983838-0F54-4E6E-8ED7-565ECCC4F3D8}">
      <dgm:prSet/>
      <dgm:spPr/>
      <dgm:t>
        <a:bodyPr/>
        <a:lstStyle/>
        <a:p>
          <a:endParaRPr lang="en-IN"/>
        </a:p>
      </dgm:t>
    </dgm:pt>
    <dgm:pt modelId="{52A6A0CC-8508-4687-9DCD-81CD2A82BD49}" type="pres">
      <dgm:prSet presAssocID="{F524CF8E-904C-4D92-8A76-775F7189E1A0}" presName="linear" presStyleCnt="0">
        <dgm:presLayoutVars>
          <dgm:animLvl val="lvl"/>
          <dgm:resizeHandles val="exact"/>
        </dgm:presLayoutVars>
      </dgm:prSet>
      <dgm:spPr/>
    </dgm:pt>
    <dgm:pt modelId="{34E3C31A-170A-424A-A9FE-953D342DDB68}" type="pres">
      <dgm:prSet presAssocID="{2C4B166C-7EB4-49A2-8740-5C2828A33153}" presName="parentText" presStyleLbl="node1" presStyleIdx="0" presStyleCnt="1">
        <dgm:presLayoutVars>
          <dgm:chMax val="0"/>
          <dgm:bulletEnabled val="1"/>
        </dgm:presLayoutVars>
      </dgm:prSet>
      <dgm:spPr/>
    </dgm:pt>
    <dgm:pt modelId="{A7F36DA1-0370-4EBC-A2D3-8421A855B5AA}" type="pres">
      <dgm:prSet presAssocID="{2C4B166C-7EB4-49A2-8740-5C2828A33153}" presName="childText" presStyleLbl="revTx" presStyleIdx="0" presStyleCnt="1" custScaleX="84663">
        <dgm:presLayoutVars>
          <dgm:bulletEnabled val="1"/>
        </dgm:presLayoutVars>
      </dgm:prSet>
      <dgm:spPr/>
    </dgm:pt>
  </dgm:ptLst>
  <dgm:cxnLst>
    <dgm:cxn modelId="{FCB83026-CE1B-4D18-8CC1-072AC2297B42}" srcId="{2C4B166C-7EB4-49A2-8740-5C2828A33153}" destId="{B7ED52A4-54C9-4112-8D83-B06C0E580AA9}" srcOrd="7" destOrd="0" parTransId="{D0CACD98-B974-42D9-B7BC-AE5AB5DBC2ED}" sibTransId="{802C23D3-79A4-475C-AEF3-AC7445A9B54F}"/>
    <dgm:cxn modelId="{7C020E37-6A1B-4BCA-8348-28B0C817FCC9}" type="presOf" srcId="{52230255-F75C-46FE-8015-8BEA736B3104}" destId="{A7F36DA1-0370-4EBC-A2D3-8421A855B5AA}" srcOrd="0" destOrd="5" presId="urn:microsoft.com/office/officeart/2005/8/layout/vList2"/>
    <dgm:cxn modelId="{01983838-0F54-4E6E-8ED7-565ECCC4F3D8}" srcId="{2C4B166C-7EB4-49A2-8740-5C2828A33153}" destId="{79B7AB63-BD9B-4D74-905F-392A4EFF0B3A}" srcOrd="2" destOrd="0" parTransId="{21D0036D-20EE-4729-90BA-19E8DB4C2519}" sibTransId="{6E4421F5-41FF-48E5-A7AE-798A0F2DFA52}"/>
    <dgm:cxn modelId="{C46C0965-D9D7-4D97-85F5-AEC8656EB7DB}" srcId="{F524CF8E-904C-4D92-8A76-775F7189E1A0}" destId="{2C4B166C-7EB4-49A2-8740-5C2828A33153}" srcOrd="0" destOrd="0" parTransId="{96FCAD02-DC91-4EE8-8AE2-0D56505641E8}" sibTransId="{9851DF3C-5D56-490B-9EE8-B7027C49D0B6}"/>
    <dgm:cxn modelId="{B2587D6A-958B-4F60-94AF-4612F1143FE8}" type="presOf" srcId="{2F2C6E54-53C5-4538-B7B6-52C9233DF7FF}" destId="{A7F36DA1-0370-4EBC-A2D3-8421A855B5AA}" srcOrd="0" destOrd="6" presId="urn:microsoft.com/office/officeart/2005/8/layout/vList2"/>
    <dgm:cxn modelId="{EEF7F454-D683-4403-8599-35E1AAAC25D4}" type="presOf" srcId="{8171172F-B5EF-48AB-A8C2-5500EA88682F}" destId="{A7F36DA1-0370-4EBC-A2D3-8421A855B5AA}" srcOrd="0" destOrd="8" presId="urn:microsoft.com/office/officeart/2005/8/layout/vList2"/>
    <dgm:cxn modelId="{7166D658-71CC-4911-8925-44A0EF535FB2}" srcId="{2C4B166C-7EB4-49A2-8740-5C2828A33153}" destId="{AB057AC5-2BBD-4E45-BFC0-97BC9B39EC4D}" srcOrd="4" destOrd="0" parTransId="{32AC51A0-1227-4073-8125-6E311EB39C89}" sibTransId="{098C7F69-7EB4-4C23-977C-562EFA64707A}"/>
    <dgm:cxn modelId="{53396F79-6F6D-491A-8771-B67383A430F1}" type="presOf" srcId="{AB057AC5-2BBD-4E45-BFC0-97BC9B39EC4D}" destId="{A7F36DA1-0370-4EBC-A2D3-8421A855B5AA}" srcOrd="0" destOrd="4" presId="urn:microsoft.com/office/officeart/2005/8/layout/vList2"/>
    <dgm:cxn modelId="{8FF17479-E3B4-4928-B325-1521862AED1B}" srcId="{2C4B166C-7EB4-49A2-8740-5C2828A33153}" destId="{1BBC877B-3388-4E92-9A5A-2F409ABFC167}" srcOrd="3" destOrd="0" parTransId="{057202FF-D27F-4B6E-960B-66F03BE58364}" sibTransId="{9C709469-07ED-4949-8096-E41F376BD9DB}"/>
    <dgm:cxn modelId="{8104DC82-A7F8-4087-8FCA-641528CF859F}" srcId="{2C4B166C-7EB4-49A2-8740-5C2828A33153}" destId="{52230255-F75C-46FE-8015-8BEA736B3104}" srcOrd="5" destOrd="0" parTransId="{E56423DA-D955-4F76-8DF8-C94B453A4BA1}" sibTransId="{F7BECF89-6379-46C0-A2D0-E7453F783629}"/>
    <dgm:cxn modelId="{F2BE6286-A9CD-4360-8C3D-EA43CEAB95F9}" srcId="{2C4B166C-7EB4-49A2-8740-5C2828A33153}" destId="{8171172F-B5EF-48AB-A8C2-5500EA88682F}" srcOrd="8" destOrd="0" parTransId="{EAF1515C-4F3A-44BB-A1BF-0A09BD391493}" sibTransId="{9EA17BF5-4427-431A-BAD7-31BC48010E87}"/>
    <dgm:cxn modelId="{74395E9B-0C23-477A-BB95-77F81476801B}" srcId="{2C4B166C-7EB4-49A2-8740-5C2828A33153}" destId="{CFBD53AE-C756-482A-B60E-15B7AAA37A5F}" srcOrd="1" destOrd="0" parTransId="{57FE4559-A25C-4605-8FEF-E15142634596}" sibTransId="{FEAC2AE7-A4B0-4C66-A325-4B27D7E80CA2}"/>
    <dgm:cxn modelId="{78F6BFA1-F92D-46A7-9F2C-1504E8D5CBEF}" type="presOf" srcId="{B7ED52A4-54C9-4112-8D83-B06C0E580AA9}" destId="{A7F36DA1-0370-4EBC-A2D3-8421A855B5AA}" srcOrd="0" destOrd="7" presId="urn:microsoft.com/office/officeart/2005/8/layout/vList2"/>
    <dgm:cxn modelId="{60FD1FB8-AB18-4099-9785-0032CEBC45E9}" type="presOf" srcId="{CFBD53AE-C756-482A-B60E-15B7AAA37A5F}" destId="{A7F36DA1-0370-4EBC-A2D3-8421A855B5AA}" srcOrd="0" destOrd="1" presId="urn:microsoft.com/office/officeart/2005/8/layout/vList2"/>
    <dgm:cxn modelId="{8D9481C9-2A08-4AE8-8A3F-95202B6476E3}" type="presOf" srcId="{3C6A6061-55C2-49C0-B8F3-1B5CE3022FD7}" destId="{A7F36DA1-0370-4EBC-A2D3-8421A855B5AA}" srcOrd="0" destOrd="0" presId="urn:microsoft.com/office/officeart/2005/8/layout/vList2"/>
    <dgm:cxn modelId="{500B14CE-E222-407D-BA96-E6B4A6F9E4CF}" srcId="{2C4B166C-7EB4-49A2-8740-5C2828A33153}" destId="{3C6A6061-55C2-49C0-B8F3-1B5CE3022FD7}" srcOrd="0" destOrd="0" parTransId="{31CE7716-BF5C-412A-B44D-12835975F456}" sibTransId="{6A60D045-0F31-4146-9112-315D78EC3504}"/>
    <dgm:cxn modelId="{DA5120D0-9258-4751-A131-A92BA069AF64}" type="presOf" srcId="{2C4B166C-7EB4-49A2-8740-5C2828A33153}" destId="{34E3C31A-170A-424A-A9FE-953D342DDB68}" srcOrd="0" destOrd="0" presId="urn:microsoft.com/office/officeart/2005/8/layout/vList2"/>
    <dgm:cxn modelId="{40000ADA-15DE-4F47-9CAC-E7B60B7FB326}" type="presOf" srcId="{79B7AB63-BD9B-4D74-905F-392A4EFF0B3A}" destId="{A7F36DA1-0370-4EBC-A2D3-8421A855B5AA}" srcOrd="0" destOrd="2" presId="urn:microsoft.com/office/officeart/2005/8/layout/vList2"/>
    <dgm:cxn modelId="{AA4E64DC-A126-4582-A5F6-32579E145A2D}" srcId="{2C4B166C-7EB4-49A2-8740-5C2828A33153}" destId="{2F2C6E54-53C5-4538-B7B6-52C9233DF7FF}" srcOrd="6" destOrd="0" parTransId="{C1BCFBB3-F544-410B-857A-D06768B6DFD2}" sibTransId="{42090142-9D5C-476B-BA2C-0FA205E5577D}"/>
    <dgm:cxn modelId="{FBF4EAF1-625E-4B67-9D3D-A1EDB30974FC}" type="presOf" srcId="{F524CF8E-904C-4D92-8A76-775F7189E1A0}" destId="{52A6A0CC-8508-4687-9DCD-81CD2A82BD49}" srcOrd="0" destOrd="0" presId="urn:microsoft.com/office/officeart/2005/8/layout/vList2"/>
    <dgm:cxn modelId="{D2C0AFFC-DCE4-482E-90A9-83D7FE18CE6D}" type="presOf" srcId="{1BBC877B-3388-4E92-9A5A-2F409ABFC167}" destId="{A7F36DA1-0370-4EBC-A2D3-8421A855B5AA}" srcOrd="0" destOrd="3" presId="urn:microsoft.com/office/officeart/2005/8/layout/vList2"/>
    <dgm:cxn modelId="{A3F22879-0D17-4170-9239-EA56BBD23263}" type="presParOf" srcId="{52A6A0CC-8508-4687-9DCD-81CD2A82BD49}" destId="{34E3C31A-170A-424A-A9FE-953D342DDB68}" srcOrd="0" destOrd="0" presId="urn:microsoft.com/office/officeart/2005/8/layout/vList2"/>
    <dgm:cxn modelId="{0499E2B4-ABBD-440F-92FF-6CA472C9C419}" type="presParOf" srcId="{52A6A0CC-8508-4687-9DCD-81CD2A82BD49}" destId="{A7F36DA1-0370-4EBC-A2D3-8421A855B5AA}" srcOrd="1" destOrd="0" presId="urn:microsoft.com/office/officeart/2005/8/layout/vList2"/>
  </dgm:cxnLst>
  <dgm:bg/>
  <dgm:whole>
    <a:ln>
      <a:solidFill>
        <a:schemeClr val="accent1"/>
      </a:solidFill>
    </a:ln>
  </dgm:whole>
  <dgm:extLst>
    <a:ext uri="http://schemas.microsoft.com/office/drawing/2008/diagram">
      <dsp:dataModelExt xmlns:dsp="http://schemas.microsoft.com/office/drawing/2008/diagram" relId="rId11"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F524CF8E-904C-4D92-8A76-775F7189E1A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2C4B166C-7EB4-49A2-8740-5C2828A33153}">
      <dgm:prSet phldrT="[Text]" custT="1"/>
      <dgm:spPr/>
      <dgm:t>
        <a:bodyPr/>
        <a:lstStyle/>
        <a:p>
          <a:pPr>
            <a:buNone/>
          </a:pPr>
          <a:r>
            <a:rPr lang="en-IN" sz="2000" b="1" dirty="0"/>
            <a:t>Step 3</a:t>
          </a:r>
          <a:endParaRPr lang="en-IN" sz="2000" b="1" dirty="0">
            <a:latin typeface="Times New Roman" panose="02020603050405020304" pitchFamily="18" charset="0"/>
            <a:cs typeface="Times New Roman" panose="02020603050405020304" pitchFamily="18" charset="0"/>
          </a:endParaRPr>
        </a:p>
      </dgm:t>
    </dgm:pt>
    <dgm:pt modelId="{96FCAD02-DC91-4EE8-8AE2-0D56505641E8}" type="parTrans" cxnId="{C46C0965-D9D7-4D97-85F5-AEC8656EB7DB}">
      <dgm:prSet/>
      <dgm:spPr/>
      <dgm:t>
        <a:bodyPr/>
        <a:lstStyle/>
        <a:p>
          <a:endParaRPr lang="en-IN" sz="2000">
            <a:latin typeface="Times New Roman" panose="02020603050405020304" pitchFamily="18" charset="0"/>
            <a:cs typeface="Times New Roman" panose="02020603050405020304" pitchFamily="18" charset="0"/>
          </a:endParaRPr>
        </a:p>
      </dgm:t>
    </dgm:pt>
    <dgm:pt modelId="{9851DF3C-5D56-490B-9EE8-B7027C49D0B6}" type="sibTrans" cxnId="{C46C0965-D9D7-4D97-85F5-AEC8656EB7DB}">
      <dgm:prSet/>
      <dgm:spPr/>
      <dgm:t>
        <a:bodyPr/>
        <a:lstStyle/>
        <a:p>
          <a:endParaRPr lang="en-IN" sz="2000">
            <a:latin typeface="Times New Roman" panose="02020603050405020304" pitchFamily="18" charset="0"/>
            <a:cs typeface="Times New Roman" panose="02020603050405020304" pitchFamily="18" charset="0"/>
          </a:endParaRPr>
        </a:p>
      </dgm:t>
    </dgm:pt>
    <dgm:pt modelId="{3C6A6061-55C2-49C0-B8F3-1B5CE3022FD7}">
      <dgm:prSet phldrT="[Text]" custT="1"/>
      <dgm:spPr/>
      <dgm:t>
        <a:bodyPr/>
        <a:lstStyle/>
        <a:p>
          <a:pPr algn="just">
            <a:buFont typeface="Wingdings" panose="05000000000000000000" pitchFamily="2" charset="2"/>
            <a:buNone/>
          </a:pPr>
          <a:r>
            <a:rPr lang="en-IN" sz="2000" dirty="0"/>
            <a:t>For every suffix:</a:t>
          </a:r>
          <a:endParaRPr lang="en-IN" sz="2000" dirty="0">
            <a:latin typeface="Times New Roman" panose="02020603050405020304" pitchFamily="18" charset="0"/>
            <a:cs typeface="Times New Roman" panose="02020603050405020304" pitchFamily="18" charset="0"/>
          </a:endParaRPr>
        </a:p>
      </dgm:t>
    </dgm:pt>
    <dgm:pt modelId="{31CE7716-BF5C-412A-B44D-12835975F456}" type="parTrans" cxnId="{500B14CE-E222-407D-BA96-E6B4A6F9E4CF}">
      <dgm:prSet/>
      <dgm:spPr/>
      <dgm:t>
        <a:bodyPr/>
        <a:lstStyle/>
        <a:p>
          <a:endParaRPr lang="en-IN" sz="2000">
            <a:latin typeface="Times New Roman" panose="02020603050405020304" pitchFamily="18" charset="0"/>
            <a:cs typeface="Times New Roman" panose="02020603050405020304" pitchFamily="18" charset="0"/>
          </a:endParaRPr>
        </a:p>
      </dgm:t>
    </dgm:pt>
    <dgm:pt modelId="{6A60D045-0F31-4146-9112-315D78EC3504}" type="sibTrans" cxnId="{500B14CE-E222-407D-BA96-E6B4A6F9E4CF}">
      <dgm:prSet/>
      <dgm:spPr/>
      <dgm:t>
        <a:bodyPr/>
        <a:lstStyle/>
        <a:p>
          <a:endParaRPr lang="en-IN" sz="2000">
            <a:latin typeface="Times New Roman" panose="02020603050405020304" pitchFamily="18" charset="0"/>
            <a:cs typeface="Times New Roman" panose="02020603050405020304" pitchFamily="18" charset="0"/>
          </a:endParaRPr>
        </a:p>
      </dgm:t>
    </dgm:pt>
    <dgm:pt modelId="{D141AB72-113A-4BD9-995F-B89353BAF8C6}">
      <dgm:prSet custT="1"/>
      <dgm:spPr/>
      <dgm:t>
        <a:bodyPr/>
        <a:lstStyle/>
        <a:p>
          <a:pPr>
            <a:buFont typeface="Arial" panose="020B0604020202020204" pitchFamily="34" charset="0"/>
            <a:buChar char="•"/>
          </a:pPr>
          <a:r>
            <a:rPr lang="en-IN" sz="2000"/>
            <a:t>Find its rank. </a:t>
          </a:r>
        </a:p>
      </dgm:t>
    </dgm:pt>
    <dgm:pt modelId="{F36008FF-421A-4AA6-9EAA-B3B259436F6D}" type="parTrans" cxnId="{EBD4AD33-9D06-4A6A-9884-C2365667EB5E}">
      <dgm:prSet/>
      <dgm:spPr/>
      <dgm:t>
        <a:bodyPr/>
        <a:lstStyle/>
        <a:p>
          <a:endParaRPr lang="en-IN" sz="2000"/>
        </a:p>
      </dgm:t>
    </dgm:pt>
    <dgm:pt modelId="{23014BAA-FD8A-4A05-BC87-DBA6A0AE031B}" type="sibTrans" cxnId="{EBD4AD33-9D06-4A6A-9884-C2365667EB5E}">
      <dgm:prSet/>
      <dgm:spPr/>
      <dgm:t>
        <a:bodyPr/>
        <a:lstStyle/>
        <a:p>
          <a:endParaRPr lang="en-IN" sz="2000"/>
        </a:p>
      </dgm:t>
    </dgm:pt>
    <dgm:pt modelId="{DB407B89-98A8-4322-ADE4-312EE125FFCA}">
      <dgm:prSet custT="1"/>
      <dgm:spPr/>
      <dgm:t>
        <a:bodyPr/>
        <a:lstStyle/>
        <a:p>
          <a:pPr>
            <a:buFont typeface="Arial" panose="020B0604020202020204" pitchFamily="34" charset="0"/>
            <a:buChar char="•"/>
          </a:pPr>
          <a:r>
            <a:rPr lang="en-IN" sz="2000" dirty="0"/>
            <a:t>Compare it with the </a:t>
          </a:r>
          <a:r>
            <a:rPr lang="en-IN" sz="2000" b="1" dirty="0"/>
            <a:t>next suffix in sorted order</a:t>
          </a:r>
          <a:r>
            <a:rPr lang="en-IN" sz="2000" dirty="0"/>
            <a:t>. </a:t>
          </a:r>
        </a:p>
      </dgm:t>
    </dgm:pt>
    <dgm:pt modelId="{5152D535-1A45-4DCE-B083-F80EBF367E59}" type="parTrans" cxnId="{AD53C96C-971A-4743-A957-F0C8DE2F69D6}">
      <dgm:prSet/>
      <dgm:spPr/>
      <dgm:t>
        <a:bodyPr/>
        <a:lstStyle/>
        <a:p>
          <a:endParaRPr lang="en-IN" sz="2000"/>
        </a:p>
      </dgm:t>
    </dgm:pt>
    <dgm:pt modelId="{A9A2A3AF-759A-4E29-84D9-1D1C7E12EA00}" type="sibTrans" cxnId="{AD53C96C-971A-4743-A957-F0C8DE2F69D6}">
      <dgm:prSet/>
      <dgm:spPr/>
      <dgm:t>
        <a:bodyPr/>
        <a:lstStyle/>
        <a:p>
          <a:endParaRPr lang="en-IN" sz="2000"/>
        </a:p>
      </dgm:t>
    </dgm:pt>
    <dgm:pt modelId="{AEE36559-AFAE-4531-B609-80FE731F355C}">
      <dgm:prSet custT="1"/>
      <dgm:spPr/>
      <dgm:t>
        <a:bodyPr/>
        <a:lstStyle/>
        <a:p>
          <a:pPr>
            <a:buFont typeface="Arial" panose="020B0604020202020204" pitchFamily="34" charset="0"/>
            <a:buChar char="•"/>
          </a:pPr>
          <a:r>
            <a:rPr lang="en-IN" sz="2000" dirty="0"/>
            <a:t>Count matching characters. </a:t>
          </a:r>
        </a:p>
      </dgm:t>
    </dgm:pt>
    <dgm:pt modelId="{BBEA1FE7-E9B6-4AB5-BD73-931FF02F864F}" type="parTrans" cxnId="{16D2B642-A38B-4EAF-9177-EE0CB3A10C89}">
      <dgm:prSet/>
      <dgm:spPr/>
      <dgm:t>
        <a:bodyPr/>
        <a:lstStyle/>
        <a:p>
          <a:endParaRPr lang="en-IN" sz="2000"/>
        </a:p>
      </dgm:t>
    </dgm:pt>
    <dgm:pt modelId="{101D552E-2145-4B70-974E-10761CB773FF}" type="sibTrans" cxnId="{16D2B642-A38B-4EAF-9177-EE0CB3A10C89}">
      <dgm:prSet/>
      <dgm:spPr/>
      <dgm:t>
        <a:bodyPr/>
        <a:lstStyle/>
        <a:p>
          <a:endParaRPr lang="en-IN" sz="2000"/>
        </a:p>
      </dgm:t>
    </dgm:pt>
    <dgm:pt modelId="{7A20FF39-3BAB-44E4-B81D-B22665BA39FA}">
      <dgm:prSet custT="1"/>
      <dgm:spPr/>
      <dgm:t>
        <a:bodyPr/>
        <a:lstStyle/>
        <a:p>
          <a:pPr>
            <a:buFont typeface="Arial" panose="020B0604020202020204" pitchFamily="34" charset="0"/>
            <a:buChar char="•"/>
          </a:pPr>
          <a:r>
            <a:rPr lang="en-IN" sz="2000"/>
            <a:t>Store the LCP. </a:t>
          </a:r>
        </a:p>
      </dgm:t>
    </dgm:pt>
    <dgm:pt modelId="{A558FAB0-77FC-43FA-BEA9-37ED26AA6AAC}" type="parTrans" cxnId="{921CAD0E-0C88-4A8F-AE93-B0A02FC34FAC}">
      <dgm:prSet/>
      <dgm:spPr/>
      <dgm:t>
        <a:bodyPr/>
        <a:lstStyle/>
        <a:p>
          <a:endParaRPr lang="en-IN" sz="2000"/>
        </a:p>
      </dgm:t>
    </dgm:pt>
    <dgm:pt modelId="{E06F0F27-1F17-4602-9CFF-AB7B0E68D7AA}" type="sibTrans" cxnId="{921CAD0E-0C88-4A8F-AE93-B0A02FC34FAC}">
      <dgm:prSet/>
      <dgm:spPr/>
      <dgm:t>
        <a:bodyPr/>
        <a:lstStyle/>
        <a:p>
          <a:endParaRPr lang="en-IN" sz="2000"/>
        </a:p>
      </dgm:t>
    </dgm:pt>
    <dgm:pt modelId="{1CD616DA-8C40-4547-B709-B8A8336DA386}">
      <dgm:prSet custT="1"/>
      <dgm:spPr/>
      <dgm:t>
        <a:bodyPr/>
        <a:lstStyle/>
        <a:p>
          <a:pPr>
            <a:buFont typeface="Arial" panose="020B0604020202020204" pitchFamily="34" charset="0"/>
            <a:buChar char="•"/>
          </a:pPr>
          <a:r>
            <a:rPr lang="en-IN" sz="2000" dirty="0"/>
            <a:t>Decrease </a:t>
          </a:r>
          <a:r>
            <a:rPr lang="en-IN" sz="2000" b="1" dirty="0"/>
            <a:t>k</a:t>
          </a:r>
          <a:r>
            <a:rPr lang="en-IN" sz="2000" dirty="0"/>
            <a:t> by one before moving to the next suffix (if k &gt; 0).</a:t>
          </a:r>
        </a:p>
      </dgm:t>
    </dgm:pt>
    <dgm:pt modelId="{4F1C11B6-A35C-4DE7-BD59-4AC754771EB3}" type="parTrans" cxnId="{A611DF7D-07F7-4191-B365-D16C9B02A993}">
      <dgm:prSet/>
      <dgm:spPr/>
      <dgm:t>
        <a:bodyPr/>
        <a:lstStyle/>
        <a:p>
          <a:endParaRPr lang="en-IN" sz="2000"/>
        </a:p>
      </dgm:t>
    </dgm:pt>
    <dgm:pt modelId="{F2860B18-7FEE-456E-B6CE-01338A610C05}" type="sibTrans" cxnId="{A611DF7D-07F7-4191-B365-D16C9B02A993}">
      <dgm:prSet/>
      <dgm:spPr/>
      <dgm:t>
        <a:bodyPr/>
        <a:lstStyle/>
        <a:p>
          <a:endParaRPr lang="en-IN" sz="2000"/>
        </a:p>
      </dgm:t>
    </dgm:pt>
    <dgm:pt modelId="{52A6A0CC-8508-4687-9DCD-81CD2A82BD49}" type="pres">
      <dgm:prSet presAssocID="{F524CF8E-904C-4D92-8A76-775F7189E1A0}" presName="linear" presStyleCnt="0">
        <dgm:presLayoutVars>
          <dgm:animLvl val="lvl"/>
          <dgm:resizeHandles val="exact"/>
        </dgm:presLayoutVars>
      </dgm:prSet>
      <dgm:spPr/>
    </dgm:pt>
    <dgm:pt modelId="{34E3C31A-170A-424A-A9FE-953D342DDB68}" type="pres">
      <dgm:prSet presAssocID="{2C4B166C-7EB4-49A2-8740-5C2828A33153}" presName="parentText" presStyleLbl="node1" presStyleIdx="0" presStyleCnt="1">
        <dgm:presLayoutVars>
          <dgm:chMax val="0"/>
          <dgm:bulletEnabled val="1"/>
        </dgm:presLayoutVars>
      </dgm:prSet>
      <dgm:spPr/>
    </dgm:pt>
    <dgm:pt modelId="{A7F36DA1-0370-4EBC-A2D3-8421A855B5AA}" type="pres">
      <dgm:prSet presAssocID="{2C4B166C-7EB4-49A2-8740-5C2828A33153}" presName="childText" presStyleLbl="revTx" presStyleIdx="0" presStyleCnt="1">
        <dgm:presLayoutVars>
          <dgm:bulletEnabled val="1"/>
        </dgm:presLayoutVars>
      </dgm:prSet>
      <dgm:spPr/>
    </dgm:pt>
  </dgm:ptLst>
  <dgm:cxnLst>
    <dgm:cxn modelId="{A45E7501-7A2B-4C2F-885B-A95D5B3EE19E}" type="presOf" srcId="{AEE36559-AFAE-4531-B609-80FE731F355C}" destId="{A7F36DA1-0370-4EBC-A2D3-8421A855B5AA}" srcOrd="0" destOrd="3" presId="urn:microsoft.com/office/officeart/2005/8/layout/vList2"/>
    <dgm:cxn modelId="{F8814407-7503-4A3E-B799-F3FCBDC25592}" type="presOf" srcId="{F524CF8E-904C-4D92-8A76-775F7189E1A0}" destId="{52A6A0CC-8508-4687-9DCD-81CD2A82BD49}" srcOrd="0" destOrd="0" presId="urn:microsoft.com/office/officeart/2005/8/layout/vList2"/>
    <dgm:cxn modelId="{921CAD0E-0C88-4A8F-AE93-B0A02FC34FAC}" srcId="{2C4B166C-7EB4-49A2-8740-5C2828A33153}" destId="{7A20FF39-3BAB-44E4-B81D-B22665BA39FA}" srcOrd="4" destOrd="0" parTransId="{A558FAB0-77FC-43FA-BEA9-37ED26AA6AAC}" sibTransId="{E06F0F27-1F17-4602-9CFF-AB7B0E68D7AA}"/>
    <dgm:cxn modelId="{EBD4AD33-9D06-4A6A-9884-C2365667EB5E}" srcId="{2C4B166C-7EB4-49A2-8740-5C2828A33153}" destId="{D141AB72-113A-4BD9-995F-B89353BAF8C6}" srcOrd="1" destOrd="0" parTransId="{F36008FF-421A-4AA6-9EAA-B3B259436F6D}" sibTransId="{23014BAA-FD8A-4A05-BC87-DBA6A0AE031B}"/>
    <dgm:cxn modelId="{50DA3062-1519-41B3-B4A2-E1BB096EE0A7}" type="presOf" srcId="{3C6A6061-55C2-49C0-B8F3-1B5CE3022FD7}" destId="{A7F36DA1-0370-4EBC-A2D3-8421A855B5AA}" srcOrd="0" destOrd="0" presId="urn:microsoft.com/office/officeart/2005/8/layout/vList2"/>
    <dgm:cxn modelId="{16D2B642-A38B-4EAF-9177-EE0CB3A10C89}" srcId="{2C4B166C-7EB4-49A2-8740-5C2828A33153}" destId="{AEE36559-AFAE-4531-B609-80FE731F355C}" srcOrd="3" destOrd="0" parTransId="{BBEA1FE7-E9B6-4AB5-BD73-931FF02F864F}" sibTransId="{101D552E-2145-4B70-974E-10761CB773FF}"/>
    <dgm:cxn modelId="{C46C0965-D9D7-4D97-85F5-AEC8656EB7DB}" srcId="{F524CF8E-904C-4D92-8A76-775F7189E1A0}" destId="{2C4B166C-7EB4-49A2-8740-5C2828A33153}" srcOrd="0" destOrd="0" parTransId="{96FCAD02-DC91-4EE8-8AE2-0D56505641E8}" sibTransId="{9851DF3C-5D56-490B-9EE8-B7027C49D0B6}"/>
    <dgm:cxn modelId="{AD53C96C-971A-4743-A957-F0C8DE2F69D6}" srcId="{2C4B166C-7EB4-49A2-8740-5C2828A33153}" destId="{DB407B89-98A8-4322-ADE4-312EE125FFCA}" srcOrd="2" destOrd="0" parTransId="{5152D535-1A45-4DCE-B083-F80EBF367E59}" sibTransId="{A9A2A3AF-759A-4E29-84D9-1D1C7E12EA00}"/>
    <dgm:cxn modelId="{380C9B5A-D242-4B5E-AB7D-532C22148249}" type="presOf" srcId="{1CD616DA-8C40-4547-B709-B8A8336DA386}" destId="{A7F36DA1-0370-4EBC-A2D3-8421A855B5AA}" srcOrd="0" destOrd="5" presId="urn:microsoft.com/office/officeart/2005/8/layout/vList2"/>
    <dgm:cxn modelId="{A611DF7D-07F7-4191-B365-D16C9B02A993}" srcId="{2C4B166C-7EB4-49A2-8740-5C2828A33153}" destId="{1CD616DA-8C40-4547-B709-B8A8336DA386}" srcOrd="5" destOrd="0" parTransId="{4F1C11B6-A35C-4DE7-BD59-4AC754771EB3}" sibTransId="{F2860B18-7FEE-456E-B6CE-01338A610C05}"/>
    <dgm:cxn modelId="{1331CD82-6FC2-476F-ADD7-6818320FFDC2}" type="presOf" srcId="{2C4B166C-7EB4-49A2-8740-5C2828A33153}" destId="{34E3C31A-170A-424A-A9FE-953D342DDB68}" srcOrd="0" destOrd="0" presId="urn:microsoft.com/office/officeart/2005/8/layout/vList2"/>
    <dgm:cxn modelId="{500B14CE-E222-407D-BA96-E6B4A6F9E4CF}" srcId="{2C4B166C-7EB4-49A2-8740-5C2828A33153}" destId="{3C6A6061-55C2-49C0-B8F3-1B5CE3022FD7}" srcOrd="0" destOrd="0" parTransId="{31CE7716-BF5C-412A-B44D-12835975F456}" sibTransId="{6A60D045-0F31-4146-9112-315D78EC3504}"/>
    <dgm:cxn modelId="{03E382D1-2F10-4328-964A-E5D219A11B3A}" type="presOf" srcId="{7A20FF39-3BAB-44E4-B81D-B22665BA39FA}" destId="{A7F36DA1-0370-4EBC-A2D3-8421A855B5AA}" srcOrd="0" destOrd="4" presId="urn:microsoft.com/office/officeart/2005/8/layout/vList2"/>
    <dgm:cxn modelId="{A15D5CED-A921-4995-861A-E417DF0739E9}" type="presOf" srcId="{DB407B89-98A8-4322-ADE4-312EE125FFCA}" destId="{A7F36DA1-0370-4EBC-A2D3-8421A855B5AA}" srcOrd="0" destOrd="2" presId="urn:microsoft.com/office/officeart/2005/8/layout/vList2"/>
    <dgm:cxn modelId="{29C32CF3-1903-4B6C-A73B-7F31E174D45B}" type="presOf" srcId="{D141AB72-113A-4BD9-995F-B89353BAF8C6}" destId="{A7F36DA1-0370-4EBC-A2D3-8421A855B5AA}" srcOrd="0" destOrd="1" presId="urn:microsoft.com/office/officeart/2005/8/layout/vList2"/>
    <dgm:cxn modelId="{DA7A2476-4A45-4092-B244-D1F9EA2B609C}" type="presParOf" srcId="{52A6A0CC-8508-4687-9DCD-81CD2A82BD49}" destId="{34E3C31A-170A-424A-A9FE-953D342DDB68}" srcOrd="0" destOrd="0" presId="urn:microsoft.com/office/officeart/2005/8/layout/vList2"/>
    <dgm:cxn modelId="{02C13651-4E93-4D0C-9C2D-CCB7B1E813C2}" type="presParOf" srcId="{52A6A0CC-8508-4687-9DCD-81CD2A82BD49}" destId="{A7F36DA1-0370-4EBC-A2D3-8421A855B5AA}" srcOrd="1" destOrd="0" presId="urn:microsoft.com/office/officeart/2005/8/layout/vList2"/>
  </dgm:cxnLst>
  <dgm:bg/>
  <dgm:whole>
    <a:ln>
      <a:solidFill>
        <a:schemeClr val="accent1"/>
      </a:solidFill>
    </a:ln>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EE7552-DA54-468A-B597-C26CBD9C9B16}">
      <dsp:nvSpPr>
        <dsp:cNvPr id="0" name=""/>
        <dsp:cNvSpPr/>
      </dsp:nvSpPr>
      <dsp:spPr>
        <a:xfrm>
          <a:off x="0" y="34496"/>
          <a:ext cx="11498893" cy="1433835"/>
        </a:xfrm>
        <a:prstGeom prst="roundRect">
          <a:avLst/>
        </a:prstGeom>
        <a:solidFill>
          <a:schemeClr val="bg1"/>
        </a:solidFill>
        <a:ln w="127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just" defTabSz="1155700">
            <a:lnSpc>
              <a:spcPct val="90000"/>
            </a:lnSpc>
            <a:spcBef>
              <a:spcPct val="0"/>
            </a:spcBef>
            <a:spcAft>
              <a:spcPct val="35000"/>
            </a:spcAft>
            <a:buNone/>
          </a:pPr>
          <a:r>
            <a:rPr lang="en-IN" sz="2600" b="1" kern="1200" dirty="0">
              <a:solidFill>
                <a:schemeClr val="tx1"/>
              </a:solidFill>
            </a:rPr>
            <a:t>Aho-</a:t>
          </a:r>
          <a:r>
            <a:rPr lang="en-IN" sz="2600" b="1" kern="1200" dirty="0" err="1">
              <a:solidFill>
                <a:schemeClr val="tx1"/>
              </a:solidFill>
            </a:rPr>
            <a:t>Corasick</a:t>
          </a:r>
          <a:r>
            <a:rPr lang="en-IN" sz="2600" b="1" kern="1200" dirty="0">
              <a:solidFill>
                <a:schemeClr val="tx1"/>
              </a:solidFill>
            </a:rPr>
            <a:t> algorithm</a:t>
          </a:r>
          <a:r>
            <a:rPr lang="en-IN" sz="2600" kern="1200" dirty="0">
              <a:solidFill>
                <a:schemeClr val="tx1"/>
              </a:solidFill>
            </a:rPr>
            <a:t> is an efficient </a:t>
          </a:r>
          <a:r>
            <a:rPr lang="en-IN" sz="2600" b="1" kern="1200" dirty="0">
              <a:solidFill>
                <a:schemeClr val="tx1"/>
              </a:solidFill>
            </a:rPr>
            <a:t>multiple pattern matching algorithm</a:t>
          </a:r>
          <a:r>
            <a:rPr lang="en-IN" sz="2600" kern="1200" dirty="0">
              <a:solidFill>
                <a:schemeClr val="tx1"/>
              </a:solidFill>
            </a:rPr>
            <a:t> used to search for </a:t>
          </a:r>
          <a:r>
            <a:rPr lang="en-IN" sz="2600" b="1" kern="1200" dirty="0">
              <a:solidFill>
                <a:schemeClr val="tx1"/>
              </a:solidFill>
            </a:rPr>
            <a:t>many patterns simultaneously</a:t>
          </a:r>
          <a:r>
            <a:rPr lang="en-IN" sz="2600" kern="1200" dirty="0">
              <a:solidFill>
                <a:schemeClr val="tx1"/>
              </a:solidFill>
            </a:rPr>
            <a:t> in a text. It was developed by </a:t>
          </a:r>
          <a:r>
            <a:rPr lang="en-IN" sz="2600" b="1" kern="1200" dirty="0">
              <a:solidFill>
                <a:schemeClr val="tx1"/>
              </a:solidFill>
            </a:rPr>
            <a:t>Alfred V. </a:t>
          </a:r>
          <a:r>
            <a:rPr lang="en-IN" sz="2600" b="1" kern="1200" dirty="0" err="1">
              <a:solidFill>
                <a:schemeClr val="tx1"/>
              </a:solidFill>
            </a:rPr>
            <a:t>Aho</a:t>
          </a:r>
          <a:r>
            <a:rPr lang="en-IN" sz="2600" kern="1200" dirty="0">
              <a:solidFill>
                <a:schemeClr val="tx1"/>
              </a:solidFill>
            </a:rPr>
            <a:t> and </a:t>
          </a:r>
          <a:r>
            <a:rPr lang="en-IN" sz="2600" b="1" kern="1200" dirty="0">
              <a:solidFill>
                <a:schemeClr val="tx1"/>
              </a:solidFill>
            </a:rPr>
            <a:t>Margaret J. </a:t>
          </a:r>
          <a:r>
            <a:rPr lang="en-IN" sz="2600" b="1" kern="1200" dirty="0" err="1">
              <a:solidFill>
                <a:schemeClr val="tx1"/>
              </a:solidFill>
            </a:rPr>
            <a:t>Corasick</a:t>
          </a:r>
          <a:r>
            <a:rPr lang="en-IN" sz="2600" kern="1200" dirty="0">
              <a:solidFill>
                <a:schemeClr val="tx1"/>
              </a:solidFill>
            </a:rPr>
            <a:t> in 1975.</a:t>
          </a:r>
        </a:p>
      </dsp:txBody>
      <dsp:txXfrm>
        <a:off x="69994" y="104490"/>
        <a:ext cx="11358905" cy="1293847"/>
      </dsp:txXfrm>
    </dsp:sp>
    <dsp:sp modelId="{CF5D19E1-5D59-4582-B52A-C5A0AF6F4A47}">
      <dsp:nvSpPr>
        <dsp:cNvPr id="0" name=""/>
        <dsp:cNvSpPr/>
      </dsp:nvSpPr>
      <dsp:spPr>
        <a:xfrm>
          <a:off x="0" y="1502828"/>
          <a:ext cx="11498893" cy="4365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5090" tIns="33020" rIns="184912" bIns="33020" numCol="1" spcCol="1270" anchor="t" anchorCtr="0">
          <a:noAutofit/>
        </a:bodyPr>
        <a:lstStyle/>
        <a:p>
          <a:pPr marL="228600" lvl="1" indent="-228600" algn="just" defTabSz="1155700">
            <a:lnSpc>
              <a:spcPct val="90000"/>
            </a:lnSpc>
            <a:spcBef>
              <a:spcPct val="0"/>
            </a:spcBef>
            <a:spcAft>
              <a:spcPct val="20000"/>
            </a:spcAft>
            <a:buNone/>
          </a:pPr>
          <a:r>
            <a:rPr lang="en-IN" sz="2600" kern="1200" dirty="0"/>
            <a:t>Unlike algorithms such as KMP or Rabin-Karp that search for </a:t>
          </a:r>
          <a:r>
            <a:rPr lang="en-IN" sz="2600" b="1" kern="1200" dirty="0"/>
            <a:t>one pattern at a time</a:t>
          </a:r>
          <a:r>
            <a:rPr lang="en-IN" sz="2600" kern="1200" dirty="0"/>
            <a:t>, Aho-</a:t>
          </a:r>
          <a:r>
            <a:rPr lang="en-IN" sz="2600" kern="1200" dirty="0" err="1"/>
            <a:t>Corasick</a:t>
          </a:r>
          <a:r>
            <a:rPr lang="en-IN" sz="2600" kern="1200" dirty="0"/>
            <a:t> searches for </a:t>
          </a:r>
          <a:r>
            <a:rPr lang="en-IN" sz="2600" b="1" kern="1200" dirty="0"/>
            <a:t>all patterns in a single scan</a:t>
          </a:r>
          <a:r>
            <a:rPr lang="en-IN" sz="2600" kern="1200" dirty="0"/>
            <a:t> of the text.</a:t>
          </a:r>
        </a:p>
        <a:p>
          <a:pPr marL="228600" lvl="1" indent="-228600" algn="just" defTabSz="1155700">
            <a:lnSpc>
              <a:spcPct val="90000"/>
            </a:lnSpc>
            <a:spcBef>
              <a:spcPct val="0"/>
            </a:spcBef>
            <a:spcAft>
              <a:spcPct val="20000"/>
            </a:spcAft>
            <a:buNone/>
          </a:pPr>
          <a:r>
            <a:rPr lang="en-IN" sz="2600" b="1" kern="1200" dirty="0"/>
            <a:t>Need for Aho-</a:t>
          </a:r>
          <a:r>
            <a:rPr lang="en-IN" sz="2600" b="1" kern="1200" dirty="0" err="1"/>
            <a:t>Corasick</a:t>
          </a:r>
          <a:r>
            <a:rPr lang="en-IN" sz="2600" b="1" kern="1200" dirty="0"/>
            <a:t> :</a:t>
          </a:r>
          <a:endParaRPr lang="en-IN" sz="2600" kern="1200" dirty="0"/>
        </a:p>
        <a:p>
          <a:pPr marL="228600" lvl="1" indent="-228600" algn="just" defTabSz="1155700">
            <a:lnSpc>
              <a:spcPct val="90000"/>
            </a:lnSpc>
            <a:spcBef>
              <a:spcPct val="0"/>
            </a:spcBef>
            <a:spcAft>
              <a:spcPct val="20000"/>
            </a:spcAft>
            <a:buNone/>
          </a:pPr>
          <a:r>
            <a:rPr lang="en-IN" sz="2600" kern="1200" dirty="0"/>
            <a:t>Suppose we have thousands of keywords: </a:t>
          </a:r>
          <a:r>
            <a:rPr lang="en-IN" sz="2600" b="1" kern="1200" dirty="0"/>
            <a:t>He , she, his, hers, hero, help….</a:t>
          </a:r>
        </a:p>
        <a:p>
          <a:pPr marL="228600" lvl="1" indent="-228600" algn="just" defTabSz="1155700">
            <a:lnSpc>
              <a:spcPct val="90000"/>
            </a:lnSpc>
            <a:spcBef>
              <a:spcPct val="0"/>
            </a:spcBef>
            <a:spcAft>
              <a:spcPct val="20000"/>
            </a:spcAft>
            <a:buNone/>
          </a:pPr>
          <a:r>
            <a:rPr lang="en-IN" sz="2600" kern="1200" dirty="0"/>
            <a:t> Searching each pattern separately would require multiple scans of the text.</a:t>
          </a:r>
          <a:endParaRPr lang="en-IN" sz="2600" b="1" kern="1200" dirty="0"/>
        </a:p>
        <a:p>
          <a:pPr marL="228600" lvl="1" indent="-228600" algn="just" defTabSz="1155700">
            <a:lnSpc>
              <a:spcPct val="90000"/>
            </a:lnSpc>
            <a:spcBef>
              <a:spcPct val="0"/>
            </a:spcBef>
            <a:spcAft>
              <a:spcPct val="20000"/>
            </a:spcAft>
            <a:buNone/>
          </a:pPr>
          <a:r>
            <a:rPr lang="en-IN" sz="2600" kern="1200" dirty="0"/>
            <a:t>Instead, </a:t>
          </a:r>
          <a:r>
            <a:rPr lang="en-IN" sz="2600" b="1" kern="1200" dirty="0"/>
            <a:t>Aho-</a:t>
          </a:r>
          <a:r>
            <a:rPr lang="en-IN" sz="2600" b="1" kern="1200" dirty="0" err="1"/>
            <a:t>Corasick</a:t>
          </a:r>
          <a:r>
            <a:rPr lang="en-IN" sz="2600" b="1" kern="1200" dirty="0"/>
            <a:t>:</a:t>
          </a:r>
          <a:endParaRPr lang="en-IN" sz="2600" kern="1200" dirty="0"/>
        </a:p>
        <a:p>
          <a:pPr marL="228600" lvl="1" indent="-228600" algn="just" defTabSz="1155700">
            <a:lnSpc>
              <a:spcPct val="90000"/>
            </a:lnSpc>
            <a:spcBef>
              <a:spcPct val="0"/>
            </a:spcBef>
            <a:spcAft>
              <a:spcPct val="20000"/>
            </a:spcAft>
            <a:buNone/>
          </a:pPr>
          <a:r>
            <a:rPr lang="en-IN" sz="2600" b="0" kern="1200" dirty="0"/>
            <a:t>1. Builds a Trie of all patterns. </a:t>
          </a:r>
        </a:p>
        <a:p>
          <a:pPr marL="228600" lvl="1" indent="-228600" algn="just" defTabSz="1155700">
            <a:lnSpc>
              <a:spcPct val="90000"/>
            </a:lnSpc>
            <a:spcBef>
              <a:spcPct val="0"/>
            </a:spcBef>
            <a:spcAft>
              <a:spcPct val="20000"/>
            </a:spcAft>
            <a:buFont typeface="+mj-lt"/>
            <a:buNone/>
          </a:pPr>
          <a:r>
            <a:rPr lang="en-IN" sz="2600" b="0" kern="1200" dirty="0"/>
            <a:t>2. Creates Failure Links. </a:t>
          </a:r>
        </a:p>
        <a:p>
          <a:pPr marL="228600" lvl="1" indent="-228600" algn="just" defTabSz="1155700">
            <a:lnSpc>
              <a:spcPct val="90000"/>
            </a:lnSpc>
            <a:spcBef>
              <a:spcPct val="0"/>
            </a:spcBef>
            <a:spcAft>
              <a:spcPct val="20000"/>
            </a:spcAft>
            <a:buFont typeface="+mj-lt"/>
            <a:buNone/>
          </a:pPr>
          <a:r>
            <a:rPr lang="en-IN" sz="2600" b="0" kern="1200" dirty="0"/>
            <a:t>3. Scans the text only once. </a:t>
          </a:r>
        </a:p>
        <a:p>
          <a:pPr marL="228600" lvl="1" indent="-228600" algn="just" defTabSz="1155700">
            <a:lnSpc>
              <a:spcPct val="90000"/>
            </a:lnSpc>
            <a:spcBef>
              <a:spcPct val="0"/>
            </a:spcBef>
            <a:spcAft>
              <a:spcPct val="20000"/>
            </a:spcAft>
            <a:buFont typeface="+mj-lt"/>
            <a:buNone/>
          </a:pPr>
          <a:r>
            <a:rPr lang="en-IN" sz="2600" b="0" kern="1200" dirty="0"/>
            <a:t>4. Reports every occurrence of the given pattern.</a:t>
          </a:r>
        </a:p>
      </dsp:txBody>
      <dsp:txXfrm>
        <a:off x="0" y="1502828"/>
        <a:ext cx="11498893" cy="43656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DE3F11-3B42-4217-879A-7D6A47C93684}">
      <dsp:nvSpPr>
        <dsp:cNvPr id="0" name=""/>
        <dsp:cNvSpPr/>
      </dsp:nvSpPr>
      <dsp:spPr>
        <a:xfrm rot="5400000">
          <a:off x="-154138" y="156574"/>
          <a:ext cx="1027589" cy="71931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Step-1</a:t>
          </a:r>
        </a:p>
      </dsp:txBody>
      <dsp:txXfrm rot="-5400000">
        <a:off x="1" y="362091"/>
        <a:ext cx="719312" cy="308277"/>
      </dsp:txXfrm>
    </dsp:sp>
    <dsp:sp modelId="{35344E78-F33A-48D6-A20F-BDFB90333486}">
      <dsp:nvSpPr>
        <dsp:cNvPr id="0" name=""/>
        <dsp:cNvSpPr/>
      </dsp:nvSpPr>
      <dsp:spPr>
        <a:xfrm rot="5400000">
          <a:off x="3329277" y="-2607528"/>
          <a:ext cx="667933" cy="588786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None/>
          </a:pPr>
          <a:r>
            <a:rPr lang="en-IN" sz="2800" kern="1200" dirty="0"/>
            <a:t>Build the Trie</a:t>
          </a:r>
        </a:p>
      </dsp:txBody>
      <dsp:txXfrm rot="-5400000">
        <a:off x="719313" y="35042"/>
        <a:ext cx="5855256" cy="602721"/>
      </dsp:txXfrm>
    </dsp:sp>
    <dsp:sp modelId="{045EC506-0ECC-4488-94A1-5203B7912798}">
      <dsp:nvSpPr>
        <dsp:cNvPr id="0" name=""/>
        <dsp:cNvSpPr/>
      </dsp:nvSpPr>
      <dsp:spPr>
        <a:xfrm rot="5400000">
          <a:off x="-154138" y="1066329"/>
          <a:ext cx="1027589" cy="71931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Step-2</a:t>
          </a:r>
        </a:p>
      </dsp:txBody>
      <dsp:txXfrm rot="-5400000">
        <a:off x="1" y="1271846"/>
        <a:ext cx="719312" cy="308277"/>
      </dsp:txXfrm>
    </dsp:sp>
    <dsp:sp modelId="{E7718BC2-FDB8-422C-982B-EC7EAD0EA7FB}">
      <dsp:nvSpPr>
        <dsp:cNvPr id="0" name=""/>
        <dsp:cNvSpPr/>
      </dsp:nvSpPr>
      <dsp:spPr>
        <a:xfrm rot="5400000">
          <a:off x="3329277" y="-1697773"/>
          <a:ext cx="667933" cy="588786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None/>
          </a:pPr>
          <a:r>
            <a:rPr lang="en-IN" sz="2800" kern="1200" dirty="0"/>
            <a:t>Number every node</a:t>
          </a:r>
        </a:p>
      </dsp:txBody>
      <dsp:txXfrm rot="-5400000">
        <a:off x="719313" y="944797"/>
        <a:ext cx="5855256" cy="602721"/>
      </dsp:txXfrm>
    </dsp:sp>
    <dsp:sp modelId="{3030ACFD-CA0F-49B8-8354-7FE57ACA1B0A}">
      <dsp:nvSpPr>
        <dsp:cNvPr id="0" name=""/>
        <dsp:cNvSpPr/>
      </dsp:nvSpPr>
      <dsp:spPr>
        <a:xfrm rot="5400000">
          <a:off x="-154138" y="1976085"/>
          <a:ext cx="1027589" cy="71931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Step-3</a:t>
          </a:r>
        </a:p>
      </dsp:txBody>
      <dsp:txXfrm rot="-5400000">
        <a:off x="1" y="2181602"/>
        <a:ext cx="719312" cy="308277"/>
      </dsp:txXfrm>
    </dsp:sp>
    <dsp:sp modelId="{42ADCA49-BEA4-4A0A-883D-5E759C55B41D}">
      <dsp:nvSpPr>
        <dsp:cNvPr id="0" name=""/>
        <dsp:cNvSpPr/>
      </dsp:nvSpPr>
      <dsp:spPr>
        <a:xfrm rot="5400000">
          <a:off x="3329277" y="-788017"/>
          <a:ext cx="667933" cy="588786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None/>
          </a:pPr>
          <a:r>
            <a:rPr lang="en-IN" sz="2800" kern="1200" dirty="0"/>
            <a:t>Build the Failure Array using BFS</a:t>
          </a:r>
        </a:p>
      </dsp:txBody>
      <dsp:txXfrm rot="-5400000">
        <a:off x="719313" y="1854553"/>
        <a:ext cx="5855256" cy="602721"/>
      </dsp:txXfrm>
    </dsp:sp>
    <dsp:sp modelId="{87EE7AD9-1A73-43B8-92E2-BB8109137461}">
      <dsp:nvSpPr>
        <dsp:cNvPr id="0" name=""/>
        <dsp:cNvSpPr/>
      </dsp:nvSpPr>
      <dsp:spPr>
        <a:xfrm rot="5400000">
          <a:off x="-154138" y="2885840"/>
          <a:ext cx="1027589" cy="71931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Step-4</a:t>
          </a:r>
        </a:p>
      </dsp:txBody>
      <dsp:txXfrm rot="-5400000">
        <a:off x="1" y="3091357"/>
        <a:ext cx="719312" cy="308277"/>
      </dsp:txXfrm>
    </dsp:sp>
    <dsp:sp modelId="{B01B9BC0-D174-43AB-B8C3-A2C83F4866C2}">
      <dsp:nvSpPr>
        <dsp:cNvPr id="0" name=""/>
        <dsp:cNvSpPr/>
      </dsp:nvSpPr>
      <dsp:spPr>
        <a:xfrm rot="5400000">
          <a:off x="3329277" y="121737"/>
          <a:ext cx="667933" cy="588786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None/>
          </a:pPr>
          <a:r>
            <a:rPr lang="en-IN" sz="2800" kern="1200" dirty="0"/>
            <a:t>Build the Output Array</a:t>
          </a:r>
        </a:p>
      </dsp:txBody>
      <dsp:txXfrm rot="-5400000">
        <a:off x="719313" y="2764307"/>
        <a:ext cx="5855256" cy="602721"/>
      </dsp:txXfrm>
    </dsp:sp>
    <dsp:sp modelId="{B6CB64C2-0217-47C4-ABF2-9569ADA252E8}">
      <dsp:nvSpPr>
        <dsp:cNvPr id="0" name=""/>
        <dsp:cNvSpPr/>
      </dsp:nvSpPr>
      <dsp:spPr>
        <a:xfrm rot="5400000">
          <a:off x="-154138" y="3795596"/>
          <a:ext cx="1027589" cy="71931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Step-5</a:t>
          </a:r>
        </a:p>
      </dsp:txBody>
      <dsp:txXfrm rot="-5400000">
        <a:off x="1" y="4001113"/>
        <a:ext cx="719312" cy="308277"/>
      </dsp:txXfrm>
    </dsp:sp>
    <dsp:sp modelId="{4784AA2A-8375-4ED8-81AE-189159C0ED0C}">
      <dsp:nvSpPr>
        <dsp:cNvPr id="0" name=""/>
        <dsp:cNvSpPr/>
      </dsp:nvSpPr>
      <dsp:spPr>
        <a:xfrm rot="5400000">
          <a:off x="3329277" y="1031493"/>
          <a:ext cx="667933" cy="588786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None/>
          </a:pPr>
          <a:r>
            <a:rPr lang="en-IN" sz="2800" kern="1200" dirty="0"/>
            <a:t>Search the text character by character</a:t>
          </a:r>
        </a:p>
      </dsp:txBody>
      <dsp:txXfrm rot="-5400000">
        <a:off x="719313" y="3674063"/>
        <a:ext cx="5855256" cy="60272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50320C-A8D0-4143-A69D-EE016560EFE9}">
      <dsp:nvSpPr>
        <dsp:cNvPr id="0" name=""/>
        <dsp:cNvSpPr/>
      </dsp:nvSpPr>
      <dsp:spPr>
        <a:xfrm>
          <a:off x="4915" y="340656"/>
          <a:ext cx="2148983" cy="3268895"/>
        </a:xfrm>
        <a:prstGeom prst="roundRect">
          <a:avLst>
            <a:gd name="adj" fmla="val 10000"/>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IN" sz="1600" b="1" kern="1200" dirty="0">
              <a:highlight>
                <a:srgbClr val="FFFF00"/>
              </a:highlight>
            </a:rPr>
            <a:t>Initially</a:t>
          </a:r>
        </a:p>
        <a:p>
          <a:pPr marL="0" lvl="0" indent="0" algn="just" defTabSz="711200">
            <a:lnSpc>
              <a:spcPct val="90000"/>
            </a:lnSpc>
            <a:spcBef>
              <a:spcPct val="0"/>
            </a:spcBef>
            <a:spcAft>
              <a:spcPct val="35000"/>
            </a:spcAft>
            <a:buNone/>
          </a:pPr>
          <a:r>
            <a:rPr lang="en-IN" sz="1600" kern="1200" dirty="0"/>
            <a:t>Failure[0] = 0</a:t>
          </a:r>
        </a:p>
        <a:p>
          <a:pPr marL="0" lvl="0" indent="0" algn="just" defTabSz="711200">
            <a:lnSpc>
              <a:spcPct val="90000"/>
            </a:lnSpc>
            <a:spcBef>
              <a:spcPct val="0"/>
            </a:spcBef>
            <a:spcAft>
              <a:spcPct val="35000"/>
            </a:spcAft>
            <a:buNone/>
          </a:pPr>
          <a:r>
            <a:rPr lang="en-IN" sz="1600" b="1" kern="1200" dirty="0"/>
            <a:t>Queue = [ ]</a:t>
          </a:r>
        </a:p>
        <a:p>
          <a:pPr marL="0" lvl="0" indent="0" algn="just" defTabSz="711200">
            <a:lnSpc>
              <a:spcPct val="90000"/>
            </a:lnSpc>
            <a:spcBef>
              <a:spcPct val="0"/>
            </a:spcBef>
            <a:spcAft>
              <a:spcPct val="35000"/>
            </a:spcAft>
            <a:buNone/>
          </a:pPr>
          <a:r>
            <a:rPr lang="en-IN" sz="1600" kern="1200" dirty="0"/>
            <a:t>Children of root</a:t>
          </a:r>
        </a:p>
        <a:p>
          <a:pPr marL="0" lvl="0" indent="0" algn="just" defTabSz="711200">
            <a:lnSpc>
              <a:spcPct val="90000"/>
            </a:lnSpc>
            <a:spcBef>
              <a:spcPct val="0"/>
            </a:spcBef>
            <a:spcAft>
              <a:spcPct val="35000"/>
            </a:spcAft>
            <a:buNone/>
          </a:pPr>
          <a:r>
            <a:rPr lang="en-IN" sz="1600" b="1" kern="1200" dirty="0"/>
            <a:t>h</a:t>
          </a:r>
        </a:p>
        <a:p>
          <a:pPr marL="0" lvl="0" indent="0" algn="just" defTabSz="711200">
            <a:lnSpc>
              <a:spcPct val="90000"/>
            </a:lnSpc>
            <a:spcBef>
              <a:spcPct val="0"/>
            </a:spcBef>
            <a:spcAft>
              <a:spcPct val="35000"/>
            </a:spcAft>
            <a:buNone/>
          </a:pPr>
          <a:r>
            <a:rPr lang="en-IN" sz="1600" b="1" kern="1200" dirty="0"/>
            <a:t>s</a:t>
          </a:r>
        </a:p>
        <a:p>
          <a:pPr marL="0" lvl="0" indent="0" algn="just" defTabSz="711200">
            <a:lnSpc>
              <a:spcPct val="90000"/>
            </a:lnSpc>
            <a:spcBef>
              <a:spcPct val="0"/>
            </a:spcBef>
            <a:spcAft>
              <a:spcPct val="35000"/>
            </a:spcAft>
            <a:buNone/>
          </a:pPr>
          <a:r>
            <a:rPr lang="en-IN" sz="1600" kern="1200" dirty="0"/>
            <a:t>Their failure links are always root.</a:t>
          </a:r>
        </a:p>
        <a:p>
          <a:pPr marL="0" lvl="0" indent="0" algn="just" defTabSz="711200">
            <a:lnSpc>
              <a:spcPct val="90000"/>
            </a:lnSpc>
            <a:spcBef>
              <a:spcPct val="0"/>
            </a:spcBef>
            <a:spcAft>
              <a:spcPct val="35000"/>
            </a:spcAft>
            <a:buNone/>
          </a:pPr>
          <a:r>
            <a:rPr lang="en-IN" sz="1600" kern="1200" dirty="0"/>
            <a:t>Queue becomes</a:t>
          </a:r>
        </a:p>
        <a:p>
          <a:pPr marL="0" lvl="0" indent="0" algn="just" defTabSz="711200">
            <a:lnSpc>
              <a:spcPct val="90000"/>
            </a:lnSpc>
            <a:spcBef>
              <a:spcPct val="0"/>
            </a:spcBef>
            <a:spcAft>
              <a:spcPct val="35000"/>
            </a:spcAft>
            <a:buNone/>
          </a:pPr>
          <a:r>
            <a:rPr lang="en-IN" sz="1600" b="1" kern="1200" dirty="0"/>
            <a:t>[h , s]</a:t>
          </a:r>
        </a:p>
      </dsp:txBody>
      <dsp:txXfrm>
        <a:off x="67857" y="403598"/>
        <a:ext cx="2023099" cy="3143011"/>
      </dsp:txXfrm>
    </dsp:sp>
    <dsp:sp modelId="{446A0C17-B562-4B9B-B552-4A2048E4C3A3}">
      <dsp:nvSpPr>
        <dsp:cNvPr id="0" name=""/>
        <dsp:cNvSpPr/>
      </dsp:nvSpPr>
      <dsp:spPr>
        <a:xfrm>
          <a:off x="2368796" y="1708630"/>
          <a:ext cx="455584" cy="532947"/>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just" defTabSz="622300">
            <a:lnSpc>
              <a:spcPct val="90000"/>
            </a:lnSpc>
            <a:spcBef>
              <a:spcPct val="0"/>
            </a:spcBef>
            <a:spcAft>
              <a:spcPct val="35000"/>
            </a:spcAft>
            <a:buNone/>
          </a:pPr>
          <a:endParaRPr lang="en-IN" sz="1400" kern="1200"/>
        </a:p>
      </dsp:txBody>
      <dsp:txXfrm>
        <a:off x="2368796" y="1815219"/>
        <a:ext cx="318909" cy="319769"/>
      </dsp:txXfrm>
    </dsp:sp>
    <dsp:sp modelId="{FFB76B42-9A85-43A5-A46F-F1A2BE4784EC}">
      <dsp:nvSpPr>
        <dsp:cNvPr id="0" name=""/>
        <dsp:cNvSpPr/>
      </dsp:nvSpPr>
      <dsp:spPr>
        <a:xfrm>
          <a:off x="3013491" y="340656"/>
          <a:ext cx="2148983" cy="3268895"/>
        </a:xfrm>
        <a:prstGeom prst="roundRect">
          <a:avLst>
            <a:gd name="adj" fmla="val 10000"/>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IN" sz="1600" b="1" kern="1200" dirty="0">
              <a:highlight>
                <a:srgbClr val="FFFF00"/>
              </a:highlight>
            </a:rPr>
            <a:t>Iteration 1</a:t>
          </a:r>
        </a:p>
        <a:p>
          <a:pPr marL="0" lvl="0" indent="0" algn="just" defTabSz="711200">
            <a:lnSpc>
              <a:spcPct val="90000"/>
            </a:lnSpc>
            <a:spcBef>
              <a:spcPct val="0"/>
            </a:spcBef>
            <a:spcAft>
              <a:spcPct val="35000"/>
            </a:spcAft>
            <a:buNone/>
          </a:pPr>
          <a:r>
            <a:rPr lang="en-IN" sz="1600" b="1" kern="1200" dirty="0"/>
            <a:t>Remove h</a:t>
          </a:r>
        </a:p>
        <a:p>
          <a:pPr marL="0" lvl="0" indent="0" algn="just" defTabSz="711200">
            <a:lnSpc>
              <a:spcPct val="90000"/>
            </a:lnSpc>
            <a:spcBef>
              <a:spcPct val="0"/>
            </a:spcBef>
            <a:spcAft>
              <a:spcPct val="35000"/>
            </a:spcAft>
            <a:buNone/>
          </a:pPr>
          <a:r>
            <a:rPr lang="en-IN" sz="1600" kern="1200" dirty="0"/>
            <a:t>Queue</a:t>
          </a:r>
        </a:p>
        <a:p>
          <a:pPr marL="0" lvl="0" indent="0" algn="just" defTabSz="711200">
            <a:lnSpc>
              <a:spcPct val="90000"/>
            </a:lnSpc>
            <a:spcBef>
              <a:spcPct val="0"/>
            </a:spcBef>
            <a:spcAft>
              <a:spcPct val="35000"/>
            </a:spcAft>
            <a:buNone/>
          </a:pPr>
          <a:r>
            <a:rPr lang="en-IN" sz="1600" kern="1200" dirty="0"/>
            <a:t>Before: </a:t>
          </a:r>
          <a:r>
            <a:rPr lang="en-IN" sz="1600" b="1" kern="1200" dirty="0"/>
            <a:t>[h, s]</a:t>
          </a:r>
        </a:p>
        <a:p>
          <a:pPr marL="0" lvl="0" indent="0" algn="just" defTabSz="711200">
            <a:lnSpc>
              <a:spcPct val="90000"/>
            </a:lnSpc>
            <a:spcBef>
              <a:spcPct val="0"/>
            </a:spcBef>
            <a:spcAft>
              <a:spcPct val="35000"/>
            </a:spcAft>
            <a:buNone/>
          </a:pPr>
          <a:r>
            <a:rPr lang="en-IN" sz="1600" kern="1200" dirty="0"/>
            <a:t>After:  </a:t>
          </a:r>
          <a:r>
            <a:rPr lang="en-IN" sz="1600" b="1" kern="1200" dirty="0"/>
            <a:t>[s]</a:t>
          </a:r>
        </a:p>
        <a:p>
          <a:pPr marL="0" lvl="0" indent="0" algn="just" defTabSz="711200">
            <a:lnSpc>
              <a:spcPct val="90000"/>
            </a:lnSpc>
            <a:spcBef>
              <a:spcPct val="0"/>
            </a:spcBef>
            <a:spcAft>
              <a:spcPct val="35000"/>
            </a:spcAft>
            <a:buNone/>
          </a:pPr>
          <a:r>
            <a:rPr lang="en-IN" sz="1600" kern="1200" dirty="0"/>
            <a:t>Children of </a:t>
          </a:r>
          <a:r>
            <a:rPr lang="en-IN" sz="1600" b="1" kern="1200" dirty="0"/>
            <a:t>h</a:t>
          </a:r>
          <a:endParaRPr lang="en-IN" sz="1600" kern="1200" dirty="0"/>
        </a:p>
        <a:p>
          <a:pPr marL="0" lvl="0" indent="0" algn="just" defTabSz="711200">
            <a:lnSpc>
              <a:spcPct val="90000"/>
            </a:lnSpc>
            <a:spcBef>
              <a:spcPct val="0"/>
            </a:spcBef>
            <a:spcAft>
              <a:spcPct val="35000"/>
            </a:spcAft>
            <a:buNone/>
          </a:pPr>
          <a:r>
            <a:rPr lang="en-IN" sz="1600" kern="1200" dirty="0"/>
            <a:t>he</a:t>
          </a:r>
        </a:p>
        <a:p>
          <a:pPr marL="0" lvl="0" indent="0" algn="just" defTabSz="711200">
            <a:lnSpc>
              <a:spcPct val="90000"/>
            </a:lnSpc>
            <a:spcBef>
              <a:spcPct val="0"/>
            </a:spcBef>
            <a:spcAft>
              <a:spcPct val="35000"/>
            </a:spcAft>
            <a:buNone/>
          </a:pPr>
          <a:r>
            <a:rPr lang="en-IN" sz="1600" kern="1200" dirty="0"/>
            <a:t>hi</a:t>
          </a:r>
        </a:p>
      </dsp:txBody>
      <dsp:txXfrm>
        <a:off x="3076433" y="403598"/>
        <a:ext cx="2023099" cy="3143011"/>
      </dsp:txXfrm>
    </dsp:sp>
    <dsp:sp modelId="{F3091E69-CAB4-4248-A2BD-DFAD93A0A8A5}">
      <dsp:nvSpPr>
        <dsp:cNvPr id="0" name=""/>
        <dsp:cNvSpPr/>
      </dsp:nvSpPr>
      <dsp:spPr>
        <a:xfrm rot="21562301">
          <a:off x="5385301" y="1691812"/>
          <a:ext cx="472451" cy="532947"/>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just" defTabSz="622300">
            <a:lnSpc>
              <a:spcPct val="90000"/>
            </a:lnSpc>
            <a:spcBef>
              <a:spcPct val="0"/>
            </a:spcBef>
            <a:spcAft>
              <a:spcPct val="35000"/>
            </a:spcAft>
            <a:buNone/>
          </a:pPr>
          <a:endParaRPr lang="en-IN" sz="1400" kern="1200"/>
        </a:p>
      </dsp:txBody>
      <dsp:txXfrm>
        <a:off x="5385305" y="1799178"/>
        <a:ext cx="330716" cy="319769"/>
      </dsp:txXfrm>
    </dsp:sp>
    <dsp:sp modelId="{154D35CD-974C-4A75-89DA-0AE1EA346E41}">
      <dsp:nvSpPr>
        <dsp:cNvPr id="0" name=""/>
        <dsp:cNvSpPr/>
      </dsp:nvSpPr>
      <dsp:spPr>
        <a:xfrm>
          <a:off x="6053838" y="307313"/>
          <a:ext cx="2148983" cy="3268895"/>
        </a:xfrm>
        <a:prstGeom prst="roundRect">
          <a:avLst>
            <a:gd name="adj" fmla="val 10000"/>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IN" sz="1600" b="1" kern="1200" dirty="0"/>
            <a:t>Calculate Failure(he)</a:t>
          </a:r>
        </a:p>
        <a:p>
          <a:pPr marL="0" lvl="0" indent="0" algn="just" defTabSz="711200">
            <a:lnSpc>
              <a:spcPct val="90000"/>
            </a:lnSpc>
            <a:spcBef>
              <a:spcPct val="0"/>
            </a:spcBef>
            <a:spcAft>
              <a:spcPct val="35000"/>
            </a:spcAft>
            <a:buNone/>
          </a:pPr>
          <a:r>
            <a:rPr lang="en-IN" sz="1600" kern="1200" dirty="0"/>
            <a:t>Parent = </a:t>
          </a:r>
          <a:r>
            <a:rPr lang="en-IN" sz="1600" b="1" kern="1200" dirty="0"/>
            <a:t>h</a:t>
          </a:r>
        </a:p>
        <a:p>
          <a:pPr marL="0" lvl="0" indent="0" algn="just" defTabSz="711200">
            <a:lnSpc>
              <a:spcPct val="90000"/>
            </a:lnSpc>
            <a:spcBef>
              <a:spcPct val="0"/>
            </a:spcBef>
            <a:spcAft>
              <a:spcPct val="35000"/>
            </a:spcAft>
            <a:buNone/>
          </a:pPr>
          <a:r>
            <a:rPr lang="en-IN" sz="1600" kern="1200" dirty="0"/>
            <a:t>Failure(parent) = </a:t>
          </a:r>
          <a:r>
            <a:rPr lang="en-IN" sz="1600" b="1" kern="1200" dirty="0"/>
            <a:t>root</a:t>
          </a:r>
        </a:p>
        <a:p>
          <a:pPr marL="0" lvl="0" indent="0" algn="just" defTabSz="711200">
            <a:lnSpc>
              <a:spcPct val="90000"/>
            </a:lnSpc>
            <a:spcBef>
              <a:spcPct val="0"/>
            </a:spcBef>
            <a:spcAft>
              <a:spcPct val="35000"/>
            </a:spcAft>
            <a:buNone/>
          </a:pPr>
          <a:r>
            <a:rPr lang="en-IN" sz="1600" kern="1200" dirty="0"/>
            <a:t>From root</a:t>
          </a:r>
        </a:p>
        <a:p>
          <a:pPr marL="0" lvl="0" indent="0" algn="just" defTabSz="711200">
            <a:lnSpc>
              <a:spcPct val="90000"/>
            </a:lnSpc>
            <a:spcBef>
              <a:spcPct val="0"/>
            </a:spcBef>
            <a:spcAft>
              <a:spcPct val="35000"/>
            </a:spcAft>
            <a:buNone/>
          </a:pPr>
          <a:r>
            <a:rPr lang="en-IN" sz="1600" kern="1200" dirty="0"/>
            <a:t>Is there edge </a:t>
          </a:r>
          <a:r>
            <a:rPr lang="en-IN" sz="1600" b="1" kern="1200" dirty="0"/>
            <a:t>e</a:t>
          </a:r>
          <a:r>
            <a:rPr lang="en-IN" sz="1600" kern="1200" dirty="0"/>
            <a:t>?</a:t>
          </a:r>
        </a:p>
        <a:p>
          <a:pPr marL="0" lvl="0" indent="0" algn="just" defTabSz="711200">
            <a:lnSpc>
              <a:spcPct val="90000"/>
            </a:lnSpc>
            <a:spcBef>
              <a:spcPct val="0"/>
            </a:spcBef>
            <a:spcAft>
              <a:spcPct val="35000"/>
            </a:spcAft>
            <a:buNone/>
          </a:pPr>
          <a:r>
            <a:rPr lang="en-IN" sz="1600" kern="1200" dirty="0"/>
            <a:t>No</a:t>
          </a:r>
        </a:p>
        <a:p>
          <a:pPr marL="0" lvl="0" indent="0" algn="just" defTabSz="711200">
            <a:lnSpc>
              <a:spcPct val="90000"/>
            </a:lnSpc>
            <a:spcBef>
              <a:spcPct val="0"/>
            </a:spcBef>
            <a:spcAft>
              <a:spcPct val="35000"/>
            </a:spcAft>
            <a:buNone/>
          </a:pPr>
          <a:r>
            <a:rPr lang="en-IN" sz="1600" kern="1200" dirty="0"/>
            <a:t>Therefore</a:t>
          </a:r>
        </a:p>
        <a:p>
          <a:pPr marL="0" lvl="0" indent="0" algn="just" defTabSz="711200">
            <a:lnSpc>
              <a:spcPct val="90000"/>
            </a:lnSpc>
            <a:spcBef>
              <a:spcPct val="0"/>
            </a:spcBef>
            <a:spcAft>
              <a:spcPct val="35000"/>
            </a:spcAft>
            <a:buNone/>
          </a:pPr>
          <a:r>
            <a:rPr lang="en-IN" sz="1600" b="1" kern="1200" dirty="0"/>
            <a:t>Failure(he)=root</a:t>
          </a:r>
        </a:p>
      </dsp:txBody>
      <dsp:txXfrm>
        <a:off x="6116780" y="370255"/>
        <a:ext cx="2023099" cy="3143011"/>
      </dsp:txXfrm>
    </dsp:sp>
    <dsp:sp modelId="{EEA621E8-086C-4282-B3C3-8381B72A50CD}">
      <dsp:nvSpPr>
        <dsp:cNvPr id="0" name=""/>
        <dsp:cNvSpPr/>
      </dsp:nvSpPr>
      <dsp:spPr>
        <a:xfrm rot="38504">
          <a:off x="8409763" y="1692097"/>
          <a:ext cx="438773" cy="532947"/>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just" defTabSz="622300">
            <a:lnSpc>
              <a:spcPct val="90000"/>
            </a:lnSpc>
            <a:spcBef>
              <a:spcPct val="0"/>
            </a:spcBef>
            <a:spcAft>
              <a:spcPct val="35000"/>
            </a:spcAft>
            <a:buNone/>
          </a:pPr>
          <a:endParaRPr lang="en-IN" sz="1400" kern="1200"/>
        </a:p>
      </dsp:txBody>
      <dsp:txXfrm>
        <a:off x="8409767" y="1797949"/>
        <a:ext cx="307141" cy="319769"/>
      </dsp:txXfrm>
    </dsp:sp>
    <dsp:sp modelId="{798E4C17-6185-4217-B562-F457050CBD87}">
      <dsp:nvSpPr>
        <dsp:cNvPr id="0" name=""/>
        <dsp:cNvSpPr/>
      </dsp:nvSpPr>
      <dsp:spPr>
        <a:xfrm>
          <a:off x="9030643" y="340656"/>
          <a:ext cx="2148983" cy="3268895"/>
        </a:xfrm>
        <a:prstGeom prst="roundRect">
          <a:avLst>
            <a:gd name="adj" fmla="val 10000"/>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IN" sz="1600" b="1" kern="1200" dirty="0"/>
            <a:t>Calculate Failure(hi)</a:t>
          </a:r>
        </a:p>
        <a:p>
          <a:pPr marL="0" lvl="0" indent="0" algn="just" defTabSz="711200">
            <a:lnSpc>
              <a:spcPct val="90000"/>
            </a:lnSpc>
            <a:spcBef>
              <a:spcPct val="0"/>
            </a:spcBef>
            <a:spcAft>
              <a:spcPct val="35000"/>
            </a:spcAft>
            <a:buNone/>
          </a:pPr>
          <a:r>
            <a:rPr lang="en-IN" sz="1600" b="1" kern="1200" dirty="0"/>
            <a:t>Failure(parent)=</a:t>
          </a:r>
        </a:p>
        <a:p>
          <a:pPr marL="0" lvl="0" indent="0" algn="just" defTabSz="711200">
            <a:lnSpc>
              <a:spcPct val="90000"/>
            </a:lnSpc>
            <a:spcBef>
              <a:spcPct val="0"/>
            </a:spcBef>
            <a:spcAft>
              <a:spcPct val="35000"/>
            </a:spcAft>
            <a:buNone/>
          </a:pPr>
          <a:r>
            <a:rPr lang="en-IN" sz="1600" b="1" kern="1200" dirty="0"/>
            <a:t>root</a:t>
          </a:r>
        </a:p>
        <a:p>
          <a:pPr marL="0" lvl="0" indent="0" algn="just" defTabSz="711200">
            <a:lnSpc>
              <a:spcPct val="90000"/>
            </a:lnSpc>
            <a:spcBef>
              <a:spcPct val="0"/>
            </a:spcBef>
            <a:spcAft>
              <a:spcPct val="35000"/>
            </a:spcAft>
            <a:buNone/>
          </a:pPr>
          <a:r>
            <a:rPr lang="en-IN" sz="1600" kern="1200" dirty="0"/>
            <a:t>From root</a:t>
          </a:r>
        </a:p>
        <a:p>
          <a:pPr marL="0" lvl="0" indent="0" algn="just" defTabSz="711200">
            <a:lnSpc>
              <a:spcPct val="90000"/>
            </a:lnSpc>
            <a:spcBef>
              <a:spcPct val="0"/>
            </a:spcBef>
            <a:spcAft>
              <a:spcPct val="35000"/>
            </a:spcAft>
            <a:buNone/>
          </a:pPr>
          <a:r>
            <a:rPr lang="en-IN" sz="1600" kern="1200" dirty="0"/>
            <a:t>Edge </a:t>
          </a:r>
          <a:r>
            <a:rPr lang="en-IN" sz="1600" b="1" kern="1200" dirty="0" err="1"/>
            <a:t>i</a:t>
          </a:r>
          <a:r>
            <a:rPr lang="en-IN" sz="1600" kern="1200" dirty="0"/>
            <a:t> ?</a:t>
          </a:r>
        </a:p>
        <a:p>
          <a:pPr marL="0" lvl="0" indent="0" algn="just" defTabSz="711200">
            <a:lnSpc>
              <a:spcPct val="90000"/>
            </a:lnSpc>
            <a:spcBef>
              <a:spcPct val="0"/>
            </a:spcBef>
            <a:spcAft>
              <a:spcPct val="35000"/>
            </a:spcAft>
            <a:buNone/>
          </a:pPr>
          <a:r>
            <a:rPr lang="en-IN" sz="1600" kern="1200" dirty="0"/>
            <a:t>No</a:t>
          </a:r>
        </a:p>
        <a:p>
          <a:pPr marL="0" lvl="0" indent="0" algn="just" defTabSz="711200">
            <a:lnSpc>
              <a:spcPct val="90000"/>
            </a:lnSpc>
            <a:spcBef>
              <a:spcPct val="0"/>
            </a:spcBef>
            <a:spcAft>
              <a:spcPct val="35000"/>
            </a:spcAft>
            <a:buNone/>
          </a:pPr>
          <a:r>
            <a:rPr lang="en-IN" sz="1600" kern="1200" dirty="0"/>
            <a:t>Therefore</a:t>
          </a:r>
        </a:p>
        <a:p>
          <a:pPr marL="0" lvl="0" indent="0" algn="just" defTabSz="711200">
            <a:lnSpc>
              <a:spcPct val="90000"/>
            </a:lnSpc>
            <a:spcBef>
              <a:spcPct val="0"/>
            </a:spcBef>
            <a:spcAft>
              <a:spcPct val="35000"/>
            </a:spcAft>
            <a:buNone/>
          </a:pPr>
          <a:r>
            <a:rPr lang="en-IN" sz="1600" b="1" kern="1200" dirty="0"/>
            <a:t>Failure(hi)=root</a:t>
          </a:r>
        </a:p>
        <a:p>
          <a:pPr marL="0" lvl="0" indent="0" algn="just" defTabSz="711200">
            <a:lnSpc>
              <a:spcPct val="90000"/>
            </a:lnSpc>
            <a:spcBef>
              <a:spcPct val="0"/>
            </a:spcBef>
            <a:spcAft>
              <a:spcPct val="35000"/>
            </a:spcAft>
            <a:buNone/>
          </a:pPr>
          <a:r>
            <a:rPr lang="en-IN" sz="1600" kern="1200" dirty="0"/>
            <a:t>Queue</a:t>
          </a:r>
        </a:p>
        <a:p>
          <a:pPr marL="0" lvl="0" indent="0" algn="just" defTabSz="711200">
            <a:lnSpc>
              <a:spcPct val="90000"/>
            </a:lnSpc>
            <a:spcBef>
              <a:spcPct val="0"/>
            </a:spcBef>
            <a:spcAft>
              <a:spcPct val="35000"/>
            </a:spcAft>
            <a:buNone/>
          </a:pPr>
          <a:r>
            <a:rPr lang="en-IN" sz="1600" b="1" kern="1200" dirty="0"/>
            <a:t>[s, he, hi]</a:t>
          </a:r>
        </a:p>
      </dsp:txBody>
      <dsp:txXfrm>
        <a:off x="9093585" y="403598"/>
        <a:ext cx="2023099" cy="314301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50320C-A8D0-4143-A69D-EE016560EFE9}">
      <dsp:nvSpPr>
        <dsp:cNvPr id="0" name=""/>
        <dsp:cNvSpPr/>
      </dsp:nvSpPr>
      <dsp:spPr>
        <a:xfrm>
          <a:off x="5171" y="826558"/>
          <a:ext cx="2261016" cy="4555658"/>
        </a:xfrm>
        <a:prstGeom prst="roundRect">
          <a:avLst>
            <a:gd name="adj" fmla="val 10000"/>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IN" sz="1600" b="1" kern="1200" dirty="0">
              <a:highlight>
                <a:srgbClr val="FFFF00"/>
              </a:highlight>
              <a:latin typeface="Times New Roman" panose="02020603050405020304" pitchFamily="18" charset="0"/>
              <a:cs typeface="Times New Roman" panose="02020603050405020304" pitchFamily="18" charset="0"/>
            </a:rPr>
            <a:t>Iteration 2</a:t>
          </a:r>
          <a:endParaRPr lang="en-IN" sz="1600" kern="1200" dirty="0">
            <a:highlight>
              <a:srgbClr val="FFFF00"/>
            </a:highlight>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b="0" kern="1200" dirty="0">
              <a:latin typeface="Times New Roman" panose="02020603050405020304" pitchFamily="18" charset="0"/>
              <a:cs typeface="Times New Roman" panose="02020603050405020304" pitchFamily="18" charset="0"/>
            </a:rPr>
            <a:t>Remove</a:t>
          </a:r>
          <a:r>
            <a:rPr lang="en-IN" sz="1600" b="1" kern="1200" dirty="0">
              <a:latin typeface="Times New Roman" panose="02020603050405020304" pitchFamily="18" charset="0"/>
              <a:cs typeface="Times New Roman" panose="02020603050405020304" pitchFamily="18" charset="0"/>
            </a:rPr>
            <a:t> s</a:t>
          </a:r>
          <a:endParaRPr lang="en-IN" sz="1600"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Queue Before:</a:t>
          </a:r>
          <a:r>
            <a:rPr lang="en-IN" sz="1600" b="1" kern="1200" dirty="0">
              <a:latin typeface="Times New Roman" panose="02020603050405020304" pitchFamily="18" charset="0"/>
              <a:cs typeface="Times New Roman" panose="02020603050405020304" pitchFamily="18" charset="0"/>
            </a:rPr>
            <a:t> </a:t>
          </a:r>
        </a:p>
        <a:p>
          <a:pPr marL="0" lvl="0" indent="0" algn="just"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[s, he, hi]</a:t>
          </a:r>
          <a:endParaRPr lang="en-IN" sz="1600"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After:</a:t>
          </a:r>
          <a:r>
            <a:rPr lang="en-IN" sz="1600" b="1" kern="1200" dirty="0">
              <a:latin typeface="Times New Roman" panose="02020603050405020304" pitchFamily="18" charset="0"/>
              <a:cs typeface="Times New Roman" panose="02020603050405020304" pitchFamily="18" charset="0"/>
            </a:rPr>
            <a:t> [he, hi]</a:t>
          </a:r>
          <a:endParaRPr lang="en-IN" sz="1600"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Child: </a:t>
          </a:r>
          <a:r>
            <a:rPr lang="en-IN" sz="1600" b="1" kern="1200" dirty="0" err="1">
              <a:latin typeface="Times New Roman" panose="02020603050405020304" pitchFamily="18" charset="0"/>
              <a:cs typeface="Times New Roman" panose="02020603050405020304" pitchFamily="18" charset="0"/>
            </a:rPr>
            <a:t>sh</a:t>
          </a:r>
          <a:endParaRPr lang="en-IN" sz="1600" b="1"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Failure(parent)=root</a:t>
          </a: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From root</a:t>
          </a: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Edge </a:t>
          </a:r>
          <a:r>
            <a:rPr lang="en-IN" sz="1600" b="1" kern="1200" dirty="0">
              <a:latin typeface="Times New Roman" panose="02020603050405020304" pitchFamily="18" charset="0"/>
              <a:cs typeface="Times New Roman" panose="02020603050405020304" pitchFamily="18" charset="0"/>
            </a:rPr>
            <a:t>h</a:t>
          </a:r>
          <a:r>
            <a:rPr lang="en-IN" sz="1600" kern="1200" dirty="0">
              <a:latin typeface="Times New Roman" panose="02020603050405020304" pitchFamily="18" charset="0"/>
              <a:cs typeface="Times New Roman" panose="02020603050405020304" pitchFamily="18" charset="0"/>
            </a:rPr>
            <a:t> ? YES</a:t>
          </a: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So</a:t>
          </a:r>
        </a:p>
        <a:p>
          <a:pPr marL="0" lvl="0" indent="0" algn="just"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Failure(</a:t>
          </a:r>
          <a:r>
            <a:rPr lang="en-IN" sz="1600" b="1" kern="1200" dirty="0" err="1">
              <a:latin typeface="Times New Roman" panose="02020603050405020304" pitchFamily="18" charset="0"/>
              <a:cs typeface="Times New Roman" panose="02020603050405020304" pitchFamily="18" charset="0"/>
            </a:rPr>
            <a:t>sh</a:t>
          </a:r>
          <a:r>
            <a:rPr lang="en-IN" sz="1600" b="1" kern="1200" dirty="0">
              <a:latin typeface="Times New Roman" panose="02020603050405020304" pitchFamily="18" charset="0"/>
              <a:cs typeface="Times New Roman" panose="02020603050405020304" pitchFamily="18" charset="0"/>
            </a:rPr>
            <a:t>)=h</a:t>
          </a:r>
          <a:endParaRPr lang="en-IN" sz="1600"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Queue: </a:t>
          </a:r>
          <a:r>
            <a:rPr lang="en-IN" sz="1600" b="1" kern="1200" dirty="0">
              <a:latin typeface="Times New Roman" panose="02020603050405020304" pitchFamily="18" charset="0"/>
              <a:cs typeface="Times New Roman" panose="02020603050405020304" pitchFamily="18" charset="0"/>
            </a:rPr>
            <a:t>[he, hi, </a:t>
          </a:r>
          <a:r>
            <a:rPr lang="en-IN" sz="1600" b="1" kern="1200" dirty="0" err="1">
              <a:latin typeface="Times New Roman" panose="02020603050405020304" pitchFamily="18" charset="0"/>
              <a:cs typeface="Times New Roman" panose="02020603050405020304" pitchFamily="18" charset="0"/>
            </a:rPr>
            <a:t>sh</a:t>
          </a:r>
          <a:r>
            <a:rPr lang="en-IN" sz="1600" b="1" kern="1200" dirty="0">
              <a:latin typeface="Times New Roman" panose="02020603050405020304" pitchFamily="18" charset="0"/>
              <a:cs typeface="Times New Roman" panose="02020603050405020304" pitchFamily="18" charset="0"/>
            </a:rPr>
            <a:t>]</a:t>
          </a:r>
        </a:p>
      </dsp:txBody>
      <dsp:txXfrm>
        <a:off x="71394" y="892781"/>
        <a:ext cx="2128570" cy="4423212"/>
      </dsp:txXfrm>
    </dsp:sp>
    <dsp:sp modelId="{446A0C17-B562-4B9B-B552-4A2048E4C3A3}">
      <dsp:nvSpPr>
        <dsp:cNvPr id="0" name=""/>
        <dsp:cNvSpPr/>
      </dsp:nvSpPr>
      <dsp:spPr>
        <a:xfrm>
          <a:off x="2492289" y="2824021"/>
          <a:ext cx="479335" cy="560732"/>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just" defTabSz="711200">
            <a:lnSpc>
              <a:spcPct val="90000"/>
            </a:lnSpc>
            <a:spcBef>
              <a:spcPct val="0"/>
            </a:spcBef>
            <a:spcAft>
              <a:spcPct val="35000"/>
            </a:spcAft>
            <a:buNone/>
          </a:pPr>
          <a:endParaRPr lang="en-IN" sz="1600" kern="1200">
            <a:latin typeface="Times New Roman" panose="02020603050405020304" pitchFamily="18" charset="0"/>
            <a:cs typeface="Times New Roman" panose="02020603050405020304" pitchFamily="18" charset="0"/>
          </a:endParaRPr>
        </a:p>
      </dsp:txBody>
      <dsp:txXfrm>
        <a:off x="2492289" y="2936167"/>
        <a:ext cx="335535" cy="336440"/>
      </dsp:txXfrm>
    </dsp:sp>
    <dsp:sp modelId="{FFB76B42-9A85-43A5-A46F-F1A2BE4784EC}">
      <dsp:nvSpPr>
        <dsp:cNvPr id="0" name=""/>
        <dsp:cNvSpPr/>
      </dsp:nvSpPr>
      <dsp:spPr>
        <a:xfrm>
          <a:off x="3170594" y="826558"/>
          <a:ext cx="2261016" cy="4555658"/>
        </a:xfrm>
        <a:prstGeom prst="roundRect">
          <a:avLst>
            <a:gd name="adj" fmla="val 10000"/>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IN" sz="1600" b="1" kern="1200" dirty="0">
              <a:highlight>
                <a:srgbClr val="FFFF00"/>
              </a:highlight>
              <a:latin typeface="Times New Roman" panose="02020603050405020304" pitchFamily="18" charset="0"/>
              <a:cs typeface="Times New Roman" panose="02020603050405020304" pitchFamily="18" charset="0"/>
            </a:rPr>
            <a:t>Iteration 3</a:t>
          </a:r>
          <a:endParaRPr lang="en-IN" sz="1600" kern="1200" dirty="0">
            <a:highlight>
              <a:srgbClr val="FFFF00"/>
            </a:highlight>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b="0" kern="1200" dirty="0">
              <a:latin typeface="Times New Roman" panose="02020603050405020304" pitchFamily="18" charset="0"/>
              <a:cs typeface="Times New Roman" panose="02020603050405020304" pitchFamily="18" charset="0"/>
            </a:rPr>
            <a:t>Remove</a:t>
          </a:r>
          <a:r>
            <a:rPr lang="en-IN" sz="1600" b="1" kern="1200" dirty="0">
              <a:latin typeface="Times New Roman" panose="02020603050405020304" pitchFamily="18" charset="0"/>
              <a:cs typeface="Times New Roman" panose="02020603050405020304" pitchFamily="18" charset="0"/>
            </a:rPr>
            <a:t> he</a:t>
          </a:r>
          <a:endParaRPr lang="en-IN" sz="1600"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Queue</a:t>
          </a: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Before:</a:t>
          </a:r>
        </a:p>
        <a:p>
          <a:pPr marL="0" lvl="0" indent="0" algn="just"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[he, hi, </a:t>
          </a:r>
          <a:r>
            <a:rPr lang="en-IN" sz="1600" b="1" kern="1200" dirty="0" err="1">
              <a:latin typeface="Times New Roman" panose="02020603050405020304" pitchFamily="18" charset="0"/>
              <a:cs typeface="Times New Roman" panose="02020603050405020304" pitchFamily="18" charset="0"/>
            </a:rPr>
            <a:t>sh</a:t>
          </a:r>
          <a:r>
            <a:rPr lang="en-IN" sz="1600" b="1" kern="1200" dirty="0">
              <a:latin typeface="Times New Roman" panose="02020603050405020304" pitchFamily="18" charset="0"/>
              <a:cs typeface="Times New Roman" panose="02020603050405020304" pitchFamily="18" charset="0"/>
            </a:rPr>
            <a:t>]</a:t>
          </a:r>
          <a:endParaRPr lang="en-IN" sz="1600"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After: </a:t>
          </a:r>
          <a:r>
            <a:rPr lang="en-IN" sz="1600" b="1" kern="1200" dirty="0">
              <a:latin typeface="Times New Roman" panose="02020603050405020304" pitchFamily="18" charset="0"/>
              <a:cs typeface="Times New Roman" panose="02020603050405020304" pitchFamily="18" charset="0"/>
            </a:rPr>
            <a:t>[hi, </a:t>
          </a:r>
          <a:r>
            <a:rPr lang="en-IN" sz="1600" b="1" kern="1200" dirty="0" err="1">
              <a:latin typeface="Times New Roman" panose="02020603050405020304" pitchFamily="18" charset="0"/>
              <a:cs typeface="Times New Roman" panose="02020603050405020304" pitchFamily="18" charset="0"/>
            </a:rPr>
            <a:t>sh</a:t>
          </a:r>
          <a:r>
            <a:rPr lang="en-IN" sz="1600" b="1" kern="1200" dirty="0">
              <a:latin typeface="Times New Roman" panose="02020603050405020304" pitchFamily="18" charset="0"/>
              <a:cs typeface="Times New Roman" panose="02020603050405020304" pitchFamily="18" charset="0"/>
            </a:rPr>
            <a:t>]</a:t>
          </a:r>
          <a:endParaRPr lang="en-IN" sz="1600"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Child: </a:t>
          </a:r>
          <a:r>
            <a:rPr lang="en-IN" sz="1600" b="1" i="1" kern="1200" dirty="0">
              <a:latin typeface="Times New Roman" panose="02020603050405020304" pitchFamily="18" charset="0"/>
              <a:cs typeface="Times New Roman" panose="02020603050405020304" pitchFamily="18" charset="0"/>
            </a:rPr>
            <a:t>her</a:t>
          </a:r>
        </a:p>
        <a:p>
          <a:pPr marL="0" lvl="0" indent="0" algn="just"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Failure(parent)=root</a:t>
          </a:r>
          <a:endParaRPr lang="en-IN" sz="1600"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From root</a:t>
          </a: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Edge </a:t>
          </a:r>
          <a:r>
            <a:rPr lang="en-IN" sz="1600" b="1" kern="1200" dirty="0">
              <a:latin typeface="Times New Roman" panose="02020603050405020304" pitchFamily="18" charset="0"/>
              <a:cs typeface="Times New Roman" panose="02020603050405020304" pitchFamily="18" charset="0"/>
            </a:rPr>
            <a:t>r</a:t>
          </a:r>
          <a:r>
            <a:rPr lang="en-IN" sz="1600" kern="1200" dirty="0">
              <a:latin typeface="Times New Roman" panose="02020603050405020304" pitchFamily="18" charset="0"/>
              <a:cs typeface="Times New Roman" panose="02020603050405020304" pitchFamily="18" charset="0"/>
            </a:rPr>
            <a:t> ? No</a:t>
          </a: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Therefore</a:t>
          </a:r>
        </a:p>
        <a:p>
          <a:pPr marL="0" lvl="0" indent="0" algn="just"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Failure(her)=root</a:t>
          </a:r>
          <a:endParaRPr lang="en-IN" sz="1600"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Queue</a:t>
          </a:r>
        </a:p>
        <a:p>
          <a:pPr marL="0" lvl="0" indent="0" algn="just"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[hi, </a:t>
          </a:r>
          <a:r>
            <a:rPr lang="en-IN" sz="1600" b="1" kern="1200" dirty="0" err="1">
              <a:latin typeface="Times New Roman" panose="02020603050405020304" pitchFamily="18" charset="0"/>
              <a:cs typeface="Times New Roman" panose="02020603050405020304" pitchFamily="18" charset="0"/>
            </a:rPr>
            <a:t>sh</a:t>
          </a:r>
          <a:r>
            <a:rPr lang="en-IN" sz="1600" b="1" kern="1200" dirty="0">
              <a:latin typeface="Times New Roman" panose="02020603050405020304" pitchFamily="18" charset="0"/>
              <a:cs typeface="Times New Roman" panose="02020603050405020304" pitchFamily="18" charset="0"/>
            </a:rPr>
            <a:t>, her]</a:t>
          </a:r>
          <a:endParaRPr lang="en-IN" sz="1600" kern="1200" dirty="0">
            <a:latin typeface="Times New Roman" panose="02020603050405020304" pitchFamily="18" charset="0"/>
            <a:cs typeface="Times New Roman" panose="02020603050405020304" pitchFamily="18" charset="0"/>
          </a:endParaRPr>
        </a:p>
      </dsp:txBody>
      <dsp:txXfrm>
        <a:off x="3236817" y="892781"/>
        <a:ext cx="2128570" cy="4423212"/>
      </dsp:txXfrm>
    </dsp:sp>
    <dsp:sp modelId="{F3091E69-CAB4-4248-A2BD-DFAD93A0A8A5}">
      <dsp:nvSpPr>
        <dsp:cNvPr id="0" name=""/>
        <dsp:cNvSpPr/>
      </dsp:nvSpPr>
      <dsp:spPr>
        <a:xfrm rot="180045">
          <a:off x="5644936" y="2906354"/>
          <a:ext cx="453531" cy="560732"/>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just" defTabSz="711200">
            <a:lnSpc>
              <a:spcPct val="90000"/>
            </a:lnSpc>
            <a:spcBef>
              <a:spcPct val="0"/>
            </a:spcBef>
            <a:spcAft>
              <a:spcPct val="35000"/>
            </a:spcAft>
            <a:buNone/>
          </a:pPr>
          <a:endParaRPr lang="en-IN" sz="1600" kern="1200">
            <a:latin typeface="Times New Roman" panose="02020603050405020304" pitchFamily="18" charset="0"/>
            <a:cs typeface="Times New Roman" panose="02020603050405020304" pitchFamily="18" charset="0"/>
          </a:endParaRPr>
        </a:p>
      </dsp:txBody>
      <dsp:txXfrm>
        <a:off x="5645029" y="3014939"/>
        <a:ext cx="317472" cy="336440"/>
      </dsp:txXfrm>
    </dsp:sp>
    <dsp:sp modelId="{154D35CD-974C-4A75-89DA-0AE1EA346E41}">
      <dsp:nvSpPr>
        <dsp:cNvPr id="0" name=""/>
        <dsp:cNvSpPr/>
      </dsp:nvSpPr>
      <dsp:spPr>
        <a:xfrm>
          <a:off x="6286157" y="989879"/>
          <a:ext cx="2261016" cy="4555658"/>
        </a:xfrm>
        <a:prstGeom prst="roundRect">
          <a:avLst>
            <a:gd name="adj" fmla="val 10000"/>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IN" sz="1600" b="1" kern="1200" dirty="0">
              <a:highlight>
                <a:srgbClr val="FFFF00"/>
              </a:highlight>
              <a:latin typeface="Times New Roman" panose="02020603050405020304" pitchFamily="18" charset="0"/>
              <a:cs typeface="Times New Roman" panose="02020603050405020304" pitchFamily="18" charset="0"/>
            </a:rPr>
            <a:t>Iteration 4</a:t>
          </a:r>
          <a:endParaRPr lang="en-IN" sz="1600" kern="1200" dirty="0">
            <a:highlight>
              <a:srgbClr val="FFFF00"/>
            </a:highlight>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Remove</a:t>
          </a:r>
          <a:r>
            <a:rPr lang="en-IN" sz="1600" b="1" kern="1200" dirty="0">
              <a:latin typeface="Times New Roman" panose="02020603050405020304" pitchFamily="18" charset="0"/>
              <a:cs typeface="Times New Roman" panose="02020603050405020304" pitchFamily="18" charset="0"/>
            </a:rPr>
            <a:t> hi</a:t>
          </a:r>
          <a:endParaRPr lang="en-IN" sz="1600"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Queue</a:t>
          </a: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Before:</a:t>
          </a:r>
        </a:p>
        <a:p>
          <a:pPr marL="0" lvl="0" indent="0" algn="just"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[hi, </a:t>
          </a:r>
          <a:r>
            <a:rPr lang="en-IN" sz="1600" b="1" kern="1200" dirty="0" err="1">
              <a:latin typeface="Times New Roman" panose="02020603050405020304" pitchFamily="18" charset="0"/>
              <a:cs typeface="Times New Roman" panose="02020603050405020304" pitchFamily="18" charset="0"/>
            </a:rPr>
            <a:t>sh</a:t>
          </a:r>
          <a:r>
            <a:rPr lang="en-IN" sz="1600" b="1" kern="1200" dirty="0">
              <a:latin typeface="Times New Roman" panose="02020603050405020304" pitchFamily="18" charset="0"/>
              <a:cs typeface="Times New Roman" panose="02020603050405020304" pitchFamily="18" charset="0"/>
            </a:rPr>
            <a:t>, her]</a:t>
          </a:r>
          <a:endParaRPr lang="en-IN" sz="1600"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After: </a:t>
          </a:r>
          <a:r>
            <a:rPr lang="en-IN" sz="1600" b="1" kern="1200" dirty="0">
              <a:latin typeface="Times New Roman" panose="02020603050405020304" pitchFamily="18" charset="0"/>
              <a:cs typeface="Times New Roman" panose="02020603050405020304" pitchFamily="18" charset="0"/>
            </a:rPr>
            <a:t>[</a:t>
          </a:r>
          <a:r>
            <a:rPr lang="en-IN" sz="1600" b="1" kern="1200" dirty="0" err="1">
              <a:latin typeface="Times New Roman" panose="02020603050405020304" pitchFamily="18" charset="0"/>
              <a:cs typeface="Times New Roman" panose="02020603050405020304" pitchFamily="18" charset="0"/>
            </a:rPr>
            <a:t>sh</a:t>
          </a:r>
          <a:r>
            <a:rPr lang="en-IN" sz="1600" b="1" kern="1200" dirty="0">
              <a:latin typeface="Times New Roman" panose="02020603050405020304" pitchFamily="18" charset="0"/>
              <a:cs typeface="Times New Roman" panose="02020603050405020304" pitchFamily="18" charset="0"/>
            </a:rPr>
            <a:t>, her]</a:t>
          </a:r>
          <a:endParaRPr lang="en-IN" sz="1600"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Child: </a:t>
          </a:r>
          <a:r>
            <a:rPr lang="en-IN" sz="1600" b="1" kern="1200" dirty="0">
              <a:latin typeface="Times New Roman" panose="02020603050405020304" pitchFamily="18" charset="0"/>
              <a:cs typeface="Times New Roman" panose="02020603050405020304" pitchFamily="18" charset="0"/>
            </a:rPr>
            <a:t>his</a:t>
          </a:r>
        </a:p>
        <a:p>
          <a:pPr marL="0" lvl="0" indent="0" algn="just"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Failure(parent)=</a:t>
          </a:r>
        </a:p>
        <a:p>
          <a:pPr marL="0" lvl="0" indent="0" algn="just"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root</a:t>
          </a:r>
          <a:endParaRPr lang="en-IN" sz="1600"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From root</a:t>
          </a: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Edge </a:t>
          </a:r>
          <a:r>
            <a:rPr lang="en-IN" sz="1600" b="1" kern="1200" dirty="0">
              <a:latin typeface="Times New Roman" panose="02020603050405020304" pitchFamily="18" charset="0"/>
              <a:cs typeface="Times New Roman" panose="02020603050405020304" pitchFamily="18" charset="0"/>
            </a:rPr>
            <a:t>s</a:t>
          </a:r>
          <a:r>
            <a:rPr lang="en-IN" sz="1600" kern="1200" dirty="0">
              <a:latin typeface="Times New Roman" panose="02020603050405020304" pitchFamily="18" charset="0"/>
              <a:cs typeface="Times New Roman" panose="02020603050405020304" pitchFamily="18" charset="0"/>
            </a:rPr>
            <a:t> ? YES</a:t>
          </a: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Therefore</a:t>
          </a:r>
        </a:p>
        <a:p>
          <a:pPr marL="0" lvl="0" indent="0" algn="just"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Failure(his)=s</a:t>
          </a:r>
          <a:endParaRPr lang="en-IN" sz="1600"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Queue</a:t>
          </a:r>
        </a:p>
        <a:p>
          <a:pPr marL="0" lvl="0" indent="0" algn="just"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a:t>
          </a:r>
          <a:r>
            <a:rPr lang="en-IN" sz="1600" b="1" kern="1200" dirty="0" err="1">
              <a:latin typeface="Times New Roman" panose="02020603050405020304" pitchFamily="18" charset="0"/>
              <a:cs typeface="Times New Roman" panose="02020603050405020304" pitchFamily="18" charset="0"/>
            </a:rPr>
            <a:t>sh</a:t>
          </a:r>
          <a:r>
            <a:rPr lang="en-IN" sz="1600" b="1" kern="1200" dirty="0">
              <a:latin typeface="Times New Roman" panose="02020603050405020304" pitchFamily="18" charset="0"/>
              <a:cs typeface="Times New Roman" panose="02020603050405020304" pitchFamily="18" charset="0"/>
            </a:rPr>
            <a:t>, her, his]</a:t>
          </a:r>
        </a:p>
      </dsp:txBody>
      <dsp:txXfrm>
        <a:off x="6352380" y="1056102"/>
        <a:ext cx="2128570" cy="4423212"/>
      </dsp:txXfrm>
    </dsp:sp>
    <dsp:sp modelId="{EEA621E8-086C-4282-B3C3-8381B72A50CD}">
      <dsp:nvSpPr>
        <dsp:cNvPr id="0" name=""/>
        <dsp:cNvSpPr/>
      </dsp:nvSpPr>
      <dsp:spPr>
        <a:xfrm>
          <a:off x="8787033" y="2987342"/>
          <a:ext cx="508502" cy="560732"/>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just" defTabSz="711200">
            <a:lnSpc>
              <a:spcPct val="90000"/>
            </a:lnSpc>
            <a:spcBef>
              <a:spcPct val="0"/>
            </a:spcBef>
            <a:spcAft>
              <a:spcPct val="35000"/>
            </a:spcAft>
            <a:buNone/>
          </a:pPr>
          <a:endParaRPr lang="en-IN" sz="1600" kern="1200">
            <a:latin typeface="Times New Roman" panose="02020603050405020304" pitchFamily="18" charset="0"/>
            <a:cs typeface="Times New Roman" panose="02020603050405020304" pitchFamily="18" charset="0"/>
          </a:endParaRPr>
        </a:p>
      </dsp:txBody>
      <dsp:txXfrm>
        <a:off x="8787033" y="3099488"/>
        <a:ext cx="355951" cy="336440"/>
      </dsp:txXfrm>
    </dsp:sp>
    <dsp:sp modelId="{798E4C17-6185-4217-B562-F457050CBD87}">
      <dsp:nvSpPr>
        <dsp:cNvPr id="0" name=""/>
        <dsp:cNvSpPr/>
      </dsp:nvSpPr>
      <dsp:spPr>
        <a:xfrm>
          <a:off x="9506611" y="989879"/>
          <a:ext cx="2261016" cy="4555658"/>
        </a:xfrm>
        <a:prstGeom prst="roundRect">
          <a:avLst>
            <a:gd name="adj" fmla="val 10000"/>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IN" sz="1600" b="1" kern="1200" dirty="0">
              <a:highlight>
                <a:srgbClr val="FFFF00"/>
              </a:highlight>
              <a:latin typeface="Times New Roman" panose="02020603050405020304" pitchFamily="18" charset="0"/>
              <a:cs typeface="Times New Roman" panose="02020603050405020304" pitchFamily="18" charset="0"/>
            </a:rPr>
            <a:t>Iteration 5</a:t>
          </a:r>
          <a:endParaRPr lang="en-IN" sz="1600" kern="1200" dirty="0">
            <a:highlight>
              <a:srgbClr val="FFFF00"/>
            </a:highlight>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Remove</a:t>
          </a:r>
          <a:r>
            <a:rPr lang="en-IN" sz="1600" b="1" kern="1200" dirty="0">
              <a:latin typeface="Times New Roman" panose="02020603050405020304" pitchFamily="18" charset="0"/>
              <a:cs typeface="Times New Roman" panose="02020603050405020304" pitchFamily="18" charset="0"/>
            </a:rPr>
            <a:t> </a:t>
          </a:r>
          <a:r>
            <a:rPr lang="en-IN" sz="1600" b="1" kern="1200" dirty="0" err="1">
              <a:latin typeface="Times New Roman" panose="02020603050405020304" pitchFamily="18" charset="0"/>
              <a:cs typeface="Times New Roman" panose="02020603050405020304" pitchFamily="18" charset="0"/>
            </a:rPr>
            <a:t>sh</a:t>
          </a:r>
          <a:endParaRPr lang="en-IN" sz="1600"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Queue</a:t>
          </a: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Before:</a:t>
          </a:r>
        </a:p>
        <a:p>
          <a:pPr marL="0" lvl="0" indent="0" algn="just"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a:t>
          </a:r>
          <a:r>
            <a:rPr lang="en-IN" sz="1600" b="1" kern="1200" dirty="0" err="1">
              <a:latin typeface="Times New Roman" panose="02020603050405020304" pitchFamily="18" charset="0"/>
              <a:cs typeface="Times New Roman" panose="02020603050405020304" pitchFamily="18" charset="0"/>
            </a:rPr>
            <a:t>sh</a:t>
          </a:r>
          <a:r>
            <a:rPr lang="en-IN" sz="1600" b="1" kern="1200" dirty="0">
              <a:latin typeface="Times New Roman" panose="02020603050405020304" pitchFamily="18" charset="0"/>
              <a:cs typeface="Times New Roman" panose="02020603050405020304" pitchFamily="18" charset="0"/>
            </a:rPr>
            <a:t>, her, his]</a:t>
          </a:r>
          <a:endParaRPr lang="en-IN" sz="1600"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After:</a:t>
          </a:r>
          <a:r>
            <a:rPr lang="en-IN" sz="1600" b="1" kern="1200" dirty="0">
              <a:latin typeface="Times New Roman" panose="02020603050405020304" pitchFamily="18" charset="0"/>
              <a:cs typeface="Times New Roman" panose="02020603050405020304" pitchFamily="18" charset="0"/>
            </a:rPr>
            <a:t>[her, his]</a:t>
          </a:r>
          <a:endParaRPr lang="en-IN" sz="1600"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Child: </a:t>
          </a:r>
          <a:r>
            <a:rPr lang="en-IN" sz="1600" b="1" kern="1200" dirty="0">
              <a:latin typeface="Times New Roman" panose="02020603050405020304" pitchFamily="18" charset="0"/>
              <a:cs typeface="Times New Roman" panose="02020603050405020304" pitchFamily="18" charset="0"/>
            </a:rPr>
            <a:t>she</a:t>
          </a:r>
          <a:endParaRPr lang="en-IN" sz="1600"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Failure(parent)=</a:t>
          </a:r>
          <a:r>
            <a:rPr lang="en-IN" sz="1600" b="1" kern="1200" dirty="0">
              <a:latin typeface="Times New Roman" panose="02020603050405020304" pitchFamily="18" charset="0"/>
              <a:cs typeface="Times New Roman" panose="02020603050405020304" pitchFamily="18" charset="0"/>
            </a:rPr>
            <a:t>h</a:t>
          </a:r>
          <a:endParaRPr lang="en-IN" sz="1600"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Now go to node </a:t>
          </a:r>
          <a:r>
            <a:rPr lang="en-IN" sz="1600" b="1" kern="1200" dirty="0">
              <a:latin typeface="Times New Roman" panose="02020603050405020304" pitchFamily="18" charset="0"/>
              <a:cs typeface="Times New Roman" panose="02020603050405020304" pitchFamily="18" charset="0"/>
            </a:rPr>
            <a:t>h</a:t>
          </a:r>
          <a:endParaRPr lang="en-IN" sz="1600"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From </a:t>
          </a:r>
          <a:r>
            <a:rPr lang="en-IN" sz="1600" b="1" kern="1200" dirty="0">
              <a:latin typeface="Times New Roman" panose="02020603050405020304" pitchFamily="18" charset="0"/>
              <a:cs typeface="Times New Roman" panose="02020603050405020304" pitchFamily="18" charset="0"/>
            </a:rPr>
            <a:t>h</a:t>
          </a:r>
          <a:endParaRPr lang="en-IN" sz="1600"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Edge </a:t>
          </a:r>
          <a:r>
            <a:rPr lang="en-IN" sz="1600" b="1" kern="1200" dirty="0">
              <a:latin typeface="Times New Roman" panose="02020603050405020304" pitchFamily="18" charset="0"/>
              <a:cs typeface="Times New Roman" panose="02020603050405020304" pitchFamily="18" charset="0"/>
            </a:rPr>
            <a:t>e</a:t>
          </a:r>
          <a:r>
            <a:rPr lang="en-IN" sz="1600" kern="1200" dirty="0">
              <a:latin typeface="Times New Roman" panose="02020603050405020304" pitchFamily="18" charset="0"/>
              <a:cs typeface="Times New Roman" panose="02020603050405020304" pitchFamily="18" charset="0"/>
            </a:rPr>
            <a:t> ? YES</a:t>
          </a: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Therefore</a:t>
          </a:r>
        </a:p>
        <a:p>
          <a:pPr marL="0" lvl="0" indent="0" algn="just"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Failure(she)=he</a:t>
          </a:r>
          <a:endParaRPr lang="en-IN" sz="1600" kern="1200" dirty="0">
            <a:latin typeface="Times New Roman" panose="02020603050405020304" pitchFamily="18" charset="0"/>
            <a:cs typeface="Times New Roman" panose="02020603050405020304" pitchFamily="18" charset="0"/>
          </a:endParaRPr>
        </a:p>
        <a:p>
          <a:pPr marL="0" lvl="0" indent="0" algn="just"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Queue</a:t>
          </a:r>
        </a:p>
        <a:p>
          <a:pPr marL="0" lvl="0" indent="0" algn="just"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[her, his, she]</a:t>
          </a:r>
        </a:p>
      </dsp:txBody>
      <dsp:txXfrm>
        <a:off x="9572834" y="1056102"/>
        <a:ext cx="2128570" cy="442321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50320C-A8D0-4143-A69D-EE016560EFE9}">
      <dsp:nvSpPr>
        <dsp:cNvPr id="0" name=""/>
        <dsp:cNvSpPr/>
      </dsp:nvSpPr>
      <dsp:spPr>
        <a:xfrm>
          <a:off x="68126" y="0"/>
          <a:ext cx="2767570" cy="5042608"/>
        </a:xfrm>
        <a:prstGeom prst="roundRect">
          <a:avLst>
            <a:gd name="adj" fmla="val 10000"/>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just" defTabSz="800100">
            <a:lnSpc>
              <a:spcPct val="90000"/>
            </a:lnSpc>
            <a:spcBef>
              <a:spcPct val="0"/>
            </a:spcBef>
            <a:spcAft>
              <a:spcPct val="35000"/>
            </a:spcAft>
            <a:buNone/>
          </a:pPr>
          <a:r>
            <a:rPr lang="en-IN" sz="1800" b="1" kern="1200" dirty="0">
              <a:highlight>
                <a:srgbClr val="FFFF00"/>
              </a:highlight>
            </a:rPr>
            <a:t>Iteration 6</a:t>
          </a:r>
          <a:endParaRPr lang="en-IN" sz="1800" kern="1200" dirty="0">
            <a:highlight>
              <a:srgbClr val="FFFF00"/>
            </a:highlight>
          </a:endParaRPr>
        </a:p>
        <a:p>
          <a:pPr marL="0" lvl="0" indent="0" algn="just" defTabSz="800100">
            <a:lnSpc>
              <a:spcPct val="90000"/>
            </a:lnSpc>
            <a:spcBef>
              <a:spcPct val="0"/>
            </a:spcBef>
            <a:spcAft>
              <a:spcPct val="35000"/>
            </a:spcAft>
            <a:buNone/>
          </a:pPr>
          <a:r>
            <a:rPr lang="en-IN" sz="1800" b="0" kern="1200" dirty="0"/>
            <a:t>Remove</a:t>
          </a:r>
          <a:r>
            <a:rPr lang="en-IN" sz="1800" b="1" kern="1200" dirty="0"/>
            <a:t> her</a:t>
          </a:r>
          <a:endParaRPr lang="en-IN" sz="1800" kern="1200" dirty="0"/>
        </a:p>
        <a:p>
          <a:pPr marL="0" lvl="0" indent="0" algn="just" defTabSz="800100">
            <a:lnSpc>
              <a:spcPct val="90000"/>
            </a:lnSpc>
            <a:spcBef>
              <a:spcPct val="0"/>
            </a:spcBef>
            <a:spcAft>
              <a:spcPct val="35000"/>
            </a:spcAft>
            <a:buNone/>
          </a:pPr>
          <a:r>
            <a:rPr lang="en-IN" sz="1800" kern="1200" dirty="0"/>
            <a:t>Queue</a:t>
          </a:r>
        </a:p>
        <a:p>
          <a:pPr marL="0" lvl="0" indent="0" algn="just" defTabSz="800100">
            <a:lnSpc>
              <a:spcPct val="90000"/>
            </a:lnSpc>
            <a:spcBef>
              <a:spcPct val="0"/>
            </a:spcBef>
            <a:spcAft>
              <a:spcPct val="35000"/>
            </a:spcAft>
            <a:buNone/>
          </a:pPr>
          <a:r>
            <a:rPr lang="en-IN" sz="1800" kern="1200" dirty="0"/>
            <a:t>Before</a:t>
          </a:r>
        </a:p>
        <a:p>
          <a:pPr marL="0" lvl="0" indent="0" algn="just" defTabSz="800100">
            <a:lnSpc>
              <a:spcPct val="90000"/>
            </a:lnSpc>
            <a:spcBef>
              <a:spcPct val="0"/>
            </a:spcBef>
            <a:spcAft>
              <a:spcPct val="35000"/>
            </a:spcAft>
            <a:buNone/>
          </a:pPr>
          <a:r>
            <a:rPr lang="en-IN" sz="1800" b="1" kern="1200" dirty="0"/>
            <a:t>[her, his, she]</a:t>
          </a:r>
          <a:endParaRPr lang="en-IN" sz="1800" kern="1200" dirty="0"/>
        </a:p>
        <a:p>
          <a:pPr marL="0" lvl="0" indent="0" algn="just" defTabSz="800100">
            <a:lnSpc>
              <a:spcPct val="90000"/>
            </a:lnSpc>
            <a:spcBef>
              <a:spcPct val="0"/>
            </a:spcBef>
            <a:spcAft>
              <a:spcPct val="35000"/>
            </a:spcAft>
            <a:buNone/>
          </a:pPr>
          <a:r>
            <a:rPr lang="en-IN" sz="1800" kern="1200" dirty="0"/>
            <a:t>After :</a:t>
          </a:r>
          <a:r>
            <a:rPr lang="en-IN" sz="1800" b="1" kern="1200" dirty="0"/>
            <a:t>[his, she]</a:t>
          </a:r>
          <a:endParaRPr lang="en-IN" sz="1800" kern="1200" dirty="0"/>
        </a:p>
        <a:p>
          <a:pPr marL="0" lvl="0" indent="0" algn="just" defTabSz="800100">
            <a:lnSpc>
              <a:spcPct val="90000"/>
            </a:lnSpc>
            <a:spcBef>
              <a:spcPct val="0"/>
            </a:spcBef>
            <a:spcAft>
              <a:spcPct val="35000"/>
            </a:spcAft>
            <a:buNone/>
          </a:pPr>
          <a:r>
            <a:rPr lang="en-IN" sz="1800" kern="1200" dirty="0"/>
            <a:t>Child: </a:t>
          </a:r>
          <a:r>
            <a:rPr lang="en-IN" sz="1800" b="1" kern="1200" dirty="0"/>
            <a:t>hers</a:t>
          </a:r>
          <a:endParaRPr lang="en-IN" sz="1800" kern="1200" dirty="0"/>
        </a:p>
        <a:p>
          <a:pPr marL="0" lvl="0" indent="0" algn="just" defTabSz="800100">
            <a:lnSpc>
              <a:spcPct val="90000"/>
            </a:lnSpc>
            <a:spcBef>
              <a:spcPct val="0"/>
            </a:spcBef>
            <a:spcAft>
              <a:spcPct val="35000"/>
            </a:spcAft>
            <a:buNone/>
          </a:pPr>
          <a:r>
            <a:rPr lang="en-IN" sz="1800" kern="1200" dirty="0"/>
            <a:t>Failure(parent)=root</a:t>
          </a:r>
        </a:p>
        <a:p>
          <a:pPr marL="0" lvl="0" indent="0" algn="just" defTabSz="800100">
            <a:lnSpc>
              <a:spcPct val="90000"/>
            </a:lnSpc>
            <a:spcBef>
              <a:spcPct val="0"/>
            </a:spcBef>
            <a:spcAft>
              <a:spcPct val="35000"/>
            </a:spcAft>
            <a:buNone/>
          </a:pPr>
          <a:r>
            <a:rPr lang="en-IN" sz="1800" kern="1200" dirty="0"/>
            <a:t>From root</a:t>
          </a:r>
        </a:p>
        <a:p>
          <a:pPr marL="0" lvl="0" indent="0" algn="just" defTabSz="800100">
            <a:lnSpc>
              <a:spcPct val="90000"/>
            </a:lnSpc>
            <a:spcBef>
              <a:spcPct val="0"/>
            </a:spcBef>
            <a:spcAft>
              <a:spcPct val="35000"/>
            </a:spcAft>
            <a:buNone/>
          </a:pPr>
          <a:r>
            <a:rPr lang="en-IN" sz="1800" kern="1200" dirty="0"/>
            <a:t>Edge </a:t>
          </a:r>
          <a:r>
            <a:rPr lang="en-IN" sz="1800" b="1" kern="1200" dirty="0"/>
            <a:t>s</a:t>
          </a:r>
          <a:r>
            <a:rPr lang="en-IN" sz="1800" kern="1200" dirty="0"/>
            <a:t> ? YES</a:t>
          </a:r>
        </a:p>
        <a:p>
          <a:pPr marL="0" lvl="0" indent="0" algn="just" defTabSz="800100">
            <a:lnSpc>
              <a:spcPct val="90000"/>
            </a:lnSpc>
            <a:spcBef>
              <a:spcPct val="0"/>
            </a:spcBef>
            <a:spcAft>
              <a:spcPct val="35000"/>
            </a:spcAft>
            <a:buNone/>
          </a:pPr>
          <a:r>
            <a:rPr lang="en-IN" sz="1800" kern="1200" dirty="0"/>
            <a:t>Therefore</a:t>
          </a:r>
        </a:p>
        <a:p>
          <a:pPr marL="0" lvl="0" indent="0" algn="just" defTabSz="800100">
            <a:lnSpc>
              <a:spcPct val="90000"/>
            </a:lnSpc>
            <a:spcBef>
              <a:spcPct val="0"/>
            </a:spcBef>
            <a:spcAft>
              <a:spcPct val="35000"/>
            </a:spcAft>
            <a:buNone/>
          </a:pPr>
          <a:r>
            <a:rPr lang="en-IN" sz="1800" b="1" kern="1200" dirty="0"/>
            <a:t>Failure(hers)=s</a:t>
          </a:r>
          <a:endParaRPr lang="en-IN" sz="1800" kern="1200" dirty="0"/>
        </a:p>
        <a:p>
          <a:pPr marL="0" lvl="0" indent="0" algn="just" defTabSz="800100">
            <a:lnSpc>
              <a:spcPct val="90000"/>
            </a:lnSpc>
            <a:spcBef>
              <a:spcPct val="0"/>
            </a:spcBef>
            <a:spcAft>
              <a:spcPct val="35000"/>
            </a:spcAft>
            <a:buNone/>
          </a:pPr>
          <a:r>
            <a:rPr lang="en-IN" sz="1800" kern="1200" dirty="0"/>
            <a:t>Queue</a:t>
          </a:r>
        </a:p>
        <a:p>
          <a:pPr marL="0" lvl="0" indent="0" algn="just" defTabSz="800100">
            <a:lnSpc>
              <a:spcPct val="90000"/>
            </a:lnSpc>
            <a:spcBef>
              <a:spcPct val="0"/>
            </a:spcBef>
            <a:spcAft>
              <a:spcPct val="35000"/>
            </a:spcAft>
            <a:buNone/>
          </a:pPr>
          <a:r>
            <a:rPr lang="en-IN" sz="1800" b="1" kern="1200" dirty="0"/>
            <a:t>[his, she, hers]</a:t>
          </a:r>
        </a:p>
      </dsp:txBody>
      <dsp:txXfrm>
        <a:off x="149185" y="81059"/>
        <a:ext cx="2605452" cy="4880490"/>
      </dsp:txXfrm>
    </dsp:sp>
    <dsp:sp modelId="{446A0C17-B562-4B9B-B552-4A2048E4C3A3}">
      <dsp:nvSpPr>
        <dsp:cNvPr id="0" name=""/>
        <dsp:cNvSpPr/>
      </dsp:nvSpPr>
      <dsp:spPr>
        <a:xfrm>
          <a:off x="3037794" y="2251973"/>
          <a:ext cx="428447" cy="538661"/>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just" defTabSz="800100">
            <a:lnSpc>
              <a:spcPct val="90000"/>
            </a:lnSpc>
            <a:spcBef>
              <a:spcPct val="0"/>
            </a:spcBef>
            <a:spcAft>
              <a:spcPct val="35000"/>
            </a:spcAft>
            <a:buNone/>
          </a:pPr>
          <a:endParaRPr lang="en-IN" sz="1800" kern="1200"/>
        </a:p>
      </dsp:txBody>
      <dsp:txXfrm>
        <a:off x="3037794" y="2359705"/>
        <a:ext cx="299913" cy="323197"/>
      </dsp:txXfrm>
    </dsp:sp>
    <dsp:sp modelId="{FFB76B42-9A85-43A5-A46F-F1A2BE4784EC}">
      <dsp:nvSpPr>
        <dsp:cNvPr id="0" name=""/>
        <dsp:cNvSpPr/>
      </dsp:nvSpPr>
      <dsp:spPr>
        <a:xfrm>
          <a:off x="3644089" y="971084"/>
          <a:ext cx="2172023" cy="3100439"/>
        </a:xfrm>
        <a:prstGeom prst="roundRect">
          <a:avLst>
            <a:gd name="adj" fmla="val 10000"/>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just" defTabSz="800100">
            <a:lnSpc>
              <a:spcPct val="90000"/>
            </a:lnSpc>
            <a:spcBef>
              <a:spcPct val="0"/>
            </a:spcBef>
            <a:spcAft>
              <a:spcPct val="35000"/>
            </a:spcAft>
            <a:buNone/>
          </a:pPr>
          <a:r>
            <a:rPr lang="en-IN" sz="1800" b="1" kern="1200" dirty="0">
              <a:highlight>
                <a:srgbClr val="FFFF00"/>
              </a:highlight>
            </a:rPr>
            <a:t>Iteration 7</a:t>
          </a:r>
        </a:p>
        <a:p>
          <a:pPr marL="0" lvl="0" indent="0" algn="just" defTabSz="800100">
            <a:lnSpc>
              <a:spcPct val="90000"/>
            </a:lnSpc>
            <a:spcBef>
              <a:spcPct val="0"/>
            </a:spcBef>
            <a:spcAft>
              <a:spcPct val="35000"/>
            </a:spcAft>
            <a:buNone/>
          </a:pPr>
          <a:r>
            <a:rPr lang="en-IN" sz="1800" kern="1200" dirty="0"/>
            <a:t>Remove </a:t>
          </a:r>
          <a:r>
            <a:rPr lang="en-IN" sz="1800" b="1" kern="1200" dirty="0"/>
            <a:t>his</a:t>
          </a:r>
          <a:endParaRPr lang="en-IN" sz="1800" kern="1200" dirty="0"/>
        </a:p>
        <a:p>
          <a:pPr marL="0" lvl="0" indent="0" algn="just" defTabSz="800100">
            <a:lnSpc>
              <a:spcPct val="90000"/>
            </a:lnSpc>
            <a:spcBef>
              <a:spcPct val="0"/>
            </a:spcBef>
            <a:spcAft>
              <a:spcPct val="35000"/>
            </a:spcAft>
            <a:buNone/>
          </a:pPr>
          <a:r>
            <a:rPr lang="en-IN" sz="1800" kern="1200" dirty="0"/>
            <a:t>No children.</a:t>
          </a:r>
        </a:p>
        <a:p>
          <a:pPr marL="0" lvl="0" indent="0" algn="just" defTabSz="800100">
            <a:lnSpc>
              <a:spcPct val="90000"/>
            </a:lnSpc>
            <a:spcBef>
              <a:spcPct val="0"/>
            </a:spcBef>
            <a:spcAft>
              <a:spcPct val="35000"/>
            </a:spcAft>
            <a:buNone/>
          </a:pPr>
          <a:r>
            <a:rPr lang="en-IN" sz="1800" kern="1200" dirty="0"/>
            <a:t>Queue</a:t>
          </a:r>
        </a:p>
        <a:p>
          <a:pPr marL="0" lvl="0" indent="0" algn="just" defTabSz="800100">
            <a:lnSpc>
              <a:spcPct val="90000"/>
            </a:lnSpc>
            <a:spcBef>
              <a:spcPct val="0"/>
            </a:spcBef>
            <a:spcAft>
              <a:spcPct val="35000"/>
            </a:spcAft>
            <a:buNone/>
          </a:pPr>
          <a:r>
            <a:rPr lang="en-IN" sz="1800" b="1" kern="1200" dirty="0"/>
            <a:t>[she, hers]</a:t>
          </a:r>
        </a:p>
      </dsp:txBody>
      <dsp:txXfrm>
        <a:off x="3707705" y="1034700"/>
        <a:ext cx="2044791" cy="2973207"/>
      </dsp:txXfrm>
    </dsp:sp>
    <dsp:sp modelId="{F3091E69-CAB4-4248-A2BD-DFAD93A0A8A5}">
      <dsp:nvSpPr>
        <dsp:cNvPr id="0" name=""/>
        <dsp:cNvSpPr/>
      </dsp:nvSpPr>
      <dsp:spPr>
        <a:xfrm>
          <a:off x="6033314" y="2251973"/>
          <a:ext cx="460468" cy="538661"/>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just" defTabSz="800100">
            <a:lnSpc>
              <a:spcPct val="90000"/>
            </a:lnSpc>
            <a:spcBef>
              <a:spcPct val="0"/>
            </a:spcBef>
            <a:spcAft>
              <a:spcPct val="35000"/>
            </a:spcAft>
            <a:buNone/>
          </a:pPr>
          <a:endParaRPr lang="en-IN" sz="1800" kern="1200"/>
        </a:p>
      </dsp:txBody>
      <dsp:txXfrm>
        <a:off x="6033314" y="2359705"/>
        <a:ext cx="322328" cy="323197"/>
      </dsp:txXfrm>
    </dsp:sp>
    <dsp:sp modelId="{154D35CD-974C-4A75-89DA-0AE1EA346E41}">
      <dsp:nvSpPr>
        <dsp:cNvPr id="0" name=""/>
        <dsp:cNvSpPr/>
      </dsp:nvSpPr>
      <dsp:spPr>
        <a:xfrm>
          <a:off x="6684921" y="1018322"/>
          <a:ext cx="2172023" cy="3005962"/>
        </a:xfrm>
        <a:prstGeom prst="roundRect">
          <a:avLst>
            <a:gd name="adj" fmla="val 10000"/>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just" defTabSz="800100">
            <a:lnSpc>
              <a:spcPct val="90000"/>
            </a:lnSpc>
            <a:spcBef>
              <a:spcPct val="0"/>
            </a:spcBef>
            <a:spcAft>
              <a:spcPct val="35000"/>
            </a:spcAft>
            <a:buNone/>
          </a:pPr>
          <a:r>
            <a:rPr lang="en-IN" sz="1800" b="1" kern="1200" dirty="0">
              <a:highlight>
                <a:srgbClr val="FFFF00"/>
              </a:highlight>
            </a:rPr>
            <a:t>Iteration 8</a:t>
          </a:r>
        </a:p>
        <a:p>
          <a:pPr marL="0" lvl="0" indent="0" algn="just" defTabSz="800100">
            <a:lnSpc>
              <a:spcPct val="90000"/>
            </a:lnSpc>
            <a:spcBef>
              <a:spcPct val="0"/>
            </a:spcBef>
            <a:spcAft>
              <a:spcPct val="35000"/>
            </a:spcAft>
            <a:buNone/>
          </a:pPr>
          <a:r>
            <a:rPr lang="en-IN" sz="1800" kern="1200" dirty="0"/>
            <a:t>Remove </a:t>
          </a:r>
          <a:r>
            <a:rPr lang="en-IN" sz="1800" b="1" kern="1200" dirty="0"/>
            <a:t>she</a:t>
          </a:r>
          <a:endParaRPr lang="en-IN" sz="1800" kern="1200" dirty="0"/>
        </a:p>
        <a:p>
          <a:pPr marL="0" lvl="0" indent="0" algn="just" defTabSz="800100">
            <a:lnSpc>
              <a:spcPct val="90000"/>
            </a:lnSpc>
            <a:spcBef>
              <a:spcPct val="0"/>
            </a:spcBef>
            <a:spcAft>
              <a:spcPct val="35000"/>
            </a:spcAft>
            <a:buNone/>
          </a:pPr>
          <a:r>
            <a:rPr lang="en-IN" sz="1800" kern="1200" dirty="0"/>
            <a:t>No children.</a:t>
          </a:r>
        </a:p>
        <a:p>
          <a:pPr marL="0" lvl="0" indent="0" algn="just" defTabSz="800100">
            <a:lnSpc>
              <a:spcPct val="90000"/>
            </a:lnSpc>
            <a:spcBef>
              <a:spcPct val="0"/>
            </a:spcBef>
            <a:spcAft>
              <a:spcPct val="35000"/>
            </a:spcAft>
            <a:buNone/>
          </a:pPr>
          <a:r>
            <a:rPr lang="en-IN" sz="1800" kern="1200" dirty="0"/>
            <a:t>Queue</a:t>
          </a:r>
        </a:p>
        <a:p>
          <a:pPr marL="0" lvl="0" indent="0" algn="just" defTabSz="800100">
            <a:lnSpc>
              <a:spcPct val="90000"/>
            </a:lnSpc>
            <a:spcBef>
              <a:spcPct val="0"/>
            </a:spcBef>
            <a:spcAft>
              <a:spcPct val="35000"/>
            </a:spcAft>
            <a:buNone/>
          </a:pPr>
          <a:r>
            <a:rPr lang="en-IN" sz="1800" b="1" kern="1200" dirty="0"/>
            <a:t>[hers]</a:t>
          </a:r>
        </a:p>
      </dsp:txBody>
      <dsp:txXfrm>
        <a:off x="6748537" y="1081938"/>
        <a:ext cx="2044791" cy="2878730"/>
      </dsp:txXfrm>
    </dsp:sp>
    <dsp:sp modelId="{EEA621E8-086C-4282-B3C3-8381B72A50CD}">
      <dsp:nvSpPr>
        <dsp:cNvPr id="0" name=""/>
        <dsp:cNvSpPr/>
      </dsp:nvSpPr>
      <dsp:spPr>
        <a:xfrm>
          <a:off x="9074147" y="2251973"/>
          <a:ext cx="460468" cy="538661"/>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just" defTabSz="800100">
            <a:lnSpc>
              <a:spcPct val="90000"/>
            </a:lnSpc>
            <a:spcBef>
              <a:spcPct val="0"/>
            </a:spcBef>
            <a:spcAft>
              <a:spcPct val="35000"/>
            </a:spcAft>
            <a:buNone/>
          </a:pPr>
          <a:endParaRPr lang="en-IN" sz="1800" kern="1200"/>
        </a:p>
      </dsp:txBody>
      <dsp:txXfrm>
        <a:off x="9074147" y="2359705"/>
        <a:ext cx="322328" cy="323197"/>
      </dsp:txXfrm>
    </dsp:sp>
    <dsp:sp modelId="{798E4C17-6185-4217-B562-F457050CBD87}">
      <dsp:nvSpPr>
        <dsp:cNvPr id="0" name=""/>
        <dsp:cNvSpPr/>
      </dsp:nvSpPr>
      <dsp:spPr>
        <a:xfrm>
          <a:off x="9725754" y="1176524"/>
          <a:ext cx="2172023" cy="2689559"/>
        </a:xfrm>
        <a:prstGeom prst="roundRect">
          <a:avLst>
            <a:gd name="adj" fmla="val 10000"/>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just" defTabSz="800100">
            <a:lnSpc>
              <a:spcPct val="90000"/>
            </a:lnSpc>
            <a:spcBef>
              <a:spcPct val="0"/>
            </a:spcBef>
            <a:spcAft>
              <a:spcPct val="35000"/>
            </a:spcAft>
            <a:buNone/>
          </a:pPr>
          <a:r>
            <a:rPr lang="en-IN" sz="1800" b="1" kern="1200" dirty="0">
              <a:highlight>
                <a:srgbClr val="FFFF00"/>
              </a:highlight>
            </a:rPr>
            <a:t>Iteration 9</a:t>
          </a:r>
        </a:p>
        <a:p>
          <a:pPr marL="0" lvl="0" indent="0" algn="just" defTabSz="800100">
            <a:lnSpc>
              <a:spcPct val="90000"/>
            </a:lnSpc>
            <a:spcBef>
              <a:spcPct val="0"/>
            </a:spcBef>
            <a:spcAft>
              <a:spcPct val="35000"/>
            </a:spcAft>
            <a:buNone/>
          </a:pPr>
          <a:r>
            <a:rPr lang="en-IN" sz="1800" kern="1200" dirty="0"/>
            <a:t>Remove </a:t>
          </a:r>
          <a:r>
            <a:rPr lang="en-IN" sz="1800" b="1" kern="1200" dirty="0"/>
            <a:t>hers</a:t>
          </a:r>
          <a:endParaRPr lang="en-IN" sz="1800" kern="1200" dirty="0"/>
        </a:p>
        <a:p>
          <a:pPr marL="0" lvl="0" indent="0" algn="just" defTabSz="800100">
            <a:lnSpc>
              <a:spcPct val="90000"/>
            </a:lnSpc>
            <a:spcBef>
              <a:spcPct val="0"/>
            </a:spcBef>
            <a:spcAft>
              <a:spcPct val="35000"/>
            </a:spcAft>
            <a:buNone/>
          </a:pPr>
          <a:r>
            <a:rPr lang="en-IN" sz="1800" kern="1200" dirty="0"/>
            <a:t>No children.</a:t>
          </a:r>
        </a:p>
        <a:p>
          <a:pPr marL="0" lvl="0" indent="0" algn="just" defTabSz="800100">
            <a:lnSpc>
              <a:spcPct val="90000"/>
            </a:lnSpc>
            <a:spcBef>
              <a:spcPct val="0"/>
            </a:spcBef>
            <a:spcAft>
              <a:spcPct val="35000"/>
            </a:spcAft>
            <a:buNone/>
          </a:pPr>
          <a:r>
            <a:rPr lang="en-IN" sz="1800" kern="1200" dirty="0"/>
            <a:t>Queue empty.</a:t>
          </a:r>
        </a:p>
        <a:p>
          <a:pPr marL="0" lvl="0" indent="0" algn="just" defTabSz="800100">
            <a:lnSpc>
              <a:spcPct val="90000"/>
            </a:lnSpc>
            <a:spcBef>
              <a:spcPct val="0"/>
            </a:spcBef>
            <a:spcAft>
              <a:spcPct val="35000"/>
            </a:spcAft>
            <a:buNone/>
          </a:pPr>
          <a:r>
            <a:rPr lang="en-IN" sz="1800" kern="1200" dirty="0"/>
            <a:t>Construction </a:t>
          </a:r>
          <a:r>
            <a:rPr lang="en-IN" sz="1800" b="1" kern="1200" dirty="0"/>
            <a:t>finished</a:t>
          </a:r>
          <a:r>
            <a:rPr lang="en-IN" sz="1800" kern="1200" dirty="0"/>
            <a:t>.</a:t>
          </a:r>
          <a:endParaRPr lang="en-IN" sz="1800" b="1" kern="1200" dirty="0"/>
        </a:p>
      </dsp:txBody>
      <dsp:txXfrm>
        <a:off x="9789370" y="1240140"/>
        <a:ext cx="2044791" cy="256232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50320C-A8D0-4143-A69D-EE016560EFE9}">
      <dsp:nvSpPr>
        <dsp:cNvPr id="0" name=""/>
        <dsp:cNvSpPr/>
      </dsp:nvSpPr>
      <dsp:spPr>
        <a:xfrm>
          <a:off x="0" y="542733"/>
          <a:ext cx="4862511" cy="4148329"/>
        </a:xfrm>
        <a:prstGeom prst="roundRect">
          <a:avLst>
            <a:gd name="adj" fmla="val 10000"/>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n-IN" sz="2000" b="1" kern="1200" dirty="0"/>
            <a:t>Each node stores which patterns end there.</a:t>
          </a:r>
        </a:p>
        <a:p>
          <a:pPr marL="0" lvl="0" indent="0" algn="just" defTabSz="889000">
            <a:lnSpc>
              <a:spcPct val="90000"/>
            </a:lnSpc>
            <a:spcBef>
              <a:spcPct val="0"/>
            </a:spcBef>
            <a:spcAft>
              <a:spcPct val="35000"/>
            </a:spcAft>
            <a:buNone/>
          </a:pPr>
          <a:r>
            <a:rPr lang="en-IN" sz="2000" b="1" kern="1200" dirty="0"/>
            <a:t>Initially</a:t>
          </a:r>
        </a:p>
        <a:p>
          <a:pPr marL="0" lvl="0" indent="0" algn="just" defTabSz="889000">
            <a:lnSpc>
              <a:spcPct val="90000"/>
            </a:lnSpc>
            <a:spcBef>
              <a:spcPct val="0"/>
            </a:spcBef>
            <a:spcAft>
              <a:spcPct val="35000"/>
            </a:spcAft>
            <a:buNone/>
          </a:pPr>
          <a:endParaRPr lang="en-IN" sz="2000" b="1" kern="1200" dirty="0"/>
        </a:p>
        <a:p>
          <a:pPr marL="0" lvl="0" indent="0" algn="just" defTabSz="889000">
            <a:lnSpc>
              <a:spcPct val="90000"/>
            </a:lnSpc>
            <a:spcBef>
              <a:spcPct val="0"/>
            </a:spcBef>
            <a:spcAft>
              <a:spcPct val="35000"/>
            </a:spcAft>
            <a:buNone/>
          </a:pPr>
          <a:endParaRPr lang="en-IN" sz="2000" b="1" kern="1200" dirty="0"/>
        </a:p>
        <a:p>
          <a:pPr marL="0" lvl="0" indent="0" algn="just" defTabSz="889000">
            <a:lnSpc>
              <a:spcPct val="90000"/>
            </a:lnSpc>
            <a:spcBef>
              <a:spcPct val="0"/>
            </a:spcBef>
            <a:spcAft>
              <a:spcPct val="35000"/>
            </a:spcAft>
            <a:buNone/>
          </a:pPr>
          <a:endParaRPr lang="en-IN" sz="2000" b="1" kern="1200" dirty="0"/>
        </a:p>
        <a:p>
          <a:pPr marL="0" lvl="0" indent="0" algn="just" defTabSz="889000">
            <a:lnSpc>
              <a:spcPct val="90000"/>
            </a:lnSpc>
            <a:spcBef>
              <a:spcPct val="0"/>
            </a:spcBef>
            <a:spcAft>
              <a:spcPct val="35000"/>
            </a:spcAft>
            <a:buNone/>
          </a:pPr>
          <a:endParaRPr lang="en-IN" sz="2000" b="1" kern="1200" dirty="0"/>
        </a:p>
        <a:p>
          <a:pPr marL="0" lvl="0" indent="0" algn="just" defTabSz="889000">
            <a:lnSpc>
              <a:spcPct val="90000"/>
            </a:lnSpc>
            <a:spcBef>
              <a:spcPct val="0"/>
            </a:spcBef>
            <a:spcAft>
              <a:spcPct val="35000"/>
            </a:spcAft>
            <a:buNone/>
          </a:pPr>
          <a:endParaRPr lang="en-IN" sz="2000" b="1" kern="1200" dirty="0"/>
        </a:p>
        <a:p>
          <a:pPr marL="0" lvl="0" indent="0" algn="just" defTabSz="889000">
            <a:lnSpc>
              <a:spcPct val="90000"/>
            </a:lnSpc>
            <a:spcBef>
              <a:spcPct val="0"/>
            </a:spcBef>
            <a:spcAft>
              <a:spcPct val="35000"/>
            </a:spcAft>
            <a:buNone/>
          </a:pPr>
          <a:endParaRPr lang="en-IN" sz="2000" b="1" kern="1200" dirty="0"/>
        </a:p>
        <a:p>
          <a:pPr marL="0" lvl="0" indent="0" algn="just" defTabSz="889000">
            <a:lnSpc>
              <a:spcPct val="90000"/>
            </a:lnSpc>
            <a:spcBef>
              <a:spcPct val="0"/>
            </a:spcBef>
            <a:spcAft>
              <a:spcPct val="35000"/>
            </a:spcAft>
            <a:buNone/>
          </a:pPr>
          <a:endParaRPr lang="en-IN" sz="2000" b="1" kern="1200" dirty="0"/>
        </a:p>
      </dsp:txBody>
      <dsp:txXfrm>
        <a:off x="121500" y="664233"/>
        <a:ext cx="4619511" cy="3905329"/>
      </dsp:txXfrm>
    </dsp:sp>
    <dsp:sp modelId="{446A0C17-B562-4B9B-B552-4A2048E4C3A3}">
      <dsp:nvSpPr>
        <dsp:cNvPr id="0" name=""/>
        <dsp:cNvSpPr/>
      </dsp:nvSpPr>
      <dsp:spPr>
        <a:xfrm rot="21508175">
          <a:off x="5119141" y="1722094"/>
          <a:ext cx="1354476" cy="1269779"/>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just" defTabSz="533400">
            <a:lnSpc>
              <a:spcPct val="90000"/>
            </a:lnSpc>
            <a:spcBef>
              <a:spcPct val="0"/>
            </a:spcBef>
            <a:spcAft>
              <a:spcPct val="35000"/>
            </a:spcAft>
            <a:buNone/>
          </a:pPr>
          <a:endParaRPr lang="en-IN" sz="1200" kern="1200"/>
        </a:p>
      </dsp:txBody>
      <dsp:txXfrm>
        <a:off x="5119209" y="1981137"/>
        <a:ext cx="973542" cy="761867"/>
      </dsp:txXfrm>
    </dsp:sp>
    <dsp:sp modelId="{FFB76B42-9A85-43A5-A46F-F1A2BE4784EC}">
      <dsp:nvSpPr>
        <dsp:cNvPr id="0" name=""/>
        <dsp:cNvSpPr/>
      </dsp:nvSpPr>
      <dsp:spPr>
        <a:xfrm>
          <a:off x="6675847" y="235047"/>
          <a:ext cx="4849479" cy="3733455"/>
        </a:xfrm>
        <a:prstGeom prst="roundRect">
          <a:avLst>
            <a:gd name="adj" fmla="val 10000"/>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a:lnSpc>
              <a:spcPct val="90000"/>
            </a:lnSpc>
            <a:spcBef>
              <a:spcPct val="0"/>
            </a:spcBef>
            <a:spcAft>
              <a:spcPct val="35000"/>
            </a:spcAft>
            <a:buNone/>
          </a:pPr>
          <a:r>
            <a:rPr lang="en-IN" sz="2400" kern="1200" dirty="0"/>
            <a:t>Now copy outputs from failure links.</a:t>
          </a:r>
        </a:p>
        <a:p>
          <a:pPr marL="0" lvl="0" indent="0" algn="just" defTabSz="1066800">
            <a:lnSpc>
              <a:spcPct val="90000"/>
            </a:lnSpc>
            <a:spcBef>
              <a:spcPct val="0"/>
            </a:spcBef>
            <a:spcAft>
              <a:spcPct val="35000"/>
            </a:spcAft>
            <a:buNone/>
          </a:pPr>
          <a:r>
            <a:rPr lang="en-IN" sz="2400" kern="1200" dirty="0"/>
            <a:t>Example</a:t>
          </a:r>
        </a:p>
        <a:p>
          <a:pPr marL="0" lvl="0" indent="0" algn="just" defTabSz="1066800">
            <a:lnSpc>
              <a:spcPct val="90000"/>
            </a:lnSpc>
            <a:spcBef>
              <a:spcPct val="0"/>
            </a:spcBef>
            <a:spcAft>
              <a:spcPct val="35000"/>
            </a:spcAft>
            <a:buNone/>
          </a:pPr>
          <a:r>
            <a:rPr lang="en-IN" sz="2400" b="1" kern="1200" dirty="0"/>
            <a:t>Failure(she)=he</a:t>
          </a:r>
        </a:p>
        <a:p>
          <a:pPr marL="0" lvl="0" indent="0" algn="just" defTabSz="1066800">
            <a:lnSpc>
              <a:spcPct val="90000"/>
            </a:lnSpc>
            <a:spcBef>
              <a:spcPct val="0"/>
            </a:spcBef>
            <a:spcAft>
              <a:spcPct val="35000"/>
            </a:spcAft>
            <a:buNone/>
          </a:pPr>
          <a:r>
            <a:rPr lang="en-IN" sz="2400" kern="1200" dirty="0"/>
            <a:t>Therefore</a:t>
          </a:r>
        </a:p>
        <a:p>
          <a:pPr marL="0" lvl="0" indent="0" algn="just" defTabSz="1066800">
            <a:lnSpc>
              <a:spcPct val="90000"/>
            </a:lnSpc>
            <a:spcBef>
              <a:spcPct val="0"/>
            </a:spcBef>
            <a:spcAft>
              <a:spcPct val="35000"/>
            </a:spcAft>
            <a:buNone/>
          </a:pPr>
          <a:r>
            <a:rPr lang="en-IN" sz="2400" kern="1200" dirty="0"/>
            <a:t>Output(she) = she + Output(he) = </a:t>
          </a:r>
          <a:r>
            <a:rPr lang="en-IN" sz="2400" b="1" kern="1200" dirty="0"/>
            <a:t>she, he</a:t>
          </a:r>
        </a:p>
      </dsp:txBody>
      <dsp:txXfrm>
        <a:off x="6785196" y="344396"/>
        <a:ext cx="4630781" cy="351475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3C31A-170A-424A-A9FE-953D342DDB68}">
      <dsp:nvSpPr>
        <dsp:cNvPr id="0" name=""/>
        <dsp:cNvSpPr/>
      </dsp:nvSpPr>
      <dsp:spPr>
        <a:xfrm>
          <a:off x="0" y="0"/>
          <a:ext cx="10643616" cy="58385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kern="1200" dirty="0">
              <a:solidFill>
                <a:schemeClr val="tx1"/>
              </a:solidFill>
            </a:rPr>
            <a:t>What is a Suffix?</a:t>
          </a:r>
        </a:p>
      </dsp:txBody>
      <dsp:txXfrm>
        <a:off x="28502" y="28502"/>
        <a:ext cx="10586612" cy="526853"/>
      </dsp:txXfrm>
    </dsp:sp>
    <dsp:sp modelId="{A7F36DA1-0370-4EBC-A2D3-8421A855B5AA}">
      <dsp:nvSpPr>
        <dsp:cNvPr id="0" name=""/>
        <dsp:cNvSpPr/>
      </dsp:nvSpPr>
      <dsp:spPr>
        <a:xfrm>
          <a:off x="0" y="584576"/>
          <a:ext cx="10643616" cy="5288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7935" tIns="30480" rIns="170688" bIns="30480" numCol="1" spcCol="1270" anchor="t" anchorCtr="0">
          <a:noAutofit/>
        </a:bodyPr>
        <a:lstStyle/>
        <a:p>
          <a:pPr marL="228600" lvl="1" indent="-228600" algn="l" defTabSz="1066800">
            <a:lnSpc>
              <a:spcPct val="90000"/>
            </a:lnSpc>
            <a:spcBef>
              <a:spcPct val="0"/>
            </a:spcBef>
            <a:spcAft>
              <a:spcPct val="20000"/>
            </a:spcAft>
            <a:buNone/>
          </a:pPr>
          <a:r>
            <a:rPr lang="en-IN" sz="2400" b="0" kern="1200" dirty="0"/>
            <a:t>A suffix is a substring that starts at any position in the string and extends to the end.</a:t>
          </a:r>
        </a:p>
        <a:p>
          <a:pPr marL="228600" lvl="1" indent="-228600" algn="l" defTabSz="1066800">
            <a:lnSpc>
              <a:spcPct val="90000"/>
            </a:lnSpc>
            <a:spcBef>
              <a:spcPct val="0"/>
            </a:spcBef>
            <a:spcAft>
              <a:spcPct val="20000"/>
            </a:spcAft>
            <a:buNone/>
          </a:pPr>
          <a:r>
            <a:rPr lang="en-IN" sz="2400" b="0" kern="1200" dirty="0"/>
            <a:t>For example,</a:t>
          </a:r>
        </a:p>
        <a:p>
          <a:pPr marL="228600" lvl="1" indent="-228600" algn="l" defTabSz="1066800">
            <a:lnSpc>
              <a:spcPct val="90000"/>
            </a:lnSpc>
            <a:spcBef>
              <a:spcPct val="0"/>
            </a:spcBef>
            <a:spcAft>
              <a:spcPct val="20000"/>
            </a:spcAft>
            <a:buNone/>
          </a:pPr>
          <a:r>
            <a:rPr lang="en-IN" sz="2400" b="0" kern="1200" dirty="0"/>
            <a:t>String = banana</a:t>
          </a:r>
        </a:p>
        <a:p>
          <a:pPr marL="228600" lvl="1" indent="-228600" algn="l" defTabSz="1066800">
            <a:lnSpc>
              <a:spcPct val="90000"/>
            </a:lnSpc>
            <a:spcBef>
              <a:spcPct val="0"/>
            </a:spcBef>
            <a:spcAft>
              <a:spcPct val="20000"/>
            </a:spcAft>
            <a:buNone/>
          </a:pPr>
          <a:r>
            <a:rPr lang="en-IN" sz="2400" b="0" kern="1200" dirty="0"/>
            <a:t>All suffixes are:</a:t>
          </a:r>
        </a:p>
        <a:p>
          <a:pPr marL="228600" lvl="1" indent="-228600" algn="l" defTabSz="1066800">
            <a:lnSpc>
              <a:spcPct val="90000"/>
            </a:lnSpc>
            <a:spcBef>
              <a:spcPct val="0"/>
            </a:spcBef>
            <a:spcAft>
              <a:spcPct val="20000"/>
            </a:spcAft>
            <a:buNone/>
          </a:pPr>
          <a:endParaRPr lang="en-IN" sz="2400" kern="1200" dirty="0"/>
        </a:p>
        <a:p>
          <a:pPr marL="228600" lvl="1" indent="-228600" algn="l" defTabSz="1066800">
            <a:lnSpc>
              <a:spcPct val="90000"/>
            </a:lnSpc>
            <a:spcBef>
              <a:spcPct val="0"/>
            </a:spcBef>
            <a:spcAft>
              <a:spcPct val="20000"/>
            </a:spcAft>
            <a:buNone/>
          </a:pPr>
          <a:endParaRPr lang="en-IN" sz="2400" kern="1200" dirty="0"/>
        </a:p>
        <a:p>
          <a:pPr marL="228600" lvl="1" indent="-228600" algn="l" defTabSz="1066800">
            <a:lnSpc>
              <a:spcPct val="90000"/>
            </a:lnSpc>
            <a:spcBef>
              <a:spcPct val="0"/>
            </a:spcBef>
            <a:spcAft>
              <a:spcPct val="20000"/>
            </a:spcAft>
            <a:buNone/>
          </a:pPr>
          <a:endParaRPr lang="en-IN" sz="2400" kern="1200" dirty="0"/>
        </a:p>
        <a:p>
          <a:pPr marL="228600" lvl="1" indent="-228600" algn="l" defTabSz="1066800">
            <a:lnSpc>
              <a:spcPct val="90000"/>
            </a:lnSpc>
            <a:spcBef>
              <a:spcPct val="0"/>
            </a:spcBef>
            <a:spcAft>
              <a:spcPct val="20000"/>
            </a:spcAft>
            <a:buNone/>
          </a:pPr>
          <a:endParaRPr lang="en-IN" sz="2400" kern="1200" dirty="0"/>
        </a:p>
        <a:p>
          <a:pPr marL="228600" lvl="1" indent="-228600" algn="l" defTabSz="1066800">
            <a:lnSpc>
              <a:spcPct val="90000"/>
            </a:lnSpc>
            <a:spcBef>
              <a:spcPct val="0"/>
            </a:spcBef>
            <a:spcAft>
              <a:spcPct val="20000"/>
            </a:spcAft>
            <a:buNone/>
          </a:pPr>
          <a:endParaRPr lang="en-IN" sz="2400" kern="1200" dirty="0"/>
        </a:p>
        <a:p>
          <a:pPr marL="228600" lvl="1" indent="-228600" algn="l" defTabSz="1066800">
            <a:lnSpc>
              <a:spcPct val="90000"/>
            </a:lnSpc>
            <a:spcBef>
              <a:spcPct val="0"/>
            </a:spcBef>
            <a:spcAft>
              <a:spcPct val="20000"/>
            </a:spcAft>
            <a:buNone/>
          </a:pPr>
          <a:endParaRPr lang="en-IN" sz="2400" kern="1200" dirty="0"/>
        </a:p>
        <a:p>
          <a:pPr marL="228600" lvl="1" indent="-228600" algn="l" defTabSz="1066800">
            <a:lnSpc>
              <a:spcPct val="90000"/>
            </a:lnSpc>
            <a:spcBef>
              <a:spcPct val="0"/>
            </a:spcBef>
            <a:spcAft>
              <a:spcPct val="20000"/>
            </a:spcAft>
            <a:buNone/>
          </a:pPr>
          <a:endParaRPr lang="en-IN" sz="2400" kern="1200" dirty="0"/>
        </a:p>
        <a:p>
          <a:pPr marL="228600" lvl="1" indent="-228600" algn="l" defTabSz="1066800">
            <a:lnSpc>
              <a:spcPct val="90000"/>
            </a:lnSpc>
            <a:spcBef>
              <a:spcPct val="0"/>
            </a:spcBef>
            <a:spcAft>
              <a:spcPct val="20000"/>
            </a:spcAft>
            <a:buNone/>
          </a:pPr>
          <a:r>
            <a:rPr lang="en-IN" sz="2400" b="0" kern="1200" dirty="0"/>
            <a:t>There are n suffixes for a string of length n.</a:t>
          </a:r>
        </a:p>
      </dsp:txBody>
      <dsp:txXfrm>
        <a:off x="0" y="584576"/>
        <a:ext cx="10643616" cy="528884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3C31A-170A-424A-A9FE-953D342DDB68}">
      <dsp:nvSpPr>
        <dsp:cNvPr id="0" name=""/>
        <dsp:cNvSpPr/>
      </dsp:nvSpPr>
      <dsp:spPr>
        <a:xfrm>
          <a:off x="0" y="64521"/>
          <a:ext cx="6286754"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IN" sz="2700" b="1" kern="1200" dirty="0"/>
            <a:t>What is a Suffix Array?</a:t>
          </a:r>
        </a:p>
      </dsp:txBody>
      <dsp:txXfrm>
        <a:off x="31613" y="96134"/>
        <a:ext cx="6223528" cy="584369"/>
      </dsp:txXfrm>
    </dsp:sp>
    <dsp:sp modelId="{A7F36DA1-0370-4EBC-A2D3-8421A855B5AA}">
      <dsp:nvSpPr>
        <dsp:cNvPr id="0" name=""/>
        <dsp:cNvSpPr/>
      </dsp:nvSpPr>
      <dsp:spPr>
        <a:xfrm>
          <a:off x="0" y="712116"/>
          <a:ext cx="6286754" cy="5253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604" tIns="34290" rIns="192024" bIns="34290" numCol="1" spcCol="1270" anchor="t" anchorCtr="0">
          <a:noAutofit/>
        </a:bodyPr>
        <a:lstStyle/>
        <a:p>
          <a:pPr marL="228600" lvl="1" indent="-228600" algn="l" defTabSz="933450">
            <a:lnSpc>
              <a:spcPct val="90000"/>
            </a:lnSpc>
            <a:spcBef>
              <a:spcPct val="0"/>
            </a:spcBef>
            <a:spcAft>
              <a:spcPct val="20000"/>
            </a:spcAft>
            <a:buNone/>
          </a:pPr>
          <a:r>
            <a:rPr lang="en-IN" sz="2100" kern="1200" dirty="0"/>
            <a:t>A </a:t>
          </a:r>
          <a:r>
            <a:rPr lang="en-IN" sz="2100" b="1" kern="1200" dirty="0"/>
            <a:t>Suffix Array (SA)</a:t>
          </a:r>
          <a:r>
            <a:rPr lang="en-IN" sz="2100" kern="1200" dirty="0"/>
            <a:t> is an array containing the </a:t>
          </a:r>
          <a:r>
            <a:rPr lang="en-IN" sz="2100" b="1" kern="1200" dirty="0"/>
            <a:t>starting indices of all suffixes sorted in lexicographical (dictionary) order</a:t>
          </a:r>
          <a:r>
            <a:rPr lang="en-IN" sz="2100" kern="1200" dirty="0"/>
            <a:t>.</a:t>
          </a:r>
        </a:p>
        <a:p>
          <a:pPr marL="228600" lvl="1" indent="-228600" algn="l" defTabSz="933450">
            <a:lnSpc>
              <a:spcPct val="90000"/>
            </a:lnSpc>
            <a:spcBef>
              <a:spcPct val="0"/>
            </a:spcBef>
            <a:spcAft>
              <a:spcPct val="20000"/>
            </a:spcAft>
            <a:buNone/>
          </a:pPr>
          <a:r>
            <a:rPr lang="en-IN" sz="2100" b="1" u="sng" kern="1200" dirty="0">
              <a:highlight>
                <a:srgbClr val="FFFF00"/>
              </a:highlight>
            </a:rPr>
            <a:t>Example</a:t>
          </a:r>
        </a:p>
        <a:p>
          <a:pPr marL="228600" lvl="1" indent="-228600" algn="l" defTabSz="933450">
            <a:lnSpc>
              <a:spcPct val="90000"/>
            </a:lnSpc>
            <a:spcBef>
              <a:spcPct val="0"/>
            </a:spcBef>
            <a:spcAft>
              <a:spcPct val="20000"/>
            </a:spcAft>
            <a:buNone/>
          </a:pPr>
          <a:r>
            <a:rPr lang="en-IN" sz="2100" kern="1200" dirty="0"/>
            <a:t>String: </a:t>
          </a:r>
          <a:r>
            <a:rPr lang="en-IN" sz="2100" b="1" kern="1200" dirty="0"/>
            <a:t>banana</a:t>
          </a:r>
        </a:p>
        <a:p>
          <a:pPr marL="228600" lvl="1" indent="-228600" algn="l" defTabSz="933450">
            <a:lnSpc>
              <a:spcPct val="90000"/>
            </a:lnSpc>
            <a:spcBef>
              <a:spcPct val="0"/>
            </a:spcBef>
            <a:spcAft>
              <a:spcPct val="20000"/>
            </a:spcAft>
            <a:buNone/>
          </a:pPr>
          <a:r>
            <a:rPr lang="en-IN" sz="2100" b="1" kern="1200" dirty="0"/>
            <a:t>Step 1: Generate all suffixes</a:t>
          </a:r>
        </a:p>
        <a:p>
          <a:pPr marL="228600" lvl="1" indent="-228600" algn="l" defTabSz="933450">
            <a:lnSpc>
              <a:spcPct val="90000"/>
            </a:lnSpc>
            <a:spcBef>
              <a:spcPct val="0"/>
            </a:spcBef>
            <a:spcAft>
              <a:spcPct val="20000"/>
            </a:spcAft>
            <a:buNone/>
          </a:pPr>
          <a:endParaRPr lang="en-IN" sz="2100" b="1" kern="1200" dirty="0"/>
        </a:p>
        <a:p>
          <a:pPr marL="228600" lvl="1" indent="-228600" algn="l" defTabSz="933450">
            <a:lnSpc>
              <a:spcPct val="90000"/>
            </a:lnSpc>
            <a:spcBef>
              <a:spcPct val="0"/>
            </a:spcBef>
            <a:spcAft>
              <a:spcPct val="20000"/>
            </a:spcAft>
            <a:buNone/>
          </a:pPr>
          <a:endParaRPr lang="en-IN" sz="2100" b="1" kern="1200" dirty="0"/>
        </a:p>
        <a:p>
          <a:pPr marL="228600" lvl="1" indent="-228600" algn="l" defTabSz="933450">
            <a:lnSpc>
              <a:spcPct val="90000"/>
            </a:lnSpc>
            <a:spcBef>
              <a:spcPct val="0"/>
            </a:spcBef>
            <a:spcAft>
              <a:spcPct val="20000"/>
            </a:spcAft>
            <a:buNone/>
          </a:pPr>
          <a:endParaRPr lang="en-IN" sz="2100" b="1" kern="1200" dirty="0"/>
        </a:p>
        <a:p>
          <a:pPr marL="228600" lvl="1" indent="-228600" algn="l" defTabSz="933450">
            <a:lnSpc>
              <a:spcPct val="90000"/>
            </a:lnSpc>
            <a:spcBef>
              <a:spcPct val="0"/>
            </a:spcBef>
            <a:spcAft>
              <a:spcPct val="20000"/>
            </a:spcAft>
            <a:buNone/>
          </a:pPr>
          <a:endParaRPr lang="en-IN" sz="2100" b="1" kern="1200" dirty="0"/>
        </a:p>
        <a:p>
          <a:pPr marL="228600" lvl="1" indent="-228600" algn="l" defTabSz="933450">
            <a:lnSpc>
              <a:spcPct val="90000"/>
            </a:lnSpc>
            <a:spcBef>
              <a:spcPct val="0"/>
            </a:spcBef>
            <a:spcAft>
              <a:spcPct val="20000"/>
            </a:spcAft>
            <a:buNone/>
          </a:pPr>
          <a:endParaRPr lang="en-IN" sz="2100" b="1" kern="1200" dirty="0"/>
        </a:p>
        <a:p>
          <a:pPr marL="228600" lvl="1" indent="-228600" algn="l" defTabSz="933450">
            <a:lnSpc>
              <a:spcPct val="90000"/>
            </a:lnSpc>
            <a:spcBef>
              <a:spcPct val="0"/>
            </a:spcBef>
            <a:spcAft>
              <a:spcPct val="20000"/>
            </a:spcAft>
            <a:buNone/>
          </a:pPr>
          <a:endParaRPr lang="en-IN" sz="2100" b="1" kern="1200" dirty="0"/>
        </a:p>
        <a:p>
          <a:pPr marL="228600" lvl="1" indent="-228600" algn="l" defTabSz="933450">
            <a:lnSpc>
              <a:spcPct val="90000"/>
            </a:lnSpc>
            <a:spcBef>
              <a:spcPct val="0"/>
            </a:spcBef>
            <a:spcAft>
              <a:spcPct val="20000"/>
            </a:spcAft>
            <a:buNone/>
          </a:pPr>
          <a:endParaRPr lang="en-IN" sz="2100" b="1" kern="1200" dirty="0"/>
        </a:p>
        <a:p>
          <a:pPr marL="228600" lvl="1" indent="-228600" algn="l" defTabSz="933450">
            <a:lnSpc>
              <a:spcPct val="90000"/>
            </a:lnSpc>
            <a:spcBef>
              <a:spcPct val="0"/>
            </a:spcBef>
            <a:spcAft>
              <a:spcPct val="20000"/>
            </a:spcAft>
            <a:buNone/>
          </a:pPr>
          <a:endParaRPr lang="en-IN" sz="2100" b="1" kern="1200" dirty="0"/>
        </a:p>
        <a:p>
          <a:pPr marL="228600" lvl="1" indent="-228600" algn="l" defTabSz="933450">
            <a:lnSpc>
              <a:spcPct val="90000"/>
            </a:lnSpc>
            <a:spcBef>
              <a:spcPct val="0"/>
            </a:spcBef>
            <a:spcAft>
              <a:spcPct val="20000"/>
            </a:spcAft>
            <a:buNone/>
          </a:pPr>
          <a:endParaRPr lang="en-IN" sz="2100" b="1" kern="1200" dirty="0"/>
        </a:p>
      </dsp:txBody>
      <dsp:txXfrm>
        <a:off x="0" y="712116"/>
        <a:ext cx="6286754" cy="525365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3C31A-170A-424A-A9FE-953D342DDB68}">
      <dsp:nvSpPr>
        <dsp:cNvPr id="0" name=""/>
        <dsp:cNvSpPr/>
      </dsp:nvSpPr>
      <dsp:spPr>
        <a:xfrm>
          <a:off x="0" y="11144"/>
          <a:ext cx="5009642" cy="84128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t>Step 2: Sort the suffixes alphabetically</a:t>
          </a:r>
        </a:p>
      </dsp:txBody>
      <dsp:txXfrm>
        <a:off x="41068" y="52212"/>
        <a:ext cx="4927506" cy="759152"/>
      </dsp:txXfrm>
    </dsp:sp>
    <dsp:sp modelId="{A7F36DA1-0370-4EBC-A2D3-8421A855B5AA}">
      <dsp:nvSpPr>
        <dsp:cNvPr id="0" name=""/>
        <dsp:cNvSpPr/>
      </dsp:nvSpPr>
      <dsp:spPr>
        <a:xfrm>
          <a:off x="0" y="852433"/>
          <a:ext cx="5009642" cy="5166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056" tIns="30480" rIns="170688" bIns="30480" numCol="1" spcCol="1270" anchor="t" anchorCtr="0">
          <a:noAutofit/>
        </a:bodyPr>
        <a:lstStyle/>
        <a:p>
          <a:pPr marL="171450" lvl="1" indent="-171450" algn="l" defTabSz="844550">
            <a:lnSpc>
              <a:spcPct val="90000"/>
            </a:lnSpc>
            <a:spcBef>
              <a:spcPct val="0"/>
            </a:spcBef>
            <a:spcAft>
              <a:spcPct val="20000"/>
            </a:spcAft>
            <a:buNone/>
          </a:pPr>
          <a:endParaRPr lang="en-IN" sz="1900" kern="1200" dirty="0"/>
        </a:p>
        <a:p>
          <a:pPr marL="171450" lvl="1" indent="-171450" algn="l" defTabSz="844550">
            <a:lnSpc>
              <a:spcPct val="90000"/>
            </a:lnSpc>
            <a:spcBef>
              <a:spcPct val="0"/>
            </a:spcBef>
            <a:spcAft>
              <a:spcPct val="20000"/>
            </a:spcAft>
            <a:buNone/>
          </a:pPr>
          <a:endParaRPr lang="en-IN" sz="1900" b="1" kern="1200" dirty="0"/>
        </a:p>
        <a:p>
          <a:pPr marL="171450" lvl="1" indent="-171450" algn="l" defTabSz="844550">
            <a:lnSpc>
              <a:spcPct val="90000"/>
            </a:lnSpc>
            <a:spcBef>
              <a:spcPct val="0"/>
            </a:spcBef>
            <a:spcAft>
              <a:spcPct val="20000"/>
            </a:spcAft>
            <a:buNone/>
          </a:pPr>
          <a:endParaRPr lang="en-IN" sz="1900" b="1" kern="1200" dirty="0"/>
        </a:p>
        <a:p>
          <a:pPr marL="171450" lvl="1" indent="-171450" algn="l" defTabSz="844550">
            <a:lnSpc>
              <a:spcPct val="90000"/>
            </a:lnSpc>
            <a:spcBef>
              <a:spcPct val="0"/>
            </a:spcBef>
            <a:spcAft>
              <a:spcPct val="20000"/>
            </a:spcAft>
            <a:buNone/>
          </a:pPr>
          <a:endParaRPr lang="en-IN" sz="1900" b="1" kern="1200" dirty="0"/>
        </a:p>
        <a:p>
          <a:pPr marL="171450" lvl="1" indent="-171450" algn="l" defTabSz="844550">
            <a:lnSpc>
              <a:spcPct val="90000"/>
            </a:lnSpc>
            <a:spcBef>
              <a:spcPct val="0"/>
            </a:spcBef>
            <a:spcAft>
              <a:spcPct val="20000"/>
            </a:spcAft>
            <a:buNone/>
          </a:pPr>
          <a:endParaRPr lang="en-IN" sz="1900" b="1" kern="1200" dirty="0"/>
        </a:p>
        <a:p>
          <a:pPr marL="171450" lvl="1" indent="-171450" algn="l" defTabSz="844550">
            <a:lnSpc>
              <a:spcPct val="90000"/>
            </a:lnSpc>
            <a:spcBef>
              <a:spcPct val="0"/>
            </a:spcBef>
            <a:spcAft>
              <a:spcPct val="20000"/>
            </a:spcAft>
            <a:buNone/>
          </a:pPr>
          <a:endParaRPr lang="en-IN" sz="1900" b="1" kern="1200" dirty="0"/>
        </a:p>
        <a:p>
          <a:pPr marL="171450" lvl="1" indent="-171450" algn="l" defTabSz="844550">
            <a:lnSpc>
              <a:spcPct val="90000"/>
            </a:lnSpc>
            <a:spcBef>
              <a:spcPct val="0"/>
            </a:spcBef>
            <a:spcAft>
              <a:spcPct val="20000"/>
            </a:spcAft>
            <a:buNone/>
          </a:pPr>
          <a:endParaRPr lang="en-IN" sz="1900" b="1" kern="1200" dirty="0"/>
        </a:p>
        <a:p>
          <a:pPr marL="171450" lvl="1" indent="-171450" algn="l" defTabSz="844550">
            <a:lnSpc>
              <a:spcPct val="90000"/>
            </a:lnSpc>
            <a:spcBef>
              <a:spcPct val="0"/>
            </a:spcBef>
            <a:spcAft>
              <a:spcPct val="20000"/>
            </a:spcAft>
            <a:buNone/>
          </a:pPr>
          <a:endParaRPr lang="en-IN" sz="1900" b="1" kern="1200" dirty="0"/>
        </a:p>
        <a:p>
          <a:pPr marL="171450" lvl="1" indent="-171450" algn="l" defTabSz="844550">
            <a:lnSpc>
              <a:spcPct val="90000"/>
            </a:lnSpc>
            <a:spcBef>
              <a:spcPct val="0"/>
            </a:spcBef>
            <a:spcAft>
              <a:spcPct val="20000"/>
            </a:spcAft>
            <a:buNone/>
          </a:pPr>
          <a:endParaRPr lang="en-IN" sz="1900" b="1" kern="1200" dirty="0"/>
        </a:p>
        <a:p>
          <a:pPr marL="171450" lvl="1" indent="-171450" algn="l" defTabSz="844550">
            <a:lnSpc>
              <a:spcPct val="90000"/>
            </a:lnSpc>
            <a:spcBef>
              <a:spcPct val="0"/>
            </a:spcBef>
            <a:spcAft>
              <a:spcPct val="20000"/>
            </a:spcAft>
            <a:buNone/>
          </a:pPr>
          <a:endParaRPr lang="en-IN" sz="1900" b="1" kern="1200" dirty="0"/>
        </a:p>
      </dsp:txBody>
      <dsp:txXfrm>
        <a:off x="0" y="852433"/>
        <a:ext cx="5009642" cy="516672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3C31A-170A-424A-A9FE-953D342DDB68}">
      <dsp:nvSpPr>
        <dsp:cNvPr id="0" name=""/>
        <dsp:cNvSpPr/>
      </dsp:nvSpPr>
      <dsp:spPr>
        <a:xfrm>
          <a:off x="0" y="0"/>
          <a:ext cx="4147058" cy="86135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kern="1200" dirty="0"/>
            <a:t>Step 3: Construct the Suffix Array</a:t>
          </a:r>
        </a:p>
      </dsp:txBody>
      <dsp:txXfrm>
        <a:off x="42048" y="42048"/>
        <a:ext cx="4062962" cy="777263"/>
      </dsp:txXfrm>
    </dsp:sp>
    <dsp:sp modelId="{A7F36DA1-0370-4EBC-A2D3-8421A855B5AA}">
      <dsp:nvSpPr>
        <dsp:cNvPr id="0" name=""/>
        <dsp:cNvSpPr/>
      </dsp:nvSpPr>
      <dsp:spPr>
        <a:xfrm>
          <a:off x="0" y="932354"/>
          <a:ext cx="4147058" cy="450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669" tIns="30480" rIns="170688" bIns="30480" numCol="1" spcCol="1270" anchor="t" anchorCtr="0">
          <a:noAutofit/>
        </a:bodyPr>
        <a:lstStyle/>
        <a:p>
          <a:pPr marL="228600" lvl="1" indent="-228600" algn="l" defTabSz="1066800">
            <a:lnSpc>
              <a:spcPct val="90000"/>
            </a:lnSpc>
            <a:spcBef>
              <a:spcPct val="0"/>
            </a:spcBef>
            <a:spcAft>
              <a:spcPct val="20000"/>
            </a:spcAft>
            <a:buNone/>
          </a:pPr>
          <a:r>
            <a:rPr lang="en-IN" sz="2400" b="1" kern="1200" dirty="0"/>
            <a:t>The suffix array stores only the starting indices.</a:t>
          </a:r>
        </a:p>
        <a:p>
          <a:pPr marL="228600" lvl="1" indent="-228600" algn="l" defTabSz="1066800">
            <a:lnSpc>
              <a:spcPct val="90000"/>
            </a:lnSpc>
            <a:spcBef>
              <a:spcPct val="0"/>
            </a:spcBef>
            <a:spcAft>
              <a:spcPct val="20000"/>
            </a:spcAft>
            <a:buNone/>
          </a:pPr>
          <a:endParaRPr lang="en-IN" sz="2400" b="1" kern="1200" dirty="0"/>
        </a:p>
        <a:p>
          <a:pPr marL="228600" lvl="1" indent="-228600" algn="l" defTabSz="1066800">
            <a:lnSpc>
              <a:spcPct val="90000"/>
            </a:lnSpc>
            <a:spcBef>
              <a:spcPct val="0"/>
            </a:spcBef>
            <a:spcAft>
              <a:spcPct val="20000"/>
            </a:spcAft>
            <a:buNone/>
          </a:pPr>
          <a:endParaRPr lang="en-IN" sz="2400" b="1" kern="1200" dirty="0"/>
        </a:p>
        <a:p>
          <a:pPr marL="228600" lvl="1" indent="-228600" algn="l" defTabSz="1066800">
            <a:lnSpc>
              <a:spcPct val="90000"/>
            </a:lnSpc>
            <a:spcBef>
              <a:spcPct val="0"/>
            </a:spcBef>
            <a:spcAft>
              <a:spcPct val="20000"/>
            </a:spcAft>
            <a:buNone/>
          </a:pPr>
          <a:endParaRPr lang="en-IN" sz="2400" b="1" kern="1200" dirty="0"/>
        </a:p>
        <a:p>
          <a:pPr marL="228600" lvl="1" indent="-228600" algn="l" defTabSz="1066800">
            <a:lnSpc>
              <a:spcPct val="90000"/>
            </a:lnSpc>
            <a:spcBef>
              <a:spcPct val="0"/>
            </a:spcBef>
            <a:spcAft>
              <a:spcPct val="20000"/>
            </a:spcAft>
            <a:buNone/>
          </a:pPr>
          <a:endParaRPr lang="en-IN" sz="2400" b="1" kern="1200" dirty="0"/>
        </a:p>
        <a:p>
          <a:pPr marL="228600" lvl="1" indent="-228600" algn="l" defTabSz="1066800">
            <a:lnSpc>
              <a:spcPct val="90000"/>
            </a:lnSpc>
            <a:spcBef>
              <a:spcPct val="0"/>
            </a:spcBef>
            <a:spcAft>
              <a:spcPct val="20000"/>
            </a:spcAft>
            <a:buNone/>
          </a:pPr>
          <a:endParaRPr lang="en-IN" sz="2400" b="1" kern="1200" dirty="0"/>
        </a:p>
        <a:p>
          <a:pPr marL="228600" lvl="1" indent="-228600" algn="l" defTabSz="1066800">
            <a:lnSpc>
              <a:spcPct val="90000"/>
            </a:lnSpc>
            <a:spcBef>
              <a:spcPct val="0"/>
            </a:spcBef>
            <a:spcAft>
              <a:spcPct val="20000"/>
            </a:spcAft>
            <a:buNone/>
          </a:pPr>
          <a:endParaRPr lang="en-IN" sz="2400" b="1" kern="1200" dirty="0"/>
        </a:p>
        <a:p>
          <a:pPr marL="228600" lvl="1" indent="-228600" algn="l" defTabSz="1066800">
            <a:lnSpc>
              <a:spcPct val="90000"/>
            </a:lnSpc>
            <a:spcBef>
              <a:spcPct val="0"/>
            </a:spcBef>
            <a:spcAft>
              <a:spcPct val="20000"/>
            </a:spcAft>
            <a:buNone/>
          </a:pPr>
          <a:endParaRPr lang="en-IN" sz="2400" b="1" kern="1200" dirty="0"/>
        </a:p>
        <a:p>
          <a:pPr marL="228600" lvl="1" indent="-228600" algn="l" defTabSz="1066800">
            <a:lnSpc>
              <a:spcPct val="90000"/>
            </a:lnSpc>
            <a:spcBef>
              <a:spcPct val="0"/>
            </a:spcBef>
            <a:spcAft>
              <a:spcPct val="20000"/>
            </a:spcAft>
            <a:buNone/>
          </a:pPr>
          <a:endParaRPr lang="en-IN" sz="2400" b="1" kern="1200" dirty="0"/>
        </a:p>
        <a:p>
          <a:pPr marL="228600" lvl="1" indent="-228600" algn="l" defTabSz="1066800">
            <a:lnSpc>
              <a:spcPct val="90000"/>
            </a:lnSpc>
            <a:spcBef>
              <a:spcPct val="0"/>
            </a:spcBef>
            <a:spcAft>
              <a:spcPct val="20000"/>
            </a:spcAft>
            <a:buNone/>
          </a:pPr>
          <a:endParaRPr lang="en-IN" sz="2400" b="1" kern="1200" dirty="0"/>
        </a:p>
      </dsp:txBody>
      <dsp:txXfrm>
        <a:off x="0" y="932354"/>
        <a:ext cx="4147058" cy="450432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3C31A-170A-424A-A9FE-953D342DDB68}">
      <dsp:nvSpPr>
        <dsp:cNvPr id="0" name=""/>
        <dsp:cNvSpPr/>
      </dsp:nvSpPr>
      <dsp:spPr>
        <a:xfrm>
          <a:off x="0" y="0"/>
          <a:ext cx="3908997" cy="70012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1" kern="1200" dirty="0">
              <a:solidFill>
                <a:schemeClr val="bg1"/>
              </a:solidFill>
            </a:rPr>
            <a:t>Longest Common Prefix (LCP) Array</a:t>
          </a:r>
        </a:p>
      </dsp:txBody>
      <dsp:txXfrm>
        <a:off x="34177" y="34177"/>
        <a:ext cx="3840643" cy="631773"/>
      </dsp:txXfrm>
    </dsp:sp>
    <dsp:sp modelId="{A7F36DA1-0370-4EBC-A2D3-8421A855B5AA}">
      <dsp:nvSpPr>
        <dsp:cNvPr id="0" name=""/>
        <dsp:cNvSpPr/>
      </dsp:nvSpPr>
      <dsp:spPr>
        <a:xfrm>
          <a:off x="0" y="705355"/>
          <a:ext cx="3908997" cy="52109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111" tIns="25400" rIns="142240" bIns="25400" numCol="1" spcCol="1270" anchor="t" anchorCtr="0">
          <a:noAutofit/>
        </a:bodyPr>
        <a:lstStyle/>
        <a:p>
          <a:pPr marL="228600" lvl="1" indent="-228600" algn="just" defTabSz="889000">
            <a:lnSpc>
              <a:spcPct val="90000"/>
            </a:lnSpc>
            <a:spcBef>
              <a:spcPct val="0"/>
            </a:spcBef>
            <a:spcAft>
              <a:spcPct val="20000"/>
            </a:spcAft>
            <a:buNone/>
          </a:pPr>
          <a:r>
            <a:rPr lang="en-IN" sz="2000" kern="1200" dirty="0"/>
            <a:t>The </a:t>
          </a:r>
          <a:r>
            <a:rPr lang="en-IN" sz="2000" b="1" kern="1200" dirty="0"/>
            <a:t>LCP Array</a:t>
          </a:r>
          <a:r>
            <a:rPr lang="en-IN" sz="2000" kern="1200" dirty="0"/>
            <a:t> stores the </a:t>
          </a:r>
          <a:r>
            <a:rPr lang="en-IN" sz="2000" b="1" kern="1200" dirty="0"/>
            <a:t>length of the common prefix between two adjacent suffixes in the sorted suffix array</a:t>
          </a:r>
          <a:r>
            <a:rPr lang="en-IN" sz="2000" kern="1200" dirty="0"/>
            <a:t>.</a:t>
          </a:r>
        </a:p>
        <a:p>
          <a:pPr marL="228600" lvl="1" indent="-228600" algn="l" defTabSz="889000">
            <a:lnSpc>
              <a:spcPct val="90000"/>
            </a:lnSpc>
            <a:spcBef>
              <a:spcPct val="0"/>
            </a:spcBef>
            <a:spcAft>
              <a:spcPct val="20000"/>
            </a:spcAft>
            <a:buNone/>
          </a:pPr>
          <a:endParaRPr lang="en-IN" sz="2000" kern="1200" dirty="0"/>
        </a:p>
        <a:p>
          <a:pPr marL="228600" lvl="1" indent="-228600" algn="l" defTabSz="889000">
            <a:lnSpc>
              <a:spcPct val="90000"/>
            </a:lnSpc>
            <a:spcBef>
              <a:spcPct val="0"/>
            </a:spcBef>
            <a:spcAft>
              <a:spcPct val="20000"/>
            </a:spcAft>
            <a:buNone/>
          </a:pPr>
          <a:r>
            <a:rPr lang="en-IN" sz="2000" b="1" kern="1200" dirty="0"/>
            <a:t>Example</a:t>
          </a:r>
          <a:endParaRPr lang="en-IN" sz="2000" kern="1200" dirty="0"/>
        </a:p>
        <a:p>
          <a:pPr marL="228600" lvl="1" indent="-228600" algn="l" defTabSz="889000">
            <a:lnSpc>
              <a:spcPct val="90000"/>
            </a:lnSpc>
            <a:spcBef>
              <a:spcPct val="0"/>
            </a:spcBef>
            <a:spcAft>
              <a:spcPct val="20000"/>
            </a:spcAft>
            <a:buNone/>
          </a:pPr>
          <a:r>
            <a:rPr lang="en-IN" sz="2000" kern="1200" dirty="0"/>
            <a:t>Sorted suffixes:</a:t>
          </a:r>
        </a:p>
        <a:p>
          <a:pPr marL="228600" lvl="1" indent="-228600" algn="l" defTabSz="889000">
            <a:lnSpc>
              <a:spcPct val="90000"/>
            </a:lnSpc>
            <a:spcBef>
              <a:spcPct val="0"/>
            </a:spcBef>
            <a:spcAft>
              <a:spcPct val="20000"/>
            </a:spcAft>
            <a:buNone/>
          </a:pPr>
          <a:endParaRPr lang="en-IN" sz="2000" kern="1200" dirty="0"/>
        </a:p>
        <a:p>
          <a:pPr marL="228600" lvl="1" indent="-228600" algn="l" defTabSz="889000">
            <a:lnSpc>
              <a:spcPct val="90000"/>
            </a:lnSpc>
            <a:spcBef>
              <a:spcPct val="0"/>
            </a:spcBef>
            <a:spcAft>
              <a:spcPct val="20000"/>
            </a:spcAft>
            <a:buNone/>
          </a:pPr>
          <a:endParaRPr lang="en-IN" sz="2000" kern="1200" dirty="0"/>
        </a:p>
        <a:p>
          <a:pPr marL="228600" lvl="1" indent="-228600" algn="l" defTabSz="889000">
            <a:lnSpc>
              <a:spcPct val="90000"/>
            </a:lnSpc>
            <a:spcBef>
              <a:spcPct val="0"/>
            </a:spcBef>
            <a:spcAft>
              <a:spcPct val="20000"/>
            </a:spcAft>
            <a:buNone/>
          </a:pPr>
          <a:endParaRPr lang="en-IN" sz="2000" kern="1200" dirty="0"/>
        </a:p>
        <a:p>
          <a:pPr marL="228600" lvl="1" indent="-228600" algn="l" defTabSz="889000">
            <a:lnSpc>
              <a:spcPct val="90000"/>
            </a:lnSpc>
            <a:spcBef>
              <a:spcPct val="0"/>
            </a:spcBef>
            <a:spcAft>
              <a:spcPct val="20000"/>
            </a:spcAft>
            <a:buNone/>
          </a:pPr>
          <a:endParaRPr lang="en-IN" sz="2000" kern="1200" dirty="0"/>
        </a:p>
        <a:p>
          <a:pPr marL="228600" lvl="1" indent="-228600" algn="l" defTabSz="889000">
            <a:lnSpc>
              <a:spcPct val="90000"/>
            </a:lnSpc>
            <a:spcBef>
              <a:spcPct val="0"/>
            </a:spcBef>
            <a:spcAft>
              <a:spcPct val="20000"/>
            </a:spcAft>
            <a:buNone/>
          </a:pPr>
          <a:endParaRPr lang="en-IN" sz="2000" kern="1200" dirty="0"/>
        </a:p>
        <a:p>
          <a:pPr marL="228600" lvl="1" indent="-228600" algn="l" defTabSz="889000">
            <a:lnSpc>
              <a:spcPct val="90000"/>
            </a:lnSpc>
            <a:spcBef>
              <a:spcPct val="0"/>
            </a:spcBef>
            <a:spcAft>
              <a:spcPct val="20000"/>
            </a:spcAft>
            <a:buNone/>
          </a:pPr>
          <a:endParaRPr lang="en-IN" sz="2000" kern="1200" dirty="0"/>
        </a:p>
        <a:p>
          <a:pPr marL="228600" lvl="1" indent="-228600" algn="l" defTabSz="889000">
            <a:lnSpc>
              <a:spcPct val="90000"/>
            </a:lnSpc>
            <a:spcBef>
              <a:spcPct val="0"/>
            </a:spcBef>
            <a:spcAft>
              <a:spcPct val="20000"/>
            </a:spcAft>
            <a:buNone/>
          </a:pPr>
          <a:endParaRPr lang="en-IN" sz="2000" kern="1200" dirty="0"/>
        </a:p>
        <a:p>
          <a:pPr marL="228600" lvl="1" indent="-228600" algn="l" defTabSz="889000">
            <a:lnSpc>
              <a:spcPct val="90000"/>
            </a:lnSpc>
            <a:spcBef>
              <a:spcPct val="0"/>
            </a:spcBef>
            <a:spcAft>
              <a:spcPct val="20000"/>
            </a:spcAft>
            <a:buNone/>
          </a:pPr>
          <a:endParaRPr lang="en-IN" sz="2000" kern="1200" dirty="0"/>
        </a:p>
        <a:p>
          <a:pPr marL="228600" lvl="1" indent="-228600" algn="l" defTabSz="889000">
            <a:lnSpc>
              <a:spcPct val="90000"/>
            </a:lnSpc>
            <a:spcBef>
              <a:spcPct val="0"/>
            </a:spcBef>
            <a:spcAft>
              <a:spcPct val="20000"/>
            </a:spcAft>
            <a:buNone/>
          </a:pPr>
          <a:endParaRPr lang="en-IN" sz="2000" kern="1200" dirty="0"/>
        </a:p>
        <a:p>
          <a:pPr marL="228600" lvl="1" indent="-228600" algn="l" defTabSz="889000">
            <a:lnSpc>
              <a:spcPct val="90000"/>
            </a:lnSpc>
            <a:spcBef>
              <a:spcPct val="0"/>
            </a:spcBef>
            <a:spcAft>
              <a:spcPct val="20000"/>
            </a:spcAft>
            <a:buNone/>
          </a:pPr>
          <a:endParaRPr lang="en-IN" sz="2000" kern="1200" dirty="0"/>
        </a:p>
        <a:p>
          <a:pPr marL="228600" lvl="1" indent="-228600" algn="l" defTabSz="889000">
            <a:lnSpc>
              <a:spcPct val="90000"/>
            </a:lnSpc>
            <a:spcBef>
              <a:spcPct val="0"/>
            </a:spcBef>
            <a:spcAft>
              <a:spcPct val="20000"/>
            </a:spcAft>
            <a:buNone/>
          </a:pPr>
          <a:endParaRPr lang="en-IN" sz="2000" kern="1200" dirty="0"/>
        </a:p>
      </dsp:txBody>
      <dsp:txXfrm>
        <a:off x="0" y="705355"/>
        <a:ext cx="3908997" cy="521090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3C31A-170A-424A-A9FE-953D342DDB68}">
      <dsp:nvSpPr>
        <dsp:cNvPr id="0" name=""/>
        <dsp:cNvSpPr/>
      </dsp:nvSpPr>
      <dsp:spPr>
        <a:xfrm>
          <a:off x="0" y="11053"/>
          <a:ext cx="10757727" cy="561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1" kern="1200" dirty="0">
              <a:latin typeface="Times New Roman" panose="02020603050405020304" pitchFamily="18" charset="0"/>
              <a:cs typeface="Times New Roman" panose="02020603050405020304" pitchFamily="18" charset="0"/>
            </a:rPr>
            <a:t>Kasai Algorithm</a:t>
          </a:r>
        </a:p>
      </dsp:txBody>
      <dsp:txXfrm>
        <a:off x="27415" y="38468"/>
        <a:ext cx="10702897" cy="506770"/>
      </dsp:txXfrm>
    </dsp:sp>
    <dsp:sp modelId="{A7F36DA1-0370-4EBC-A2D3-8421A855B5AA}">
      <dsp:nvSpPr>
        <dsp:cNvPr id="0" name=""/>
        <dsp:cNvSpPr/>
      </dsp:nvSpPr>
      <dsp:spPr>
        <a:xfrm>
          <a:off x="0" y="583706"/>
          <a:ext cx="10757727" cy="52952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1558" tIns="40640" rIns="227584" bIns="40640" numCol="1" spcCol="1270" anchor="t" anchorCtr="0">
          <a:noAutofit/>
        </a:bodyPr>
        <a:lstStyle/>
        <a:p>
          <a:pPr marL="285750" lvl="1" indent="-285750" algn="l" defTabSz="1422400">
            <a:lnSpc>
              <a:spcPct val="90000"/>
            </a:lnSpc>
            <a:spcBef>
              <a:spcPct val="0"/>
            </a:spcBef>
            <a:spcAft>
              <a:spcPct val="20000"/>
            </a:spcAft>
            <a:buFont typeface="Wingdings" panose="05000000000000000000" pitchFamily="2" charset="2"/>
            <a:buChar char="§"/>
          </a:pPr>
          <a:r>
            <a:rPr lang="en-IN" sz="3200" kern="1200" dirty="0">
              <a:latin typeface="Times New Roman" panose="02020603050405020304" pitchFamily="18" charset="0"/>
              <a:cs typeface="Times New Roman" panose="02020603050405020304" pitchFamily="18" charset="0"/>
            </a:rPr>
            <a:t>The </a:t>
          </a:r>
          <a:r>
            <a:rPr lang="en-IN" sz="3200" b="1" kern="1200" dirty="0">
              <a:latin typeface="Times New Roman" panose="02020603050405020304" pitchFamily="18" charset="0"/>
              <a:cs typeface="Times New Roman" panose="02020603050405020304" pitchFamily="18" charset="0"/>
            </a:rPr>
            <a:t>Kasai Algorithm</a:t>
          </a:r>
          <a:r>
            <a:rPr lang="en-IN" sz="3200" kern="1200" dirty="0">
              <a:latin typeface="Times New Roman" panose="02020603050405020304" pitchFamily="18" charset="0"/>
              <a:cs typeface="Times New Roman" panose="02020603050405020304" pitchFamily="18" charset="0"/>
            </a:rPr>
            <a:t> efficiently constructs the LCP array from the suffix array in </a:t>
          </a:r>
          <a:r>
            <a:rPr lang="en-IN" sz="3200" b="1" kern="1200" dirty="0">
              <a:latin typeface="Times New Roman" panose="02020603050405020304" pitchFamily="18" charset="0"/>
              <a:cs typeface="Times New Roman" panose="02020603050405020304" pitchFamily="18" charset="0"/>
            </a:rPr>
            <a:t>O(n)</a:t>
          </a:r>
          <a:r>
            <a:rPr lang="en-IN" sz="3200" kern="1200" dirty="0">
              <a:latin typeface="Times New Roman" panose="02020603050405020304" pitchFamily="18" charset="0"/>
              <a:cs typeface="Times New Roman" panose="02020603050405020304" pitchFamily="18" charset="0"/>
            </a:rPr>
            <a:t> time.</a:t>
          </a:r>
        </a:p>
        <a:p>
          <a:pPr marL="285750" lvl="1" indent="-285750" algn="l" defTabSz="1422400">
            <a:lnSpc>
              <a:spcPct val="90000"/>
            </a:lnSpc>
            <a:spcBef>
              <a:spcPct val="0"/>
            </a:spcBef>
            <a:spcAft>
              <a:spcPct val="20000"/>
            </a:spcAft>
            <a:buFont typeface="Wingdings" panose="05000000000000000000" pitchFamily="2" charset="2"/>
            <a:buChar char="§"/>
          </a:pPr>
          <a:r>
            <a:rPr lang="en-IN" sz="3200" kern="1200" dirty="0">
              <a:latin typeface="Times New Roman" panose="02020603050405020304" pitchFamily="18" charset="0"/>
              <a:cs typeface="Times New Roman" panose="02020603050405020304" pitchFamily="18" charset="0"/>
            </a:rPr>
            <a:t>Without Kasai, comparing every adjacent suffix character by character would take </a:t>
          </a:r>
          <a:r>
            <a:rPr lang="en-IN" sz="3200" b="1" kern="1200" dirty="0">
              <a:latin typeface="Times New Roman" panose="02020603050405020304" pitchFamily="18" charset="0"/>
              <a:cs typeface="Times New Roman" panose="02020603050405020304" pitchFamily="18" charset="0"/>
            </a:rPr>
            <a:t>O(n²)</a:t>
          </a:r>
          <a:r>
            <a:rPr lang="en-IN" sz="3200" kern="1200" dirty="0">
              <a:latin typeface="Times New Roman" panose="02020603050405020304" pitchFamily="18" charset="0"/>
              <a:cs typeface="Times New Roman" panose="02020603050405020304" pitchFamily="18" charset="0"/>
            </a:rPr>
            <a:t>.</a:t>
          </a:r>
        </a:p>
        <a:p>
          <a:pPr marL="285750" lvl="1" indent="-285750" algn="l" defTabSz="1422400">
            <a:lnSpc>
              <a:spcPct val="90000"/>
            </a:lnSpc>
            <a:spcBef>
              <a:spcPct val="0"/>
            </a:spcBef>
            <a:spcAft>
              <a:spcPct val="20000"/>
            </a:spcAft>
            <a:buFont typeface="Wingdings" panose="05000000000000000000" pitchFamily="2" charset="2"/>
            <a:buChar char="§"/>
          </a:pPr>
          <a:r>
            <a:rPr lang="en-IN" sz="3200" kern="1200" dirty="0">
              <a:latin typeface="Times New Roman" panose="02020603050405020304" pitchFamily="18" charset="0"/>
              <a:cs typeface="Times New Roman" panose="02020603050405020304" pitchFamily="18" charset="0"/>
            </a:rPr>
            <a:t>Kasai reduces this to </a:t>
          </a:r>
          <a:r>
            <a:rPr lang="en-IN" sz="3200" b="1" kern="1200" dirty="0">
              <a:latin typeface="Times New Roman" panose="02020603050405020304" pitchFamily="18" charset="0"/>
              <a:cs typeface="Times New Roman" panose="02020603050405020304" pitchFamily="18" charset="0"/>
            </a:rPr>
            <a:t>O(n)</a:t>
          </a:r>
          <a:r>
            <a:rPr lang="en-IN" sz="3200" kern="1200" dirty="0">
              <a:latin typeface="Times New Roman" panose="02020603050405020304" pitchFamily="18" charset="0"/>
              <a:cs typeface="Times New Roman" panose="02020603050405020304" pitchFamily="18" charset="0"/>
            </a:rPr>
            <a:t>.</a:t>
          </a:r>
        </a:p>
        <a:p>
          <a:pPr marL="285750" lvl="1" indent="-285750" algn="l" defTabSz="1422400">
            <a:lnSpc>
              <a:spcPct val="90000"/>
            </a:lnSpc>
            <a:spcBef>
              <a:spcPct val="0"/>
            </a:spcBef>
            <a:spcAft>
              <a:spcPct val="20000"/>
            </a:spcAft>
            <a:buFont typeface="Wingdings" panose="05000000000000000000" pitchFamily="2" charset="2"/>
            <a:buNone/>
          </a:pPr>
          <a:endParaRPr lang="en-IN" sz="3200" kern="1200" dirty="0">
            <a:latin typeface="Times New Roman" panose="02020603050405020304" pitchFamily="18" charset="0"/>
            <a:cs typeface="Times New Roman" panose="02020603050405020304" pitchFamily="18" charset="0"/>
          </a:endParaRPr>
        </a:p>
        <a:p>
          <a:pPr marL="285750" lvl="1" indent="-285750" algn="just" defTabSz="1422400">
            <a:lnSpc>
              <a:spcPct val="90000"/>
            </a:lnSpc>
            <a:spcBef>
              <a:spcPct val="0"/>
            </a:spcBef>
            <a:spcAft>
              <a:spcPct val="20000"/>
            </a:spcAft>
            <a:buNone/>
          </a:pPr>
          <a:r>
            <a:rPr lang="en-IN" sz="3200" b="1" kern="1200" dirty="0">
              <a:latin typeface="Times New Roman" panose="02020603050405020304" pitchFamily="18" charset="0"/>
              <a:cs typeface="Times New Roman" panose="02020603050405020304" pitchFamily="18" charset="0"/>
            </a:rPr>
            <a:t>Main Idea of Kasai Algorithm</a:t>
          </a:r>
          <a:endParaRPr lang="en-IN" sz="3200" kern="1200" dirty="0">
            <a:latin typeface="Times New Roman" panose="02020603050405020304" pitchFamily="18" charset="0"/>
            <a:cs typeface="Times New Roman" panose="02020603050405020304" pitchFamily="18" charset="0"/>
          </a:endParaRPr>
        </a:p>
        <a:p>
          <a:pPr marL="285750" lvl="1" indent="-285750" algn="l" defTabSz="1422400">
            <a:lnSpc>
              <a:spcPct val="90000"/>
            </a:lnSpc>
            <a:spcBef>
              <a:spcPct val="0"/>
            </a:spcBef>
            <a:spcAft>
              <a:spcPct val="20000"/>
            </a:spcAft>
            <a:buFont typeface="Arial" panose="020B0604020202020204" pitchFamily="34" charset="0"/>
            <a:buChar char="•"/>
          </a:pPr>
          <a:r>
            <a:rPr lang="en-IN" sz="3200" kern="1200" dirty="0">
              <a:latin typeface="Times New Roman" panose="02020603050405020304" pitchFamily="18" charset="0"/>
              <a:cs typeface="Times New Roman" panose="02020603050405020304" pitchFamily="18" charset="0"/>
            </a:rPr>
            <a:t>If two suffixes share a common prefix of length </a:t>
          </a:r>
          <a:r>
            <a:rPr lang="en-IN" sz="3200" b="1" kern="1200" dirty="0">
              <a:latin typeface="Times New Roman" panose="02020603050405020304" pitchFamily="18" charset="0"/>
              <a:cs typeface="Times New Roman" panose="02020603050405020304" pitchFamily="18" charset="0"/>
            </a:rPr>
            <a:t>k</a:t>
          </a:r>
          <a:r>
            <a:rPr lang="en-IN" sz="3200" kern="1200" dirty="0">
              <a:latin typeface="Times New Roman" panose="02020603050405020304" pitchFamily="18" charset="0"/>
              <a:cs typeface="Times New Roman" panose="02020603050405020304" pitchFamily="18" charset="0"/>
            </a:rPr>
            <a:t>, then the next suffix comparison will share at least </a:t>
          </a:r>
          <a:r>
            <a:rPr lang="en-IN" sz="3200" b="1" kern="1200" dirty="0">
              <a:latin typeface="Times New Roman" panose="02020603050405020304" pitchFamily="18" charset="0"/>
              <a:cs typeface="Times New Roman" panose="02020603050405020304" pitchFamily="18" charset="0"/>
            </a:rPr>
            <a:t>k− 1 </a:t>
          </a:r>
          <a:r>
            <a:rPr lang="en-IN" sz="3200" kern="1200" dirty="0">
              <a:latin typeface="Times New Roman" panose="02020603050405020304" pitchFamily="18" charset="0"/>
              <a:cs typeface="Times New Roman" panose="02020603050405020304" pitchFamily="18" charset="0"/>
            </a:rPr>
            <a:t>characters.</a:t>
          </a:r>
        </a:p>
        <a:p>
          <a:pPr marL="285750" lvl="1" indent="-285750" algn="l" defTabSz="1422400">
            <a:lnSpc>
              <a:spcPct val="90000"/>
            </a:lnSpc>
            <a:spcBef>
              <a:spcPct val="0"/>
            </a:spcBef>
            <a:spcAft>
              <a:spcPct val="20000"/>
            </a:spcAft>
            <a:buFont typeface="Arial" panose="020B0604020202020204" pitchFamily="34" charset="0"/>
            <a:buChar char="•"/>
          </a:pPr>
          <a:r>
            <a:rPr lang="en-IN" sz="3200" kern="1200" dirty="0">
              <a:latin typeface="Times New Roman" panose="02020603050405020304" pitchFamily="18" charset="0"/>
              <a:cs typeface="Times New Roman" panose="02020603050405020304" pitchFamily="18" charset="0"/>
            </a:rPr>
            <a:t>Instead of comparing from the beginning every time, Kasai </a:t>
          </a:r>
          <a:r>
            <a:rPr lang="en-IN" sz="3200" b="1" kern="1200" dirty="0">
              <a:latin typeface="Times New Roman" panose="02020603050405020304" pitchFamily="18" charset="0"/>
              <a:cs typeface="Times New Roman" panose="02020603050405020304" pitchFamily="18" charset="0"/>
            </a:rPr>
            <a:t>reuses previous comparisons</a:t>
          </a:r>
          <a:r>
            <a:rPr lang="en-IN" sz="3200" kern="1200" dirty="0">
              <a:latin typeface="Times New Roman" panose="02020603050405020304" pitchFamily="18" charset="0"/>
              <a:cs typeface="Times New Roman" panose="02020603050405020304" pitchFamily="18" charset="0"/>
            </a:rPr>
            <a:t>.</a:t>
          </a:r>
        </a:p>
      </dsp:txBody>
      <dsp:txXfrm>
        <a:off x="0" y="583706"/>
        <a:ext cx="10757727" cy="529525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3C31A-170A-424A-A9FE-953D342DDB68}">
      <dsp:nvSpPr>
        <dsp:cNvPr id="0" name=""/>
        <dsp:cNvSpPr/>
      </dsp:nvSpPr>
      <dsp:spPr>
        <a:xfrm>
          <a:off x="0" y="2873"/>
          <a:ext cx="3594226" cy="65811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1" kern="1200" dirty="0"/>
            <a:t>Step 1</a:t>
          </a:r>
          <a:endParaRPr lang="en-IN" sz="2000" b="1" kern="1200" dirty="0">
            <a:latin typeface="Times New Roman" panose="02020603050405020304" pitchFamily="18" charset="0"/>
            <a:cs typeface="Times New Roman" panose="02020603050405020304" pitchFamily="18" charset="0"/>
          </a:endParaRPr>
        </a:p>
      </dsp:txBody>
      <dsp:txXfrm>
        <a:off x="32127" y="35000"/>
        <a:ext cx="3529972" cy="593864"/>
      </dsp:txXfrm>
    </dsp:sp>
    <dsp:sp modelId="{A7F36DA1-0370-4EBC-A2D3-8421A855B5AA}">
      <dsp:nvSpPr>
        <dsp:cNvPr id="0" name=""/>
        <dsp:cNvSpPr/>
      </dsp:nvSpPr>
      <dsp:spPr>
        <a:xfrm>
          <a:off x="0" y="660992"/>
          <a:ext cx="3594226" cy="25307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117" tIns="25400" rIns="142240" bIns="25400" numCol="1" spcCol="1270" anchor="t" anchorCtr="0">
          <a:noAutofit/>
        </a:bodyPr>
        <a:lstStyle/>
        <a:p>
          <a:pPr marL="228600" lvl="1" indent="-228600" algn="just" defTabSz="889000">
            <a:lnSpc>
              <a:spcPct val="90000"/>
            </a:lnSpc>
            <a:spcBef>
              <a:spcPct val="0"/>
            </a:spcBef>
            <a:spcAft>
              <a:spcPct val="20000"/>
            </a:spcAft>
            <a:buFont typeface="Wingdings" panose="05000000000000000000" pitchFamily="2" charset="2"/>
            <a:buChar char="§"/>
          </a:pPr>
          <a:r>
            <a:rPr lang="en-IN" sz="2000" kern="1200" dirty="0"/>
            <a:t>Given Suffix Array (SA)</a:t>
          </a:r>
          <a:endParaRPr lang="en-IN" sz="2000" kern="1200" dirty="0">
            <a:latin typeface="Times New Roman" panose="02020603050405020304" pitchFamily="18" charset="0"/>
            <a:cs typeface="Times New Roman" panose="02020603050405020304" pitchFamily="18" charset="0"/>
          </a:endParaRPr>
        </a:p>
        <a:p>
          <a:pPr marL="228600" lvl="1" indent="-228600" algn="just" defTabSz="889000">
            <a:lnSpc>
              <a:spcPct val="90000"/>
            </a:lnSpc>
            <a:spcBef>
              <a:spcPct val="0"/>
            </a:spcBef>
            <a:spcAft>
              <a:spcPct val="20000"/>
            </a:spcAft>
            <a:buFont typeface="Wingdings" panose="05000000000000000000" pitchFamily="2" charset="2"/>
            <a:buChar char="§"/>
          </a:pPr>
          <a:r>
            <a:rPr lang="en-IN" sz="2000" kern="1200" dirty="0"/>
            <a:t>Construct the </a:t>
          </a:r>
          <a:r>
            <a:rPr lang="en-IN" sz="2000" b="1" kern="1200" dirty="0"/>
            <a:t>Rank Array</a:t>
          </a:r>
          <a:r>
            <a:rPr lang="en-IN" sz="2000" kern="1200" dirty="0"/>
            <a:t>.</a:t>
          </a:r>
          <a:endParaRPr lang="en-IN" sz="2000" kern="1200" dirty="0">
            <a:latin typeface="Times New Roman" panose="02020603050405020304" pitchFamily="18" charset="0"/>
            <a:cs typeface="Times New Roman" panose="02020603050405020304" pitchFamily="18" charset="0"/>
          </a:endParaRPr>
        </a:p>
        <a:p>
          <a:pPr marL="228600" lvl="1" indent="-228600" algn="just" defTabSz="889000">
            <a:lnSpc>
              <a:spcPct val="90000"/>
            </a:lnSpc>
            <a:spcBef>
              <a:spcPct val="0"/>
            </a:spcBef>
            <a:spcAft>
              <a:spcPct val="20000"/>
            </a:spcAft>
            <a:buFont typeface="Wingdings" panose="05000000000000000000" pitchFamily="2" charset="2"/>
            <a:buChar char="§"/>
          </a:pPr>
          <a:r>
            <a:rPr lang="en-IN" sz="2000" kern="1200" dirty="0"/>
            <a:t>The rank array stores the position of each suffix in the suffix array.</a:t>
          </a:r>
          <a:endParaRPr lang="en-IN" sz="2000" kern="1200" dirty="0">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20000"/>
            </a:spcAft>
            <a:buNone/>
          </a:pPr>
          <a:r>
            <a:rPr lang="en-IN" sz="2000" b="1" kern="1200" dirty="0"/>
            <a:t>Example</a:t>
          </a:r>
        </a:p>
        <a:p>
          <a:pPr marL="228600" lvl="1" indent="-228600" algn="l" defTabSz="889000">
            <a:lnSpc>
              <a:spcPct val="90000"/>
            </a:lnSpc>
            <a:spcBef>
              <a:spcPct val="0"/>
            </a:spcBef>
            <a:spcAft>
              <a:spcPct val="20000"/>
            </a:spcAft>
            <a:buNone/>
          </a:pPr>
          <a:r>
            <a:rPr lang="en-IN" sz="2000" kern="1200" dirty="0"/>
            <a:t>Suffix Array,  SA = [5,3,1,0,4,2]</a:t>
          </a:r>
        </a:p>
        <a:p>
          <a:pPr marL="57150" lvl="1" indent="-57150" algn="l" defTabSz="488950">
            <a:lnSpc>
              <a:spcPct val="90000"/>
            </a:lnSpc>
            <a:spcBef>
              <a:spcPct val="0"/>
            </a:spcBef>
            <a:spcAft>
              <a:spcPct val="20000"/>
            </a:spcAft>
            <a:buNone/>
          </a:pPr>
          <a:endParaRPr lang="en-IN" sz="1100" kern="1200" dirty="0"/>
        </a:p>
        <a:p>
          <a:pPr marL="57150" lvl="1" indent="-57150" algn="l" defTabSz="488950">
            <a:lnSpc>
              <a:spcPct val="90000"/>
            </a:lnSpc>
            <a:spcBef>
              <a:spcPct val="0"/>
            </a:spcBef>
            <a:spcAft>
              <a:spcPct val="20000"/>
            </a:spcAft>
            <a:buNone/>
          </a:pPr>
          <a:endParaRPr lang="en-IN" sz="1100" kern="1200" dirty="0"/>
        </a:p>
        <a:p>
          <a:pPr marL="57150" lvl="1" indent="-57150" algn="l" defTabSz="488950">
            <a:lnSpc>
              <a:spcPct val="90000"/>
            </a:lnSpc>
            <a:spcBef>
              <a:spcPct val="0"/>
            </a:spcBef>
            <a:spcAft>
              <a:spcPct val="20000"/>
            </a:spcAft>
            <a:buNone/>
          </a:pPr>
          <a:endParaRPr lang="en-IN" sz="1100" kern="1200" dirty="0"/>
        </a:p>
        <a:p>
          <a:pPr marL="57150" lvl="1" indent="-57150" algn="l" defTabSz="488950">
            <a:lnSpc>
              <a:spcPct val="90000"/>
            </a:lnSpc>
            <a:spcBef>
              <a:spcPct val="0"/>
            </a:spcBef>
            <a:spcAft>
              <a:spcPct val="20000"/>
            </a:spcAft>
            <a:buNone/>
          </a:pPr>
          <a:endParaRPr lang="en-IN" sz="1100" kern="1200" dirty="0"/>
        </a:p>
        <a:p>
          <a:pPr marL="57150" lvl="1" indent="-57150" algn="l" defTabSz="488950">
            <a:lnSpc>
              <a:spcPct val="90000"/>
            </a:lnSpc>
            <a:spcBef>
              <a:spcPct val="0"/>
            </a:spcBef>
            <a:spcAft>
              <a:spcPct val="20000"/>
            </a:spcAft>
            <a:buNone/>
          </a:pPr>
          <a:endParaRPr lang="en-IN" sz="1100" kern="1200" dirty="0"/>
        </a:p>
        <a:p>
          <a:pPr marL="57150" lvl="1" indent="-57150" algn="l" defTabSz="488950">
            <a:lnSpc>
              <a:spcPct val="90000"/>
            </a:lnSpc>
            <a:spcBef>
              <a:spcPct val="0"/>
            </a:spcBef>
            <a:spcAft>
              <a:spcPct val="20000"/>
            </a:spcAft>
            <a:buNone/>
          </a:pPr>
          <a:endParaRPr lang="en-IN" sz="1100" kern="1200" dirty="0"/>
        </a:p>
        <a:p>
          <a:pPr marL="57150" lvl="1" indent="-57150" algn="l" defTabSz="488950">
            <a:lnSpc>
              <a:spcPct val="90000"/>
            </a:lnSpc>
            <a:spcBef>
              <a:spcPct val="0"/>
            </a:spcBef>
            <a:spcAft>
              <a:spcPct val="20000"/>
            </a:spcAft>
            <a:buNone/>
          </a:pPr>
          <a:endParaRPr lang="en-IN" sz="1100" kern="1200" dirty="0"/>
        </a:p>
      </dsp:txBody>
      <dsp:txXfrm>
        <a:off x="0" y="660992"/>
        <a:ext cx="3594226" cy="253078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3C31A-170A-424A-A9FE-953D342DDB68}">
      <dsp:nvSpPr>
        <dsp:cNvPr id="0" name=""/>
        <dsp:cNvSpPr/>
      </dsp:nvSpPr>
      <dsp:spPr>
        <a:xfrm>
          <a:off x="0" y="2120"/>
          <a:ext cx="2912047" cy="4165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1" kern="1200" dirty="0"/>
            <a:t>Step 2</a:t>
          </a:r>
          <a:endParaRPr lang="en-IN" sz="2000" b="1" kern="1200" dirty="0">
            <a:latin typeface="Times New Roman" panose="02020603050405020304" pitchFamily="18" charset="0"/>
            <a:cs typeface="Times New Roman" panose="02020603050405020304" pitchFamily="18" charset="0"/>
          </a:endParaRPr>
        </a:p>
      </dsp:txBody>
      <dsp:txXfrm>
        <a:off x="20333" y="22453"/>
        <a:ext cx="2871381" cy="375853"/>
      </dsp:txXfrm>
    </dsp:sp>
    <dsp:sp modelId="{A7F36DA1-0370-4EBC-A2D3-8421A855B5AA}">
      <dsp:nvSpPr>
        <dsp:cNvPr id="0" name=""/>
        <dsp:cNvSpPr/>
      </dsp:nvSpPr>
      <dsp:spPr>
        <a:xfrm>
          <a:off x="0" y="418640"/>
          <a:ext cx="2912047" cy="27738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7" tIns="30480" rIns="170688" bIns="30480" numCol="1" spcCol="1270" anchor="t" anchorCtr="0">
          <a:noAutofit/>
        </a:bodyPr>
        <a:lstStyle/>
        <a:p>
          <a:pPr marL="228600" lvl="1" indent="-228600" algn="just" defTabSz="1066800">
            <a:lnSpc>
              <a:spcPct val="90000"/>
            </a:lnSpc>
            <a:spcBef>
              <a:spcPct val="0"/>
            </a:spcBef>
            <a:spcAft>
              <a:spcPct val="20000"/>
            </a:spcAft>
            <a:buNone/>
          </a:pPr>
          <a:r>
            <a:rPr lang="en-IN" sz="2400" kern="1200" dirty="0"/>
            <a:t>Initialize</a:t>
          </a:r>
          <a:endParaRPr lang="en-IN" sz="2400" kern="1200" dirty="0">
            <a:latin typeface="Times New Roman" panose="02020603050405020304" pitchFamily="18" charset="0"/>
            <a:cs typeface="Times New Roman" panose="02020603050405020304" pitchFamily="18" charset="0"/>
          </a:endParaRPr>
        </a:p>
        <a:p>
          <a:pPr marL="228600" lvl="1" indent="-228600" algn="l" defTabSz="1066800">
            <a:lnSpc>
              <a:spcPct val="90000"/>
            </a:lnSpc>
            <a:spcBef>
              <a:spcPct val="0"/>
            </a:spcBef>
            <a:spcAft>
              <a:spcPct val="20000"/>
            </a:spcAft>
            <a:buNone/>
          </a:pPr>
          <a:r>
            <a:rPr lang="en-IN" sz="2400" kern="1200" dirty="0"/>
            <a:t>k = 0</a:t>
          </a:r>
        </a:p>
        <a:p>
          <a:pPr marL="228600" lvl="1" indent="-228600" algn="l" defTabSz="1066800">
            <a:lnSpc>
              <a:spcPct val="90000"/>
            </a:lnSpc>
            <a:spcBef>
              <a:spcPct val="0"/>
            </a:spcBef>
            <a:spcAft>
              <a:spcPct val="20000"/>
            </a:spcAft>
            <a:buNone/>
          </a:pPr>
          <a:r>
            <a:rPr lang="en-IN" sz="2400" kern="1200" dirty="0"/>
            <a:t>where </a:t>
          </a:r>
          <a:r>
            <a:rPr lang="en-IN" sz="2400" b="1" kern="1200" dirty="0"/>
            <a:t>k</a:t>
          </a:r>
          <a:r>
            <a:rPr lang="en-IN" sz="2400" kern="1200" dirty="0"/>
            <a:t> is the current common prefix length.</a:t>
          </a:r>
        </a:p>
        <a:p>
          <a:pPr marL="171450" lvl="1" indent="-171450" algn="just" defTabSz="711200">
            <a:lnSpc>
              <a:spcPct val="90000"/>
            </a:lnSpc>
            <a:spcBef>
              <a:spcPct val="0"/>
            </a:spcBef>
            <a:spcAft>
              <a:spcPct val="20000"/>
            </a:spcAft>
            <a:buFont typeface="Wingdings" panose="05000000000000000000" pitchFamily="2" charset="2"/>
            <a:buNone/>
          </a:pPr>
          <a:endParaRPr lang="en-IN" sz="1600" kern="1200" dirty="0">
            <a:latin typeface="Times New Roman" panose="02020603050405020304" pitchFamily="18" charset="0"/>
            <a:cs typeface="Times New Roman" panose="02020603050405020304" pitchFamily="18" charset="0"/>
          </a:endParaRPr>
        </a:p>
        <a:p>
          <a:pPr marL="171450" lvl="1" indent="-171450" algn="just" defTabSz="711200">
            <a:lnSpc>
              <a:spcPct val="90000"/>
            </a:lnSpc>
            <a:spcBef>
              <a:spcPct val="0"/>
            </a:spcBef>
            <a:spcAft>
              <a:spcPct val="20000"/>
            </a:spcAft>
            <a:buFont typeface="Wingdings" panose="05000000000000000000" pitchFamily="2" charset="2"/>
            <a:buNone/>
          </a:pPr>
          <a:endParaRPr lang="en-IN" sz="1600" kern="1200" dirty="0">
            <a:latin typeface="Times New Roman" panose="02020603050405020304" pitchFamily="18" charset="0"/>
            <a:cs typeface="Times New Roman" panose="02020603050405020304" pitchFamily="18" charset="0"/>
          </a:endParaRPr>
        </a:p>
        <a:p>
          <a:pPr marL="171450" lvl="1" indent="-171450" algn="just" defTabSz="711200">
            <a:lnSpc>
              <a:spcPct val="90000"/>
            </a:lnSpc>
            <a:spcBef>
              <a:spcPct val="0"/>
            </a:spcBef>
            <a:spcAft>
              <a:spcPct val="20000"/>
            </a:spcAft>
            <a:buFont typeface="Wingdings" panose="05000000000000000000" pitchFamily="2" charset="2"/>
            <a:buNone/>
          </a:pPr>
          <a:endParaRPr lang="en-IN" sz="1600" kern="1200" dirty="0">
            <a:latin typeface="Times New Roman" panose="02020603050405020304" pitchFamily="18" charset="0"/>
            <a:cs typeface="Times New Roman" panose="02020603050405020304" pitchFamily="18" charset="0"/>
          </a:endParaRPr>
        </a:p>
        <a:p>
          <a:pPr marL="171450" lvl="1" indent="-171450" algn="just" defTabSz="711200">
            <a:lnSpc>
              <a:spcPct val="90000"/>
            </a:lnSpc>
            <a:spcBef>
              <a:spcPct val="0"/>
            </a:spcBef>
            <a:spcAft>
              <a:spcPct val="20000"/>
            </a:spcAft>
            <a:buFont typeface="Wingdings" panose="05000000000000000000" pitchFamily="2" charset="2"/>
            <a:buNone/>
          </a:pPr>
          <a:endParaRPr lang="en-IN" sz="1600" kern="1200" dirty="0">
            <a:latin typeface="Times New Roman" panose="02020603050405020304" pitchFamily="18" charset="0"/>
            <a:cs typeface="Times New Roman" panose="02020603050405020304" pitchFamily="18" charset="0"/>
          </a:endParaRPr>
        </a:p>
        <a:p>
          <a:pPr marL="171450" lvl="1" indent="-171450" algn="just" defTabSz="711200">
            <a:lnSpc>
              <a:spcPct val="90000"/>
            </a:lnSpc>
            <a:spcBef>
              <a:spcPct val="0"/>
            </a:spcBef>
            <a:spcAft>
              <a:spcPct val="20000"/>
            </a:spcAft>
            <a:buFont typeface="Wingdings" panose="05000000000000000000" pitchFamily="2" charset="2"/>
            <a:buNone/>
          </a:pPr>
          <a:endParaRPr lang="en-IN" sz="1600" kern="1200" dirty="0">
            <a:latin typeface="Times New Roman" panose="02020603050405020304" pitchFamily="18" charset="0"/>
            <a:cs typeface="Times New Roman" panose="02020603050405020304" pitchFamily="18" charset="0"/>
          </a:endParaRPr>
        </a:p>
        <a:p>
          <a:pPr marL="171450" lvl="1" indent="-171450" algn="just" defTabSz="711200">
            <a:lnSpc>
              <a:spcPct val="90000"/>
            </a:lnSpc>
            <a:spcBef>
              <a:spcPct val="0"/>
            </a:spcBef>
            <a:spcAft>
              <a:spcPct val="20000"/>
            </a:spcAft>
            <a:buFont typeface="Wingdings" panose="05000000000000000000" pitchFamily="2" charset="2"/>
            <a:buNone/>
          </a:pPr>
          <a:endParaRPr lang="en-IN" sz="1600" kern="1200" dirty="0">
            <a:latin typeface="Times New Roman" panose="02020603050405020304" pitchFamily="18" charset="0"/>
            <a:cs typeface="Times New Roman" panose="02020603050405020304" pitchFamily="18" charset="0"/>
          </a:endParaRPr>
        </a:p>
      </dsp:txBody>
      <dsp:txXfrm>
        <a:off x="0" y="418640"/>
        <a:ext cx="2912047" cy="277388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3C31A-170A-424A-A9FE-953D342DDB68}">
      <dsp:nvSpPr>
        <dsp:cNvPr id="0" name=""/>
        <dsp:cNvSpPr/>
      </dsp:nvSpPr>
      <dsp:spPr>
        <a:xfrm>
          <a:off x="0" y="2266"/>
          <a:ext cx="4866193" cy="486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1" kern="1200" dirty="0"/>
            <a:t>Step 3</a:t>
          </a:r>
          <a:endParaRPr lang="en-IN" sz="2000" b="1" kern="1200" dirty="0">
            <a:latin typeface="Times New Roman" panose="02020603050405020304" pitchFamily="18" charset="0"/>
            <a:cs typeface="Times New Roman" panose="02020603050405020304" pitchFamily="18" charset="0"/>
          </a:endParaRPr>
        </a:p>
      </dsp:txBody>
      <dsp:txXfrm>
        <a:off x="23760" y="26026"/>
        <a:ext cx="4818673" cy="439200"/>
      </dsp:txXfrm>
    </dsp:sp>
    <dsp:sp modelId="{A7F36DA1-0370-4EBC-A2D3-8421A855B5AA}">
      <dsp:nvSpPr>
        <dsp:cNvPr id="0" name=""/>
        <dsp:cNvSpPr/>
      </dsp:nvSpPr>
      <dsp:spPr>
        <a:xfrm>
          <a:off x="0" y="488986"/>
          <a:ext cx="4866193" cy="2637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502" tIns="25400" rIns="142240" bIns="25400" numCol="1" spcCol="1270" anchor="t" anchorCtr="0">
          <a:noAutofit/>
        </a:bodyPr>
        <a:lstStyle/>
        <a:p>
          <a:pPr marL="228600" lvl="1" indent="-228600" algn="just" defTabSz="889000">
            <a:lnSpc>
              <a:spcPct val="90000"/>
            </a:lnSpc>
            <a:spcBef>
              <a:spcPct val="0"/>
            </a:spcBef>
            <a:spcAft>
              <a:spcPct val="20000"/>
            </a:spcAft>
            <a:buFont typeface="Wingdings" panose="05000000000000000000" pitchFamily="2" charset="2"/>
            <a:buNone/>
          </a:pPr>
          <a:r>
            <a:rPr lang="en-IN" sz="2000" kern="1200" dirty="0"/>
            <a:t>For every suffix:</a:t>
          </a:r>
          <a:endParaRPr lang="en-IN" sz="2000" kern="1200" dirty="0">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20000"/>
            </a:spcAft>
            <a:buFont typeface="Arial" panose="020B0604020202020204" pitchFamily="34" charset="0"/>
            <a:buChar char="•"/>
          </a:pPr>
          <a:r>
            <a:rPr lang="en-IN" sz="2000" kern="1200"/>
            <a:t>Find its rank. </a:t>
          </a:r>
        </a:p>
        <a:p>
          <a:pPr marL="228600" lvl="1" indent="-228600" algn="l" defTabSz="889000">
            <a:lnSpc>
              <a:spcPct val="90000"/>
            </a:lnSpc>
            <a:spcBef>
              <a:spcPct val="0"/>
            </a:spcBef>
            <a:spcAft>
              <a:spcPct val="20000"/>
            </a:spcAft>
            <a:buFont typeface="Arial" panose="020B0604020202020204" pitchFamily="34" charset="0"/>
            <a:buChar char="•"/>
          </a:pPr>
          <a:r>
            <a:rPr lang="en-IN" sz="2000" kern="1200" dirty="0"/>
            <a:t>Compare it with the </a:t>
          </a:r>
          <a:r>
            <a:rPr lang="en-IN" sz="2000" b="1" kern="1200" dirty="0"/>
            <a:t>next suffix in sorted order</a:t>
          </a:r>
          <a:r>
            <a:rPr lang="en-IN" sz="2000" kern="1200" dirty="0"/>
            <a:t>. </a:t>
          </a:r>
        </a:p>
        <a:p>
          <a:pPr marL="228600" lvl="1" indent="-228600" algn="l" defTabSz="889000">
            <a:lnSpc>
              <a:spcPct val="90000"/>
            </a:lnSpc>
            <a:spcBef>
              <a:spcPct val="0"/>
            </a:spcBef>
            <a:spcAft>
              <a:spcPct val="20000"/>
            </a:spcAft>
            <a:buFont typeface="Arial" panose="020B0604020202020204" pitchFamily="34" charset="0"/>
            <a:buChar char="•"/>
          </a:pPr>
          <a:r>
            <a:rPr lang="en-IN" sz="2000" kern="1200" dirty="0"/>
            <a:t>Count matching characters. </a:t>
          </a:r>
        </a:p>
        <a:p>
          <a:pPr marL="228600" lvl="1" indent="-228600" algn="l" defTabSz="889000">
            <a:lnSpc>
              <a:spcPct val="90000"/>
            </a:lnSpc>
            <a:spcBef>
              <a:spcPct val="0"/>
            </a:spcBef>
            <a:spcAft>
              <a:spcPct val="20000"/>
            </a:spcAft>
            <a:buFont typeface="Arial" panose="020B0604020202020204" pitchFamily="34" charset="0"/>
            <a:buChar char="•"/>
          </a:pPr>
          <a:r>
            <a:rPr lang="en-IN" sz="2000" kern="1200"/>
            <a:t>Store the LCP. </a:t>
          </a:r>
        </a:p>
        <a:p>
          <a:pPr marL="228600" lvl="1" indent="-228600" algn="l" defTabSz="889000">
            <a:lnSpc>
              <a:spcPct val="90000"/>
            </a:lnSpc>
            <a:spcBef>
              <a:spcPct val="0"/>
            </a:spcBef>
            <a:spcAft>
              <a:spcPct val="20000"/>
            </a:spcAft>
            <a:buFont typeface="Arial" panose="020B0604020202020204" pitchFamily="34" charset="0"/>
            <a:buChar char="•"/>
          </a:pPr>
          <a:r>
            <a:rPr lang="en-IN" sz="2000" kern="1200" dirty="0"/>
            <a:t>Decrease </a:t>
          </a:r>
          <a:r>
            <a:rPr lang="en-IN" sz="2000" b="1" kern="1200" dirty="0"/>
            <a:t>k</a:t>
          </a:r>
          <a:r>
            <a:rPr lang="en-IN" sz="2000" kern="1200" dirty="0"/>
            <a:t> by one before moving to the next suffix (if k &gt; 0).</a:t>
          </a:r>
        </a:p>
      </dsp:txBody>
      <dsp:txXfrm>
        <a:off x="0" y="488986"/>
        <a:ext cx="4866193" cy="263718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244196-20C1-42AF-B0BD-3A0C01340ABD}" type="datetimeFigureOut">
              <a:rPr lang="en-AU" smtClean="0"/>
              <a:pPr/>
              <a:t>19/08/2026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C46252-7977-470F-A63B-F34B0A5EB215}" type="slidenum">
              <a:rPr lang="en-AU" smtClean="0"/>
              <a:pPr/>
              <a:t>‹#›</a:t>
            </a:fld>
            <a:endParaRPr lang="en-AU"/>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5C46252-7977-470F-A63B-F34B0A5EB215}" type="slidenum">
              <a:rPr lang="en-AU" smtClean="0"/>
              <a:pPr/>
              <a:t>1</a:t>
            </a:fld>
            <a:endParaRPr lang="en-AU"/>
          </a:p>
        </p:txBody>
      </p:sp>
    </p:spTree>
    <p:extLst>
      <p:ext uri="{BB962C8B-B14F-4D97-AF65-F5344CB8AC3E}">
        <p14:creationId xmlns:p14="http://schemas.microsoft.com/office/powerpoint/2010/main" val="27544710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F94C88D9-7CC9-4F28-82C8-BD005F341EC3}" type="slidenum">
              <a:rPr lang="en-US" altLang="en-US"/>
              <a:pPr/>
              <a:t>23</a:t>
            </a:fld>
            <a:endParaRPr lang="en-US" altLang="en-US"/>
          </a:p>
        </p:txBody>
      </p:sp>
      <p:sp>
        <p:nvSpPr>
          <p:cNvPr id="1126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To compute p, we use Horner’s rule</a:t>
            </a:r>
          </a:p>
          <a:p>
            <a:r>
              <a:rPr lang="en-US" altLang="en-US"/>
              <a:t>	p = P[m] + 10(P[m-1] + 10(P[m-2] + … + 10(P[2] + 10(P[1]) …))</a:t>
            </a:r>
          </a:p>
          <a:p>
            <a:r>
              <a:rPr lang="en-US" altLang="en-US"/>
              <a:t>in which we can compute in time O(m).</a:t>
            </a:r>
          </a:p>
        </p:txBody>
      </p:sp>
    </p:spTree>
    <p:extLst>
      <p:ext uri="{BB962C8B-B14F-4D97-AF65-F5344CB8AC3E}">
        <p14:creationId xmlns:p14="http://schemas.microsoft.com/office/powerpoint/2010/main" val="1087288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5B2A531A-7566-4E68-85A1-BD81872BD409}" type="slidenum">
              <a:rPr lang="en-US" altLang="en-US"/>
              <a:pPr/>
              <a:t>38</a:t>
            </a:fld>
            <a:endParaRPr lang="en-US" altLang="en-US"/>
          </a:p>
        </p:txBody>
      </p:sp>
      <p:sp>
        <p:nvSpPr>
          <p:cNvPr id="1331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To compute p, we use Horner’s rule</a:t>
            </a:r>
          </a:p>
          <a:p>
            <a:r>
              <a:rPr lang="en-US" altLang="en-US"/>
              <a:t>	p = P[m] + 10(P[m-1] + 10(P[m-2] + … + 10(P[2] + 10(P[1]) …))</a:t>
            </a:r>
          </a:p>
          <a:p>
            <a:r>
              <a:rPr lang="en-US" altLang="en-US"/>
              <a:t>in which we can compute in time O(m).</a:t>
            </a:r>
          </a:p>
        </p:txBody>
      </p:sp>
    </p:spTree>
    <p:extLst>
      <p:ext uri="{BB962C8B-B14F-4D97-AF65-F5344CB8AC3E}">
        <p14:creationId xmlns:p14="http://schemas.microsoft.com/office/powerpoint/2010/main" val="3781714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5B2A531A-7566-4E68-85A1-BD81872BD409}" type="slidenum">
              <a:rPr lang="en-US" altLang="en-US"/>
              <a:pPr/>
              <a:t>39</a:t>
            </a:fld>
            <a:endParaRPr lang="en-US" altLang="en-US"/>
          </a:p>
        </p:txBody>
      </p:sp>
      <p:sp>
        <p:nvSpPr>
          <p:cNvPr id="1331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To compute p, we use Horner’s rule</a:t>
            </a:r>
          </a:p>
          <a:p>
            <a:r>
              <a:rPr lang="en-US" altLang="en-US"/>
              <a:t>	p = P[m] + 10(P[m-1] + 10(P[m-2] + … + 10(P[2] + 10(P[1]) …))</a:t>
            </a:r>
          </a:p>
          <a:p>
            <a:r>
              <a:rPr lang="en-US" altLang="en-US"/>
              <a:t>in which we can compute in time O(m).</a:t>
            </a:r>
          </a:p>
        </p:txBody>
      </p:sp>
    </p:spTree>
    <p:extLst>
      <p:ext uri="{BB962C8B-B14F-4D97-AF65-F5344CB8AC3E}">
        <p14:creationId xmlns:p14="http://schemas.microsoft.com/office/powerpoint/2010/main" val="3781714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5B2A531A-7566-4E68-85A1-BD81872BD409}" type="slidenum">
              <a:rPr lang="en-US" altLang="en-US"/>
              <a:pPr/>
              <a:t>40</a:t>
            </a:fld>
            <a:endParaRPr lang="en-US" altLang="en-US"/>
          </a:p>
        </p:txBody>
      </p:sp>
      <p:sp>
        <p:nvSpPr>
          <p:cNvPr id="1331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To compute p, we use Horner’s rule</a:t>
            </a:r>
          </a:p>
          <a:p>
            <a:r>
              <a:rPr lang="en-US" altLang="en-US"/>
              <a:t>	p = P[m] + 10(P[m-1] + 10(P[m-2] + … + 10(P[2] + 10(P[1]) …))</a:t>
            </a:r>
          </a:p>
          <a:p>
            <a:r>
              <a:rPr lang="en-US" altLang="en-US"/>
              <a:t>in which we can compute in time O(m).</a:t>
            </a:r>
          </a:p>
        </p:txBody>
      </p:sp>
    </p:spTree>
    <p:extLst>
      <p:ext uri="{BB962C8B-B14F-4D97-AF65-F5344CB8AC3E}">
        <p14:creationId xmlns:p14="http://schemas.microsoft.com/office/powerpoint/2010/main" val="3781714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5B2A531A-7566-4E68-85A1-BD81872BD409}" type="slidenum">
              <a:rPr lang="en-US" altLang="en-US"/>
              <a:pPr/>
              <a:t>41</a:t>
            </a:fld>
            <a:endParaRPr lang="en-US" altLang="en-US"/>
          </a:p>
        </p:txBody>
      </p:sp>
      <p:sp>
        <p:nvSpPr>
          <p:cNvPr id="1331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To compute p, we use Horner’s rule</a:t>
            </a:r>
          </a:p>
          <a:p>
            <a:r>
              <a:rPr lang="en-US" altLang="en-US"/>
              <a:t>	p = P[m] + 10(P[m-1] + 10(P[m-2] + … + 10(P[2] + 10(P[1]) …))</a:t>
            </a:r>
          </a:p>
          <a:p>
            <a:r>
              <a:rPr lang="en-US" altLang="en-US"/>
              <a:t>in which we can compute in time O(m).</a:t>
            </a:r>
          </a:p>
        </p:txBody>
      </p:sp>
    </p:spTree>
    <p:extLst>
      <p:ext uri="{BB962C8B-B14F-4D97-AF65-F5344CB8AC3E}">
        <p14:creationId xmlns:p14="http://schemas.microsoft.com/office/powerpoint/2010/main" val="37817142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5B2A531A-7566-4E68-85A1-BD81872BD409}" type="slidenum">
              <a:rPr lang="en-US" altLang="en-US"/>
              <a:pPr/>
              <a:t>42</a:t>
            </a:fld>
            <a:endParaRPr lang="en-US" altLang="en-US"/>
          </a:p>
        </p:txBody>
      </p:sp>
      <p:sp>
        <p:nvSpPr>
          <p:cNvPr id="1331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To compute p, we use Horner’s rule</a:t>
            </a:r>
          </a:p>
          <a:p>
            <a:r>
              <a:rPr lang="en-US" altLang="en-US"/>
              <a:t>	p = P[m] + 10(P[m-1] + 10(P[m-2] + … + 10(P[2] + 10(P[1]) …))</a:t>
            </a:r>
          </a:p>
          <a:p>
            <a:r>
              <a:rPr lang="en-US" altLang="en-US"/>
              <a:t>in which we can compute in time O(m).</a:t>
            </a:r>
          </a:p>
        </p:txBody>
      </p:sp>
    </p:spTree>
    <p:extLst>
      <p:ext uri="{BB962C8B-B14F-4D97-AF65-F5344CB8AC3E}">
        <p14:creationId xmlns:p14="http://schemas.microsoft.com/office/powerpoint/2010/main" val="3781714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45181ED-BE69-41EA-B861-C8263814F02E}" type="slidenum">
              <a:rPr lang="en-US" altLang="en-US" smtClean="0">
                <a:latin typeface="Arial" panose="020B0604020202020204" pitchFamily="34" charset="0"/>
                <a:ea typeface="MS PGothic" panose="020B0600070205080204" pitchFamily="34" charset="-128"/>
              </a:rPr>
              <a:pPr/>
              <a:t>43</a:t>
            </a:fld>
            <a:endParaRPr lang="en-US" altLang="en-US">
              <a:latin typeface="Arial" panose="020B0604020202020204" pitchFamily="34" charset="0"/>
              <a:ea typeface="MS PGothic" panose="020B0600070205080204" pitchFamily="34" charset="-128"/>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To compute p, we use Horner’s rule</a:t>
            </a:r>
          </a:p>
          <a:p>
            <a:r>
              <a:rPr lang="en-US" altLang="en-US">
                <a:latin typeface="Arial" panose="020B0604020202020204" pitchFamily="34" charset="0"/>
              </a:rPr>
              <a:t>	p = P[m] + 10(P[m-1] + 10(P[m-2] + … + 10(P[2] + 10(P[1]) …))</a:t>
            </a:r>
          </a:p>
          <a:p>
            <a:r>
              <a:rPr lang="en-US" altLang="en-US">
                <a:latin typeface="Arial" panose="020B0604020202020204" pitchFamily="34" charset="0"/>
              </a:rPr>
              <a:t>in which we can compute in time O(m).</a:t>
            </a:r>
          </a:p>
        </p:txBody>
      </p:sp>
    </p:spTree>
    <p:extLst>
      <p:ext uri="{BB962C8B-B14F-4D97-AF65-F5344CB8AC3E}">
        <p14:creationId xmlns:p14="http://schemas.microsoft.com/office/powerpoint/2010/main" val="388424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002E5-3ABA-BDF3-6D79-310BF89F79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A3FBA7-2A9B-AAEB-B83E-CF18ACD571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D2FD4D-8397-EDFA-F47D-6BCC036D8D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2D8053-9D59-453E-20B9-39FDA22823F4}"/>
              </a:ext>
            </a:extLst>
          </p:cNvPr>
          <p:cNvSpPr>
            <a:spLocks noGrp="1"/>
          </p:cNvSpPr>
          <p:nvPr>
            <p:ph type="sldNum" sz="quarter" idx="10"/>
          </p:nvPr>
        </p:nvSpPr>
        <p:spPr/>
        <p:txBody>
          <a:bodyPr/>
          <a:lstStyle/>
          <a:p>
            <a:fld id="{F5C46252-7977-470F-A63B-F34B0A5EB215}" type="slidenum">
              <a:rPr lang="en-AU" smtClean="0"/>
              <a:pPr/>
              <a:t>73</a:t>
            </a:fld>
            <a:endParaRPr lang="en-AU"/>
          </a:p>
        </p:txBody>
      </p:sp>
    </p:spTree>
    <p:extLst>
      <p:ext uri="{BB962C8B-B14F-4D97-AF65-F5344CB8AC3E}">
        <p14:creationId xmlns:p14="http://schemas.microsoft.com/office/powerpoint/2010/main" val="39159265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E1AEE-4C7A-E87D-54FA-CDC26B66FB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60A21D-09CE-C36F-07F5-FFA0DA22FB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329C7C-5FF9-B378-67AF-5D149BA386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9D6209-B34D-9F09-AAD8-9B71EBD11A37}"/>
              </a:ext>
            </a:extLst>
          </p:cNvPr>
          <p:cNvSpPr>
            <a:spLocks noGrp="1"/>
          </p:cNvSpPr>
          <p:nvPr>
            <p:ph type="sldNum" sz="quarter" idx="10"/>
          </p:nvPr>
        </p:nvSpPr>
        <p:spPr/>
        <p:txBody>
          <a:bodyPr/>
          <a:lstStyle/>
          <a:p>
            <a:fld id="{F5C46252-7977-470F-A63B-F34B0A5EB215}" type="slidenum">
              <a:rPr lang="en-AU" smtClean="0"/>
              <a:pPr/>
              <a:t>74</a:t>
            </a:fld>
            <a:endParaRPr lang="en-AU"/>
          </a:p>
        </p:txBody>
      </p:sp>
    </p:spTree>
    <p:extLst>
      <p:ext uri="{BB962C8B-B14F-4D97-AF65-F5344CB8AC3E}">
        <p14:creationId xmlns:p14="http://schemas.microsoft.com/office/powerpoint/2010/main" val="41514000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AC6CB-20BE-1FE4-6807-B9E74DD9B5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441345-DE14-77EC-841F-7CE77794D3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E5AF7F-AEFA-2135-FE8B-166A86E5C1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23B964-BD28-32AA-3EFC-A7FF08C272FF}"/>
              </a:ext>
            </a:extLst>
          </p:cNvPr>
          <p:cNvSpPr>
            <a:spLocks noGrp="1"/>
          </p:cNvSpPr>
          <p:nvPr>
            <p:ph type="sldNum" sz="quarter" idx="10"/>
          </p:nvPr>
        </p:nvSpPr>
        <p:spPr/>
        <p:txBody>
          <a:bodyPr/>
          <a:lstStyle/>
          <a:p>
            <a:fld id="{F5C46252-7977-470F-A63B-F34B0A5EB215}" type="slidenum">
              <a:rPr lang="en-AU" smtClean="0"/>
              <a:pPr/>
              <a:t>75</a:t>
            </a:fld>
            <a:endParaRPr lang="en-AU"/>
          </a:p>
        </p:txBody>
      </p:sp>
    </p:spTree>
    <p:extLst>
      <p:ext uri="{BB962C8B-B14F-4D97-AF65-F5344CB8AC3E}">
        <p14:creationId xmlns:p14="http://schemas.microsoft.com/office/powerpoint/2010/main" val="3891373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0EF5D-D816-935C-CD92-43A2F4EA1C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DC856B-7C20-AE28-7C2C-03A65B278A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90C970-3C7C-BF60-E651-4EF102155A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319D63-8688-4272-6B73-77C2F1E5B2D6}"/>
              </a:ext>
            </a:extLst>
          </p:cNvPr>
          <p:cNvSpPr>
            <a:spLocks noGrp="1"/>
          </p:cNvSpPr>
          <p:nvPr>
            <p:ph type="sldNum" sz="quarter" idx="10"/>
          </p:nvPr>
        </p:nvSpPr>
        <p:spPr/>
        <p:txBody>
          <a:bodyPr/>
          <a:lstStyle/>
          <a:p>
            <a:fld id="{F5C46252-7977-470F-A63B-F34B0A5EB215}" type="slidenum">
              <a:rPr lang="en-AU" smtClean="0"/>
              <a:pPr/>
              <a:t>76</a:t>
            </a:fld>
            <a:endParaRPr lang="en-AU"/>
          </a:p>
        </p:txBody>
      </p:sp>
    </p:spTree>
    <p:extLst>
      <p:ext uri="{BB962C8B-B14F-4D97-AF65-F5344CB8AC3E}">
        <p14:creationId xmlns:p14="http://schemas.microsoft.com/office/powerpoint/2010/main" val="26072238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A1665-FD1B-77AC-A88F-2FF5B99223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99E37F-4ECF-F096-6C05-7D4D71C87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96DC00-AEAB-DF39-A7B7-40EAE9B929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F56B5B-64CA-7536-6827-8DDFE372A021}"/>
              </a:ext>
            </a:extLst>
          </p:cNvPr>
          <p:cNvSpPr>
            <a:spLocks noGrp="1"/>
          </p:cNvSpPr>
          <p:nvPr>
            <p:ph type="sldNum" sz="quarter" idx="10"/>
          </p:nvPr>
        </p:nvSpPr>
        <p:spPr/>
        <p:txBody>
          <a:bodyPr/>
          <a:lstStyle/>
          <a:p>
            <a:fld id="{F5C46252-7977-470F-A63B-F34B0A5EB215}" type="slidenum">
              <a:rPr lang="en-AU" smtClean="0"/>
              <a:pPr/>
              <a:t>77</a:t>
            </a:fld>
            <a:endParaRPr lang="en-AU"/>
          </a:p>
        </p:txBody>
      </p:sp>
    </p:spTree>
    <p:extLst>
      <p:ext uri="{BB962C8B-B14F-4D97-AF65-F5344CB8AC3E}">
        <p14:creationId xmlns:p14="http://schemas.microsoft.com/office/powerpoint/2010/main" val="26941414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2F3AD-42D4-77BA-AEE8-AF53CF4737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AF250E-F67A-FAB2-78BA-C9892DBA27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2E7CEB-D1B5-8385-6C05-44B908CAD8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7A08CC-7FDF-38A1-F17D-651F17FBC978}"/>
              </a:ext>
            </a:extLst>
          </p:cNvPr>
          <p:cNvSpPr>
            <a:spLocks noGrp="1"/>
          </p:cNvSpPr>
          <p:nvPr>
            <p:ph type="sldNum" sz="quarter" idx="10"/>
          </p:nvPr>
        </p:nvSpPr>
        <p:spPr/>
        <p:txBody>
          <a:bodyPr/>
          <a:lstStyle/>
          <a:p>
            <a:fld id="{F5C46252-7977-470F-A63B-F34B0A5EB215}" type="slidenum">
              <a:rPr lang="en-AU" smtClean="0"/>
              <a:pPr/>
              <a:t>78</a:t>
            </a:fld>
            <a:endParaRPr lang="en-AU"/>
          </a:p>
        </p:txBody>
      </p:sp>
    </p:spTree>
    <p:extLst>
      <p:ext uri="{BB962C8B-B14F-4D97-AF65-F5344CB8AC3E}">
        <p14:creationId xmlns:p14="http://schemas.microsoft.com/office/powerpoint/2010/main" val="33125763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26FB1-0D22-434F-E82B-BE965DB929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4E93CF-735B-F8DA-B141-8F1B363B98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D8BB44-9A63-0A56-D298-F32CDE7819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9FBCFE-94B0-FB7A-A5EB-77AD637D2EAB}"/>
              </a:ext>
            </a:extLst>
          </p:cNvPr>
          <p:cNvSpPr>
            <a:spLocks noGrp="1"/>
          </p:cNvSpPr>
          <p:nvPr>
            <p:ph type="sldNum" sz="quarter" idx="10"/>
          </p:nvPr>
        </p:nvSpPr>
        <p:spPr/>
        <p:txBody>
          <a:bodyPr/>
          <a:lstStyle/>
          <a:p>
            <a:fld id="{F5C46252-7977-470F-A63B-F34B0A5EB215}" type="slidenum">
              <a:rPr lang="en-AU" smtClean="0"/>
              <a:pPr/>
              <a:t>79</a:t>
            </a:fld>
            <a:endParaRPr lang="en-AU"/>
          </a:p>
        </p:txBody>
      </p:sp>
    </p:spTree>
    <p:extLst>
      <p:ext uri="{BB962C8B-B14F-4D97-AF65-F5344CB8AC3E}">
        <p14:creationId xmlns:p14="http://schemas.microsoft.com/office/powerpoint/2010/main" val="21050236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FDC92-C4EE-CD52-70F3-784686556C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FC77A3-3B76-7220-7110-D792565F22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C4022F-E5E4-C763-FDF2-6680E89A4B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836C21-5CA7-D77C-A32F-CAEF5EB0EC00}"/>
              </a:ext>
            </a:extLst>
          </p:cNvPr>
          <p:cNvSpPr>
            <a:spLocks noGrp="1"/>
          </p:cNvSpPr>
          <p:nvPr>
            <p:ph type="sldNum" sz="quarter" idx="10"/>
          </p:nvPr>
        </p:nvSpPr>
        <p:spPr/>
        <p:txBody>
          <a:bodyPr/>
          <a:lstStyle/>
          <a:p>
            <a:fld id="{F5C46252-7977-470F-A63B-F34B0A5EB215}" type="slidenum">
              <a:rPr lang="en-AU" smtClean="0"/>
              <a:pPr/>
              <a:t>80</a:t>
            </a:fld>
            <a:endParaRPr lang="en-AU"/>
          </a:p>
        </p:txBody>
      </p:sp>
    </p:spTree>
    <p:extLst>
      <p:ext uri="{BB962C8B-B14F-4D97-AF65-F5344CB8AC3E}">
        <p14:creationId xmlns:p14="http://schemas.microsoft.com/office/powerpoint/2010/main" val="42158260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80FE0-E1A2-9624-F693-EFC498352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5EA4C2-A511-4D3E-07AB-2840E9DAC0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F05E3F-B77D-6C28-7EC9-49405820DE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3432A9-A38C-06E5-6FF0-4CAFE580BFA7}"/>
              </a:ext>
            </a:extLst>
          </p:cNvPr>
          <p:cNvSpPr>
            <a:spLocks noGrp="1"/>
          </p:cNvSpPr>
          <p:nvPr>
            <p:ph type="sldNum" sz="quarter" idx="10"/>
          </p:nvPr>
        </p:nvSpPr>
        <p:spPr/>
        <p:txBody>
          <a:bodyPr/>
          <a:lstStyle/>
          <a:p>
            <a:fld id="{F5C46252-7977-470F-A63B-F34B0A5EB215}" type="slidenum">
              <a:rPr lang="en-AU" smtClean="0"/>
              <a:pPr/>
              <a:t>81</a:t>
            </a:fld>
            <a:endParaRPr lang="en-AU"/>
          </a:p>
        </p:txBody>
      </p:sp>
    </p:spTree>
    <p:extLst>
      <p:ext uri="{BB962C8B-B14F-4D97-AF65-F5344CB8AC3E}">
        <p14:creationId xmlns:p14="http://schemas.microsoft.com/office/powerpoint/2010/main" val="26422830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98598-47F5-C658-A81D-429434D78C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A90E8-4DD0-E2D9-BADE-8BD1321300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8A7591-EB49-A045-BB65-8291DB68C3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16CBB7-4BAD-1A58-6236-C83089A748A8}"/>
              </a:ext>
            </a:extLst>
          </p:cNvPr>
          <p:cNvSpPr>
            <a:spLocks noGrp="1"/>
          </p:cNvSpPr>
          <p:nvPr>
            <p:ph type="sldNum" sz="quarter" idx="10"/>
          </p:nvPr>
        </p:nvSpPr>
        <p:spPr/>
        <p:txBody>
          <a:bodyPr/>
          <a:lstStyle/>
          <a:p>
            <a:fld id="{F5C46252-7977-470F-A63B-F34B0A5EB215}" type="slidenum">
              <a:rPr lang="en-AU" smtClean="0"/>
              <a:pPr/>
              <a:t>83</a:t>
            </a:fld>
            <a:endParaRPr lang="en-AU"/>
          </a:p>
        </p:txBody>
      </p:sp>
    </p:spTree>
    <p:extLst>
      <p:ext uri="{BB962C8B-B14F-4D97-AF65-F5344CB8AC3E}">
        <p14:creationId xmlns:p14="http://schemas.microsoft.com/office/powerpoint/2010/main" val="33911680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5C46252-7977-470F-A63B-F34B0A5EB215}" type="slidenum">
              <a:rPr lang="en-AU" smtClean="0"/>
              <a:pPr/>
              <a:t>121</a:t>
            </a:fld>
            <a:endParaRPr lang="en-AU"/>
          </a:p>
        </p:txBody>
      </p:sp>
    </p:spTree>
    <p:extLst>
      <p:ext uri="{BB962C8B-B14F-4D97-AF65-F5344CB8AC3E}">
        <p14:creationId xmlns:p14="http://schemas.microsoft.com/office/powerpoint/2010/main" val="4001249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0" y="1122363"/>
            <a:ext cx="9144000" cy="2387600"/>
          </a:xfrm>
          <a:prstGeom prst="rect">
            <a:avLst/>
          </a:prstGeom>
        </p:spPr>
        <p:txBody>
          <a:bodyPr anchor="b"/>
          <a:lstStyle>
            <a:lvl1pPr algn="ctr">
              <a:defRPr sz="6000">
                <a:solidFill>
                  <a:srgbClr val="C00000"/>
                </a:solidFill>
              </a:defRPr>
            </a:lvl1pPr>
          </a:lstStyle>
          <a:p>
            <a:r>
              <a:rPr lang="en-US"/>
              <a:t>15CS2007</a:t>
            </a:r>
            <a:endParaRPr lang="en-AU"/>
          </a:p>
        </p:txBody>
      </p:sp>
      <p:sp>
        <p:nvSpPr>
          <p:cNvPr id="3" name="Subtitle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Database Systems</a:t>
            </a:r>
            <a:endParaRPr lang="en-AU"/>
          </a:p>
        </p:txBody>
      </p:sp>
      <p:sp>
        <p:nvSpPr>
          <p:cNvPr id="5" name="Footer Placeholder 4"/>
          <p:cNvSpPr>
            <a:spLocks noGrp="1"/>
          </p:cNvSpPr>
          <p:nvPr>
            <p:ph type="ftr" sz="quarter" idx="11"/>
          </p:nvPr>
        </p:nvSpPr>
        <p:spPr>
          <a:xfrm>
            <a:off x="573578" y="6356350"/>
            <a:ext cx="9933709" cy="365125"/>
          </a:xfrm>
          <a:prstGeom prst="rect">
            <a:avLst/>
          </a:prstGeom>
        </p:spPr>
        <p:txBody>
          <a:bodyPr/>
          <a:lstStyle/>
          <a:p>
            <a:r>
              <a:rPr lang="en-AU"/>
              <a:t>DSA-3 </a:t>
            </a:r>
          </a:p>
        </p:txBody>
      </p:sp>
      <p:sp>
        <p:nvSpPr>
          <p:cNvPr id="6" name="Slide Number Placeholder 5"/>
          <p:cNvSpPr>
            <a:spLocks noGrp="1"/>
          </p:cNvSpPr>
          <p:nvPr>
            <p:ph type="sldNum" sz="quarter" idx="12"/>
          </p:nvPr>
        </p:nvSpPr>
        <p:spPr>
          <a:xfrm>
            <a:off x="10648604" y="6356350"/>
            <a:ext cx="705196" cy="365125"/>
          </a:xfrm>
          <a:prstGeom prst="rect">
            <a:avLst/>
          </a:prstGeom>
        </p:spPr>
        <p:txBody>
          <a:bodyPr/>
          <a:lstStyle/>
          <a:p>
            <a:fld id="{68187FF5-4BF9-4B21-B0D2-9B7FF2B27D7F}" type="slidenum">
              <a:rPr lang="en-AU" smtClean="0"/>
              <a:pPr/>
              <a:t>‹#›</a:t>
            </a:fld>
            <a:endParaRPr lang="en-AU"/>
          </a:p>
        </p:txBody>
      </p:sp>
    </p:spTree>
    <p:extLst>
      <p:ext uri="{BB962C8B-B14F-4D97-AF65-F5344CB8AC3E}">
        <p14:creationId xmlns:p14="http://schemas.microsoft.com/office/powerpoint/2010/main" val="2331982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85772"/>
          </a:xfrm>
          <a:prstGeom prst="rect">
            <a:avLst/>
          </a:prstGeom>
        </p:spPr>
        <p:txBody>
          <a:bodyPr/>
          <a:lstStyle/>
          <a:p>
            <a:r>
              <a:rPr lang="en-US"/>
              <a:t>Click to edit Master title style</a:t>
            </a:r>
            <a:endParaRPr lang="en-AU"/>
          </a:p>
        </p:txBody>
      </p:sp>
      <p:sp>
        <p:nvSpPr>
          <p:cNvPr id="3" name="Content Placeholder 2"/>
          <p:cNvSpPr>
            <a:spLocks noGrp="1"/>
          </p:cNvSpPr>
          <p:nvPr>
            <p:ph idx="1"/>
          </p:nvPr>
        </p:nvSpPr>
        <p:spPr>
          <a:xfrm>
            <a:off x="838200" y="1155470"/>
            <a:ext cx="10515600" cy="5021494"/>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Footer Placeholder 4"/>
          <p:cNvSpPr>
            <a:spLocks noGrp="1"/>
          </p:cNvSpPr>
          <p:nvPr>
            <p:ph type="ftr" sz="quarter" idx="11"/>
          </p:nvPr>
        </p:nvSpPr>
        <p:spPr>
          <a:xfrm>
            <a:off x="838200" y="6356350"/>
            <a:ext cx="9669087" cy="365125"/>
          </a:xfrm>
          <a:prstGeom prst="rect">
            <a:avLst/>
          </a:prstGeom>
        </p:spPr>
        <p:txBody>
          <a:bodyPr/>
          <a:lstStyle/>
          <a:p>
            <a:r>
              <a:rPr lang="en-AU"/>
              <a:t>DSA-3 </a:t>
            </a:r>
          </a:p>
        </p:txBody>
      </p:sp>
      <p:sp>
        <p:nvSpPr>
          <p:cNvPr id="6" name="Slide Number Placeholder 5"/>
          <p:cNvSpPr>
            <a:spLocks noGrp="1"/>
          </p:cNvSpPr>
          <p:nvPr>
            <p:ph type="sldNum" sz="quarter" idx="12"/>
          </p:nvPr>
        </p:nvSpPr>
        <p:spPr>
          <a:xfrm>
            <a:off x="10648604" y="6356350"/>
            <a:ext cx="705196" cy="365125"/>
          </a:xfrm>
          <a:prstGeom prst="rect">
            <a:avLst/>
          </a:prstGeom>
        </p:spPr>
        <p:txBody>
          <a:bodyPr/>
          <a:lstStyle/>
          <a:p>
            <a:fld id="{68187FF5-4BF9-4B21-B0D2-9B7FF2B27D7F}" type="slidenum">
              <a:rPr lang="en-AU" smtClean="0"/>
              <a:pPr/>
              <a:t>‹#›</a:t>
            </a:fld>
            <a:endParaRPr lang="en-AU"/>
          </a:p>
        </p:txBody>
      </p:sp>
    </p:spTree>
    <p:extLst>
      <p:ext uri="{BB962C8B-B14F-4D97-AF65-F5344CB8AC3E}">
        <p14:creationId xmlns:p14="http://schemas.microsoft.com/office/powerpoint/2010/main" val="735809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1709738"/>
            <a:ext cx="10515600" cy="2852737"/>
          </a:xfrm>
          <a:prstGeom prst="rect">
            <a:avLst/>
          </a:prstGeom>
        </p:spPr>
        <p:txBody>
          <a:bodyPr anchor="b"/>
          <a:lstStyle>
            <a:lvl1pPr>
              <a:defRPr sz="6000"/>
            </a:lvl1pPr>
          </a:lstStyle>
          <a:p>
            <a:r>
              <a:rPr lang="en-US"/>
              <a:t>15CS2007</a:t>
            </a:r>
            <a:endParaRPr lang="en-AU"/>
          </a:p>
        </p:txBody>
      </p:sp>
      <p:sp>
        <p:nvSpPr>
          <p:cNvPr id="3" name="Text Placeholder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Database Systems</a:t>
            </a:r>
          </a:p>
        </p:txBody>
      </p:sp>
      <p:sp>
        <p:nvSpPr>
          <p:cNvPr id="5" name="Footer Placeholder 4"/>
          <p:cNvSpPr>
            <a:spLocks noGrp="1"/>
          </p:cNvSpPr>
          <p:nvPr>
            <p:ph type="ftr" sz="quarter" idx="11"/>
          </p:nvPr>
        </p:nvSpPr>
        <p:spPr>
          <a:xfrm>
            <a:off x="831850" y="6356350"/>
            <a:ext cx="9160048" cy="365125"/>
          </a:xfrm>
          <a:prstGeom prst="rect">
            <a:avLst/>
          </a:prstGeom>
        </p:spPr>
        <p:txBody>
          <a:bodyPr/>
          <a:lstStyle/>
          <a:p>
            <a:r>
              <a:rPr lang="en-AU"/>
              <a:t>DSA-3 </a:t>
            </a:r>
          </a:p>
        </p:txBody>
      </p:sp>
      <p:sp>
        <p:nvSpPr>
          <p:cNvPr id="6" name="Slide Number Placeholder 5"/>
          <p:cNvSpPr>
            <a:spLocks noGrp="1"/>
          </p:cNvSpPr>
          <p:nvPr>
            <p:ph type="sldNum" sz="quarter" idx="12"/>
          </p:nvPr>
        </p:nvSpPr>
        <p:spPr>
          <a:xfrm>
            <a:off x="10648604" y="6356350"/>
            <a:ext cx="705196" cy="365125"/>
          </a:xfrm>
          <a:prstGeom prst="rect">
            <a:avLst/>
          </a:prstGeom>
        </p:spPr>
        <p:txBody>
          <a:bodyPr/>
          <a:lstStyle/>
          <a:p>
            <a:fld id="{68187FF5-4BF9-4B21-B0D2-9B7FF2B27D7F}" type="slidenum">
              <a:rPr lang="en-AU" smtClean="0"/>
              <a:pPr/>
              <a:t>‹#›</a:t>
            </a:fld>
            <a:endParaRPr lang="en-AU"/>
          </a:p>
        </p:txBody>
      </p:sp>
    </p:spTree>
    <p:extLst>
      <p:ext uri="{BB962C8B-B14F-4D97-AF65-F5344CB8AC3E}">
        <p14:creationId xmlns:p14="http://schemas.microsoft.com/office/powerpoint/2010/main" val="3558191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85772"/>
          </a:xfrm>
          <a:prstGeom prst="rect">
            <a:avLst/>
          </a:prstGeom>
        </p:spPr>
        <p:txBody>
          <a:bodyPr/>
          <a:lstStyle/>
          <a:p>
            <a:r>
              <a:rPr lang="en-US"/>
              <a:t>Click to edit Master title style</a:t>
            </a:r>
            <a:endParaRPr lang="en-AU"/>
          </a:p>
        </p:txBody>
      </p:sp>
      <p:sp>
        <p:nvSpPr>
          <p:cNvPr id="3" name="Content Placeholder 2"/>
          <p:cNvSpPr>
            <a:spLocks noGrp="1"/>
          </p:cNvSpPr>
          <p:nvPr>
            <p:ph sz="half" idx="1"/>
          </p:nvPr>
        </p:nvSpPr>
        <p:spPr>
          <a:xfrm>
            <a:off x="838200" y="1230284"/>
            <a:ext cx="5181600" cy="4946679"/>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246187"/>
            <a:ext cx="5181600" cy="49307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a:xfrm>
            <a:off x="838200" y="6356350"/>
            <a:ext cx="924098" cy="365125"/>
          </a:xfrm>
          <a:prstGeom prst="rect">
            <a:avLst/>
          </a:prstGeom>
        </p:spPr>
        <p:txBody>
          <a:bodyPr/>
          <a:lstStyle/>
          <a:p>
            <a:endParaRPr lang="en-AU"/>
          </a:p>
        </p:txBody>
      </p:sp>
      <p:sp>
        <p:nvSpPr>
          <p:cNvPr id="6" name="Footer Placeholder 5"/>
          <p:cNvSpPr>
            <a:spLocks noGrp="1"/>
          </p:cNvSpPr>
          <p:nvPr>
            <p:ph type="ftr" sz="quarter" idx="11"/>
          </p:nvPr>
        </p:nvSpPr>
        <p:spPr>
          <a:xfrm>
            <a:off x="838200" y="6356350"/>
            <a:ext cx="9153698" cy="365125"/>
          </a:xfrm>
          <a:prstGeom prst="rect">
            <a:avLst/>
          </a:prstGeom>
        </p:spPr>
        <p:txBody>
          <a:bodyPr/>
          <a:lstStyle/>
          <a:p>
            <a:r>
              <a:rPr lang="en-AU"/>
              <a:t>DSA-3 </a:t>
            </a:r>
          </a:p>
        </p:txBody>
      </p:sp>
      <p:sp>
        <p:nvSpPr>
          <p:cNvPr id="7" name="Slide Number Placeholder 6"/>
          <p:cNvSpPr>
            <a:spLocks noGrp="1"/>
          </p:cNvSpPr>
          <p:nvPr>
            <p:ph type="sldNum" sz="quarter" idx="12"/>
          </p:nvPr>
        </p:nvSpPr>
        <p:spPr>
          <a:xfrm>
            <a:off x="10648604" y="6356350"/>
            <a:ext cx="705196" cy="365125"/>
          </a:xfrm>
          <a:prstGeom prst="rect">
            <a:avLst/>
          </a:prstGeom>
        </p:spPr>
        <p:txBody>
          <a:bodyPr/>
          <a:lstStyle/>
          <a:p>
            <a:fld id="{68187FF5-4BF9-4B21-B0D2-9B7FF2B27D7F}" type="slidenum">
              <a:rPr lang="en-AU" smtClean="0"/>
              <a:pPr/>
              <a:t>‹#›</a:t>
            </a:fld>
            <a:endParaRPr lang="en-AU"/>
          </a:p>
        </p:txBody>
      </p:sp>
    </p:spTree>
    <p:extLst>
      <p:ext uri="{BB962C8B-B14F-4D97-AF65-F5344CB8AC3E}">
        <p14:creationId xmlns:p14="http://schemas.microsoft.com/office/powerpoint/2010/main" val="2660865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699295"/>
          </a:xfrm>
          <a:prstGeom prst="rect">
            <a:avLst/>
          </a:prstGeom>
        </p:spPr>
        <p:txBody>
          <a:bodyPr/>
          <a:lstStyle/>
          <a:p>
            <a:r>
              <a:rPr lang="en-US"/>
              <a:t>Click to edit Master title style</a:t>
            </a:r>
            <a:endParaRPr lang="en-AU"/>
          </a:p>
        </p:txBody>
      </p:sp>
      <p:sp>
        <p:nvSpPr>
          <p:cNvPr id="3" name="Text Placeholder 2"/>
          <p:cNvSpPr>
            <a:spLocks noGrp="1"/>
          </p:cNvSpPr>
          <p:nvPr>
            <p:ph type="body" idx="1"/>
          </p:nvPr>
        </p:nvSpPr>
        <p:spPr>
          <a:xfrm>
            <a:off x="839788" y="1107591"/>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098190"/>
            <a:ext cx="5157787" cy="4091473"/>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107591"/>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098190"/>
            <a:ext cx="5183188" cy="4091473"/>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8" name="Footer Placeholder 7"/>
          <p:cNvSpPr>
            <a:spLocks noGrp="1"/>
          </p:cNvSpPr>
          <p:nvPr>
            <p:ph type="ftr" sz="quarter" idx="11"/>
          </p:nvPr>
        </p:nvSpPr>
        <p:spPr>
          <a:xfrm>
            <a:off x="839788" y="6356350"/>
            <a:ext cx="9152110" cy="365125"/>
          </a:xfrm>
          <a:prstGeom prst="rect">
            <a:avLst/>
          </a:prstGeom>
        </p:spPr>
        <p:txBody>
          <a:bodyPr/>
          <a:lstStyle/>
          <a:p>
            <a:r>
              <a:rPr lang="en-AU">
                <a:solidFill>
                  <a:srgbClr val="C00000"/>
                </a:solidFill>
              </a:rPr>
              <a:t>DSA-3 </a:t>
            </a:r>
          </a:p>
        </p:txBody>
      </p:sp>
      <p:sp>
        <p:nvSpPr>
          <p:cNvPr id="9" name="Slide Number Placeholder 8"/>
          <p:cNvSpPr>
            <a:spLocks noGrp="1"/>
          </p:cNvSpPr>
          <p:nvPr>
            <p:ph type="sldNum" sz="quarter" idx="12"/>
          </p:nvPr>
        </p:nvSpPr>
        <p:spPr>
          <a:xfrm>
            <a:off x="10648604" y="6356350"/>
            <a:ext cx="705196" cy="365125"/>
          </a:xfrm>
          <a:prstGeom prst="rect">
            <a:avLst/>
          </a:prstGeom>
        </p:spPr>
        <p:txBody>
          <a:bodyPr/>
          <a:lstStyle/>
          <a:p>
            <a:fld id="{68187FF5-4BF9-4B21-B0D2-9B7FF2B27D7F}" type="slidenum">
              <a:rPr lang="en-AU" smtClean="0"/>
              <a:pPr/>
              <a:t>‹#›</a:t>
            </a:fld>
            <a:endParaRPr lang="en-AU"/>
          </a:p>
        </p:txBody>
      </p:sp>
    </p:spTree>
    <p:extLst>
      <p:ext uri="{BB962C8B-B14F-4D97-AF65-F5344CB8AC3E}">
        <p14:creationId xmlns:p14="http://schemas.microsoft.com/office/powerpoint/2010/main" val="3945926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9295"/>
          </a:xfrm>
          <a:prstGeom prst="rect">
            <a:avLst/>
          </a:prstGeom>
        </p:spPr>
        <p:txBody>
          <a:bodyPr/>
          <a:lstStyle/>
          <a:p>
            <a:r>
              <a:rPr lang="en-US"/>
              <a:t>Click to edit Master title style</a:t>
            </a:r>
            <a:endParaRPr lang="en-AU"/>
          </a:p>
        </p:txBody>
      </p:sp>
      <p:sp>
        <p:nvSpPr>
          <p:cNvPr id="4" name="Footer Placeholder 3"/>
          <p:cNvSpPr>
            <a:spLocks noGrp="1"/>
          </p:cNvSpPr>
          <p:nvPr>
            <p:ph type="ftr" sz="quarter" idx="11"/>
          </p:nvPr>
        </p:nvSpPr>
        <p:spPr>
          <a:xfrm>
            <a:off x="838200" y="6356350"/>
            <a:ext cx="9153698" cy="365125"/>
          </a:xfrm>
          <a:prstGeom prst="rect">
            <a:avLst/>
          </a:prstGeom>
        </p:spPr>
        <p:txBody>
          <a:bodyPr/>
          <a:lstStyle/>
          <a:p>
            <a:r>
              <a:rPr lang="en-AU">
                <a:solidFill>
                  <a:srgbClr val="C00000"/>
                </a:solidFill>
              </a:rPr>
              <a:t>DSA-3 </a:t>
            </a:r>
          </a:p>
        </p:txBody>
      </p:sp>
      <p:sp>
        <p:nvSpPr>
          <p:cNvPr id="5" name="Slide Number Placeholder 4"/>
          <p:cNvSpPr>
            <a:spLocks noGrp="1"/>
          </p:cNvSpPr>
          <p:nvPr>
            <p:ph type="sldNum" sz="quarter" idx="12"/>
          </p:nvPr>
        </p:nvSpPr>
        <p:spPr>
          <a:xfrm>
            <a:off x="10648604" y="6356350"/>
            <a:ext cx="705196" cy="365125"/>
          </a:xfrm>
          <a:prstGeom prst="rect">
            <a:avLst/>
          </a:prstGeom>
        </p:spPr>
        <p:txBody>
          <a:bodyPr/>
          <a:lstStyle/>
          <a:p>
            <a:fld id="{68187FF5-4BF9-4B21-B0D2-9B7FF2B27D7F}" type="slidenum">
              <a:rPr lang="en-AU" smtClean="0"/>
              <a:pPr/>
              <a:t>‹#›</a:t>
            </a:fld>
            <a:endParaRPr lang="en-AU"/>
          </a:p>
        </p:txBody>
      </p:sp>
    </p:spTree>
    <p:extLst>
      <p:ext uri="{BB962C8B-B14F-4D97-AF65-F5344CB8AC3E}">
        <p14:creationId xmlns:p14="http://schemas.microsoft.com/office/powerpoint/2010/main" val="3667570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847898" y="6356350"/>
            <a:ext cx="9144000" cy="365125"/>
          </a:xfrm>
          <a:prstGeom prst="rect">
            <a:avLst/>
          </a:prstGeom>
        </p:spPr>
        <p:txBody>
          <a:bodyPr/>
          <a:lstStyle/>
          <a:p>
            <a:r>
              <a:rPr lang="en-AU">
                <a:solidFill>
                  <a:srgbClr val="C00000"/>
                </a:solidFill>
              </a:rPr>
              <a:t>DSA-3 </a:t>
            </a:r>
          </a:p>
        </p:txBody>
      </p:sp>
      <p:sp>
        <p:nvSpPr>
          <p:cNvPr id="4" name="Slide Number Placeholder 3"/>
          <p:cNvSpPr>
            <a:spLocks noGrp="1"/>
          </p:cNvSpPr>
          <p:nvPr>
            <p:ph type="sldNum" sz="quarter" idx="12"/>
          </p:nvPr>
        </p:nvSpPr>
        <p:spPr>
          <a:xfrm>
            <a:off x="10648604" y="6356350"/>
            <a:ext cx="705196" cy="365125"/>
          </a:xfrm>
          <a:prstGeom prst="rect">
            <a:avLst/>
          </a:prstGeom>
        </p:spPr>
        <p:txBody>
          <a:bodyPr/>
          <a:lstStyle/>
          <a:p>
            <a:fld id="{68187FF5-4BF9-4B21-B0D2-9B7FF2B27D7F}" type="slidenum">
              <a:rPr lang="en-AU" smtClean="0"/>
              <a:pPr/>
              <a:t>‹#›</a:t>
            </a:fld>
            <a:endParaRPr lang="en-AU"/>
          </a:p>
        </p:txBody>
      </p:sp>
    </p:spTree>
    <p:extLst>
      <p:ext uri="{BB962C8B-B14F-4D97-AF65-F5344CB8AC3E}">
        <p14:creationId xmlns:p14="http://schemas.microsoft.com/office/powerpoint/2010/main" val="13612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p:cNvSpPr>
            <a:spLocks noGrp="1"/>
          </p:cNvSpPr>
          <p:nvPr>
            <p:ph type="ftr" sz="quarter" idx="11"/>
          </p:nvPr>
        </p:nvSpPr>
        <p:spPr>
          <a:xfrm>
            <a:off x="839788" y="6356350"/>
            <a:ext cx="9152110" cy="365125"/>
          </a:xfrm>
          <a:prstGeom prst="rect">
            <a:avLst/>
          </a:prstGeom>
        </p:spPr>
        <p:txBody>
          <a:bodyPr/>
          <a:lstStyle/>
          <a:p>
            <a:r>
              <a:rPr lang="en-AU">
                <a:solidFill>
                  <a:srgbClr val="C00000"/>
                </a:solidFill>
              </a:rPr>
              <a:t>DSA-3 </a:t>
            </a:r>
          </a:p>
        </p:txBody>
      </p:sp>
      <p:sp>
        <p:nvSpPr>
          <p:cNvPr id="7" name="Slide Number Placeholder 6"/>
          <p:cNvSpPr>
            <a:spLocks noGrp="1"/>
          </p:cNvSpPr>
          <p:nvPr>
            <p:ph type="sldNum" sz="quarter" idx="12"/>
          </p:nvPr>
        </p:nvSpPr>
        <p:spPr>
          <a:xfrm>
            <a:off x="10648604" y="6356350"/>
            <a:ext cx="705196" cy="365125"/>
          </a:xfrm>
          <a:prstGeom prst="rect">
            <a:avLst/>
          </a:prstGeom>
        </p:spPr>
        <p:txBody>
          <a:bodyPr/>
          <a:lstStyle/>
          <a:p>
            <a:fld id="{68187FF5-4BF9-4B21-B0D2-9B7FF2B27D7F}" type="slidenum">
              <a:rPr lang="en-AU" smtClean="0"/>
              <a:pPr/>
              <a:t>‹#›</a:t>
            </a:fld>
            <a:endParaRPr lang="en-AU"/>
          </a:p>
        </p:txBody>
      </p:sp>
    </p:spTree>
    <p:extLst>
      <p:ext uri="{BB962C8B-B14F-4D97-AF65-F5344CB8AC3E}">
        <p14:creationId xmlns:p14="http://schemas.microsoft.com/office/powerpoint/2010/main" val="3485806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p:cNvSpPr>
            <a:spLocks noGrp="1"/>
          </p:cNvSpPr>
          <p:nvPr>
            <p:ph type="ftr" sz="quarter" idx="11"/>
          </p:nvPr>
        </p:nvSpPr>
        <p:spPr>
          <a:xfrm>
            <a:off x="839788" y="6356350"/>
            <a:ext cx="9152110" cy="365125"/>
          </a:xfrm>
          <a:prstGeom prst="rect">
            <a:avLst/>
          </a:prstGeom>
        </p:spPr>
        <p:txBody>
          <a:bodyPr/>
          <a:lstStyle/>
          <a:p>
            <a:r>
              <a:rPr lang="en-AU">
                <a:solidFill>
                  <a:srgbClr val="C00000"/>
                </a:solidFill>
              </a:rPr>
              <a:t>DSA-3 </a:t>
            </a:r>
          </a:p>
        </p:txBody>
      </p:sp>
      <p:sp>
        <p:nvSpPr>
          <p:cNvPr id="7" name="Slide Number Placeholder 6"/>
          <p:cNvSpPr>
            <a:spLocks noGrp="1"/>
          </p:cNvSpPr>
          <p:nvPr>
            <p:ph type="sldNum" sz="quarter" idx="12"/>
          </p:nvPr>
        </p:nvSpPr>
        <p:spPr>
          <a:xfrm>
            <a:off x="10648604" y="6356350"/>
            <a:ext cx="705196" cy="365125"/>
          </a:xfrm>
          <a:prstGeom prst="rect">
            <a:avLst/>
          </a:prstGeom>
        </p:spPr>
        <p:txBody>
          <a:bodyPr/>
          <a:lstStyle/>
          <a:p>
            <a:fld id="{68187FF5-4BF9-4B21-B0D2-9B7FF2B27D7F}" type="slidenum">
              <a:rPr lang="en-AU" smtClean="0"/>
              <a:pPr/>
              <a:t>‹#›</a:t>
            </a:fld>
            <a:endParaRPr lang="en-AU"/>
          </a:p>
        </p:txBody>
      </p:sp>
    </p:spTree>
    <p:extLst>
      <p:ext uri="{BB962C8B-B14F-4D97-AF65-F5344CB8AC3E}">
        <p14:creationId xmlns:p14="http://schemas.microsoft.com/office/powerpoint/2010/main" val="4024217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85772"/>
          </a:xfrm>
          <a:prstGeom prst="rect">
            <a:avLst/>
          </a:prstGeom>
        </p:spPr>
        <p:txBody>
          <a:bodyPr/>
          <a:lstStyle/>
          <a:p>
            <a:r>
              <a:rPr lang="en-US"/>
              <a:t>Click to edit Master title style</a:t>
            </a:r>
            <a:endParaRPr lang="en-AU"/>
          </a:p>
        </p:txBody>
      </p:sp>
      <p:sp>
        <p:nvSpPr>
          <p:cNvPr id="3" name="Vertical Text Placeholder 2"/>
          <p:cNvSpPr>
            <a:spLocks noGrp="1"/>
          </p:cNvSpPr>
          <p:nvPr>
            <p:ph type="body" orient="vert" idx="1"/>
          </p:nvPr>
        </p:nvSpPr>
        <p:spPr>
          <a:xfrm>
            <a:off x="838200" y="1155470"/>
            <a:ext cx="10515600" cy="5021494"/>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Footer Placeholder 4"/>
          <p:cNvSpPr>
            <a:spLocks noGrp="1"/>
          </p:cNvSpPr>
          <p:nvPr>
            <p:ph type="ftr" sz="quarter" idx="11"/>
          </p:nvPr>
        </p:nvSpPr>
        <p:spPr>
          <a:xfrm>
            <a:off x="838200" y="6356350"/>
            <a:ext cx="9153698" cy="365125"/>
          </a:xfrm>
          <a:prstGeom prst="rect">
            <a:avLst/>
          </a:prstGeom>
        </p:spPr>
        <p:txBody>
          <a:bodyPr/>
          <a:lstStyle/>
          <a:p>
            <a:r>
              <a:rPr lang="en-AU">
                <a:solidFill>
                  <a:srgbClr val="C00000"/>
                </a:solidFill>
              </a:rPr>
              <a:t>DSA-3 </a:t>
            </a:r>
          </a:p>
        </p:txBody>
      </p:sp>
      <p:sp>
        <p:nvSpPr>
          <p:cNvPr id="6" name="Slide Number Placeholder 5"/>
          <p:cNvSpPr>
            <a:spLocks noGrp="1"/>
          </p:cNvSpPr>
          <p:nvPr>
            <p:ph type="sldNum" sz="quarter" idx="12"/>
          </p:nvPr>
        </p:nvSpPr>
        <p:spPr>
          <a:xfrm>
            <a:off x="10648604" y="6356350"/>
            <a:ext cx="705196" cy="365125"/>
          </a:xfrm>
          <a:prstGeom prst="rect">
            <a:avLst/>
          </a:prstGeom>
        </p:spPr>
        <p:txBody>
          <a:bodyPr/>
          <a:lstStyle/>
          <a:p>
            <a:fld id="{68187FF5-4BF9-4B21-B0D2-9B7FF2B27D7F}" type="slidenum">
              <a:rPr lang="en-AU" smtClean="0"/>
              <a:pPr/>
              <a:t>‹#›</a:t>
            </a:fld>
            <a:endParaRPr lang="en-AU"/>
          </a:p>
        </p:txBody>
      </p:sp>
    </p:spTree>
    <p:extLst>
      <p:ext uri="{BB962C8B-B14F-4D97-AF65-F5344CB8AC3E}">
        <p14:creationId xmlns:p14="http://schemas.microsoft.com/office/powerpoint/2010/main" val="15784124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Footer Placeholder 4"/>
          <p:cNvSpPr>
            <a:spLocks noGrp="1"/>
          </p:cNvSpPr>
          <p:nvPr>
            <p:ph type="ftr" sz="quarter" idx="11"/>
          </p:nvPr>
        </p:nvSpPr>
        <p:spPr>
          <a:xfrm>
            <a:off x="838200" y="6356350"/>
            <a:ext cx="9153698" cy="365125"/>
          </a:xfrm>
          <a:prstGeom prst="rect">
            <a:avLst/>
          </a:prstGeom>
        </p:spPr>
        <p:txBody>
          <a:bodyPr/>
          <a:lstStyle/>
          <a:p>
            <a:r>
              <a:rPr lang="en-AU">
                <a:solidFill>
                  <a:srgbClr val="C00000"/>
                </a:solidFill>
              </a:rPr>
              <a:t>DSA-3 </a:t>
            </a:r>
          </a:p>
        </p:txBody>
      </p:sp>
      <p:sp>
        <p:nvSpPr>
          <p:cNvPr id="6" name="Slide Number Placeholder 5"/>
          <p:cNvSpPr>
            <a:spLocks noGrp="1"/>
          </p:cNvSpPr>
          <p:nvPr>
            <p:ph type="sldNum" sz="quarter" idx="12"/>
          </p:nvPr>
        </p:nvSpPr>
        <p:spPr>
          <a:xfrm>
            <a:off x="10648604" y="6356350"/>
            <a:ext cx="705196" cy="365125"/>
          </a:xfrm>
          <a:prstGeom prst="rect">
            <a:avLst/>
          </a:prstGeom>
        </p:spPr>
        <p:txBody>
          <a:bodyPr/>
          <a:lstStyle/>
          <a:p>
            <a:fld id="{68187FF5-4BF9-4B21-B0D2-9B7FF2B27D7F}" type="slidenum">
              <a:rPr lang="en-AU" smtClean="0"/>
              <a:pPr/>
              <a:t>‹#›</a:t>
            </a:fld>
            <a:endParaRPr lang="en-AU"/>
          </a:p>
        </p:txBody>
      </p:sp>
    </p:spTree>
    <p:extLst>
      <p:ext uri="{BB962C8B-B14F-4D97-AF65-F5344CB8AC3E}">
        <p14:creationId xmlns:p14="http://schemas.microsoft.com/office/powerpoint/2010/main" val="26668341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ferenc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65126"/>
            <a:ext cx="10515600" cy="685772"/>
          </a:xfrm>
          <a:prstGeom prst="rect">
            <a:avLst/>
          </a:prstGeom>
        </p:spPr>
        <p:txBody>
          <a:bodyPr/>
          <a:lstStyle>
            <a:lvl1pPr>
              <a:defRPr/>
            </a:lvl1pPr>
          </a:lstStyle>
          <a:p>
            <a:r>
              <a:rPr lang="en-US"/>
              <a:t>References</a:t>
            </a:r>
            <a:endParaRPr lang="en-AU"/>
          </a:p>
        </p:txBody>
      </p:sp>
      <p:sp>
        <p:nvSpPr>
          <p:cNvPr id="3" name="Footer Placeholder 2"/>
          <p:cNvSpPr>
            <a:spLocks noGrp="1"/>
          </p:cNvSpPr>
          <p:nvPr>
            <p:ph type="ftr" sz="quarter" idx="10"/>
          </p:nvPr>
        </p:nvSpPr>
        <p:spPr>
          <a:xfrm>
            <a:off x="838200" y="6356350"/>
            <a:ext cx="9153698" cy="365125"/>
          </a:xfrm>
          <a:prstGeom prst="rect">
            <a:avLst/>
          </a:prstGeom>
        </p:spPr>
        <p:txBody>
          <a:bodyPr/>
          <a:lstStyle/>
          <a:p>
            <a:r>
              <a:rPr lang="en-AU">
                <a:solidFill>
                  <a:srgbClr val="C00000"/>
                </a:solidFill>
              </a:rPr>
              <a:t>DSA-3 </a:t>
            </a:r>
          </a:p>
        </p:txBody>
      </p:sp>
      <p:sp>
        <p:nvSpPr>
          <p:cNvPr id="4" name="Slide Number Placeholder 3"/>
          <p:cNvSpPr>
            <a:spLocks noGrp="1"/>
          </p:cNvSpPr>
          <p:nvPr>
            <p:ph type="sldNum" sz="quarter" idx="11"/>
          </p:nvPr>
        </p:nvSpPr>
        <p:spPr>
          <a:xfrm>
            <a:off x="10648604" y="6356350"/>
            <a:ext cx="705196" cy="365125"/>
          </a:xfrm>
          <a:prstGeom prst="rect">
            <a:avLst/>
          </a:prstGeom>
        </p:spPr>
        <p:txBody>
          <a:bodyPr/>
          <a:lstStyle/>
          <a:p>
            <a:fld id="{68187FF5-4BF9-4B21-B0D2-9B7FF2B27D7F}" type="slidenum">
              <a:rPr lang="en-AU" smtClean="0"/>
              <a:pPr/>
              <a:t>‹#›</a:t>
            </a:fld>
            <a:endParaRPr lang="en-AU"/>
          </a:p>
        </p:txBody>
      </p:sp>
      <p:sp>
        <p:nvSpPr>
          <p:cNvPr id="8" name="Text Placeholder 7"/>
          <p:cNvSpPr>
            <a:spLocks noGrp="1"/>
          </p:cNvSpPr>
          <p:nvPr>
            <p:ph type="body" sz="quarter" idx="12"/>
          </p:nvPr>
        </p:nvSpPr>
        <p:spPr>
          <a:xfrm>
            <a:off x="838200" y="1238596"/>
            <a:ext cx="10515599" cy="5012575"/>
          </a:xfrm>
          <a:prstGeom prst="rect">
            <a:avLst/>
          </a:prstGeom>
        </p:spPr>
        <p:txBody>
          <a:bodyPr/>
          <a:lstStyle>
            <a:lvl1pPr marL="514350" indent="-514350">
              <a:buFont typeface="+mj-lt"/>
              <a:buAutoNum type="arabicPeriod"/>
              <a:defRPr/>
            </a:lvl1pPr>
            <a:lvl2pPr marL="914400" indent="-457200">
              <a:buFont typeface="+mj-lt"/>
              <a:buAutoNum type="arabicPeriod"/>
              <a:defRPr/>
            </a:lvl2pPr>
            <a:lvl3pPr marL="1371600" indent="-4572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322160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20000"/>
          </a:schemeClr>
        </a:solidFill>
        <a:effectLst/>
      </p:bgPr>
    </p:bg>
    <p:spTree>
      <p:nvGrpSpPr>
        <p:cNvPr id="1" name=""/>
        <p:cNvGrpSpPr/>
        <p:nvPr/>
      </p:nvGrpSpPr>
      <p:grpSpPr>
        <a:xfrm>
          <a:off x="0" y="0"/>
          <a:ext cx="0" cy="0"/>
          <a:chOff x="0" y="0"/>
          <a:chExt cx="0" cy="0"/>
        </a:xfrm>
      </p:grpSpPr>
      <p:pic>
        <p:nvPicPr>
          <p:cNvPr id="5" name="Picture 11" descr="KL University Hyderabad">
            <a:extLst>
              <a:ext uri="{FF2B5EF4-FFF2-40B4-BE49-F238E27FC236}">
                <a16:creationId xmlns:a16="http://schemas.microsoft.com/office/drawing/2014/main" id="{1D68F0A3-CC8A-640D-D670-512A3A512D02}"/>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126747"/>
            <a:ext cx="1463040" cy="626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B6694C64-F232-2FB7-00F5-3B6674FF8510}"/>
              </a:ext>
            </a:extLst>
          </p:cNvPr>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5BA48DF3-2855-58A7-CB66-4D902A6E6F08}"/>
              </a:ext>
            </a:extLst>
          </p:cNvPr>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extLst>
      <p:ext uri="{BB962C8B-B14F-4D97-AF65-F5344CB8AC3E}">
        <p14:creationId xmlns:p14="http://schemas.microsoft.com/office/powerpoint/2010/main" val="1220846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rgbClr val="C0000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3.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26.png"/><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45.xml.rels><?xml version="1.0" encoding="UTF-8" standalone="yes"?>
<Relationships xmlns="http://schemas.openxmlformats.org/package/2006/relationships"><Relationship Id="rId8" Type="http://schemas.openxmlformats.org/officeDocument/2006/relationships/diagramLayout" Target="../diagrams/layout9.xml"/><Relationship Id="rId3" Type="http://schemas.openxmlformats.org/officeDocument/2006/relationships/diagramLayout" Target="../diagrams/layout8.xml"/><Relationship Id="rId7" Type="http://schemas.openxmlformats.org/officeDocument/2006/relationships/diagramData" Target="../diagrams/data9.xml"/><Relationship Id="rId2" Type="http://schemas.openxmlformats.org/officeDocument/2006/relationships/diagramData" Target="../diagrams/data8.xml"/><Relationship Id="rId1" Type="http://schemas.openxmlformats.org/officeDocument/2006/relationships/slideLayout" Target="../slideLayouts/slideLayout1.xml"/><Relationship Id="rId6" Type="http://schemas.microsoft.com/office/2007/relationships/diagramDrawing" Target="../diagrams/drawing8.xml"/><Relationship Id="rId11" Type="http://schemas.microsoft.com/office/2007/relationships/diagramDrawing" Target="../diagrams/drawing9.xml"/><Relationship Id="rId5" Type="http://schemas.openxmlformats.org/officeDocument/2006/relationships/diagramColors" Target="../diagrams/colors8.xml"/><Relationship Id="rId10" Type="http://schemas.openxmlformats.org/officeDocument/2006/relationships/diagramColors" Target="../diagrams/colors9.xml"/><Relationship Id="rId4" Type="http://schemas.openxmlformats.org/officeDocument/2006/relationships/diagramQuickStyle" Target="../diagrams/quickStyle8.xml"/><Relationship Id="rId9" Type="http://schemas.openxmlformats.org/officeDocument/2006/relationships/diagramQuickStyle" Target="../diagrams/quickStyle9.xml"/></Relationships>
</file>

<file path=ppt/slides/_rels/slide146.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1.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47.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1.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1.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50.xml.rels><?xml version="1.0" encoding="UTF-8" standalone="yes"?>
<Relationships xmlns="http://schemas.openxmlformats.org/package/2006/relationships"><Relationship Id="rId8" Type="http://schemas.openxmlformats.org/officeDocument/2006/relationships/diagramLayout" Target="../diagrams/layout14.xml"/><Relationship Id="rId13" Type="http://schemas.openxmlformats.org/officeDocument/2006/relationships/diagramLayout" Target="../diagrams/layout15.xml"/><Relationship Id="rId3" Type="http://schemas.openxmlformats.org/officeDocument/2006/relationships/diagramLayout" Target="../diagrams/layout13.xml"/><Relationship Id="rId7" Type="http://schemas.openxmlformats.org/officeDocument/2006/relationships/diagramData" Target="../diagrams/data14.xml"/><Relationship Id="rId12" Type="http://schemas.openxmlformats.org/officeDocument/2006/relationships/diagramData" Target="../diagrams/data15.xml"/><Relationship Id="rId2" Type="http://schemas.openxmlformats.org/officeDocument/2006/relationships/diagramData" Target="../diagrams/data13.xml"/><Relationship Id="rId16" Type="http://schemas.microsoft.com/office/2007/relationships/diagramDrawing" Target="../diagrams/drawing15.xml"/><Relationship Id="rId1" Type="http://schemas.openxmlformats.org/officeDocument/2006/relationships/slideLayout" Target="../slideLayouts/slideLayout1.xml"/><Relationship Id="rId6" Type="http://schemas.microsoft.com/office/2007/relationships/diagramDrawing" Target="../diagrams/drawing13.xml"/><Relationship Id="rId11" Type="http://schemas.microsoft.com/office/2007/relationships/diagramDrawing" Target="../diagrams/drawing14.xml"/><Relationship Id="rId5" Type="http://schemas.openxmlformats.org/officeDocument/2006/relationships/diagramColors" Target="../diagrams/colors13.xml"/><Relationship Id="rId15" Type="http://schemas.openxmlformats.org/officeDocument/2006/relationships/diagramColors" Target="../diagrams/colors15.xml"/><Relationship Id="rId10" Type="http://schemas.openxmlformats.org/officeDocument/2006/relationships/diagramColors" Target="../diagrams/colors14.xml"/><Relationship Id="rId4" Type="http://schemas.openxmlformats.org/officeDocument/2006/relationships/diagramQuickStyle" Target="../diagrams/quickStyle13.xml"/><Relationship Id="rId9" Type="http://schemas.openxmlformats.org/officeDocument/2006/relationships/diagramQuickStyle" Target="../diagrams/quickStyle14.xml"/><Relationship Id="rId14" Type="http://schemas.openxmlformats.org/officeDocument/2006/relationships/diagramQuickStyle" Target="../diagrams/quickStyle15.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Google Shape;476;p16">
            <a:extLst>
              <a:ext uri="{FF2B5EF4-FFF2-40B4-BE49-F238E27FC236}">
                <a16:creationId xmlns:a16="http://schemas.microsoft.com/office/drawing/2014/main" id="{3732FECD-EE33-4F90-F08E-083831101C52}"/>
              </a:ext>
            </a:extLst>
          </p:cNvPr>
          <p:cNvSpPr txBox="1"/>
          <p:nvPr/>
        </p:nvSpPr>
        <p:spPr>
          <a:xfrm>
            <a:off x="865762" y="1588616"/>
            <a:ext cx="10593421" cy="2554505"/>
          </a:xfrm>
          <a:prstGeom prst="rect">
            <a:avLst/>
          </a:prstGeom>
          <a:noFill/>
          <a:ln>
            <a:noFill/>
          </a:ln>
        </p:spPr>
        <p:txBody>
          <a:bodyPr spcFirstLastPara="1" wrap="square" lIns="91425" tIns="45700" rIns="91425" bIns="45700">
            <a:spAutoFit/>
          </a:bodyPr>
          <a:lstStyle/>
          <a:p>
            <a:pPr algn="ctr" eaLnBrk="1" fontAlgn="auto" hangingPunct="1">
              <a:spcBef>
                <a:spcPts val="0"/>
              </a:spcBef>
              <a:spcAft>
                <a:spcPts val="0"/>
              </a:spcAft>
              <a:defRPr/>
            </a:pPr>
            <a:r>
              <a:rPr lang="en-US" sz="4400" b="1" cap="all" dirty="0">
                <a:ln/>
                <a:solidFill>
                  <a:srgbClr val="C00000"/>
                </a:solidFill>
                <a:cs typeface="Poppins" panose="00000500000000000000" pitchFamily="2" charset="0"/>
                <a:sym typeface="BioRhyme ExtraBold"/>
              </a:rPr>
              <a:t>Data Structures and algorithms-3</a:t>
            </a:r>
          </a:p>
          <a:p>
            <a:pPr algn="ctr">
              <a:defRPr/>
            </a:pPr>
            <a:r>
              <a:rPr lang="en-US" sz="3600" b="1" dirty="0"/>
              <a:t>25CS2103E</a:t>
            </a:r>
            <a:endParaRPr lang="en-US" sz="3600" b="1" cap="all" dirty="0">
              <a:ln/>
              <a:solidFill>
                <a:srgbClr val="C00000"/>
              </a:solidFill>
              <a:cs typeface="Poppins" panose="00000500000000000000" pitchFamily="2" charset="0"/>
              <a:sym typeface="BioRhyme ExtraBold"/>
            </a:endParaRPr>
          </a:p>
          <a:p>
            <a:pPr algn="ctr">
              <a:defRPr/>
            </a:pPr>
            <a:endParaRPr lang="en-US" sz="3600" b="1" dirty="0">
              <a:solidFill>
                <a:schemeClr val="bg1">
                  <a:lumMod val="50000"/>
                </a:schemeClr>
              </a:solidFill>
              <a:ea typeface="BioRhyme ExtraBold"/>
              <a:cs typeface="Poppins" panose="00000500000000000000" pitchFamily="2" charset="0"/>
              <a:sym typeface="BioRhyme ExtraBold"/>
            </a:endParaRPr>
          </a:p>
          <a:p>
            <a:pPr algn="ctr">
              <a:defRPr/>
            </a:pPr>
            <a:r>
              <a:rPr lang="en-US" sz="4400" b="1" dirty="0">
                <a:solidFill>
                  <a:schemeClr val="bg1">
                    <a:lumMod val="50000"/>
                  </a:schemeClr>
                </a:solidFill>
                <a:latin typeface="+mn-lt"/>
                <a:ea typeface="BioRhyme ExtraBold"/>
                <a:cs typeface="Poppins" panose="00000500000000000000" pitchFamily="2" charset="0"/>
                <a:sym typeface="BioRhyme ExtraBold"/>
              </a:rPr>
              <a:t>Topic: </a:t>
            </a:r>
            <a:r>
              <a:rPr lang="en-US" sz="4400" b="1" dirty="0">
                <a:solidFill>
                  <a:schemeClr val="bg1">
                    <a:lumMod val="50000"/>
                  </a:schemeClr>
                </a:solidFill>
                <a:ea typeface="BioRhyme ExtraBold"/>
                <a:cs typeface="Poppins" panose="00000500000000000000" pitchFamily="2" charset="0"/>
                <a:sym typeface="BioRhyme ExtraBold"/>
              </a:rPr>
              <a:t>String Algorithms</a:t>
            </a:r>
            <a:endParaRPr lang="en-US" sz="4400" b="1" dirty="0">
              <a:solidFill>
                <a:schemeClr val="bg1">
                  <a:lumMod val="50000"/>
                </a:schemeClr>
              </a:solidFill>
              <a:latin typeface="+mn-lt"/>
              <a:ea typeface="BioRhyme ExtraBold"/>
              <a:cs typeface="Poppins" panose="00000500000000000000" pitchFamily="2" charset="0"/>
              <a:sym typeface="BioRhyme ExtraBold"/>
            </a:endParaRPr>
          </a:p>
        </p:txBody>
      </p:sp>
      <p:sp>
        <p:nvSpPr>
          <p:cNvPr id="2" name="Footer Placeholder 1"/>
          <p:cNvSpPr>
            <a:spLocks noGrp="1"/>
          </p:cNvSpPr>
          <p:nvPr>
            <p:ph type="ftr" sz="quarter" idx="11"/>
          </p:nvPr>
        </p:nvSpPr>
        <p:spPr/>
        <p:txBody>
          <a:bodyPr/>
          <a:lstStyle/>
          <a:p>
            <a:r>
              <a:rPr lang="en-AU"/>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1</a:t>
            </a:fld>
            <a:endParaRPr lang="en-AU"/>
          </a:p>
        </p:txBody>
      </p:sp>
    </p:spTree>
    <p:extLst>
      <p:ext uri="{BB962C8B-B14F-4D97-AF65-F5344CB8AC3E}">
        <p14:creationId xmlns:p14="http://schemas.microsoft.com/office/powerpoint/2010/main" val="1247171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2</a:t>
            </a:fld>
            <a:endParaRPr lang="en-AU"/>
          </a:p>
        </p:txBody>
      </p:sp>
      <p:sp>
        <p:nvSpPr>
          <p:cNvPr id="4" name="Rectangle 3"/>
          <p:cNvSpPr/>
          <p:nvPr/>
        </p:nvSpPr>
        <p:spPr>
          <a:xfrm>
            <a:off x="3277518" y="207536"/>
            <a:ext cx="4673074" cy="584775"/>
          </a:xfrm>
          <a:prstGeom prst="rect">
            <a:avLst/>
          </a:prstGeom>
        </p:spPr>
        <p:txBody>
          <a:bodyPr wrap="none">
            <a:spAutoFit/>
          </a:bodyPr>
          <a:lstStyle/>
          <a:p>
            <a:r>
              <a:rPr lang="en-US" sz="3200" b="1" kern="0" dirty="0">
                <a:solidFill>
                  <a:srgbClr val="000000"/>
                </a:solidFill>
                <a:latin typeface="Times New Roman" panose="02020603050405020304" pitchFamily="18" charset="0"/>
                <a:ea typeface="Calibri" panose="020F0502020204030204" pitchFamily="34" charset="0"/>
              </a:rPr>
              <a:t>String Matching Problem</a:t>
            </a:r>
            <a:endParaRPr lang="en-US" sz="3200" dirty="0"/>
          </a:p>
        </p:txBody>
      </p:sp>
      <p:sp>
        <p:nvSpPr>
          <p:cNvPr id="5" name="Rectangle 4"/>
          <p:cNvSpPr/>
          <p:nvPr/>
        </p:nvSpPr>
        <p:spPr>
          <a:xfrm>
            <a:off x="290946" y="975957"/>
            <a:ext cx="11145538" cy="4524315"/>
          </a:xfrm>
          <a:prstGeom prst="rect">
            <a:avLst/>
          </a:prstGeom>
        </p:spPr>
        <p:txBody>
          <a:bodyPr wrap="square">
            <a:spAutoFit/>
          </a:bodyPr>
          <a:lstStyle/>
          <a:p>
            <a:pPr marL="457200" indent="-457200" algn="just">
              <a:buFont typeface="Arial" pitchFamily="34" charset="0"/>
              <a:buChar char="•"/>
            </a:pPr>
            <a:r>
              <a:rPr lang="en-US" sz="3200" dirty="0">
                <a:latin typeface="Times New Roman" panose="02020603050405020304" pitchFamily="18" charset="0"/>
                <a:ea typeface="Times New Roman" panose="02020603050405020304" pitchFamily="18" charset="0"/>
              </a:rPr>
              <a:t>String matching also called pattern matching is one of the most fundamental problems in Computer Science. </a:t>
            </a:r>
          </a:p>
          <a:p>
            <a:pPr marL="457200" indent="-457200" algn="just">
              <a:buFont typeface="Arial" pitchFamily="34" charset="0"/>
              <a:buChar char="•"/>
            </a:pPr>
            <a:endParaRPr lang="en-US" sz="3200" dirty="0">
              <a:latin typeface="Times New Roman" panose="02020603050405020304" pitchFamily="18" charset="0"/>
              <a:ea typeface="Times New Roman" panose="02020603050405020304" pitchFamily="18" charset="0"/>
            </a:endParaRPr>
          </a:p>
          <a:p>
            <a:pPr marL="457200" indent="-457200" algn="just">
              <a:buFont typeface="Arial" pitchFamily="34" charset="0"/>
              <a:buChar char="•"/>
            </a:pPr>
            <a:r>
              <a:rPr lang="en-US" sz="3200" dirty="0">
                <a:latin typeface="Times New Roman" panose="02020603050405020304" pitchFamily="18" charset="0"/>
                <a:ea typeface="Times New Roman" panose="02020603050405020304" pitchFamily="18" charset="0"/>
              </a:rPr>
              <a:t>It is widely used in text processing, search engines, bioinformatics, plagiarism detection, data mining, and cybersecurity. </a:t>
            </a:r>
          </a:p>
          <a:p>
            <a:pPr marL="457200" indent="-457200" algn="just">
              <a:buFont typeface="Arial" pitchFamily="34" charset="0"/>
              <a:buChar char="•"/>
            </a:pPr>
            <a:endParaRPr lang="en-US" sz="3200" dirty="0">
              <a:latin typeface="Times New Roman" panose="02020603050405020304" pitchFamily="18" charset="0"/>
              <a:ea typeface="Times New Roman" panose="02020603050405020304" pitchFamily="18" charset="0"/>
            </a:endParaRPr>
          </a:p>
          <a:p>
            <a:pPr marL="457200" indent="-457200" algn="just">
              <a:buFont typeface="Arial" pitchFamily="34" charset="0"/>
              <a:buChar char="•"/>
            </a:pPr>
            <a:r>
              <a:rPr lang="en-US" sz="3200" dirty="0">
                <a:latin typeface="Times New Roman" panose="02020603050405020304" pitchFamily="18" charset="0"/>
                <a:ea typeface="Times New Roman" panose="02020603050405020304" pitchFamily="18" charset="0"/>
              </a:rPr>
              <a:t>The objective is to determine whether a pattern occurs inside a larger text, and if it does, identify all its occurrences.</a:t>
            </a:r>
          </a:p>
        </p:txBody>
      </p:sp>
    </p:spTree>
    <p:extLst>
      <p:ext uri="{BB962C8B-B14F-4D97-AF65-F5344CB8AC3E}">
        <p14:creationId xmlns:p14="http://schemas.microsoft.com/office/powerpoint/2010/main" val="1579353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3</a:t>
            </a:fld>
            <a:endParaRPr lang="en-AU"/>
          </a:p>
        </p:txBody>
      </p:sp>
      <p:sp>
        <p:nvSpPr>
          <p:cNvPr id="6" name="Rectangle 5"/>
          <p:cNvSpPr/>
          <p:nvPr/>
        </p:nvSpPr>
        <p:spPr>
          <a:xfrm>
            <a:off x="350712" y="880564"/>
            <a:ext cx="11303539" cy="1631216"/>
          </a:xfrm>
          <a:prstGeom prst="rect">
            <a:avLst/>
          </a:prstGeom>
        </p:spPr>
        <p:txBody>
          <a:bodyPr wrap="square">
            <a:spAutoFit/>
          </a:bodyPr>
          <a:lstStyle/>
          <a:p>
            <a:pPr algn="just"/>
            <a:r>
              <a:rPr lang="en-US" sz="2500" b="1" u="sng" dirty="0">
                <a:latin typeface="Times New Roman" panose="02020603050405020304" pitchFamily="18" charset="0"/>
                <a:ea typeface="Times New Roman" panose="02020603050405020304" pitchFamily="18" charset="0"/>
              </a:rPr>
              <a:t>Definition</a:t>
            </a:r>
            <a:r>
              <a:rPr lang="en-US" sz="2500" dirty="0">
                <a:latin typeface="Times New Roman" panose="02020603050405020304" pitchFamily="18" charset="0"/>
                <a:ea typeface="Times New Roman" panose="02020603050405020304" pitchFamily="18" charset="0"/>
              </a:rPr>
              <a:t>:- Given a text T of length n and a pattern P of length m (where m ≤ n), find all positions (shifts) in T where P occurs. We say the pattern P occurs with shift s in the text T if 0 ≤ s ≤ n − m and T[s + 1 .. s + m] = P[1 .. m]. Such a shift s is called a valid shift; otherwise it is an invalid shift.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7055" y="2511780"/>
            <a:ext cx="8229599" cy="3879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4160855" y="251752"/>
            <a:ext cx="4673074" cy="584775"/>
          </a:xfrm>
          <a:prstGeom prst="rect">
            <a:avLst/>
          </a:prstGeom>
        </p:spPr>
        <p:txBody>
          <a:bodyPr wrap="none">
            <a:spAutoFit/>
          </a:bodyPr>
          <a:lstStyle/>
          <a:p>
            <a:r>
              <a:rPr lang="en-US" sz="3200" b="1" kern="0" dirty="0">
                <a:solidFill>
                  <a:srgbClr val="000000"/>
                </a:solidFill>
                <a:latin typeface="Times New Roman" panose="02020603050405020304" pitchFamily="18" charset="0"/>
                <a:ea typeface="Calibri" panose="020F0502020204030204" pitchFamily="34" charset="0"/>
              </a:rPr>
              <a:t>String Matching Problem</a:t>
            </a:r>
            <a:endParaRPr lang="en-US" sz="3200" dirty="0"/>
          </a:p>
        </p:txBody>
      </p:sp>
    </p:spTree>
    <p:extLst>
      <p:ext uri="{BB962C8B-B14F-4D97-AF65-F5344CB8AC3E}">
        <p14:creationId xmlns:p14="http://schemas.microsoft.com/office/powerpoint/2010/main" val="511286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4</a:t>
            </a:fld>
            <a:endParaRPr lang="en-AU"/>
          </a:p>
        </p:txBody>
      </p:sp>
      <p:sp>
        <p:nvSpPr>
          <p:cNvPr id="4" name="Rectangle 3"/>
          <p:cNvSpPr/>
          <p:nvPr/>
        </p:nvSpPr>
        <p:spPr>
          <a:xfrm>
            <a:off x="321012" y="803898"/>
            <a:ext cx="11647251" cy="3046988"/>
          </a:xfrm>
          <a:prstGeom prst="rect">
            <a:avLst/>
          </a:prstGeom>
        </p:spPr>
        <p:txBody>
          <a:bodyPr wrap="square">
            <a:spAutoFit/>
          </a:bodyPr>
          <a:lstStyle/>
          <a:p>
            <a:pPr algn="just"/>
            <a:r>
              <a:rPr lang="en-IN" sz="3200" dirty="0">
                <a:latin typeface="Times New Roman" panose="02020603050405020304" pitchFamily="18" charset="0"/>
                <a:ea typeface="Times New Roman" panose="02020603050405020304" pitchFamily="18" charset="0"/>
              </a:rPr>
              <a:t>The string-matching problem is the problem of finding all valid shifts with which a given pattern P occurs in a given text T.  </a:t>
            </a:r>
          </a:p>
          <a:p>
            <a:pPr algn="just"/>
            <a:endParaRPr lang="en-IN" sz="3200" dirty="0">
              <a:latin typeface="Times New Roman" panose="02020603050405020304" pitchFamily="18" charset="0"/>
              <a:ea typeface="Times New Roman" panose="02020603050405020304" pitchFamily="18" charset="0"/>
            </a:endParaRPr>
          </a:p>
          <a:p>
            <a:pPr algn="just"/>
            <a:r>
              <a:rPr lang="en-IN" sz="3200" dirty="0" err="1">
                <a:latin typeface="Times New Roman" panose="02020603050405020304" pitchFamily="18" charset="0"/>
                <a:ea typeface="Times New Roman" panose="02020603050405020304" pitchFamily="18" charset="0"/>
              </a:rPr>
              <a:t>Eg</a:t>
            </a:r>
            <a:r>
              <a:rPr lang="en-IN" sz="3200" dirty="0">
                <a:latin typeface="Times New Roman" panose="02020603050405020304" pitchFamily="18" charset="0"/>
                <a:ea typeface="Times New Roman" panose="02020603050405020304" pitchFamily="18" charset="0"/>
              </a:rPr>
              <a:t>: Find pattern P= </a:t>
            </a:r>
            <a:r>
              <a:rPr lang="en-IN" sz="3200" b="1" dirty="0" err="1">
                <a:latin typeface="Times New Roman" panose="02020603050405020304" pitchFamily="18" charset="0"/>
                <a:ea typeface="Times New Roman" panose="02020603050405020304" pitchFamily="18" charset="0"/>
              </a:rPr>
              <a:t>abaa</a:t>
            </a:r>
            <a:r>
              <a:rPr lang="en-IN" sz="3200" dirty="0">
                <a:latin typeface="Times New Roman" panose="02020603050405020304" pitchFamily="18" charset="0"/>
                <a:ea typeface="Times New Roman" panose="02020603050405020304" pitchFamily="18" charset="0"/>
              </a:rPr>
              <a:t> in the text T = </a:t>
            </a:r>
            <a:r>
              <a:rPr lang="en-IN" sz="3200" b="1" dirty="0" err="1">
                <a:latin typeface="Times New Roman" panose="02020603050405020304" pitchFamily="18" charset="0"/>
                <a:ea typeface="Times New Roman" panose="02020603050405020304" pitchFamily="18" charset="0"/>
              </a:rPr>
              <a:t>abcabaabcabac</a:t>
            </a:r>
            <a:r>
              <a:rPr lang="en-IN" sz="3200" dirty="0">
                <a:latin typeface="Times New Roman" panose="02020603050405020304" pitchFamily="18" charset="0"/>
                <a:ea typeface="Times New Roman" panose="02020603050405020304" pitchFamily="18" charset="0"/>
              </a:rPr>
              <a:t>. </a:t>
            </a:r>
          </a:p>
          <a:p>
            <a:pPr algn="just"/>
            <a:r>
              <a:rPr lang="en-IN" sz="3200" dirty="0">
                <a:latin typeface="Times New Roman" panose="02020603050405020304" pitchFamily="18" charset="0"/>
                <a:ea typeface="Times New Roman" panose="02020603050405020304" pitchFamily="18" charset="0"/>
              </a:rPr>
              <a:t>The pattern occurs only once in the text, at shift s =3, which is a valid shift. </a:t>
            </a:r>
          </a:p>
        </p:txBody>
      </p:sp>
      <p:pic>
        <p:nvPicPr>
          <p:cNvPr id="5" name="Picture 4">
            <a:extLst>
              <a:ext uri="{FF2B5EF4-FFF2-40B4-BE49-F238E27FC236}">
                <a16:creationId xmlns:a16="http://schemas.microsoft.com/office/drawing/2014/main" id="{89AB72FC-E169-9FCE-4CF6-B4D0D7F885C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699164" y="3850886"/>
            <a:ext cx="4807526" cy="1386132"/>
          </a:xfrm>
          <a:prstGeom prst="rect">
            <a:avLst/>
          </a:prstGeom>
          <a:noFill/>
        </p:spPr>
      </p:pic>
    </p:spTree>
    <p:extLst>
      <p:ext uri="{BB962C8B-B14F-4D97-AF65-F5344CB8AC3E}">
        <p14:creationId xmlns:p14="http://schemas.microsoft.com/office/powerpoint/2010/main" val="3648818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5</a:t>
            </a:fld>
            <a:endParaRPr lang="en-AU"/>
          </a:p>
        </p:txBody>
      </p:sp>
      <p:sp>
        <p:nvSpPr>
          <p:cNvPr id="4" name="Rectangle 3"/>
          <p:cNvSpPr/>
          <p:nvPr/>
        </p:nvSpPr>
        <p:spPr>
          <a:xfrm>
            <a:off x="974357" y="1396557"/>
            <a:ext cx="9800706" cy="4278094"/>
          </a:xfrm>
          <a:prstGeom prst="rect">
            <a:avLst/>
          </a:prstGeom>
        </p:spPr>
        <p:txBody>
          <a:bodyPr wrap="square">
            <a:spAutoFit/>
          </a:bodyPr>
          <a:lstStyle/>
          <a:p>
            <a:r>
              <a:rPr lang="en-US" sz="3400" b="1" dirty="0">
                <a:latin typeface="Times New Roman" panose="02020603050405020304" pitchFamily="18" charset="0"/>
                <a:ea typeface="Times New Roman" panose="02020603050405020304" pitchFamily="18" charset="0"/>
              </a:rPr>
              <a:t>Given T = </a:t>
            </a:r>
          </a:p>
          <a:p>
            <a:endParaRPr lang="en-US" sz="3400" b="1" dirty="0">
              <a:latin typeface="Times New Roman" panose="02020603050405020304" pitchFamily="18" charset="0"/>
              <a:ea typeface="Times New Roman" panose="02020603050405020304" pitchFamily="18" charset="0"/>
            </a:endParaRPr>
          </a:p>
          <a:p>
            <a:endParaRPr lang="en-US" sz="3400" b="1" dirty="0">
              <a:latin typeface="Times New Roman" panose="02020603050405020304" pitchFamily="18" charset="0"/>
              <a:ea typeface="Times New Roman" panose="02020603050405020304" pitchFamily="18" charset="0"/>
            </a:endParaRPr>
          </a:p>
          <a:p>
            <a:r>
              <a:rPr lang="en-US" sz="3400" b="1" dirty="0">
                <a:latin typeface="Times New Roman" panose="02020603050405020304" pitchFamily="18" charset="0"/>
                <a:ea typeface="Times New Roman" panose="02020603050405020304" pitchFamily="18" charset="0"/>
              </a:rPr>
              <a:t>and P = ABC</a:t>
            </a:r>
          </a:p>
          <a:p>
            <a:endParaRPr lang="en-US" sz="3400" b="1" dirty="0">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Arial" panose="020B0604020202020204" pitchFamily="34" charset="0"/>
              <a:buChar char="•"/>
              <a:tabLst>
                <a:tab pos="457200" algn="l"/>
              </a:tabLst>
            </a:pPr>
            <a:r>
              <a:rPr lang="en-US" sz="3400" b="1" dirty="0">
                <a:latin typeface="Times New Roman" panose="02020603050405020304" pitchFamily="18" charset="0"/>
                <a:ea typeface="Times New Roman" panose="02020603050405020304" pitchFamily="18" charset="0"/>
                <a:cs typeface="Times New Roman" panose="02020603050405020304" pitchFamily="18" charset="0"/>
              </a:rPr>
              <a:t>The first occurrence starts at T[2]</a:t>
            </a:r>
          </a:p>
          <a:p>
            <a:pPr marL="342900" marR="0" lvl="0" indent="-342900">
              <a:spcBef>
                <a:spcPts val="0"/>
              </a:spcBef>
              <a:spcAft>
                <a:spcPts val="0"/>
              </a:spcAft>
              <a:buFont typeface="Arial" panose="020B0604020202020204" pitchFamily="34" charset="0"/>
              <a:buChar char="•"/>
              <a:tabLst>
                <a:tab pos="457200" algn="l"/>
              </a:tabLst>
            </a:pPr>
            <a:r>
              <a:rPr lang="en-US" sz="3400" b="1" dirty="0">
                <a:latin typeface="Times New Roman" panose="02020603050405020304" pitchFamily="18" charset="0"/>
                <a:ea typeface="Times New Roman" panose="02020603050405020304" pitchFamily="18" charset="0"/>
                <a:cs typeface="Times New Roman" panose="02020603050405020304" pitchFamily="18" charset="0"/>
              </a:rPr>
              <a:t>The second occurrence starts at T[8]</a:t>
            </a:r>
          </a:p>
          <a:p>
            <a:pPr marL="342900" marR="0" lvl="0" indent="-342900">
              <a:spcBef>
                <a:spcPts val="0"/>
              </a:spcBef>
              <a:spcAft>
                <a:spcPts val="0"/>
              </a:spcAft>
              <a:buFont typeface="Arial" panose="020B0604020202020204" pitchFamily="34" charset="0"/>
              <a:buChar char="•"/>
              <a:tabLst>
                <a:tab pos="457200" algn="l"/>
              </a:tabLst>
            </a:pPr>
            <a:r>
              <a:rPr lang="en-US" sz="3400" b="1" dirty="0">
                <a:latin typeface="Times New Roman" panose="02020603050405020304" pitchFamily="18" charset="0"/>
                <a:ea typeface="Times New Roman" panose="02020603050405020304" pitchFamily="18" charset="0"/>
                <a:cs typeface="Times New Roman" panose="02020603050405020304" pitchFamily="18" charset="0"/>
              </a:rPr>
              <a:t>The third occurrence starts at T[12]</a:t>
            </a:r>
          </a:p>
        </p:txBody>
      </p:sp>
      <p:sp>
        <p:nvSpPr>
          <p:cNvPr id="5" name="Rectangle 4"/>
          <p:cNvSpPr/>
          <p:nvPr/>
        </p:nvSpPr>
        <p:spPr>
          <a:xfrm>
            <a:off x="5269409" y="209304"/>
            <a:ext cx="1346844" cy="461665"/>
          </a:xfrm>
          <a:prstGeom prst="rect">
            <a:avLst/>
          </a:prstGeom>
        </p:spPr>
        <p:txBody>
          <a:bodyPr wrap="none">
            <a:spAutoFit/>
          </a:bodyPr>
          <a:lstStyle/>
          <a:p>
            <a:r>
              <a:rPr lang="en-US" sz="2400" b="1" dirty="0">
                <a:latin typeface="Times New Roman" panose="02020603050405020304" pitchFamily="18" charset="0"/>
                <a:ea typeface="Times New Roman" panose="02020603050405020304" pitchFamily="18" charset="0"/>
              </a:rPr>
              <a:t>Example</a:t>
            </a:r>
          </a:p>
        </p:txBody>
      </p:sp>
      <p:graphicFrame>
        <p:nvGraphicFramePr>
          <p:cNvPr id="6" name="Table 5"/>
          <p:cNvGraphicFramePr>
            <a:graphicFrameLocks noGrp="1"/>
          </p:cNvGraphicFramePr>
          <p:nvPr>
            <p:extLst>
              <p:ext uri="{D42A27DB-BD31-4B8C-83A1-F6EECF244321}">
                <p14:modId xmlns:p14="http://schemas.microsoft.com/office/powerpoint/2010/main" val="2573115972"/>
              </p:ext>
            </p:extLst>
          </p:nvPr>
        </p:nvGraphicFramePr>
        <p:xfrm>
          <a:off x="2946393" y="1396557"/>
          <a:ext cx="9120915" cy="1036320"/>
        </p:xfrm>
        <a:graphic>
          <a:graphicData uri="http://schemas.openxmlformats.org/drawingml/2006/table">
            <a:tbl>
              <a:tblPr firstRow="1" bandRow="1">
                <a:tableStyleId>{5C22544A-7EE6-4342-B048-85BDC9FD1C3A}</a:tableStyleId>
              </a:tblPr>
              <a:tblGrid>
                <a:gridCol w="608061">
                  <a:extLst>
                    <a:ext uri="{9D8B030D-6E8A-4147-A177-3AD203B41FA5}">
                      <a16:colId xmlns:a16="http://schemas.microsoft.com/office/drawing/2014/main" val="20000"/>
                    </a:ext>
                  </a:extLst>
                </a:gridCol>
                <a:gridCol w="608061">
                  <a:extLst>
                    <a:ext uri="{9D8B030D-6E8A-4147-A177-3AD203B41FA5}">
                      <a16:colId xmlns:a16="http://schemas.microsoft.com/office/drawing/2014/main" val="20001"/>
                    </a:ext>
                  </a:extLst>
                </a:gridCol>
                <a:gridCol w="608061">
                  <a:extLst>
                    <a:ext uri="{9D8B030D-6E8A-4147-A177-3AD203B41FA5}">
                      <a16:colId xmlns:a16="http://schemas.microsoft.com/office/drawing/2014/main" val="20002"/>
                    </a:ext>
                  </a:extLst>
                </a:gridCol>
                <a:gridCol w="608061">
                  <a:extLst>
                    <a:ext uri="{9D8B030D-6E8A-4147-A177-3AD203B41FA5}">
                      <a16:colId xmlns:a16="http://schemas.microsoft.com/office/drawing/2014/main" val="20003"/>
                    </a:ext>
                  </a:extLst>
                </a:gridCol>
                <a:gridCol w="608061">
                  <a:extLst>
                    <a:ext uri="{9D8B030D-6E8A-4147-A177-3AD203B41FA5}">
                      <a16:colId xmlns:a16="http://schemas.microsoft.com/office/drawing/2014/main" val="20004"/>
                    </a:ext>
                  </a:extLst>
                </a:gridCol>
                <a:gridCol w="608061">
                  <a:extLst>
                    <a:ext uri="{9D8B030D-6E8A-4147-A177-3AD203B41FA5}">
                      <a16:colId xmlns:a16="http://schemas.microsoft.com/office/drawing/2014/main" val="20005"/>
                    </a:ext>
                  </a:extLst>
                </a:gridCol>
                <a:gridCol w="608061">
                  <a:extLst>
                    <a:ext uri="{9D8B030D-6E8A-4147-A177-3AD203B41FA5}">
                      <a16:colId xmlns:a16="http://schemas.microsoft.com/office/drawing/2014/main" val="20006"/>
                    </a:ext>
                  </a:extLst>
                </a:gridCol>
                <a:gridCol w="608061">
                  <a:extLst>
                    <a:ext uri="{9D8B030D-6E8A-4147-A177-3AD203B41FA5}">
                      <a16:colId xmlns:a16="http://schemas.microsoft.com/office/drawing/2014/main" val="20007"/>
                    </a:ext>
                  </a:extLst>
                </a:gridCol>
                <a:gridCol w="608061">
                  <a:extLst>
                    <a:ext uri="{9D8B030D-6E8A-4147-A177-3AD203B41FA5}">
                      <a16:colId xmlns:a16="http://schemas.microsoft.com/office/drawing/2014/main" val="20008"/>
                    </a:ext>
                  </a:extLst>
                </a:gridCol>
                <a:gridCol w="608061">
                  <a:extLst>
                    <a:ext uri="{9D8B030D-6E8A-4147-A177-3AD203B41FA5}">
                      <a16:colId xmlns:a16="http://schemas.microsoft.com/office/drawing/2014/main" val="20009"/>
                    </a:ext>
                  </a:extLst>
                </a:gridCol>
                <a:gridCol w="608061">
                  <a:extLst>
                    <a:ext uri="{9D8B030D-6E8A-4147-A177-3AD203B41FA5}">
                      <a16:colId xmlns:a16="http://schemas.microsoft.com/office/drawing/2014/main" val="20010"/>
                    </a:ext>
                  </a:extLst>
                </a:gridCol>
                <a:gridCol w="608061">
                  <a:extLst>
                    <a:ext uri="{9D8B030D-6E8A-4147-A177-3AD203B41FA5}">
                      <a16:colId xmlns:a16="http://schemas.microsoft.com/office/drawing/2014/main" val="20011"/>
                    </a:ext>
                  </a:extLst>
                </a:gridCol>
                <a:gridCol w="608061">
                  <a:extLst>
                    <a:ext uri="{9D8B030D-6E8A-4147-A177-3AD203B41FA5}">
                      <a16:colId xmlns:a16="http://schemas.microsoft.com/office/drawing/2014/main" val="20012"/>
                    </a:ext>
                  </a:extLst>
                </a:gridCol>
                <a:gridCol w="608061">
                  <a:extLst>
                    <a:ext uri="{9D8B030D-6E8A-4147-A177-3AD203B41FA5}">
                      <a16:colId xmlns:a16="http://schemas.microsoft.com/office/drawing/2014/main" val="20013"/>
                    </a:ext>
                  </a:extLst>
                </a:gridCol>
                <a:gridCol w="608061">
                  <a:extLst>
                    <a:ext uri="{9D8B030D-6E8A-4147-A177-3AD203B41FA5}">
                      <a16:colId xmlns:a16="http://schemas.microsoft.com/office/drawing/2014/main" val="20014"/>
                    </a:ext>
                  </a:extLst>
                </a:gridCol>
              </a:tblGrid>
              <a:tr h="370840">
                <a:tc>
                  <a:txBody>
                    <a:bodyPr/>
                    <a:lstStyle/>
                    <a:p>
                      <a:pPr algn="ctr"/>
                      <a:r>
                        <a:rPr lang="en-US" sz="2800" dirty="0"/>
                        <a:t>A</a:t>
                      </a:r>
                      <a:endParaRPr lang="en-IN" sz="2800" dirty="0"/>
                    </a:p>
                  </a:txBody>
                  <a:tcPr/>
                </a:tc>
                <a:tc>
                  <a:txBody>
                    <a:bodyPr/>
                    <a:lstStyle/>
                    <a:p>
                      <a:pPr algn="ctr"/>
                      <a:r>
                        <a:rPr lang="en-US" sz="2800" dirty="0"/>
                        <a:t>B</a:t>
                      </a:r>
                      <a:endParaRPr lang="en-IN" sz="2800" dirty="0"/>
                    </a:p>
                  </a:txBody>
                  <a:tcPr/>
                </a:tc>
                <a:tc>
                  <a:txBody>
                    <a:bodyPr/>
                    <a:lstStyle/>
                    <a:p>
                      <a:pPr algn="ctr"/>
                      <a:r>
                        <a:rPr lang="en-US" sz="2800" dirty="0">
                          <a:solidFill>
                            <a:schemeClr val="bg1"/>
                          </a:solidFill>
                        </a:rPr>
                        <a:t>A</a:t>
                      </a:r>
                      <a:endParaRPr lang="en-IN" sz="2800" dirty="0">
                        <a:solidFill>
                          <a:schemeClr val="bg1"/>
                        </a:solidFill>
                      </a:endParaRPr>
                    </a:p>
                  </a:txBody>
                  <a:tcPr>
                    <a:solidFill>
                      <a:schemeClr val="tx2">
                        <a:lumMod val="50000"/>
                      </a:schemeClr>
                    </a:solidFill>
                  </a:tcPr>
                </a:tc>
                <a:tc>
                  <a:txBody>
                    <a:bodyPr/>
                    <a:lstStyle/>
                    <a:p>
                      <a:pPr algn="ctr"/>
                      <a:r>
                        <a:rPr lang="en-US" sz="2800" dirty="0">
                          <a:solidFill>
                            <a:schemeClr val="bg1"/>
                          </a:solidFill>
                        </a:rPr>
                        <a:t>B</a:t>
                      </a:r>
                      <a:endParaRPr lang="en-IN" sz="2800" dirty="0">
                        <a:solidFill>
                          <a:schemeClr val="bg1"/>
                        </a:solidFill>
                      </a:endParaRPr>
                    </a:p>
                  </a:txBody>
                  <a:tcPr>
                    <a:solidFill>
                      <a:schemeClr val="tx2">
                        <a:lumMod val="50000"/>
                      </a:schemeClr>
                    </a:solidFill>
                  </a:tcPr>
                </a:tc>
                <a:tc>
                  <a:txBody>
                    <a:bodyPr/>
                    <a:lstStyle/>
                    <a:p>
                      <a:pPr algn="ctr"/>
                      <a:r>
                        <a:rPr lang="en-US" sz="2800" dirty="0">
                          <a:solidFill>
                            <a:schemeClr val="bg1"/>
                          </a:solidFill>
                        </a:rPr>
                        <a:t>C</a:t>
                      </a:r>
                      <a:endParaRPr lang="en-IN" sz="2800" dirty="0">
                        <a:solidFill>
                          <a:schemeClr val="bg1"/>
                        </a:solidFill>
                      </a:endParaRPr>
                    </a:p>
                  </a:txBody>
                  <a:tcPr>
                    <a:solidFill>
                      <a:schemeClr val="tx2">
                        <a:lumMod val="50000"/>
                      </a:schemeClr>
                    </a:solidFill>
                  </a:tcPr>
                </a:tc>
                <a:tc>
                  <a:txBody>
                    <a:bodyPr/>
                    <a:lstStyle/>
                    <a:p>
                      <a:pPr algn="ctr"/>
                      <a:r>
                        <a:rPr lang="en-US" sz="2800" dirty="0"/>
                        <a:t>A</a:t>
                      </a:r>
                      <a:endParaRPr lang="en-IN" sz="2800" dirty="0"/>
                    </a:p>
                  </a:txBody>
                  <a:tcPr/>
                </a:tc>
                <a:tc>
                  <a:txBody>
                    <a:bodyPr/>
                    <a:lstStyle/>
                    <a:p>
                      <a:pPr algn="ctr"/>
                      <a:r>
                        <a:rPr lang="en-US" sz="2800" dirty="0"/>
                        <a:t>B</a:t>
                      </a:r>
                      <a:endParaRPr lang="en-IN" sz="2800" dirty="0"/>
                    </a:p>
                  </a:txBody>
                  <a:tcPr/>
                </a:tc>
                <a:tc>
                  <a:txBody>
                    <a:bodyPr/>
                    <a:lstStyle/>
                    <a:p>
                      <a:pPr algn="ctr"/>
                      <a:r>
                        <a:rPr lang="en-US" sz="2800" dirty="0"/>
                        <a:t>D</a:t>
                      </a:r>
                      <a:endParaRPr lang="en-IN" sz="2800" dirty="0"/>
                    </a:p>
                  </a:txBody>
                  <a:tcPr/>
                </a:tc>
                <a:tc>
                  <a:txBody>
                    <a:bodyPr/>
                    <a:lstStyle/>
                    <a:p>
                      <a:pPr algn="ctr"/>
                      <a:r>
                        <a:rPr lang="en-US" sz="2800" dirty="0"/>
                        <a:t>A</a:t>
                      </a:r>
                      <a:endParaRPr lang="en-IN" sz="2800" dirty="0"/>
                    </a:p>
                  </a:txBody>
                  <a:tcPr>
                    <a:solidFill>
                      <a:schemeClr val="tx1"/>
                    </a:solidFill>
                  </a:tcPr>
                </a:tc>
                <a:tc>
                  <a:txBody>
                    <a:bodyPr/>
                    <a:lstStyle/>
                    <a:p>
                      <a:pPr algn="ctr"/>
                      <a:r>
                        <a:rPr lang="en-US" sz="2800" dirty="0"/>
                        <a:t>B</a:t>
                      </a:r>
                      <a:endParaRPr lang="en-IN" sz="2800" dirty="0"/>
                    </a:p>
                  </a:txBody>
                  <a:tcPr>
                    <a:solidFill>
                      <a:schemeClr val="tx1"/>
                    </a:solidFill>
                  </a:tcPr>
                </a:tc>
                <a:tc>
                  <a:txBody>
                    <a:bodyPr/>
                    <a:lstStyle/>
                    <a:p>
                      <a:pPr algn="ctr"/>
                      <a:r>
                        <a:rPr lang="en-US" sz="2800" dirty="0"/>
                        <a:t>C</a:t>
                      </a:r>
                      <a:endParaRPr lang="en-IN" sz="2800" dirty="0"/>
                    </a:p>
                  </a:txBody>
                  <a:tcPr>
                    <a:solidFill>
                      <a:schemeClr val="tx1"/>
                    </a:solidFill>
                  </a:tcPr>
                </a:tc>
                <a:tc>
                  <a:txBody>
                    <a:bodyPr/>
                    <a:lstStyle/>
                    <a:p>
                      <a:pPr algn="ctr"/>
                      <a:r>
                        <a:rPr lang="en-US" sz="2800" dirty="0"/>
                        <a:t>A</a:t>
                      </a:r>
                      <a:endParaRPr lang="en-IN" sz="2800" dirty="0"/>
                    </a:p>
                  </a:txBody>
                  <a:tcPr/>
                </a:tc>
                <a:tc>
                  <a:txBody>
                    <a:bodyPr/>
                    <a:lstStyle/>
                    <a:p>
                      <a:pPr algn="ctr"/>
                      <a:r>
                        <a:rPr lang="en-US" sz="2800" dirty="0"/>
                        <a:t>A</a:t>
                      </a:r>
                      <a:endParaRPr lang="en-IN" sz="2800" dirty="0"/>
                    </a:p>
                  </a:txBody>
                  <a:tcPr>
                    <a:solidFill>
                      <a:schemeClr val="tx1"/>
                    </a:solidFill>
                  </a:tcPr>
                </a:tc>
                <a:tc>
                  <a:txBody>
                    <a:bodyPr/>
                    <a:lstStyle/>
                    <a:p>
                      <a:pPr algn="ctr"/>
                      <a:r>
                        <a:rPr lang="en-US" sz="2800" dirty="0"/>
                        <a:t>B</a:t>
                      </a:r>
                      <a:endParaRPr lang="en-IN" sz="2800" dirty="0"/>
                    </a:p>
                  </a:txBody>
                  <a:tcPr>
                    <a:solidFill>
                      <a:schemeClr val="tx1"/>
                    </a:solidFill>
                  </a:tcPr>
                </a:tc>
                <a:tc>
                  <a:txBody>
                    <a:bodyPr/>
                    <a:lstStyle/>
                    <a:p>
                      <a:pPr algn="ctr"/>
                      <a:r>
                        <a:rPr lang="en-US" sz="2800" dirty="0"/>
                        <a:t>C</a:t>
                      </a:r>
                      <a:endParaRPr lang="en-IN" sz="2800" dirty="0"/>
                    </a:p>
                  </a:txBody>
                  <a:tcPr>
                    <a:solidFill>
                      <a:schemeClr val="tx1"/>
                    </a:solidFill>
                  </a:tcPr>
                </a:tc>
                <a:extLst>
                  <a:ext uri="{0D108BD9-81ED-4DB2-BD59-A6C34878D82A}">
                    <a16:rowId xmlns:a16="http://schemas.microsoft.com/office/drawing/2014/main" val="10000"/>
                  </a:ext>
                </a:extLst>
              </a:tr>
              <a:tr h="370840">
                <a:tc>
                  <a:txBody>
                    <a:bodyPr/>
                    <a:lstStyle/>
                    <a:p>
                      <a:pPr algn="ctr"/>
                      <a:r>
                        <a:rPr lang="en-US" sz="2800" dirty="0"/>
                        <a:t>0</a:t>
                      </a:r>
                      <a:endParaRPr lang="en-IN" sz="2800" dirty="0"/>
                    </a:p>
                  </a:txBody>
                  <a:tcPr/>
                </a:tc>
                <a:tc>
                  <a:txBody>
                    <a:bodyPr/>
                    <a:lstStyle/>
                    <a:p>
                      <a:pPr algn="ctr"/>
                      <a:r>
                        <a:rPr lang="en-US" sz="2800" dirty="0"/>
                        <a:t>1</a:t>
                      </a:r>
                      <a:endParaRPr lang="en-IN" sz="2800" dirty="0"/>
                    </a:p>
                  </a:txBody>
                  <a:tcPr/>
                </a:tc>
                <a:tc>
                  <a:txBody>
                    <a:bodyPr/>
                    <a:lstStyle/>
                    <a:p>
                      <a:pPr algn="ctr"/>
                      <a:r>
                        <a:rPr lang="en-US" sz="2800" dirty="0"/>
                        <a:t>2</a:t>
                      </a:r>
                      <a:endParaRPr lang="en-IN" sz="2800" dirty="0"/>
                    </a:p>
                  </a:txBody>
                  <a:tcPr/>
                </a:tc>
                <a:tc>
                  <a:txBody>
                    <a:bodyPr/>
                    <a:lstStyle/>
                    <a:p>
                      <a:pPr algn="ctr"/>
                      <a:r>
                        <a:rPr lang="en-US" sz="2800" dirty="0"/>
                        <a:t>3</a:t>
                      </a:r>
                      <a:endParaRPr lang="en-IN" sz="2800" dirty="0"/>
                    </a:p>
                  </a:txBody>
                  <a:tcPr/>
                </a:tc>
                <a:tc>
                  <a:txBody>
                    <a:bodyPr/>
                    <a:lstStyle/>
                    <a:p>
                      <a:pPr algn="ctr"/>
                      <a:r>
                        <a:rPr lang="en-US" sz="2800" dirty="0"/>
                        <a:t>4</a:t>
                      </a:r>
                      <a:endParaRPr lang="en-IN" sz="2800" dirty="0"/>
                    </a:p>
                  </a:txBody>
                  <a:tcPr/>
                </a:tc>
                <a:tc>
                  <a:txBody>
                    <a:bodyPr/>
                    <a:lstStyle/>
                    <a:p>
                      <a:pPr algn="ctr"/>
                      <a:r>
                        <a:rPr lang="en-US" sz="2800" dirty="0"/>
                        <a:t>5</a:t>
                      </a:r>
                      <a:endParaRPr lang="en-IN" sz="2800" dirty="0"/>
                    </a:p>
                  </a:txBody>
                  <a:tcPr/>
                </a:tc>
                <a:tc>
                  <a:txBody>
                    <a:bodyPr/>
                    <a:lstStyle/>
                    <a:p>
                      <a:pPr algn="ctr"/>
                      <a:r>
                        <a:rPr lang="en-US" sz="2800" dirty="0"/>
                        <a:t>6</a:t>
                      </a:r>
                      <a:endParaRPr lang="en-IN" sz="2800" dirty="0"/>
                    </a:p>
                  </a:txBody>
                  <a:tcPr/>
                </a:tc>
                <a:tc>
                  <a:txBody>
                    <a:bodyPr/>
                    <a:lstStyle/>
                    <a:p>
                      <a:pPr algn="ctr"/>
                      <a:r>
                        <a:rPr lang="en-US" sz="2800" dirty="0"/>
                        <a:t>7</a:t>
                      </a:r>
                      <a:endParaRPr lang="en-IN" sz="2800" dirty="0"/>
                    </a:p>
                  </a:txBody>
                  <a:tcPr/>
                </a:tc>
                <a:tc>
                  <a:txBody>
                    <a:bodyPr/>
                    <a:lstStyle/>
                    <a:p>
                      <a:pPr algn="ctr"/>
                      <a:r>
                        <a:rPr lang="en-US" sz="2800" dirty="0"/>
                        <a:t>8</a:t>
                      </a:r>
                      <a:endParaRPr lang="en-IN" sz="2800" dirty="0"/>
                    </a:p>
                  </a:txBody>
                  <a:tcPr/>
                </a:tc>
                <a:tc>
                  <a:txBody>
                    <a:bodyPr/>
                    <a:lstStyle/>
                    <a:p>
                      <a:pPr algn="ctr"/>
                      <a:r>
                        <a:rPr lang="en-US" sz="2800" dirty="0"/>
                        <a:t>9</a:t>
                      </a:r>
                      <a:endParaRPr lang="en-IN" sz="2800" dirty="0"/>
                    </a:p>
                  </a:txBody>
                  <a:tcPr/>
                </a:tc>
                <a:tc>
                  <a:txBody>
                    <a:bodyPr/>
                    <a:lstStyle/>
                    <a:p>
                      <a:pPr algn="ctr"/>
                      <a:r>
                        <a:rPr lang="en-US" sz="2800" dirty="0"/>
                        <a:t>10</a:t>
                      </a:r>
                      <a:endParaRPr lang="en-IN" sz="2800" dirty="0"/>
                    </a:p>
                  </a:txBody>
                  <a:tcPr/>
                </a:tc>
                <a:tc>
                  <a:txBody>
                    <a:bodyPr/>
                    <a:lstStyle/>
                    <a:p>
                      <a:pPr algn="ctr"/>
                      <a:r>
                        <a:rPr lang="en-US" sz="2800" dirty="0"/>
                        <a:t>11</a:t>
                      </a:r>
                      <a:endParaRPr lang="en-IN" sz="2800" dirty="0"/>
                    </a:p>
                  </a:txBody>
                  <a:tcPr/>
                </a:tc>
                <a:tc>
                  <a:txBody>
                    <a:bodyPr/>
                    <a:lstStyle/>
                    <a:p>
                      <a:pPr algn="ctr"/>
                      <a:r>
                        <a:rPr lang="en-US" sz="2800" dirty="0"/>
                        <a:t>12</a:t>
                      </a:r>
                      <a:endParaRPr lang="en-IN" sz="2800" dirty="0"/>
                    </a:p>
                  </a:txBody>
                  <a:tcPr/>
                </a:tc>
                <a:tc>
                  <a:txBody>
                    <a:bodyPr/>
                    <a:lstStyle/>
                    <a:p>
                      <a:pPr algn="ctr"/>
                      <a:r>
                        <a:rPr lang="en-US" sz="2800" dirty="0"/>
                        <a:t>13</a:t>
                      </a:r>
                      <a:endParaRPr lang="en-IN" sz="2800" dirty="0"/>
                    </a:p>
                  </a:txBody>
                  <a:tcPr/>
                </a:tc>
                <a:tc>
                  <a:txBody>
                    <a:bodyPr/>
                    <a:lstStyle/>
                    <a:p>
                      <a:pPr algn="ctr"/>
                      <a:r>
                        <a:rPr lang="en-US" sz="2800" dirty="0"/>
                        <a:t>14</a:t>
                      </a:r>
                      <a:endParaRPr lang="en-IN" sz="2800"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239976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dirty="0">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6</a:t>
            </a:fld>
            <a:endParaRPr lang="en-AU"/>
          </a:p>
        </p:txBody>
      </p:sp>
      <p:sp>
        <p:nvSpPr>
          <p:cNvPr id="4" name="Rectangle 3"/>
          <p:cNvSpPr/>
          <p:nvPr/>
        </p:nvSpPr>
        <p:spPr>
          <a:xfrm>
            <a:off x="2424332" y="228804"/>
            <a:ext cx="7498977" cy="593304"/>
          </a:xfrm>
          <a:prstGeom prst="rect">
            <a:avLst/>
          </a:prstGeom>
        </p:spPr>
        <p:txBody>
          <a:bodyPr wrap="none">
            <a:spAutoFit/>
          </a:bodyPr>
          <a:lstStyle/>
          <a:p>
            <a:pPr algn="ctr">
              <a:lnSpc>
                <a:spcPct val="107000"/>
              </a:lnSpc>
            </a:pPr>
            <a:r>
              <a:rPr lang="en-US" sz="3200" b="1" kern="100" dirty="0">
                <a:latin typeface="Times New Roman" panose="02020603050405020304" pitchFamily="18" charset="0"/>
                <a:ea typeface="Calibri" panose="020F0502020204030204" pitchFamily="34" charset="0"/>
                <a:cs typeface="Times New Roman" panose="02020603050405020304" pitchFamily="18" charset="0"/>
              </a:rPr>
              <a:t>Naive String Pattern Matching Algorithm</a:t>
            </a:r>
            <a:endParaRPr lang="en-US"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138544" y="940469"/>
            <a:ext cx="11628679" cy="5286062"/>
          </a:xfrm>
          <a:prstGeom prst="rect">
            <a:avLst/>
          </a:prstGeom>
        </p:spPr>
        <p:txBody>
          <a:bodyPr wrap="square">
            <a:spAutoFit/>
          </a:bodyPr>
          <a:lstStyle/>
          <a:p>
            <a:pPr marL="342900" indent="-342900" algn="just">
              <a:lnSpc>
                <a:spcPct val="150000"/>
              </a:lnSpc>
              <a:buFont typeface="Arial" pitchFamily="34" charset="0"/>
              <a:buChar char="•"/>
            </a:pPr>
            <a:r>
              <a:rPr lang="en-US" sz="2500" kern="100" dirty="0">
                <a:solidFill>
                  <a:srgbClr val="0A0A0A"/>
                </a:solidFill>
                <a:latin typeface="Times New Roman" panose="02020603050405020304" pitchFamily="18" charset="0"/>
                <a:ea typeface="Calibri" panose="020F0502020204030204" pitchFamily="34" charset="0"/>
                <a:cs typeface="Times New Roman" panose="02020603050405020304" pitchFamily="18" charset="0"/>
              </a:rPr>
              <a:t>The </a:t>
            </a:r>
            <a:r>
              <a:rPr lang="en-US" sz="2500" kern="100" dirty="0">
                <a:latin typeface="Times New Roman" panose="02020603050405020304" pitchFamily="18" charset="0"/>
                <a:ea typeface="Calibri" panose="020F0502020204030204" pitchFamily="34" charset="0"/>
                <a:cs typeface="Times New Roman" panose="02020603050405020304" pitchFamily="18" charset="0"/>
              </a:rPr>
              <a:t>naive string matching algorithm is </a:t>
            </a:r>
            <a:r>
              <a:rPr lang="en-US" sz="2500" kern="100" dirty="0">
                <a:solidFill>
                  <a:srgbClr val="0A0A0A"/>
                </a:solidFill>
                <a:latin typeface="Times New Roman" panose="02020603050405020304" pitchFamily="18" charset="0"/>
                <a:ea typeface="Calibri" panose="020F0502020204030204" pitchFamily="34" charset="0"/>
                <a:cs typeface="Times New Roman" panose="02020603050405020304" pitchFamily="18" charset="0"/>
              </a:rPr>
              <a:t>the simplest, brute-force method for finding all occurrences of a specific pattern within a larger text</a:t>
            </a:r>
            <a:r>
              <a:rPr lang="en-US" sz="2500" kern="100" dirty="0">
                <a:latin typeface="Times New Roman" panose="02020603050405020304" pitchFamily="18" charset="0"/>
                <a:ea typeface="Calibri" panose="020F0502020204030204" pitchFamily="34" charset="0"/>
                <a:cs typeface="Times New Roman" panose="02020603050405020304" pitchFamily="18" charset="0"/>
              </a:rPr>
              <a:t>. </a:t>
            </a:r>
            <a:endParaRPr lang="en-US" sz="2500" kern="100" dirty="0">
              <a:solidFill>
                <a:srgbClr val="0A0A0A"/>
              </a:solidFill>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buFont typeface="Arial" pitchFamily="34" charset="0"/>
              <a:buChar char="•"/>
            </a:pPr>
            <a:r>
              <a:rPr lang="en-US" sz="2500" kern="100" dirty="0">
                <a:solidFill>
                  <a:srgbClr val="0A0A0A"/>
                </a:solidFill>
                <a:latin typeface="Times New Roman" panose="02020603050405020304" pitchFamily="18" charset="0"/>
                <a:ea typeface="Calibri" panose="020F0502020204030204" pitchFamily="34" charset="0"/>
                <a:cs typeface="Times New Roman" panose="02020603050405020304" pitchFamily="18" charset="0"/>
              </a:rPr>
              <a:t>It does not use any information from previous comparisons, simply shifting the pattern by one character after a mismatch or a successful match. </a:t>
            </a:r>
            <a:endParaRPr lang="en-US" sz="2500" kern="1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buFont typeface="Arial" pitchFamily="34" charset="0"/>
              <a:buChar char="•"/>
            </a:pPr>
            <a:r>
              <a:rPr lang="en-US" sz="25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Like brute force, it also checks for all characters of the main string in order to find the pattern. Hence, its time complexity is </a:t>
            </a:r>
            <a:r>
              <a:rPr lang="en-US" sz="25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O(</a:t>
            </a:r>
            <a:r>
              <a:rPr lang="en-US" sz="2500" b="1"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mn</a:t>
            </a:r>
            <a:r>
              <a:rPr lang="en-US" sz="25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25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where the 'm' is the size of pattern and 'n' is the size of the main string. This algorithm is helpful for smaller texts only.</a:t>
            </a:r>
            <a:endParaRPr lang="en-US" sz="25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just">
              <a:lnSpc>
                <a:spcPct val="150000"/>
              </a:lnSpc>
              <a:buFont typeface="Arial" pitchFamily="34" charset="0"/>
              <a:buChar char="•"/>
            </a:pPr>
            <a:r>
              <a:rPr lang="en-US" sz="25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 naive pattern searching algorithm does not require any pre-processing phases. </a:t>
            </a:r>
          </a:p>
          <a:p>
            <a:pPr marL="342900" indent="-342900" algn="just">
              <a:lnSpc>
                <a:spcPct val="150000"/>
              </a:lnSpc>
              <a:buFont typeface="Arial" pitchFamily="34" charset="0"/>
              <a:buChar char="•"/>
            </a:pPr>
            <a:r>
              <a:rPr lang="en-US" sz="25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It does not occupy extra space to perform the operation. </a:t>
            </a:r>
          </a:p>
        </p:txBody>
      </p:sp>
    </p:spTree>
    <p:extLst>
      <p:ext uri="{BB962C8B-B14F-4D97-AF65-F5344CB8AC3E}">
        <p14:creationId xmlns:p14="http://schemas.microsoft.com/office/powerpoint/2010/main" val="797879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dirty="0">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7</a:t>
            </a:fld>
            <a:endParaRPr lang="en-AU"/>
          </a:p>
        </p:txBody>
      </p:sp>
      <p:graphicFrame>
        <p:nvGraphicFramePr>
          <p:cNvPr id="4" name="Table 3"/>
          <p:cNvGraphicFramePr>
            <a:graphicFrameLocks noGrp="1"/>
          </p:cNvGraphicFramePr>
          <p:nvPr>
            <p:extLst>
              <p:ext uri="{D42A27DB-BD31-4B8C-83A1-F6EECF244321}">
                <p14:modId xmlns:p14="http://schemas.microsoft.com/office/powerpoint/2010/main" val="176753096"/>
              </p:ext>
            </p:extLst>
          </p:nvPr>
        </p:nvGraphicFramePr>
        <p:xfrm>
          <a:off x="652463" y="1630363"/>
          <a:ext cx="10656887" cy="2484438"/>
        </p:xfrm>
        <a:graphic>
          <a:graphicData uri="http://schemas.openxmlformats.org/drawingml/2006/table">
            <a:tbl>
              <a:tblPr firstRow="1" bandRow="1">
                <a:tableStyleId>{5940675A-B579-460E-94D1-54222C63F5DA}</a:tableStyleId>
              </a:tblPr>
              <a:tblGrid>
                <a:gridCol w="2737950">
                  <a:extLst>
                    <a:ext uri="{9D8B030D-6E8A-4147-A177-3AD203B41FA5}">
                      <a16:colId xmlns:a16="http://schemas.microsoft.com/office/drawing/2014/main" val="20000"/>
                    </a:ext>
                  </a:extLst>
                </a:gridCol>
                <a:gridCol w="4366641">
                  <a:extLst>
                    <a:ext uri="{9D8B030D-6E8A-4147-A177-3AD203B41FA5}">
                      <a16:colId xmlns:a16="http://schemas.microsoft.com/office/drawing/2014/main" val="20001"/>
                    </a:ext>
                  </a:extLst>
                </a:gridCol>
                <a:gridCol w="3552296">
                  <a:extLst>
                    <a:ext uri="{9D8B030D-6E8A-4147-A177-3AD203B41FA5}">
                      <a16:colId xmlns:a16="http://schemas.microsoft.com/office/drawing/2014/main" val="20002"/>
                    </a:ext>
                  </a:extLst>
                </a:gridCol>
              </a:tblGrid>
              <a:tr h="1015530">
                <a:tc>
                  <a:txBody>
                    <a:bodyPr/>
                    <a:lstStyle/>
                    <a:p>
                      <a:r>
                        <a:rPr lang="en-US" sz="3000" b="0" dirty="0"/>
                        <a:t>Text</a:t>
                      </a:r>
                    </a:p>
                  </a:txBody>
                  <a:tcPr marL="91437" marR="91437" marT="45702" marB="45702"/>
                </a:tc>
                <a:tc>
                  <a:txBody>
                    <a:bodyPr/>
                    <a:lstStyle/>
                    <a:p>
                      <a:r>
                        <a:rPr lang="en-US" sz="3000" b="0" dirty="0"/>
                        <a:t>a  b  c  d  a  b  f  a  b  e  g </a:t>
                      </a:r>
                    </a:p>
                  </a:txBody>
                  <a:tcPr marL="91437" marR="91437" marT="45702" marB="45702"/>
                </a:tc>
                <a:tc>
                  <a:txBody>
                    <a:bodyPr/>
                    <a:lstStyle/>
                    <a:p>
                      <a:r>
                        <a:rPr lang="en-US" sz="3000" b="0" dirty="0"/>
                        <a:t>No of comparisons</a:t>
                      </a:r>
                    </a:p>
                  </a:txBody>
                  <a:tcPr marL="91437" marR="91437" marT="45702" marB="45702"/>
                </a:tc>
                <a:extLst>
                  <a:ext uri="{0D108BD9-81ED-4DB2-BD59-A6C34878D82A}">
                    <a16:rowId xmlns:a16="http://schemas.microsoft.com/office/drawing/2014/main" val="10000"/>
                  </a:ext>
                </a:extLst>
              </a:tr>
              <a:tr h="734454">
                <a:tc>
                  <a:txBody>
                    <a:bodyPr/>
                    <a:lstStyle/>
                    <a:p>
                      <a:r>
                        <a:rPr lang="en-US" sz="3000" b="0" dirty="0"/>
                        <a:t>1</a:t>
                      </a:r>
                      <a:r>
                        <a:rPr lang="en-US" sz="3000" b="0" baseline="30000" dirty="0"/>
                        <a:t>st</a:t>
                      </a:r>
                      <a:r>
                        <a:rPr lang="en-US" sz="3000" b="0" dirty="0"/>
                        <a:t> iteration</a:t>
                      </a:r>
                    </a:p>
                  </a:txBody>
                  <a:tcPr marL="91437" marR="91437" marT="45702" marB="45702"/>
                </a:tc>
                <a:tc>
                  <a:txBody>
                    <a:bodyPr/>
                    <a:lstStyle/>
                    <a:p>
                      <a:r>
                        <a:rPr lang="en-US" sz="3000" b="0" dirty="0"/>
                        <a:t>a  b  e</a:t>
                      </a:r>
                    </a:p>
                  </a:txBody>
                  <a:tcPr marL="91437" marR="91437" marT="45702" marB="45702"/>
                </a:tc>
                <a:tc>
                  <a:txBody>
                    <a:bodyPr/>
                    <a:lstStyle/>
                    <a:p>
                      <a:r>
                        <a:rPr lang="en-US" sz="3000" b="0" dirty="0"/>
                        <a:t>3</a:t>
                      </a:r>
                    </a:p>
                  </a:txBody>
                  <a:tcPr marL="91437" marR="91437" marT="45702" marB="45702"/>
                </a:tc>
                <a:extLst>
                  <a:ext uri="{0D108BD9-81ED-4DB2-BD59-A6C34878D82A}">
                    <a16:rowId xmlns:a16="http://schemas.microsoft.com/office/drawing/2014/main" val="10001"/>
                  </a:ext>
                </a:extLst>
              </a:tr>
              <a:tr h="734454">
                <a:tc>
                  <a:txBody>
                    <a:bodyPr/>
                    <a:lstStyle/>
                    <a:p>
                      <a:r>
                        <a:rPr lang="en-US" sz="3000" b="0" dirty="0"/>
                        <a:t>2</a:t>
                      </a:r>
                      <a:r>
                        <a:rPr lang="en-US" sz="3000" b="0" baseline="30000" dirty="0"/>
                        <a:t>nd</a:t>
                      </a:r>
                      <a:endParaRPr lang="en-US" sz="3000" b="0" dirty="0"/>
                    </a:p>
                  </a:txBody>
                  <a:tcPr marL="91437" marR="91437" marT="45702" marB="45702"/>
                </a:tc>
                <a:tc>
                  <a:txBody>
                    <a:bodyPr/>
                    <a:lstStyle/>
                    <a:p>
                      <a:r>
                        <a:rPr lang="en-US" sz="3000" b="0" dirty="0"/>
                        <a:t>    a   b  e</a:t>
                      </a:r>
                    </a:p>
                  </a:txBody>
                  <a:tcPr marL="91437" marR="91437" marT="45702" marB="45702"/>
                </a:tc>
                <a:tc>
                  <a:txBody>
                    <a:bodyPr/>
                    <a:lstStyle/>
                    <a:p>
                      <a:r>
                        <a:rPr lang="en-US" sz="3000" b="0" dirty="0"/>
                        <a:t>1</a:t>
                      </a:r>
                    </a:p>
                  </a:txBody>
                  <a:tcPr marL="91437" marR="91437" marT="45702" marB="45702"/>
                </a:tc>
                <a:extLst>
                  <a:ext uri="{0D108BD9-81ED-4DB2-BD59-A6C34878D82A}">
                    <a16:rowId xmlns:a16="http://schemas.microsoft.com/office/drawing/2014/main" val="10002"/>
                  </a:ext>
                </a:extLst>
              </a:tr>
            </a:tbl>
          </a:graphicData>
        </a:graphic>
      </p:graphicFrame>
      <p:sp>
        <p:nvSpPr>
          <p:cNvPr id="5" name="TextBox 4"/>
          <p:cNvSpPr txBox="1">
            <a:spLocks noChangeArrowheads="1"/>
          </p:cNvSpPr>
          <p:nvPr/>
        </p:nvSpPr>
        <p:spPr bwMode="auto">
          <a:xfrm>
            <a:off x="746125" y="1052513"/>
            <a:ext cx="104695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800" dirty="0"/>
              <a:t>Text: a  b  c  d  a  b  f  a  b  e  g                            Pattern: </a:t>
            </a:r>
            <a:r>
              <a:rPr lang="en-US" altLang="en-US" sz="2800" dirty="0" err="1"/>
              <a:t>abe</a:t>
            </a:r>
            <a:r>
              <a:rPr lang="en-US" altLang="en-US" sz="2800" dirty="0"/>
              <a:t>  </a:t>
            </a:r>
          </a:p>
        </p:txBody>
      </p:sp>
      <p:cxnSp>
        <p:nvCxnSpPr>
          <p:cNvPr id="7" name="Straight Connector 6"/>
          <p:cNvCxnSpPr/>
          <p:nvPr/>
        </p:nvCxnSpPr>
        <p:spPr>
          <a:xfrm>
            <a:off x="3503613" y="2060575"/>
            <a:ext cx="0" cy="694603"/>
          </a:xfrm>
          <a:prstGeom prst="line">
            <a:avLst/>
          </a:prstGeom>
        </p:spPr>
        <p:style>
          <a:lnRef idx="3">
            <a:schemeClr val="accent1"/>
          </a:lnRef>
          <a:fillRef idx="0">
            <a:schemeClr val="accent1"/>
          </a:fillRef>
          <a:effectRef idx="2">
            <a:schemeClr val="accent1"/>
          </a:effectRef>
          <a:fontRef idx="minor">
            <a:schemeClr val="tx1"/>
          </a:fontRef>
        </p:style>
      </p:cxnSp>
      <p:cxnSp>
        <p:nvCxnSpPr>
          <p:cNvPr id="8" name="Straight Connector 7"/>
          <p:cNvCxnSpPr>
            <a:cxnSpLocks/>
          </p:cNvCxnSpPr>
          <p:nvPr/>
        </p:nvCxnSpPr>
        <p:spPr>
          <a:xfrm>
            <a:off x="3863975" y="2060575"/>
            <a:ext cx="0" cy="1500043"/>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46540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dirty="0">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8</a:t>
            </a:fld>
            <a:endParaRPr lang="en-AU"/>
          </a:p>
        </p:txBody>
      </p:sp>
      <p:graphicFrame>
        <p:nvGraphicFramePr>
          <p:cNvPr id="4" name="Table 3"/>
          <p:cNvGraphicFramePr>
            <a:graphicFrameLocks noGrp="1"/>
          </p:cNvGraphicFramePr>
          <p:nvPr>
            <p:extLst>
              <p:ext uri="{D42A27DB-BD31-4B8C-83A1-F6EECF244321}">
                <p14:modId xmlns:p14="http://schemas.microsoft.com/office/powerpoint/2010/main" val="4292963133"/>
              </p:ext>
            </p:extLst>
          </p:nvPr>
        </p:nvGraphicFramePr>
        <p:xfrm>
          <a:off x="652463" y="1630363"/>
          <a:ext cx="10656887" cy="4289433"/>
        </p:xfrm>
        <a:graphic>
          <a:graphicData uri="http://schemas.openxmlformats.org/drawingml/2006/table">
            <a:tbl>
              <a:tblPr firstRow="1" bandRow="1">
                <a:tableStyleId>{5940675A-B579-460E-94D1-54222C63F5DA}</a:tableStyleId>
              </a:tblPr>
              <a:tblGrid>
                <a:gridCol w="2737950">
                  <a:extLst>
                    <a:ext uri="{9D8B030D-6E8A-4147-A177-3AD203B41FA5}">
                      <a16:colId xmlns:a16="http://schemas.microsoft.com/office/drawing/2014/main" val="20000"/>
                    </a:ext>
                  </a:extLst>
                </a:gridCol>
                <a:gridCol w="4366641">
                  <a:extLst>
                    <a:ext uri="{9D8B030D-6E8A-4147-A177-3AD203B41FA5}">
                      <a16:colId xmlns:a16="http://schemas.microsoft.com/office/drawing/2014/main" val="20001"/>
                    </a:ext>
                  </a:extLst>
                </a:gridCol>
                <a:gridCol w="3552296">
                  <a:extLst>
                    <a:ext uri="{9D8B030D-6E8A-4147-A177-3AD203B41FA5}">
                      <a16:colId xmlns:a16="http://schemas.microsoft.com/office/drawing/2014/main" val="20002"/>
                    </a:ext>
                  </a:extLst>
                </a:gridCol>
              </a:tblGrid>
              <a:tr h="632121">
                <a:tc>
                  <a:txBody>
                    <a:bodyPr/>
                    <a:lstStyle/>
                    <a:p>
                      <a:r>
                        <a:rPr lang="en-US" sz="2400" b="0" dirty="0"/>
                        <a:t>Text</a:t>
                      </a:r>
                    </a:p>
                  </a:txBody>
                  <a:tcPr marL="91437" marR="91437" marT="45702" marB="45702"/>
                </a:tc>
                <a:tc>
                  <a:txBody>
                    <a:bodyPr/>
                    <a:lstStyle/>
                    <a:p>
                      <a:r>
                        <a:rPr lang="en-US" sz="2400" b="0" dirty="0"/>
                        <a:t>a  b  c  d  a  b  f  a  b  e  g </a:t>
                      </a:r>
                    </a:p>
                  </a:txBody>
                  <a:tcPr marL="91437" marR="91437" marT="45702" marB="45702"/>
                </a:tc>
                <a:tc>
                  <a:txBody>
                    <a:bodyPr/>
                    <a:lstStyle/>
                    <a:p>
                      <a:r>
                        <a:rPr lang="en-US" sz="2400" b="0" dirty="0"/>
                        <a:t>No of comparisons</a:t>
                      </a:r>
                    </a:p>
                  </a:txBody>
                  <a:tcPr marL="91437" marR="91437" marT="45702" marB="45702"/>
                </a:tc>
                <a:extLst>
                  <a:ext uri="{0D108BD9-81ED-4DB2-BD59-A6C34878D82A}">
                    <a16:rowId xmlns:a16="http://schemas.microsoft.com/office/drawing/2014/main" val="10000"/>
                  </a:ext>
                </a:extLst>
              </a:tr>
              <a:tr h="457163">
                <a:tc>
                  <a:txBody>
                    <a:bodyPr/>
                    <a:lstStyle/>
                    <a:p>
                      <a:r>
                        <a:rPr lang="en-US" sz="2400" b="0" dirty="0"/>
                        <a:t>1</a:t>
                      </a:r>
                      <a:r>
                        <a:rPr lang="en-US" sz="2400" b="0" baseline="30000" dirty="0"/>
                        <a:t>st</a:t>
                      </a:r>
                      <a:r>
                        <a:rPr lang="en-US" sz="2400" b="0" dirty="0"/>
                        <a:t> iteration</a:t>
                      </a:r>
                    </a:p>
                  </a:txBody>
                  <a:tcPr marL="91437" marR="91437" marT="45702" marB="45702"/>
                </a:tc>
                <a:tc>
                  <a:txBody>
                    <a:bodyPr/>
                    <a:lstStyle/>
                    <a:p>
                      <a:r>
                        <a:rPr lang="en-US" sz="2400" b="0" dirty="0"/>
                        <a:t>a  b  e</a:t>
                      </a:r>
                    </a:p>
                  </a:txBody>
                  <a:tcPr marL="91437" marR="91437" marT="45702" marB="45702"/>
                </a:tc>
                <a:tc>
                  <a:txBody>
                    <a:bodyPr/>
                    <a:lstStyle/>
                    <a:p>
                      <a:r>
                        <a:rPr lang="en-US" sz="2400" b="0" dirty="0"/>
                        <a:t>3</a:t>
                      </a:r>
                    </a:p>
                  </a:txBody>
                  <a:tcPr marL="91437" marR="91437" marT="45702" marB="45702"/>
                </a:tc>
                <a:extLst>
                  <a:ext uri="{0D108BD9-81ED-4DB2-BD59-A6C34878D82A}">
                    <a16:rowId xmlns:a16="http://schemas.microsoft.com/office/drawing/2014/main" val="10001"/>
                  </a:ext>
                </a:extLst>
              </a:tr>
              <a:tr h="457163">
                <a:tc>
                  <a:txBody>
                    <a:bodyPr/>
                    <a:lstStyle/>
                    <a:p>
                      <a:r>
                        <a:rPr lang="en-US" sz="2400" b="0" dirty="0"/>
                        <a:t>2</a:t>
                      </a:r>
                      <a:r>
                        <a:rPr lang="en-US" sz="2400" b="0" baseline="30000" dirty="0"/>
                        <a:t>nd</a:t>
                      </a:r>
                      <a:endParaRPr lang="en-US" sz="2400" b="0" dirty="0"/>
                    </a:p>
                  </a:txBody>
                  <a:tcPr marL="91437" marR="91437" marT="45702" marB="45702"/>
                </a:tc>
                <a:tc>
                  <a:txBody>
                    <a:bodyPr/>
                    <a:lstStyle/>
                    <a:p>
                      <a:r>
                        <a:rPr lang="en-US" sz="2400" b="0" dirty="0"/>
                        <a:t>    a   b  e</a:t>
                      </a:r>
                    </a:p>
                  </a:txBody>
                  <a:tcPr marL="91437" marR="91437" marT="45702" marB="45702"/>
                </a:tc>
                <a:tc>
                  <a:txBody>
                    <a:bodyPr/>
                    <a:lstStyle/>
                    <a:p>
                      <a:r>
                        <a:rPr lang="en-US" sz="2400" b="0" dirty="0"/>
                        <a:t>1</a:t>
                      </a:r>
                    </a:p>
                  </a:txBody>
                  <a:tcPr marL="91437" marR="91437" marT="45702" marB="45702"/>
                </a:tc>
                <a:extLst>
                  <a:ext uri="{0D108BD9-81ED-4DB2-BD59-A6C34878D82A}">
                    <a16:rowId xmlns:a16="http://schemas.microsoft.com/office/drawing/2014/main" val="10002"/>
                  </a:ext>
                </a:extLst>
              </a:tr>
              <a:tr h="457163">
                <a:tc>
                  <a:txBody>
                    <a:bodyPr/>
                    <a:lstStyle/>
                    <a:p>
                      <a:r>
                        <a:rPr lang="en-US" sz="2400" b="0" dirty="0"/>
                        <a:t>3</a:t>
                      </a:r>
                      <a:r>
                        <a:rPr lang="en-US" sz="2400" b="0" baseline="30000" dirty="0"/>
                        <a:t>rd</a:t>
                      </a:r>
                      <a:endParaRPr lang="en-US" sz="2400" b="0" dirty="0"/>
                    </a:p>
                  </a:txBody>
                  <a:tcPr marL="91437" marR="91437" marT="45702" marB="45702"/>
                </a:tc>
                <a:tc>
                  <a:txBody>
                    <a:bodyPr/>
                    <a:lstStyle/>
                    <a:p>
                      <a:r>
                        <a:rPr lang="en-US" sz="2400" b="0" dirty="0"/>
                        <a:t>         a   b e</a:t>
                      </a:r>
                    </a:p>
                  </a:txBody>
                  <a:tcPr marL="91437" marR="91437" marT="45702" marB="45702"/>
                </a:tc>
                <a:tc>
                  <a:txBody>
                    <a:bodyPr/>
                    <a:lstStyle/>
                    <a:p>
                      <a:r>
                        <a:rPr lang="en-US" sz="2400" b="0" dirty="0"/>
                        <a:t>1</a:t>
                      </a:r>
                    </a:p>
                  </a:txBody>
                  <a:tcPr marL="91437" marR="91437" marT="45702" marB="45702"/>
                </a:tc>
                <a:extLst>
                  <a:ext uri="{0D108BD9-81ED-4DB2-BD59-A6C34878D82A}">
                    <a16:rowId xmlns:a16="http://schemas.microsoft.com/office/drawing/2014/main" val="10003"/>
                  </a:ext>
                </a:extLst>
              </a:tr>
              <a:tr h="457163">
                <a:tc>
                  <a:txBody>
                    <a:bodyPr/>
                    <a:lstStyle/>
                    <a:p>
                      <a:r>
                        <a:rPr lang="en-US" sz="2400" b="0" dirty="0"/>
                        <a:t>4</a:t>
                      </a:r>
                      <a:r>
                        <a:rPr lang="en-US" sz="2400" b="0" baseline="30000" dirty="0"/>
                        <a:t>th</a:t>
                      </a:r>
                      <a:endParaRPr lang="en-US" sz="2400" b="0" dirty="0"/>
                    </a:p>
                  </a:txBody>
                  <a:tcPr marL="91437" marR="91437" marT="45702" marB="45702"/>
                </a:tc>
                <a:tc>
                  <a:txBody>
                    <a:bodyPr/>
                    <a:lstStyle/>
                    <a:p>
                      <a:r>
                        <a:rPr lang="en-US" sz="2400" b="0" dirty="0"/>
                        <a:t>              a  b e</a:t>
                      </a:r>
                    </a:p>
                  </a:txBody>
                  <a:tcPr marL="91437" marR="91437" marT="45702" marB="45702"/>
                </a:tc>
                <a:tc>
                  <a:txBody>
                    <a:bodyPr/>
                    <a:lstStyle/>
                    <a:p>
                      <a:r>
                        <a:rPr lang="en-US" sz="2400" b="0" dirty="0"/>
                        <a:t>1</a:t>
                      </a:r>
                    </a:p>
                  </a:txBody>
                  <a:tcPr marL="91437" marR="91437" marT="45702" marB="45702"/>
                </a:tc>
                <a:extLst>
                  <a:ext uri="{0D108BD9-81ED-4DB2-BD59-A6C34878D82A}">
                    <a16:rowId xmlns:a16="http://schemas.microsoft.com/office/drawing/2014/main" val="10004"/>
                  </a:ext>
                </a:extLst>
              </a:tr>
              <a:tr h="457163">
                <a:tc>
                  <a:txBody>
                    <a:bodyPr/>
                    <a:lstStyle/>
                    <a:p>
                      <a:r>
                        <a:rPr lang="en-US" sz="2400" b="0" dirty="0"/>
                        <a:t>5</a:t>
                      </a:r>
                      <a:r>
                        <a:rPr lang="en-US" sz="2400" b="0" baseline="30000" dirty="0"/>
                        <a:t>th</a:t>
                      </a:r>
                      <a:endParaRPr lang="en-US" sz="2400" b="0" dirty="0"/>
                    </a:p>
                  </a:txBody>
                  <a:tcPr marL="91437" marR="91437" marT="45702" marB="45702"/>
                </a:tc>
                <a:tc>
                  <a:txBody>
                    <a:bodyPr/>
                    <a:lstStyle/>
                    <a:p>
                      <a:r>
                        <a:rPr lang="en-US" sz="2400" b="0" dirty="0"/>
                        <a:t>                  a  b  e</a:t>
                      </a:r>
                    </a:p>
                  </a:txBody>
                  <a:tcPr marL="91437" marR="91437" marT="45702" marB="45702"/>
                </a:tc>
                <a:tc>
                  <a:txBody>
                    <a:bodyPr/>
                    <a:lstStyle/>
                    <a:p>
                      <a:r>
                        <a:rPr lang="en-US" sz="2400" b="0" dirty="0"/>
                        <a:t>3</a:t>
                      </a:r>
                    </a:p>
                  </a:txBody>
                  <a:tcPr marL="91437" marR="91437" marT="45702" marB="45702"/>
                </a:tc>
                <a:extLst>
                  <a:ext uri="{0D108BD9-81ED-4DB2-BD59-A6C34878D82A}">
                    <a16:rowId xmlns:a16="http://schemas.microsoft.com/office/drawing/2014/main" val="10005"/>
                  </a:ext>
                </a:extLst>
              </a:tr>
              <a:tr h="457163">
                <a:tc>
                  <a:txBody>
                    <a:bodyPr/>
                    <a:lstStyle/>
                    <a:p>
                      <a:r>
                        <a:rPr lang="en-US" sz="2400" b="0" dirty="0"/>
                        <a:t>6</a:t>
                      </a:r>
                      <a:r>
                        <a:rPr lang="en-US" sz="2400" b="0" baseline="30000" dirty="0"/>
                        <a:t>th</a:t>
                      </a:r>
                      <a:endParaRPr lang="en-US" sz="2400" b="0" dirty="0"/>
                    </a:p>
                  </a:txBody>
                  <a:tcPr marL="91437" marR="91437" marT="45702" marB="45702"/>
                </a:tc>
                <a:tc>
                  <a:txBody>
                    <a:bodyPr/>
                    <a:lstStyle/>
                    <a:p>
                      <a:r>
                        <a:rPr lang="en-US" sz="2400" b="0" dirty="0"/>
                        <a:t>                       a b  e</a:t>
                      </a:r>
                    </a:p>
                  </a:txBody>
                  <a:tcPr marL="91437" marR="91437" marT="45702" marB="45702"/>
                </a:tc>
                <a:tc>
                  <a:txBody>
                    <a:bodyPr/>
                    <a:lstStyle/>
                    <a:p>
                      <a:r>
                        <a:rPr lang="en-US" sz="2400" b="0" dirty="0"/>
                        <a:t>1</a:t>
                      </a:r>
                    </a:p>
                  </a:txBody>
                  <a:tcPr marL="91437" marR="91437" marT="45702" marB="45702"/>
                </a:tc>
                <a:extLst>
                  <a:ext uri="{0D108BD9-81ED-4DB2-BD59-A6C34878D82A}">
                    <a16:rowId xmlns:a16="http://schemas.microsoft.com/office/drawing/2014/main" val="10006"/>
                  </a:ext>
                </a:extLst>
              </a:tr>
              <a:tr h="457163">
                <a:tc>
                  <a:txBody>
                    <a:bodyPr/>
                    <a:lstStyle/>
                    <a:p>
                      <a:r>
                        <a:rPr lang="en-US" sz="2400" b="0" dirty="0"/>
                        <a:t>7</a:t>
                      </a:r>
                      <a:r>
                        <a:rPr lang="en-US" sz="2400" b="0" baseline="30000" dirty="0"/>
                        <a:t>th</a:t>
                      </a:r>
                      <a:endParaRPr lang="en-US" sz="2400" b="0" dirty="0"/>
                    </a:p>
                  </a:txBody>
                  <a:tcPr marL="91437" marR="91437" marT="45702" marB="45702"/>
                </a:tc>
                <a:tc>
                  <a:txBody>
                    <a:bodyPr/>
                    <a:lstStyle/>
                    <a:p>
                      <a:r>
                        <a:rPr lang="en-US" sz="2400" b="0" dirty="0"/>
                        <a:t>                           a  b e   </a:t>
                      </a:r>
                    </a:p>
                  </a:txBody>
                  <a:tcPr marL="91437" marR="91437" marT="45702" marB="45702"/>
                </a:tc>
                <a:tc>
                  <a:txBody>
                    <a:bodyPr/>
                    <a:lstStyle/>
                    <a:p>
                      <a:r>
                        <a:rPr lang="en-US" sz="2400" b="0" dirty="0"/>
                        <a:t>1</a:t>
                      </a:r>
                    </a:p>
                  </a:txBody>
                  <a:tcPr marL="91437" marR="91437" marT="45702" marB="45702"/>
                </a:tc>
                <a:extLst>
                  <a:ext uri="{0D108BD9-81ED-4DB2-BD59-A6C34878D82A}">
                    <a16:rowId xmlns:a16="http://schemas.microsoft.com/office/drawing/2014/main" val="10007"/>
                  </a:ext>
                </a:extLst>
              </a:tr>
              <a:tr h="457163">
                <a:tc>
                  <a:txBody>
                    <a:bodyPr/>
                    <a:lstStyle/>
                    <a:p>
                      <a:r>
                        <a:rPr lang="en-US" sz="2400" b="1" dirty="0">
                          <a:solidFill>
                            <a:schemeClr val="tx1"/>
                          </a:solidFill>
                        </a:rPr>
                        <a:t>8</a:t>
                      </a:r>
                      <a:r>
                        <a:rPr lang="en-US" sz="2400" b="1" baseline="30000" dirty="0">
                          <a:solidFill>
                            <a:schemeClr val="tx1"/>
                          </a:solidFill>
                        </a:rPr>
                        <a:t>th</a:t>
                      </a:r>
                      <a:endParaRPr lang="en-US" sz="2400" b="1" dirty="0">
                        <a:solidFill>
                          <a:schemeClr val="tx1"/>
                        </a:solidFill>
                      </a:endParaRPr>
                    </a:p>
                  </a:txBody>
                  <a:tcPr marL="91437" marR="91437" marT="45702" marB="45702"/>
                </a:tc>
                <a:tc>
                  <a:txBody>
                    <a:bodyPr/>
                    <a:lstStyle/>
                    <a:p>
                      <a:r>
                        <a:rPr lang="en-US" sz="2400" b="1" dirty="0">
                          <a:solidFill>
                            <a:schemeClr val="tx1"/>
                          </a:solidFill>
                        </a:rPr>
                        <a:t>                                a b  e</a:t>
                      </a:r>
                    </a:p>
                  </a:txBody>
                  <a:tcPr marL="91437" marR="91437" marT="45702" marB="45702"/>
                </a:tc>
                <a:tc>
                  <a:txBody>
                    <a:bodyPr/>
                    <a:lstStyle/>
                    <a:p>
                      <a:r>
                        <a:rPr lang="en-US" sz="2400" b="1" dirty="0">
                          <a:solidFill>
                            <a:schemeClr val="tx1"/>
                          </a:solidFill>
                        </a:rPr>
                        <a:t>3</a:t>
                      </a:r>
                    </a:p>
                  </a:txBody>
                  <a:tcPr marL="91437" marR="91437" marT="45702" marB="45702"/>
                </a:tc>
                <a:extLst>
                  <a:ext uri="{0D108BD9-81ED-4DB2-BD59-A6C34878D82A}">
                    <a16:rowId xmlns:a16="http://schemas.microsoft.com/office/drawing/2014/main" val="10008"/>
                  </a:ext>
                </a:extLst>
              </a:tr>
            </a:tbl>
          </a:graphicData>
        </a:graphic>
      </p:graphicFrame>
      <p:sp>
        <p:nvSpPr>
          <p:cNvPr id="5" name="TextBox 4"/>
          <p:cNvSpPr txBox="1">
            <a:spLocks noChangeArrowheads="1"/>
          </p:cNvSpPr>
          <p:nvPr/>
        </p:nvSpPr>
        <p:spPr bwMode="auto">
          <a:xfrm>
            <a:off x="746125" y="1052513"/>
            <a:ext cx="104695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400" dirty="0"/>
              <a:t>Text: a  b  c  d  a  b  f  a  b  e  g                            Pattern: </a:t>
            </a:r>
            <a:r>
              <a:rPr lang="en-US" altLang="en-US" sz="2400" dirty="0" err="1"/>
              <a:t>abe</a:t>
            </a:r>
            <a:r>
              <a:rPr lang="en-US" altLang="en-US" sz="2400" dirty="0"/>
              <a:t>  </a:t>
            </a:r>
          </a:p>
        </p:txBody>
      </p:sp>
      <p:sp>
        <p:nvSpPr>
          <p:cNvPr id="6" name="TextBox 5"/>
          <p:cNvSpPr txBox="1">
            <a:spLocks noChangeArrowheads="1"/>
          </p:cNvSpPr>
          <p:nvPr/>
        </p:nvSpPr>
        <p:spPr bwMode="auto">
          <a:xfrm>
            <a:off x="1343025" y="6092825"/>
            <a:ext cx="9432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en-US" sz="2400" b="1" dirty="0"/>
              <a:t>Result in 8</a:t>
            </a:r>
            <a:r>
              <a:rPr lang="en-US" altLang="en-US" sz="2400" b="1" baseline="30000" dirty="0"/>
              <a:t>th</a:t>
            </a:r>
            <a:r>
              <a:rPr lang="en-US" altLang="en-US" sz="2400" b="1" dirty="0"/>
              <a:t> iteration and the number of comparisons are 14</a:t>
            </a:r>
          </a:p>
        </p:txBody>
      </p:sp>
      <p:cxnSp>
        <p:nvCxnSpPr>
          <p:cNvPr id="7" name="Straight Connector 6"/>
          <p:cNvCxnSpPr/>
          <p:nvPr/>
        </p:nvCxnSpPr>
        <p:spPr>
          <a:xfrm>
            <a:off x="3503613" y="2060575"/>
            <a:ext cx="0" cy="288925"/>
          </a:xfrm>
          <a:prstGeom prst="line">
            <a:avLst/>
          </a:prstGeom>
        </p:spPr>
        <p:style>
          <a:lnRef idx="3">
            <a:schemeClr val="accent1"/>
          </a:lnRef>
          <a:fillRef idx="0">
            <a:schemeClr val="accent1"/>
          </a:fillRef>
          <a:effectRef idx="2">
            <a:schemeClr val="accent1"/>
          </a:effectRef>
          <a:fontRef idx="minor">
            <a:schemeClr val="tx1"/>
          </a:fontRef>
        </p:style>
      </p:cxnSp>
      <p:cxnSp>
        <p:nvCxnSpPr>
          <p:cNvPr id="8" name="Straight Connector 7"/>
          <p:cNvCxnSpPr>
            <a:cxnSpLocks/>
          </p:cNvCxnSpPr>
          <p:nvPr/>
        </p:nvCxnSpPr>
        <p:spPr>
          <a:xfrm>
            <a:off x="3863975" y="2060575"/>
            <a:ext cx="0" cy="827088"/>
          </a:xfrm>
          <a:prstGeom prst="line">
            <a:avLst/>
          </a:prstGeom>
        </p:spPr>
        <p:style>
          <a:lnRef idx="3">
            <a:schemeClr val="accent1"/>
          </a:lnRef>
          <a:fillRef idx="0">
            <a:schemeClr val="accent1"/>
          </a:fillRef>
          <a:effectRef idx="2">
            <a:schemeClr val="accent1"/>
          </a:effectRef>
          <a:fontRef idx="minor">
            <a:schemeClr val="tx1"/>
          </a:fontRef>
        </p:style>
      </p:cxnSp>
      <p:cxnSp>
        <p:nvCxnSpPr>
          <p:cNvPr id="9" name="Straight Connector 8"/>
          <p:cNvCxnSpPr>
            <a:cxnSpLocks/>
          </p:cNvCxnSpPr>
          <p:nvPr/>
        </p:nvCxnSpPr>
        <p:spPr>
          <a:xfrm>
            <a:off x="4151313" y="2060575"/>
            <a:ext cx="0" cy="1357313"/>
          </a:xfrm>
          <a:prstGeom prst="line">
            <a:avLst/>
          </a:prstGeom>
        </p:spPr>
        <p:style>
          <a:lnRef idx="3">
            <a:schemeClr val="accent1"/>
          </a:lnRef>
          <a:fillRef idx="0">
            <a:schemeClr val="accent1"/>
          </a:fillRef>
          <a:effectRef idx="2">
            <a:schemeClr val="accent1"/>
          </a:effectRef>
          <a:fontRef idx="minor">
            <a:schemeClr val="tx1"/>
          </a:fontRef>
        </p:style>
      </p:cxnSp>
      <p:cxnSp>
        <p:nvCxnSpPr>
          <p:cNvPr id="10" name="Straight Connector 9"/>
          <p:cNvCxnSpPr>
            <a:cxnSpLocks/>
          </p:cNvCxnSpPr>
          <p:nvPr/>
        </p:nvCxnSpPr>
        <p:spPr>
          <a:xfrm>
            <a:off x="4440238" y="2060575"/>
            <a:ext cx="68262" cy="1709738"/>
          </a:xfrm>
          <a:prstGeom prst="line">
            <a:avLst/>
          </a:prstGeom>
        </p:spPr>
        <p:style>
          <a:lnRef idx="3">
            <a:schemeClr val="accent1"/>
          </a:lnRef>
          <a:fillRef idx="0">
            <a:schemeClr val="accent1"/>
          </a:fillRef>
          <a:effectRef idx="2">
            <a:schemeClr val="accent1"/>
          </a:effectRef>
          <a:fontRef idx="minor">
            <a:schemeClr val="tx1"/>
          </a:fontRef>
        </p:style>
      </p:cxnSp>
      <p:cxnSp>
        <p:nvCxnSpPr>
          <p:cNvPr id="11" name="Straight Connector 10"/>
          <p:cNvCxnSpPr>
            <a:cxnSpLocks/>
          </p:cNvCxnSpPr>
          <p:nvPr/>
        </p:nvCxnSpPr>
        <p:spPr>
          <a:xfrm>
            <a:off x="4694238" y="2060575"/>
            <a:ext cx="84137" cy="2232025"/>
          </a:xfrm>
          <a:prstGeom prst="line">
            <a:avLst/>
          </a:prstGeom>
        </p:spPr>
        <p:style>
          <a:lnRef idx="3">
            <a:schemeClr val="accent1"/>
          </a:lnRef>
          <a:fillRef idx="0">
            <a:schemeClr val="accent1"/>
          </a:fillRef>
          <a:effectRef idx="2">
            <a:schemeClr val="accent1"/>
          </a:effectRef>
          <a:fontRef idx="minor">
            <a:schemeClr val="tx1"/>
          </a:fontRef>
        </p:style>
      </p:cxnSp>
      <p:cxnSp>
        <p:nvCxnSpPr>
          <p:cNvPr id="12" name="Straight Connector 11"/>
          <p:cNvCxnSpPr>
            <a:cxnSpLocks/>
          </p:cNvCxnSpPr>
          <p:nvPr/>
        </p:nvCxnSpPr>
        <p:spPr>
          <a:xfrm>
            <a:off x="4964113" y="2039938"/>
            <a:ext cx="95250" cy="2757487"/>
          </a:xfrm>
          <a:prstGeom prst="line">
            <a:avLst/>
          </a:prstGeom>
        </p:spPr>
        <p:style>
          <a:lnRef idx="3">
            <a:schemeClr val="accent1"/>
          </a:lnRef>
          <a:fillRef idx="0">
            <a:schemeClr val="accent1"/>
          </a:fillRef>
          <a:effectRef idx="2">
            <a:schemeClr val="accent1"/>
          </a:effectRef>
          <a:fontRef idx="minor">
            <a:schemeClr val="tx1"/>
          </a:fontRef>
        </p:style>
      </p:cxnSp>
      <p:cxnSp>
        <p:nvCxnSpPr>
          <p:cNvPr id="13" name="Straight Connector 12"/>
          <p:cNvCxnSpPr>
            <a:cxnSpLocks/>
          </p:cNvCxnSpPr>
          <p:nvPr/>
        </p:nvCxnSpPr>
        <p:spPr>
          <a:xfrm>
            <a:off x="5251450" y="1944688"/>
            <a:ext cx="84138" cy="3284537"/>
          </a:xfrm>
          <a:prstGeom prst="line">
            <a:avLst/>
          </a:prstGeom>
        </p:spPr>
        <p:style>
          <a:lnRef idx="3">
            <a:schemeClr val="accent1"/>
          </a:lnRef>
          <a:fillRef idx="0">
            <a:schemeClr val="accent1"/>
          </a:fillRef>
          <a:effectRef idx="2">
            <a:schemeClr val="accent1"/>
          </a:effectRef>
          <a:fontRef idx="minor">
            <a:schemeClr val="tx1"/>
          </a:fontRef>
        </p:style>
      </p:cxnSp>
      <p:cxnSp>
        <p:nvCxnSpPr>
          <p:cNvPr id="14" name="Straight Connector 13"/>
          <p:cNvCxnSpPr>
            <a:cxnSpLocks/>
          </p:cNvCxnSpPr>
          <p:nvPr/>
        </p:nvCxnSpPr>
        <p:spPr>
          <a:xfrm>
            <a:off x="5592763" y="2033588"/>
            <a:ext cx="71437" cy="3635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15" name="Straight Connector 14"/>
          <p:cNvCxnSpPr>
            <a:cxnSpLocks/>
          </p:cNvCxnSpPr>
          <p:nvPr/>
        </p:nvCxnSpPr>
        <p:spPr>
          <a:xfrm>
            <a:off x="5800725" y="2020888"/>
            <a:ext cx="120650" cy="3648075"/>
          </a:xfrm>
          <a:prstGeom prst="line">
            <a:avLst/>
          </a:prstGeom>
        </p:spPr>
        <p:style>
          <a:lnRef idx="3">
            <a:schemeClr val="accent1"/>
          </a:lnRef>
          <a:fillRef idx="0">
            <a:schemeClr val="accent1"/>
          </a:fillRef>
          <a:effectRef idx="2">
            <a:schemeClr val="accent1"/>
          </a:effectRef>
          <a:fontRef idx="minor">
            <a:schemeClr val="tx1"/>
          </a:fontRef>
        </p:style>
      </p:cxnSp>
      <p:cxnSp>
        <p:nvCxnSpPr>
          <p:cNvPr id="16" name="Straight Connector 15"/>
          <p:cNvCxnSpPr>
            <a:cxnSpLocks/>
          </p:cNvCxnSpPr>
          <p:nvPr/>
        </p:nvCxnSpPr>
        <p:spPr>
          <a:xfrm>
            <a:off x="6096000" y="1916113"/>
            <a:ext cx="120650" cy="3648075"/>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8329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9</a:t>
            </a:fld>
            <a:endParaRPr lang="en-AU"/>
          </a:p>
        </p:txBody>
      </p:sp>
      <p:sp>
        <p:nvSpPr>
          <p:cNvPr id="4" name="Rectangle 2"/>
          <p:cNvSpPr>
            <a:spLocks noChangeArrowheads="1"/>
          </p:cNvSpPr>
          <p:nvPr/>
        </p:nvSpPr>
        <p:spPr bwMode="auto">
          <a:xfrm>
            <a:off x="1105339" y="1013602"/>
            <a:ext cx="10945812" cy="5632450"/>
          </a:xfrm>
          <a:prstGeom prst="rect">
            <a:avLst/>
          </a:prstGeom>
          <a:noFill/>
          <a:ln>
            <a:noFill/>
          </a:ln>
          <a:effectLst/>
        </p:spPr>
        <p:txBody>
          <a:bodyPr anchor="ctr">
            <a:spAutoFit/>
          </a:bodyPr>
          <a:lstStyle/>
          <a:p>
            <a:pPr>
              <a:defRPr/>
            </a:pPr>
            <a:r>
              <a:rPr lang="en-US" altLang="en-US" sz="2000" b="1" dirty="0">
                <a:latin typeface="+mn-lt"/>
              </a:rPr>
              <a:t>Let's go through an example with T=</a:t>
            </a:r>
            <a:r>
              <a:rPr lang="en-US" altLang="en-US" sz="2000" b="1" dirty="0" err="1">
                <a:latin typeface="+mn-lt"/>
              </a:rPr>
              <a:t>ababcabdabcaabc</a:t>
            </a:r>
            <a:r>
              <a:rPr lang="en-US" altLang="en-US" sz="2000" b="1" dirty="0">
                <a:latin typeface="+mn-lt"/>
              </a:rPr>
              <a:t> and P=</a:t>
            </a:r>
            <a:r>
              <a:rPr lang="en-US" altLang="en-US" sz="2000" b="1" dirty="0" err="1">
                <a:latin typeface="+mn-lt"/>
              </a:rPr>
              <a:t>abc</a:t>
            </a:r>
            <a:r>
              <a:rPr lang="en-US" altLang="en-US" sz="2000" b="1" dirty="0">
                <a:latin typeface="+mn-lt"/>
              </a:rPr>
              <a:t>.</a:t>
            </a:r>
          </a:p>
          <a:p>
            <a:pPr marL="457200" indent="-457200">
              <a:buFont typeface="+mj-lt"/>
              <a:buAutoNum type="arabicPeriod"/>
              <a:defRPr/>
            </a:pPr>
            <a:r>
              <a:rPr lang="en-US" altLang="en-US" sz="2000" b="1" dirty="0">
                <a:latin typeface="+mn-lt"/>
              </a:rPr>
              <a:t>Text: </a:t>
            </a:r>
            <a:r>
              <a:rPr lang="en-US" altLang="en-US" sz="2000" b="1" dirty="0" err="1">
                <a:latin typeface="+mn-lt"/>
              </a:rPr>
              <a:t>ababcabdabcaabc</a:t>
            </a:r>
            <a:endParaRPr lang="en-US" altLang="en-US" sz="2000" b="1" dirty="0">
              <a:latin typeface="+mn-lt"/>
            </a:endParaRPr>
          </a:p>
          <a:p>
            <a:pPr marL="457200" indent="-457200">
              <a:buFont typeface="+mj-lt"/>
              <a:buAutoNum type="arabicPeriod"/>
              <a:defRPr/>
            </a:pPr>
            <a:r>
              <a:rPr lang="en-US" altLang="en-US" sz="2000" b="1" dirty="0">
                <a:latin typeface="+mn-lt"/>
              </a:rPr>
              <a:t>Pattern: </a:t>
            </a:r>
            <a:r>
              <a:rPr lang="en-US" altLang="en-US" sz="2000" b="1" dirty="0" err="1">
                <a:latin typeface="+mn-lt"/>
              </a:rPr>
              <a:t>abc</a:t>
            </a:r>
            <a:endParaRPr lang="en-US" altLang="en-US" sz="2000" b="1" dirty="0">
              <a:latin typeface="+mn-lt"/>
            </a:endParaRPr>
          </a:p>
          <a:p>
            <a:pPr>
              <a:defRPr/>
            </a:pPr>
            <a:r>
              <a:rPr lang="en-US" altLang="en-US" sz="2000" b="1" dirty="0">
                <a:latin typeface="+mn-lt"/>
              </a:rPr>
              <a:t>The algorithm checks for the pattern at every position in the text:</a:t>
            </a:r>
          </a:p>
          <a:p>
            <a:pPr marL="342900" indent="-342900">
              <a:buFont typeface="Arial" panose="020B0604020202020204" pitchFamily="34" charset="0"/>
              <a:buChar char="•"/>
              <a:defRPr/>
            </a:pPr>
            <a:r>
              <a:rPr lang="en-US" altLang="en-US" sz="2000" b="1" dirty="0">
                <a:latin typeface="+mn-lt"/>
              </a:rPr>
              <a:t>At position 0: T[0..2] = aba (no match)</a:t>
            </a:r>
          </a:p>
          <a:p>
            <a:pPr marL="342900" indent="-342900">
              <a:buFont typeface="Arial" panose="020B0604020202020204" pitchFamily="34" charset="0"/>
              <a:buChar char="•"/>
              <a:defRPr/>
            </a:pPr>
            <a:r>
              <a:rPr lang="en-US" altLang="en-US" sz="2000" b="1" dirty="0">
                <a:latin typeface="+mn-lt"/>
              </a:rPr>
              <a:t>At position 1: T[1..3] = </a:t>
            </a:r>
            <a:r>
              <a:rPr lang="en-US" altLang="en-US" sz="2000" b="1" dirty="0" err="1">
                <a:latin typeface="+mn-lt"/>
              </a:rPr>
              <a:t>bab</a:t>
            </a:r>
            <a:r>
              <a:rPr lang="en-US" altLang="en-US" sz="2000" b="1" dirty="0">
                <a:latin typeface="+mn-lt"/>
              </a:rPr>
              <a:t> (no match)</a:t>
            </a:r>
          </a:p>
          <a:p>
            <a:pPr marL="342900" indent="-342900">
              <a:buFont typeface="Arial" panose="020B0604020202020204" pitchFamily="34" charset="0"/>
              <a:buChar char="•"/>
              <a:defRPr/>
            </a:pPr>
            <a:r>
              <a:rPr lang="en-US" altLang="en-US" sz="2000" b="1" dirty="0">
                <a:latin typeface="+mn-lt"/>
              </a:rPr>
              <a:t>At position 2: T[2..4] = </a:t>
            </a:r>
            <a:r>
              <a:rPr lang="en-US" altLang="en-US" sz="2000" b="1" dirty="0" err="1">
                <a:latin typeface="+mn-lt"/>
              </a:rPr>
              <a:t>abc</a:t>
            </a:r>
            <a:r>
              <a:rPr lang="en-US" altLang="en-US" sz="2000" b="1" dirty="0">
                <a:latin typeface="+mn-lt"/>
              </a:rPr>
              <a:t> (match found, index 2)</a:t>
            </a:r>
          </a:p>
          <a:p>
            <a:pPr marL="342900" indent="-342900">
              <a:buFont typeface="Arial" panose="020B0604020202020204" pitchFamily="34" charset="0"/>
              <a:buChar char="•"/>
              <a:defRPr/>
            </a:pPr>
            <a:r>
              <a:rPr lang="en-US" altLang="en-US" sz="2000" b="1" dirty="0">
                <a:latin typeface="+mn-lt"/>
              </a:rPr>
              <a:t>At position 3: T[3..5] = </a:t>
            </a:r>
            <a:r>
              <a:rPr lang="en-US" altLang="en-US" sz="2000" b="1" dirty="0" err="1">
                <a:latin typeface="+mn-lt"/>
              </a:rPr>
              <a:t>bca</a:t>
            </a:r>
            <a:r>
              <a:rPr lang="en-US" altLang="en-US" sz="2000" b="1" dirty="0">
                <a:latin typeface="+mn-lt"/>
              </a:rPr>
              <a:t> (no match)</a:t>
            </a:r>
          </a:p>
          <a:p>
            <a:pPr marL="342900" indent="-342900">
              <a:buFont typeface="Arial" panose="020B0604020202020204" pitchFamily="34" charset="0"/>
              <a:buChar char="•"/>
              <a:defRPr/>
            </a:pPr>
            <a:r>
              <a:rPr lang="en-US" altLang="en-US" sz="2000" b="1" dirty="0">
                <a:latin typeface="+mn-lt"/>
              </a:rPr>
              <a:t>At position 4: T[4..6] = cab (no match)</a:t>
            </a:r>
          </a:p>
          <a:p>
            <a:pPr marL="342900" indent="-342900">
              <a:buFont typeface="Arial" panose="020B0604020202020204" pitchFamily="34" charset="0"/>
              <a:buChar char="•"/>
              <a:defRPr/>
            </a:pPr>
            <a:r>
              <a:rPr lang="en-US" altLang="en-US" sz="2000" b="1" dirty="0">
                <a:latin typeface="+mn-lt"/>
              </a:rPr>
              <a:t>At position 5: T[5..7] = </a:t>
            </a:r>
            <a:r>
              <a:rPr lang="en-US" altLang="en-US" sz="2000" b="1" dirty="0" err="1">
                <a:latin typeface="+mn-lt"/>
              </a:rPr>
              <a:t>abd</a:t>
            </a:r>
            <a:r>
              <a:rPr lang="en-US" altLang="en-US" sz="2000" b="1" dirty="0">
                <a:latin typeface="+mn-lt"/>
              </a:rPr>
              <a:t> (no match)</a:t>
            </a:r>
          </a:p>
          <a:p>
            <a:pPr marL="342900" indent="-342900">
              <a:buFont typeface="Arial" panose="020B0604020202020204" pitchFamily="34" charset="0"/>
              <a:buChar char="•"/>
              <a:defRPr/>
            </a:pPr>
            <a:r>
              <a:rPr lang="en-US" altLang="en-US" sz="2000" b="1" dirty="0">
                <a:latin typeface="+mn-lt"/>
              </a:rPr>
              <a:t>At position 6: T[6..8] = </a:t>
            </a:r>
            <a:r>
              <a:rPr lang="en-US" altLang="en-US" sz="2000" b="1" dirty="0" err="1">
                <a:latin typeface="+mn-lt"/>
              </a:rPr>
              <a:t>bda</a:t>
            </a:r>
            <a:r>
              <a:rPr lang="en-US" altLang="en-US" sz="2000" b="1" dirty="0">
                <a:latin typeface="+mn-lt"/>
              </a:rPr>
              <a:t> (no match)</a:t>
            </a:r>
          </a:p>
          <a:p>
            <a:pPr marL="342900" indent="-342900">
              <a:buFont typeface="Arial" panose="020B0604020202020204" pitchFamily="34" charset="0"/>
              <a:buChar char="•"/>
              <a:defRPr/>
            </a:pPr>
            <a:r>
              <a:rPr lang="en-US" altLang="en-US" sz="2000" b="1" dirty="0">
                <a:latin typeface="+mn-lt"/>
              </a:rPr>
              <a:t>At position 7: T[7..9] = dab (no match)</a:t>
            </a:r>
          </a:p>
          <a:p>
            <a:pPr marL="342900" indent="-342900">
              <a:buFont typeface="Arial" panose="020B0604020202020204" pitchFamily="34" charset="0"/>
              <a:buChar char="•"/>
              <a:defRPr/>
            </a:pPr>
            <a:r>
              <a:rPr lang="en-US" altLang="en-US" sz="2000" b="1" dirty="0">
                <a:latin typeface="+mn-lt"/>
              </a:rPr>
              <a:t>At position 8: T[8..10] = </a:t>
            </a:r>
            <a:r>
              <a:rPr lang="en-US" altLang="en-US" sz="2000" b="1" dirty="0" err="1">
                <a:latin typeface="+mn-lt"/>
              </a:rPr>
              <a:t>abc</a:t>
            </a:r>
            <a:r>
              <a:rPr lang="en-US" altLang="en-US" sz="2000" b="1" dirty="0">
                <a:latin typeface="+mn-lt"/>
              </a:rPr>
              <a:t> (match found, index 8)</a:t>
            </a:r>
          </a:p>
          <a:p>
            <a:pPr marL="342900" indent="-342900">
              <a:buFont typeface="Arial" panose="020B0604020202020204" pitchFamily="34" charset="0"/>
              <a:buChar char="•"/>
              <a:defRPr/>
            </a:pPr>
            <a:r>
              <a:rPr lang="en-US" altLang="en-US" sz="2000" b="1" dirty="0">
                <a:latin typeface="+mn-lt"/>
              </a:rPr>
              <a:t>At position 9: T[9..11] = </a:t>
            </a:r>
            <a:r>
              <a:rPr lang="en-US" altLang="en-US" sz="2000" b="1" dirty="0" err="1">
                <a:latin typeface="+mn-lt"/>
              </a:rPr>
              <a:t>bca</a:t>
            </a:r>
            <a:r>
              <a:rPr lang="en-US" altLang="en-US" sz="2000" b="1" dirty="0">
                <a:latin typeface="+mn-lt"/>
              </a:rPr>
              <a:t> (no match)</a:t>
            </a:r>
          </a:p>
          <a:p>
            <a:pPr marL="342900" indent="-342900">
              <a:buFont typeface="Arial" panose="020B0604020202020204" pitchFamily="34" charset="0"/>
              <a:buChar char="•"/>
              <a:defRPr/>
            </a:pPr>
            <a:r>
              <a:rPr lang="en-US" altLang="en-US" sz="2000" b="1" dirty="0">
                <a:latin typeface="+mn-lt"/>
              </a:rPr>
              <a:t>At position 10: T[10..12] = </a:t>
            </a:r>
            <a:r>
              <a:rPr lang="en-US" altLang="en-US" sz="2000" b="1" dirty="0" err="1">
                <a:latin typeface="+mn-lt"/>
              </a:rPr>
              <a:t>caa</a:t>
            </a:r>
            <a:r>
              <a:rPr lang="en-US" altLang="en-US" sz="2000" b="1" dirty="0">
                <a:latin typeface="+mn-lt"/>
              </a:rPr>
              <a:t> (no match)</a:t>
            </a:r>
          </a:p>
          <a:p>
            <a:pPr marL="342900" indent="-342900">
              <a:buFont typeface="Arial" panose="020B0604020202020204" pitchFamily="34" charset="0"/>
              <a:buChar char="•"/>
              <a:defRPr/>
            </a:pPr>
            <a:r>
              <a:rPr lang="en-US" altLang="en-US" sz="2000" b="1" dirty="0">
                <a:latin typeface="+mn-lt"/>
              </a:rPr>
              <a:t>At position 11: T[11..13] = </a:t>
            </a:r>
            <a:r>
              <a:rPr lang="en-US" altLang="en-US" sz="2000" b="1" dirty="0" err="1">
                <a:latin typeface="+mn-lt"/>
              </a:rPr>
              <a:t>aab</a:t>
            </a:r>
            <a:r>
              <a:rPr lang="en-US" altLang="en-US" sz="2000" b="1" dirty="0">
                <a:latin typeface="+mn-lt"/>
              </a:rPr>
              <a:t> (no match)</a:t>
            </a:r>
          </a:p>
          <a:p>
            <a:pPr marL="342900" indent="-342900">
              <a:buFont typeface="Arial" panose="020B0604020202020204" pitchFamily="34" charset="0"/>
              <a:buChar char="•"/>
              <a:defRPr/>
            </a:pPr>
            <a:r>
              <a:rPr lang="en-US" altLang="en-US" sz="2000" b="1" dirty="0">
                <a:latin typeface="+mn-lt"/>
              </a:rPr>
              <a:t>At position 12: T[12..14] = </a:t>
            </a:r>
            <a:r>
              <a:rPr lang="en-US" altLang="en-US" sz="2000" b="1" dirty="0" err="1">
                <a:latin typeface="+mn-lt"/>
              </a:rPr>
              <a:t>abc</a:t>
            </a:r>
            <a:r>
              <a:rPr lang="en-US" altLang="en-US" sz="2000" b="1" dirty="0">
                <a:latin typeface="+mn-lt"/>
              </a:rPr>
              <a:t> (match found, index 12)</a:t>
            </a:r>
          </a:p>
          <a:p>
            <a:pPr>
              <a:defRPr/>
            </a:pPr>
            <a:r>
              <a:rPr lang="en-US" altLang="en-US" sz="2000" b="1" dirty="0">
                <a:latin typeface="+mn-lt"/>
              </a:rPr>
              <a:t>The matches are found in indices </a:t>
            </a:r>
            <a:r>
              <a:rPr lang="en-US" altLang="en-US" sz="2000" b="1" dirty="0">
                <a:solidFill>
                  <a:srgbClr val="FF0000"/>
                </a:solidFill>
                <a:latin typeface="+mn-lt"/>
              </a:rPr>
              <a:t>2, 8, and 12</a:t>
            </a:r>
            <a:r>
              <a:rPr lang="en-US" altLang="en-US" sz="2000" b="1" dirty="0">
                <a:latin typeface="+mn-lt"/>
              </a:rPr>
              <a:t>.</a:t>
            </a:r>
          </a:p>
        </p:txBody>
      </p:sp>
    </p:spTree>
    <p:extLst>
      <p:ext uri="{BB962C8B-B14F-4D97-AF65-F5344CB8AC3E}">
        <p14:creationId xmlns:p14="http://schemas.microsoft.com/office/powerpoint/2010/main" val="3444059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10</a:t>
            </a:fld>
            <a:endParaRPr lang="en-AU"/>
          </a:p>
        </p:txBody>
      </p:sp>
      <p:sp>
        <p:nvSpPr>
          <p:cNvPr id="5" name="Rectangle 4"/>
          <p:cNvSpPr/>
          <p:nvPr/>
        </p:nvSpPr>
        <p:spPr>
          <a:xfrm>
            <a:off x="1731818" y="0"/>
            <a:ext cx="7869381" cy="7403437"/>
          </a:xfrm>
          <a:prstGeom prst="rect">
            <a:avLst/>
          </a:prstGeom>
        </p:spPr>
        <p:txBody>
          <a:bodyPr wrap="square">
            <a:spAutoFit/>
          </a:bodyPr>
          <a:lstStyle/>
          <a:p>
            <a:pPr algn="just">
              <a:lnSpc>
                <a:spcPct val="107000"/>
              </a:lnSpc>
            </a:pPr>
            <a:r>
              <a:rPr lang="en-US" sz="2600" b="1" kern="100" dirty="0">
                <a:solidFill>
                  <a:srgbClr val="0A0A0A"/>
                </a:solidFill>
                <a:latin typeface="Times New Roman" panose="02020603050405020304" pitchFamily="18" charset="0"/>
                <a:ea typeface="Calibri" panose="020F0502020204030204" pitchFamily="34" charset="0"/>
                <a:cs typeface="Times New Roman" panose="02020603050405020304" pitchFamily="18" charset="0"/>
              </a:rPr>
              <a:t>Naïve Algorithm</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Algorithm </a:t>
            </a:r>
            <a:r>
              <a:rPr lang="en-US" sz="2600" kern="0" dirty="0" err="1">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naïve_string</a:t>
            </a:r>
            <a:r>
              <a:rPr lang="en-US" sz="26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(Text, Pattern)</a:t>
            </a: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kern="0" dirty="0">
                <a:solidFill>
                  <a:srgbClr val="0A0A0A"/>
                </a:solidFill>
                <a:latin typeface="Times New Roman" panose="02020603050405020304" pitchFamily="18" charset="0"/>
                <a:ea typeface="Calibri" panose="020F0502020204030204" pitchFamily="34" charset="0"/>
                <a:cs typeface="Times New Roman" panose="02020603050405020304" pitchFamily="18" charset="0"/>
              </a:rPr>
              <a:t>begin</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n=length(Text)</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m=length(Pattern)</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600" b="1" kern="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for </a:t>
            </a:r>
            <a:r>
              <a:rPr lang="en-US" sz="26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i=0 to n-m step 1 </a:t>
            </a:r>
            <a:r>
              <a:rPr lang="en-US" sz="2600" kern="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do</a:t>
            </a:r>
            <a:endParaRPr lang="en-US" sz="26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600" b="1" kern="0" dirty="0">
                <a:solidFill>
                  <a:srgbClr val="1E03BD"/>
                </a:solidFill>
                <a:latin typeface="Times New Roman" panose="02020603050405020304" pitchFamily="18" charset="0"/>
                <a:ea typeface="Times New Roman" panose="02020603050405020304" pitchFamily="18" charset="0"/>
                <a:cs typeface="Times New Roman" panose="02020603050405020304" pitchFamily="18" charset="0"/>
              </a:rPr>
              <a:t>for</a:t>
            </a:r>
            <a:r>
              <a:rPr lang="en-US" sz="2600" b="1" kern="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6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j=0 to m-1 step 1 </a:t>
            </a:r>
            <a:r>
              <a:rPr lang="en-US" sz="2600" kern="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do</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600" b="1" kern="0" dirty="0">
                <a:solidFill>
                  <a:srgbClr val="1E03BD"/>
                </a:solidFill>
                <a:latin typeface="Times New Roman" panose="02020603050405020304" pitchFamily="18" charset="0"/>
                <a:ea typeface="Times New Roman" panose="02020603050405020304" pitchFamily="18" charset="0"/>
                <a:cs typeface="Times New Roman" panose="02020603050405020304" pitchFamily="18" charset="0"/>
              </a:rPr>
              <a:t>if</a:t>
            </a:r>
            <a:r>
              <a:rPr lang="en-US" sz="26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Text[</a:t>
            </a:r>
            <a:r>
              <a:rPr lang="en-US" sz="2600" kern="0" dirty="0" err="1">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i+j</a:t>
            </a:r>
            <a:r>
              <a:rPr lang="en-US" sz="26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Pattern[j]:</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break</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600" b="1" kern="0" dirty="0">
                <a:solidFill>
                  <a:srgbClr val="1E03BD"/>
                </a:solidFill>
                <a:latin typeface="Times New Roman" panose="02020603050405020304" pitchFamily="18" charset="0"/>
                <a:ea typeface="Times New Roman" panose="02020603050405020304" pitchFamily="18" charset="0"/>
                <a:cs typeface="Times New Roman" panose="02020603050405020304" pitchFamily="18" charset="0"/>
              </a:rPr>
              <a:t>end if</a:t>
            </a: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600" b="1" kern="0" dirty="0">
                <a:solidFill>
                  <a:srgbClr val="1E03BD"/>
                </a:solidFill>
                <a:latin typeface="Times New Roman" panose="02020603050405020304" pitchFamily="18" charset="0"/>
                <a:ea typeface="Times New Roman" panose="02020603050405020304" pitchFamily="18" charset="0"/>
                <a:cs typeface="Times New Roman" panose="02020603050405020304" pitchFamily="18" charset="0"/>
              </a:rPr>
              <a:t>end for</a:t>
            </a: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600" b="1" kern="0" dirty="0">
                <a:solidFill>
                  <a:srgbClr val="1E03BD"/>
                </a:solidFill>
                <a:latin typeface="Times New Roman" panose="02020603050405020304" pitchFamily="18" charset="0"/>
                <a:ea typeface="Times New Roman" panose="02020603050405020304" pitchFamily="18" charset="0"/>
                <a:cs typeface="Times New Roman" panose="02020603050405020304" pitchFamily="18" charset="0"/>
              </a:rPr>
              <a:t>if</a:t>
            </a:r>
            <a:r>
              <a:rPr lang="en-US" sz="26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j==m </a:t>
            </a:r>
            <a:r>
              <a:rPr lang="en-US" sz="2600" b="1" kern="0" dirty="0">
                <a:solidFill>
                  <a:srgbClr val="1E03BD"/>
                </a:solidFill>
                <a:latin typeface="Times New Roman" panose="02020603050405020304" pitchFamily="18" charset="0"/>
                <a:ea typeface="Times New Roman" panose="02020603050405020304" pitchFamily="18" charset="0"/>
                <a:cs typeface="Times New Roman" panose="02020603050405020304" pitchFamily="18" charset="0"/>
              </a:rPr>
              <a:t>then</a:t>
            </a: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print "Pattern found at index", i</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600" b="1" kern="0" dirty="0">
                <a:solidFill>
                  <a:srgbClr val="1E03BD"/>
                </a:solidFill>
                <a:latin typeface="Times New Roman" panose="02020603050405020304" pitchFamily="18" charset="0"/>
                <a:ea typeface="Times New Roman" panose="02020603050405020304" pitchFamily="18" charset="0"/>
                <a:cs typeface="Times New Roman" panose="02020603050405020304" pitchFamily="18" charset="0"/>
              </a:rPr>
              <a:t>end if</a:t>
            </a: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b="1"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600" b="1" kern="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end for</a:t>
            </a: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kern="0" dirty="0">
                <a:solidFill>
                  <a:srgbClr val="0A0A0A"/>
                </a:solidFill>
                <a:latin typeface="Times New Roman" panose="02020603050405020304" pitchFamily="18" charset="0"/>
                <a:ea typeface="Calibri" panose="020F0502020204030204" pitchFamily="34" charset="0"/>
                <a:cs typeface="Times New Roman" panose="02020603050405020304" pitchFamily="18" charset="0"/>
              </a:rPr>
              <a:t>stop</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9259289"/>
              </p:ext>
            </p:extLst>
          </p:nvPr>
        </p:nvGraphicFramePr>
        <p:xfrm>
          <a:off x="8548254" y="630382"/>
          <a:ext cx="3040305" cy="1036320"/>
        </p:xfrm>
        <a:graphic>
          <a:graphicData uri="http://schemas.openxmlformats.org/drawingml/2006/table">
            <a:tbl>
              <a:tblPr firstRow="1" bandRow="1">
                <a:tableStyleId>{5C22544A-7EE6-4342-B048-85BDC9FD1C3A}</a:tableStyleId>
              </a:tblPr>
              <a:tblGrid>
                <a:gridCol w="608061">
                  <a:extLst>
                    <a:ext uri="{9D8B030D-6E8A-4147-A177-3AD203B41FA5}">
                      <a16:colId xmlns:a16="http://schemas.microsoft.com/office/drawing/2014/main" val="20000"/>
                    </a:ext>
                  </a:extLst>
                </a:gridCol>
                <a:gridCol w="608061">
                  <a:extLst>
                    <a:ext uri="{9D8B030D-6E8A-4147-A177-3AD203B41FA5}">
                      <a16:colId xmlns:a16="http://schemas.microsoft.com/office/drawing/2014/main" val="20001"/>
                    </a:ext>
                  </a:extLst>
                </a:gridCol>
                <a:gridCol w="608061">
                  <a:extLst>
                    <a:ext uri="{9D8B030D-6E8A-4147-A177-3AD203B41FA5}">
                      <a16:colId xmlns:a16="http://schemas.microsoft.com/office/drawing/2014/main" val="20002"/>
                    </a:ext>
                  </a:extLst>
                </a:gridCol>
                <a:gridCol w="608061">
                  <a:extLst>
                    <a:ext uri="{9D8B030D-6E8A-4147-A177-3AD203B41FA5}">
                      <a16:colId xmlns:a16="http://schemas.microsoft.com/office/drawing/2014/main" val="20003"/>
                    </a:ext>
                  </a:extLst>
                </a:gridCol>
                <a:gridCol w="608061">
                  <a:extLst>
                    <a:ext uri="{9D8B030D-6E8A-4147-A177-3AD203B41FA5}">
                      <a16:colId xmlns:a16="http://schemas.microsoft.com/office/drawing/2014/main" val="20004"/>
                    </a:ext>
                  </a:extLst>
                </a:gridCol>
              </a:tblGrid>
              <a:tr h="370840">
                <a:tc>
                  <a:txBody>
                    <a:bodyPr/>
                    <a:lstStyle/>
                    <a:p>
                      <a:pPr algn="ctr"/>
                      <a:r>
                        <a:rPr lang="en-US" sz="2800" dirty="0"/>
                        <a:t>A</a:t>
                      </a:r>
                      <a:endParaRPr lang="en-IN" sz="2800" dirty="0"/>
                    </a:p>
                  </a:txBody>
                  <a:tcPr/>
                </a:tc>
                <a:tc>
                  <a:txBody>
                    <a:bodyPr/>
                    <a:lstStyle/>
                    <a:p>
                      <a:pPr algn="ctr"/>
                      <a:r>
                        <a:rPr lang="en-US" sz="2800" dirty="0"/>
                        <a:t>B</a:t>
                      </a:r>
                      <a:endParaRPr lang="en-IN" sz="2800" dirty="0"/>
                    </a:p>
                  </a:txBody>
                  <a:tcPr/>
                </a:tc>
                <a:tc>
                  <a:txBody>
                    <a:bodyPr/>
                    <a:lstStyle/>
                    <a:p>
                      <a:pPr algn="ctr"/>
                      <a:r>
                        <a:rPr lang="en-US" sz="2800" dirty="0">
                          <a:solidFill>
                            <a:schemeClr val="bg1"/>
                          </a:solidFill>
                        </a:rPr>
                        <a:t>A</a:t>
                      </a:r>
                      <a:endParaRPr lang="en-IN" sz="2800" dirty="0">
                        <a:solidFill>
                          <a:schemeClr val="bg1"/>
                        </a:solidFill>
                      </a:endParaRPr>
                    </a:p>
                  </a:txBody>
                  <a:tcPr>
                    <a:solidFill>
                      <a:schemeClr val="tx2">
                        <a:lumMod val="50000"/>
                      </a:schemeClr>
                    </a:solidFill>
                  </a:tcPr>
                </a:tc>
                <a:tc>
                  <a:txBody>
                    <a:bodyPr/>
                    <a:lstStyle/>
                    <a:p>
                      <a:pPr algn="ctr"/>
                      <a:r>
                        <a:rPr lang="en-US" sz="2800" dirty="0">
                          <a:solidFill>
                            <a:schemeClr val="bg1"/>
                          </a:solidFill>
                        </a:rPr>
                        <a:t>B</a:t>
                      </a:r>
                      <a:endParaRPr lang="en-IN" sz="2800" dirty="0">
                        <a:solidFill>
                          <a:schemeClr val="bg1"/>
                        </a:solidFill>
                      </a:endParaRPr>
                    </a:p>
                  </a:txBody>
                  <a:tcPr>
                    <a:solidFill>
                      <a:schemeClr val="tx2">
                        <a:lumMod val="50000"/>
                      </a:schemeClr>
                    </a:solidFill>
                  </a:tcPr>
                </a:tc>
                <a:tc>
                  <a:txBody>
                    <a:bodyPr/>
                    <a:lstStyle/>
                    <a:p>
                      <a:pPr algn="ctr"/>
                      <a:r>
                        <a:rPr lang="en-US" sz="2800" dirty="0">
                          <a:solidFill>
                            <a:schemeClr val="bg1"/>
                          </a:solidFill>
                        </a:rPr>
                        <a:t>C</a:t>
                      </a:r>
                      <a:endParaRPr lang="en-IN" sz="2800" dirty="0">
                        <a:solidFill>
                          <a:schemeClr val="bg1"/>
                        </a:solidFill>
                      </a:endParaRPr>
                    </a:p>
                  </a:txBody>
                  <a:tcPr>
                    <a:solidFill>
                      <a:schemeClr val="tx2">
                        <a:lumMod val="50000"/>
                      </a:schemeClr>
                    </a:solidFill>
                  </a:tcPr>
                </a:tc>
                <a:extLst>
                  <a:ext uri="{0D108BD9-81ED-4DB2-BD59-A6C34878D82A}">
                    <a16:rowId xmlns:a16="http://schemas.microsoft.com/office/drawing/2014/main" val="10000"/>
                  </a:ext>
                </a:extLst>
              </a:tr>
              <a:tr h="370840">
                <a:tc>
                  <a:txBody>
                    <a:bodyPr/>
                    <a:lstStyle/>
                    <a:p>
                      <a:pPr algn="ctr"/>
                      <a:r>
                        <a:rPr lang="en-US" sz="2800" dirty="0"/>
                        <a:t>0</a:t>
                      </a:r>
                      <a:endParaRPr lang="en-IN" sz="2800" dirty="0"/>
                    </a:p>
                  </a:txBody>
                  <a:tcPr/>
                </a:tc>
                <a:tc>
                  <a:txBody>
                    <a:bodyPr/>
                    <a:lstStyle/>
                    <a:p>
                      <a:pPr algn="ctr"/>
                      <a:r>
                        <a:rPr lang="en-US" sz="2800" dirty="0"/>
                        <a:t>1</a:t>
                      </a:r>
                      <a:endParaRPr lang="en-IN" sz="2800" dirty="0"/>
                    </a:p>
                  </a:txBody>
                  <a:tcPr/>
                </a:tc>
                <a:tc>
                  <a:txBody>
                    <a:bodyPr/>
                    <a:lstStyle/>
                    <a:p>
                      <a:pPr algn="ctr"/>
                      <a:r>
                        <a:rPr lang="en-US" sz="2800" dirty="0"/>
                        <a:t>2</a:t>
                      </a:r>
                      <a:endParaRPr lang="en-IN" sz="2800" dirty="0"/>
                    </a:p>
                  </a:txBody>
                  <a:tcPr/>
                </a:tc>
                <a:tc>
                  <a:txBody>
                    <a:bodyPr/>
                    <a:lstStyle/>
                    <a:p>
                      <a:pPr algn="ctr"/>
                      <a:r>
                        <a:rPr lang="en-US" sz="2800" dirty="0"/>
                        <a:t>3</a:t>
                      </a:r>
                      <a:endParaRPr lang="en-IN" sz="2800" dirty="0"/>
                    </a:p>
                  </a:txBody>
                  <a:tcPr/>
                </a:tc>
                <a:tc>
                  <a:txBody>
                    <a:bodyPr/>
                    <a:lstStyle/>
                    <a:p>
                      <a:pPr algn="ctr"/>
                      <a:r>
                        <a:rPr lang="en-US" sz="2800" dirty="0"/>
                        <a:t>4</a:t>
                      </a:r>
                      <a:endParaRPr lang="en-IN" sz="2800" dirty="0"/>
                    </a:p>
                  </a:txBody>
                  <a:tcPr/>
                </a:tc>
                <a:extLst>
                  <a:ext uri="{0D108BD9-81ED-4DB2-BD59-A6C34878D82A}">
                    <a16:rowId xmlns:a16="http://schemas.microsoft.com/office/drawing/2014/main" val="10001"/>
                  </a:ext>
                </a:extLst>
              </a:tr>
            </a:tbl>
          </a:graphicData>
        </a:graphic>
      </p:graphicFrame>
      <p:sp>
        <p:nvSpPr>
          <p:cNvPr id="6" name="TextBox 5"/>
          <p:cNvSpPr txBox="1"/>
          <p:nvPr/>
        </p:nvSpPr>
        <p:spPr>
          <a:xfrm>
            <a:off x="8880762" y="27708"/>
            <a:ext cx="2286001" cy="1015663"/>
          </a:xfrm>
          <a:prstGeom prst="rect">
            <a:avLst/>
          </a:prstGeom>
          <a:noFill/>
        </p:spPr>
        <p:txBody>
          <a:bodyPr wrap="square" rtlCol="0">
            <a:spAutoFit/>
          </a:bodyPr>
          <a:lstStyle/>
          <a:p>
            <a:r>
              <a:rPr lang="en-US" sz="3000" dirty="0"/>
              <a:t>Text (index i)</a:t>
            </a:r>
            <a:endParaRPr lang="en-IN" sz="3000" dirty="0"/>
          </a:p>
          <a:p>
            <a:endParaRPr lang="en-IN" sz="3000" dirty="0"/>
          </a:p>
        </p:txBody>
      </p:sp>
      <p:sp>
        <p:nvSpPr>
          <p:cNvPr id="7" name="TextBox 6"/>
          <p:cNvSpPr txBox="1"/>
          <p:nvPr/>
        </p:nvSpPr>
        <p:spPr>
          <a:xfrm>
            <a:off x="8977743" y="1898348"/>
            <a:ext cx="2826330" cy="553998"/>
          </a:xfrm>
          <a:prstGeom prst="rect">
            <a:avLst/>
          </a:prstGeom>
          <a:noFill/>
        </p:spPr>
        <p:txBody>
          <a:bodyPr wrap="square" rtlCol="0">
            <a:spAutoFit/>
          </a:bodyPr>
          <a:lstStyle/>
          <a:p>
            <a:r>
              <a:rPr lang="en-US" sz="3000" dirty="0"/>
              <a:t>Pattern (index j)</a:t>
            </a:r>
            <a:endParaRPr lang="en-IN" sz="3000" dirty="0"/>
          </a:p>
        </p:txBody>
      </p:sp>
      <p:sp>
        <p:nvSpPr>
          <p:cNvPr id="8" name="TextBox 7"/>
          <p:cNvSpPr txBox="1"/>
          <p:nvPr/>
        </p:nvSpPr>
        <p:spPr>
          <a:xfrm>
            <a:off x="9601199" y="2452346"/>
            <a:ext cx="995785" cy="553998"/>
          </a:xfrm>
          <a:prstGeom prst="rect">
            <a:avLst/>
          </a:prstGeom>
          <a:noFill/>
        </p:spPr>
        <p:txBody>
          <a:bodyPr wrap="none" rtlCol="0">
            <a:spAutoFit/>
          </a:bodyPr>
          <a:lstStyle/>
          <a:p>
            <a:r>
              <a:rPr lang="en-US" sz="3000" dirty="0"/>
              <a:t>A B C</a:t>
            </a:r>
            <a:endParaRPr lang="en-IN" sz="3000" dirty="0"/>
          </a:p>
        </p:txBody>
      </p:sp>
    </p:spTree>
    <p:extLst>
      <p:ext uri="{BB962C8B-B14F-4D97-AF65-F5344CB8AC3E}">
        <p14:creationId xmlns:p14="http://schemas.microsoft.com/office/powerpoint/2010/main" val="2654325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11</a:t>
            </a:fld>
            <a:endParaRPr lang="en-AU"/>
          </a:p>
        </p:txBody>
      </p:sp>
      <p:sp>
        <p:nvSpPr>
          <p:cNvPr id="4" name="Rectangle 3"/>
          <p:cNvSpPr/>
          <p:nvPr/>
        </p:nvSpPr>
        <p:spPr>
          <a:xfrm>
            <a:off x="138542" y="770031"/>
            <a:ext cx="6239559" cy="5632311"/>
          </a:xfrm>
          <a:prstGeom prst="rect">
            <a:avLst/>
          </a:prstGeom>
        </p:spPr>
        <p:txBody>
          <a:bodyPr wrap="square">
            <a:spAutoFit/>
          </a:bodyPr>
          <a:lstStyle/>
          <a:p>
            <a:r>
              <a:rPr lang="en-US" sz="2000" dirty="0">
                <a:solidFill>
                  <a:srgbClr val="3F7F5F"/>
                </a:solidFill>
                <a:latin typeface="Times New Roman" panose="02020603050405020304" pitchFamily="18" charset="0"/>
                <a:ea typeface="Times New Roman" panose="02020603050405020304" pitchFamily="18" charset="0"/>
                <a:cs typeface="Times New Roman" panose="02020603050405020304" pitchFamily="18" charset="0"/>
              </a:rPr>
              <a:t>//Naive string pattern matching program</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b="1" dirty="0">
                <a:solidFill>
                  <a:srgbClr val="7F0055"/>
                </a:solidFill>
                <a:latin typeface="Times New Roman" panose="02020603050405020304" pitchFamily="18" charset="0"/>
                <a:ea typeface="Times New Roman" panose="02020603050405020304" pitchFamily="18" charset="0"/>
                <a:cs typeface="Times New Roman" panose="02020603050405020304" pitchFamily="18" charset="0"/>
              </a:rPr>
              <a:t>public</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solidFill>
                  <a:srgbClr val="7F0055"/>
                </a:solidFill>
                <a:latin typeface="Times New Roman" panose="02020603050405020304" pitchFamily="18" charset="0"/>
                <a:ea typeface="Times New Roman" panose="02020603050405020304" pitchFamily="18" charset="0"/>
                <a:cs typeface="Times New Roman" panose="02020603050405020304" pitchFamily="18" charset="0"/>
              </a:rPr>
              <a:t>class</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Naivestring</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solidFill>
                  <a:srgbClr val="7F0055"/>
                </a:solidFill>
                <a:latin typeface="Times New Roman" panose="02020603050405020304" pitchFamily="18" charset="0"/>
                <a:ea typeface="Times New Roman" panose="02020603050405020304" pitchFamily="18" charset="0"/>
                <a:cs typeface="Times New Roman" panose="02020603050405020304" pitchFamily="18" charset="0"/>
              </a:rPr>
              <a:t>public</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solidFill>
                  <a:srgbClr val="7F0055"/>
                </a:solidFill>
                <a:latin typeface="Times New Roman" panose="02020603050405020304" pitchFamily="18" charset="0"/>
                <a:ea typeface="Times New Roman" panose="02020603050405020304" pitchFamily="18" charset="0"/>
                <a:cs typeface="Times New Roman" panose="02020603050405020304" pitchFamily="18" charset="0"/>
              </a:rPr>
              <a:t>static</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solidFill>
                  <a:srgbClr val="7F0055"/>
                </a:solidFill>
                <a:latin typeface="Times New Roman" panose="02020603050405020304" pitchFamily="18" charset="0"/>
                <a:ea typeface="Times New Roman" panose="02020603050405020304" pitchFamily="18" charset="0"/>
                <a:cs typeface="Times New Roman" panose="02020603050405020304" pitchFamily="18" charset="0"/>
              </a:rPr>
              <a:t>void</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search(String </a:t>
            </a:r>
            <a:r>
              <a:rPr lang="en-US" sz="2000" dirty="0">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text</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String </a:t>
            </a:r>
            <a:r>
              <a:rPr lang="en-US" sz="2000" dirty="0">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pat</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err="1">
                <a:solidFill>
                  <a:srgbClr val="7F0055"/>
                </a:solidFill>
                <a:latin typeface="Times New Roman" panose="02020603050405020304" pitchFamily="18" charset="0"/>
                <a:ea typeface="Times New Roman" panose="02020603050405020304" pitchFamily="18" charset="0"/>
                <a:cs typeface="Times New Roman" panose="02020603050405020304" pitchFamily="18" charset="0"/>
              </a:rPr>
              <a:t>int</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m</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2000" dirty="0" err="1">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text</a:t>
            </a:r>
            <a:r>
              <a:rPr lang="en-US" sz="2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.length</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err="1">
                <a:solidFill>
                  <a:srgbClr val="7F0055"/>
                </a:solidFill>
                <a:latin typeface="Times New Roman" panose="02020603050405020304" pitchFamily="18" charset="0"/>
                <a:ea typeface="Times New Roman" panose="02020603050405020304" pitchFamily="18" charset="0"/>
                <a:cs typeface="Times New Roman" panose="02020603050405020304" pitchFamily="18" charset="0"/>
              </a:rPr>
              <a:t>int</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m</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2000" dirty="0" err="1">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pat</a:t>
            </a:r>
            <a:r>
              <a:rPr lang="en-US" sz="2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.length</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err="1">
                <a:solidFill>
                  <a:srgbClr val="7F0055"/>
                </a:solidFill>
                <a:latin typeface="Times New Roman" panose="02020603050405020304" pitchFamily="18" charset="0"/>
                <a:ea typeface="Times New Roman" panose="02020603050405020304" pitchFamily="18" charset="0"/>
                <a:cs typeface="Times New Roman" panose="02020603050405020304" pitchFamily="18" charset="0"/>
              </a:rPr>
              <a:t>int</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i</a:t>
            </a:r>
            <a:r>
              <a:rPr lang="en-US" sz="2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2000" dirty="0" err="1">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j</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solidFill>
                  <a:srgbClr val="7F0055"/>
                </a:solidFill>
                <a:latin typeface="Times New Roman" panose="02020603050405020304" pitchFamily="18" charset="0"/>
                <a:ea typeface="Times New Roman" panose="02020603050405020304" pitchFamily="18" charset="0"/>
                <a:cs typeface="Times New Roman" panose="02020603050405020304" pitchFamily="18" charset="0"/>
              </a:rPr>
              <a:t>for</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i</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=0;</a:t>
            </a:r>
            <a:r>
              <a:rPr lang="en-US" sz="2000" dirty="0">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i</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&lt;=</a:t>
            </a:r>
            <a:r>
              <a:rPr lang="en-US" sz="2000" dirty="0" err="1">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n</a:t>
            </a:r>
            <a:r>
              <a:rPr lang="en-US" sz="2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2000" dirty="0" err="1">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m</a:t>
            </a:r>
            <a:r>
              <a:rPr lang="en-US" sz="2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2000" dirty="0" err="1">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i</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solidFill>
                  <a:srgbClr val="7F0055"/>
                </a:solidFill>
                <a:latin typeface="Times New Roman" panose="02020603050405020304" pitchFamily="18" charset="0"/>
                <a:ea typeface="Times New Roman" panose="02020603050405020304" pitchFamily="18" charset="0"/>
                <a:cs typeface="Times New Roman" panose="02020603050405020304" pitchFamily="18" charset="0"/>
              </a:rPr>
              <a:t>for</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j</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=0;</a:t>
            </a:r>
            <a:r>
              <a:rPr lang="en-US" sz="2000" dirty="0">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j</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&lt;</a:t>
            </a:r>
            <a:r>
              <a:rPr lang="en-US" sz="2000" dirty="0" err="1">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m</a:t>
            </a:r>
            <a:r>
              <a:rPr lang="en-US" sz="2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2000" dirty="0" err="1">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j</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solidFill>
                  <a:srgbClr val="7F0055"/>
                </a:solidFill>
                <a:latin typeface="Times New Roman" panose="02020603050405020304" pitchFamily="18" charset="0"/>
                <a:ea typeface="Times New Roman" panose="02020603050405020304" pitchFamily="18" charset="0"/>
                <a:cs typeface="Times New Roman" panose="02020603050405020304" pitchFamily="18" charset="0"/>
              </a:rPr>
              <a:t>if</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text</a:t>
            </a:r>
            <a:r>
              <a:rPr lang="en-US" sz="2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.charAt</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2000" dirty="0" err="1">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i</a:t>
            </a:r>
            <a:r>
              <a:rPr lang="en-US" sz="2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2000" dirty="0" err="1">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j</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2000" dirty="0" err="1">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pat</a:t>
            </a:r>
            <a:r>
              <a:rPr lang="en-US" sz="2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.charAt</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2000" dirty="0">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j</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solidFill>
                  <a:srgbClr val="7F0055"/>
                </a:solidFill>
                <a:latin typeface="Times New Roman" panose="02020603050405020304" pitchFamily="18" charset="0"/>
                <a:ea typeface="Times New Roman" panose="02020603050405020304" pitchFamily="18" charset="0"/>
                <a:cs typeface="Times New Roman" panose="02020603050405020304" pitchFamily="18" charset="0"/>
              </a:rPr>
              <a:t>break</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solidFill>
                  <a:srgbClr val="7F0055"/>
                </a:solidFill>
                <a:latin typeface="Times New Roman" panose="02020603050405020304" pitchFamily="18" charset="0"/>
                <a:ea typeface="Times New Roman" panose="02020603050405020304" pitchFamily="18" charset="0"/>
                <a:cs typeface="Times New Roman" panose="02020603050405020304" pitchFamily="18" charset="0"/>
              </a:rPr>
              <a:t>if</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j</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2000" dirty="0">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m</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System.</a:t>
            </a:r>
            <a:r>
              <a:rPr lang="en-US" sz="2000" b="1" i="1" dirty="0" err="1">
                <a:solidFill>
                  <a:srgbClr val="0000C0"/>
                </a:solidFill>
                <a:latin typeface="Times New Roman" panose="02020603050405020304" pitchFamily="18" charset="0"/>
                <a:ea typeface="Times New Roman" panose="02020603050405020304" pitchFamily="18" charset="0"/>
                <a:cs typeface="Times New Roman" panose="02020603050405020304" pitchFamily="18" charset="0"/>
              </a:rPr>
              <a:t>out</a:t>
            </a:r>
            <a:r>
              <a:rPr lang="en-US" sz="2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.println</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2000" dirty="0">
                <a:solidFill>
                  <a:srgbClr val="2A00FF"/>
                </a:solidFill>
                <a:latin typeface="Times New Roman" panose="02020603050405020304" pitchFamily="18" charset="0"/>
                <a:ea typeface="Times New Roman" panose="02020603050405020304" pitchFamily="18" charset="0"/>
                <a:cs typeface="Times New Roman" panose="02020603050405020304" pitchFamily="18" charset="0"/>
              </a:rPr>
              <a:t>"Pattern found at index "</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i</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
        <p:nvSpPr>
          <p:cNvPr id="5" name="Rectangle 4"/>
          <p:cNvSpPr/>
          <p:nvPr/>
        </p:nvSpPr>
        <p:spPr>
          <a:xfrm>
            <a:off x="7273636" y="342113"/>
            <a:ext cx="4918364" cy="3785652"/>
          </a:xfrm>
          <a:prstGeom prst="rect">
            <a:avLst/>
          </a:prstGeom>
        </p:spPr>
        <p:txBody>
          <a:bodyPr wrap="square">
            <a:spAutoFit/>
          </a:bodyPr>
          <a:lstStyle/>
          <a:p>
            <a:endParaRPr lang="en-US" sz="16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1600" b="1" dirty="0">
                <a:solidFill>
                  <a:srgbClr val="7F0055"/>
                </a:solidFill>
                <a:latin typeface="Times New Roman" panose="02020603050405020304" pitchFamily="18" charset="0"/>
                <a:ea typeface="Times New Roman" panose="02020603050405020304" pitchFamily="18" charset="0"/>
                <a:cs typeface="Times New Roman" panose="02020603050405020304" pitchFamily="18" charset="0"/>
              </a:rPr>
              <a:t>public</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a:solidFill>
                  <a:srgbClr val="7F0055"/>
                </a:solidFill>
                <a:latin typeface="Times New Roman" panose="02020603050405020304" pitchFamily="18" charset="0"/>
                <a:ea typeface="Times New Roman" panose="02020603050405020304" pitchFamily="18" charset="0"/>
                <a:cs typeface="Times New Roman" panose="02020603050405020304" pitchFamily="18" charset="0"/>
              </a:rPr>
              <a:t>static</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a:solidFill>
                  <a:srgbClr val="7F0055"/>
                </a:solidFill>
                <a:latin typeface="Times New Roman" panose="02020603050405020304" pitchFamily="18" charset="0"/>
                <a:ea typeface="Times New Roman" panose="02020603050405020304" pitchFamily="18" charset="0"/>
                <a:cs typeface="Times New Roman" panose="02020603050405020304" pitchFamily="18" charset="0"/>
              </a:rPr>
              <a:t>void</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main(String[] </a:t>
            </a:r>
            <a:r>
              <a:rPr lang="en-US" sz="1600" dirty="0">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args</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1600" dirty="0">
                <a:solidFill>
                  <a:srgbClr val="3F7F5F"/>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a:solidFill>
                  <a:srgbClr val="7F9FBF"/>
                </a:solidFill>
                <a:latin typeface="Times New Roman" panose="02020603050405020304" pitchFamily="18" charset="0"/>
                <a:ea typeface="Times New Roman" panose="02020603050405020304" pitchFamily="18" charset="0"/>
                <a:cs typeface="Times New Roman" panose="02020603050405020304" pitchFamily="18" charset="0"/>
              </a:rPr>
              <a:t>TODO</a:t>
            </a:r>
            <a:r>
              <a:rPr lang="en-US" sz="1600" dirty="0">
                <a:solidFill>
                  <a:srgbClr val="3F7F5F"/>
                </a:solidFill>
                <a:latin typeface="Times New Roman" panose="02020603050405020304" pitchFamily="18" charset="0"/>
                <a:ea typeface="Times New Roman" panose="02020603050405020304" pitchFamily="18" charset="0"/>
                <a:cs typeface="Times New Roman" panose="02020603050405020304" pitchFamily="18" charset="0"/>
              </a:rPr>
              <a:t> Auto-generated method stub</a:t>
            </a:r>
            <a:endParaRPr lang="en-US" sz="16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String </a:t>
            </a:r>
            <a:r>
              <a:rPr lang="en-US" sz="1600" dirty="0">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text1</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 </a:t>
            </a:r>
            <a:r>
              <a:rPr lang="en-US" sz="1600" dirty="0">
                <a:solidFill>
                  <a:srgbClr val="2A00FF"/>
                </a:solidFill>
                <a:latin typeface="Times New Roman" panose="02020603050405020304" pitchFamily="18" charset="0"/>
                <a:ea typeface="Times New Roman" panose="02020603050405020304" pitchFamily="18" charset="0"/>
                <a:cs typeface="Times New Roman" panose="02020603050405020304" pitchFamily="18" charset="0"/>
              </a:rPr>
              <a:t>"AABAACAADAABAABA"</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String </a:t>
            </a:r>
            <a:r>
              <a:rPr lang="en-US" sz="1600" dirty="0">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pat1</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 </a:t>
            </a:r>
            <a:r>
              <a:rPr lang="en-US" sz="1600" dirty="0">
                <a:solidFill>
                  <a:srgbClr val="2A00FF"/>
                </a:solidFill>
                <a:latin typeface="Times New Roman" panose="02020603050405020304" pitchFamily="18" charset="0"/>
                <a:ea typeface="Times New Roman" panose="02020603050405020304" pitchFamily="18" charset="0"/>
                <a:cs typeface="Times New Roman" panose="02020603050405020304" pitchFamily="18" charset="0"/>
              </a:rPr>
              <a:t>"AABA"</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System.</a:t>
            </a:r>
            <a:r>
              <a:rPr lang="en-US" sz="1600" b="1" i="1" dirty="0" err="1">
                <a:solidFill>
                  <a:srgbClr val="0000C0"/>
                </a:solidFill>
                <a:latin typeface="Times New Roman" panose="02020603050405020304" pitchFamily="18" charset="0"/>
                <a:ea typeface="Times New Roman" panose="02020603050405020304" pitchFamily="18" charset="0"/>
                <a:cs typeface="Times New Roman" panose="02020603050405020304" pitchFamily="18" charset="0"/>
              </a:rPr>
              <a:t>out</a:t>
            </a:r>
            <a:r>
              <a:rPr lang="en-US" sz="16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.println</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1600" dirty="0">
                <a:solidFill>
                  <a:srgbClr val="2A00FF"/>
                </a:solidFill>
                <a:latin typeface="Times New Roman" panose="02020603050405020304" pitchFamily="18" charset="0"/>
                <a:ea typeface="Times New Roman" panose="02020603050405020304" pitchFamily="18" charset="0"/>
                <a:cs typeface="Times New Roman" panose="02020603050405020304" pitchFamily="18" charset="0"/>
              </a:rPr>
              <a:t>"First string output "</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 </a:t>
            </a:r>
            <a:r>
              <a:rPr lang="en-US" sz="1600" dirty="0">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text1</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1600" dirty="0">
                <a:solidFill>
                  <a:srgbClr val="2A00FF"/>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1600" dirty="0">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pat1</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1600" b="1" dirty="0">
                <a:solidFill>
                  <a:srgbClr val="1E03BD"/>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600" b="1" i="1" dirty="0">
                <a:solidFill>
                  <a:srgbClr val="1E03BD"/>
                </a:solidFill>
                <a:latin typeface="Times New Roman" panose="02020603050405020304" pitchFamily="18" charset="0"/>
                <a:ea typeface="Times New Roman" panose="02020603050405020304" pitchFamily="18" charset="0"/>
                <a:cs typeface="Times New Roman" panose="02020603050405020304" pitchFamily="18" charset="0"/>
              </a:rPr>
              <a:t>search</a:t>
            </a:r>
            <a:r>
              <a:rPr lang="en-US" sz="1600" b="1" dirty="0">
                <a:solidFill>
                  <a:srgbClr val="1E03BD"/>
                </a:solidFill>
                <a:latin typeface="Times New Roman" panose="02020603050405020304" pitchFamily="18" charset="0"/>
                <a:ea typeface="Times New Roman" panose="02020603050405020304" pitchFamily="18" charset="0"/>
                <a:cs typeface="Times New Roman" panose="02020603050405020304" pitchFamily="18" charset="0"/>
              </a:rPr>
              <a:t>(text1,pat1);</a:t>
            </a:r>
          </a:p>
          <a:p>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String </a:t>
            </a:r>
            <a:r>
              <a:rPr lang="en-US" sz="1600" dirty="0">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text2</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 </a:t>
            </a:r>
            <a:r>
              <a:rPr lang="en-US" sz="1600" dirty="0">
                <a:solidFill>
                  <a:srgbClr val="2A00FF"/>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1600" dirty="0" err="1">
                <a:solidFill>
                  <a:srgbClr val="2A00FF"/>
                </a:solidFill>
                <a:latin typeface="Times New Roman" panose="02020603050405020304" pitchFamily="18" charset="0"/>
                <a:ea typeface="Times New Roman" panose="02020603050405020304" pitchFamily="18" charset="0"/>
                <a:cs typeface="Times New Roman" panose="02020603050405020304" pitchFamily="18" charset="0"/>
              </a:rPr>
              <a:t>ababcabdabcaabc</a:t>
            </a:r>
            <a:r>
              <a:rPr lang="en-US" sz="1600" dirty="0">
                <a:solidFill>
                  <a:srgbClr val="2A00FF"/>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String </a:t>
            </a:r>
            <a:r>
              <a:rPr lang="en-US" sz="1600" dirty="0">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pat2</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 </a:t>
            </a:r>
            <a:r>
              <a:rPr lang="en-US" sz="1600" dirty="0">
                <a:solidFill>
                  <a:srgbClr val="2A00FF"/>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1600" dirty="0" err="1">
                <a:solidFill>
                  <a:srgbClr val="2A00FF"/>
                </a:solidFill>
                <a:latin typeface="Times New Roman" panose="02020603050405020304" pitchFamily="18" charset="0"/>
                <a:ea typeface="Times New Roman" panose="02020603050405020304" pitchFamily="18" charset="0"/>
                <a:cs typeface="Times New Roman" panose="02020603050405020304" pitchFamily="18" charset="0"/>
              </a:rPr>
              <a:t>abc</a:t>
            </a:r>
            <a:r>
              <a:rPr lang="en-US" sz="1600" dirty="0">
                <a:solidFill>
                  <a:srgbClr val="2A00FF"/>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System.</a:t>
            </a:r>
            <a:r>
              <a:rPr lang="en-US" sz="1600" b="1" i="1" dirty="0" err="1">
                <a:solidFill>
                  <a:srgbClr val="0000C0"/>
                </a:solidFill>
                <a:latin typeface="Times New Roman" panose="02020603050405020304" pitchFamily="18" charset="0"/>
                <a:ea typeface="Times New Roman" panose="02020603050405020304" pitchFamily="18" charset="0"/>
                <a:cs typeface="Times New Roman" panose="02020603050405020304" pitchFamily="18" charset="0"/>
              </a:rPr>
              <a:t>out</a:t>
            </a:r>
            <a:r>
              <a:rPr lang="en-US" sz="16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.println</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1600" dirty="0">
                <a:solidFill>
                  <a:srgbClr val="2A00FF"/>
                </a:solidFill>
                <a:latin typeface="Times New Roman" panose="02020603050405020304" pitchFamily="18" charset="0"/>
                <a:ea typeface="Times New Roman" panose="02020603050405020304" pitchFamily="18" charset="0"/>
                <a:cs typeface="Times New Roman" panose="02020603050405020304" pitchFamily="18" charset="0"/>
              </a:rPr>
              <a:t>"Second string output "</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 </a:t>
            </a:r>
            <a:r>
              <a:rPr lang="en-US" sz="1600" dirty="0">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text2</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1600" dirty="0">
                <a:solidFill>
                  <a:srgbClr val="2A00FF"/>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1600" dirty="0">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pat2</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6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search</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1600" dirty="0">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text2</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1600" dirty="0">
                <a:solidFill>
                  <a:srgbClr val="6A3E3E"/>
                </a:solidFill>
                <a:latin typeface="Times New Roman" panose="02020603050405020304" pitchFamily="18" charset="0"/>
                <a:ea typeface="Times New Roman" panose="02020603050405020304" pitchFamily="18" charset="0"/>
                <a:cs typeface="Times New Roman" panose="02020603050405020304" pitchFamily="18" charset="0"/>
              </a:rPr>
              <a:t>pat2</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6" name="Rectangle 5"/>
          <p:cNvSpPr/>
          <p:nvPr/>
        </p:nvSpPr>
        <p:spPr>
          <a:xfrm>
            <a:off x="7642992" y="3628440"/>
            <a:ext cx="4179651" cy="3055965"/>
          </a:xfrm>
          <a:prstGeom prst="rect">
            <a:avLst/>
          </a:prstGeom>
        </p:spPr>
        <p:txBody>
          <a:bodyPr wrap="square">
            <a:spAutoFit/>
          </a:bodyPr>
          <a:lstStyle/>
          <a:p>
            <a:pPr>
              <a:lnSpc>
                <a:spcPct val="107000"/>
              </a:lnSpc>
            </a:pPr>
            <a:r>
              <a:rPr lang="en-US" b="1" u="sng" kern="100" dirty="0">
                <a:latin typeface="Times New Roman" panose="02020603050405020304" pitchFamily="18" charset="0"/>
                <a:ea typeface="Calibri" panose="020F0502020204030204" pitchFamily="34" charset="0"/>
                <a:cs typeface="Times New Roman" panose="02020603050405020304" pitchFamily="18" charset="0"/>
              </a:rPr>
              <a:t>OUTPUT:</a:t>
            </a:r>
            <a:endParaRPr lang="en-US" sz="16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kern="100" dirty="0">
                <a:latin typeface="Times New Roman" panose="02020603050405020304" pitchFamily="18" charset="0"/>
                <a:ea typeface="Calibri" panose="020F0502020204030204" pitchFamily="34" charset="0"/>
                <a:cs typeface="Times New Roman" panose="02020603050405020304" pitchFamily="18" charset="0"/>
              </a:rPr>
              <a:t>First string output AABAACAADAABAABA AABA</a:t>
            </a:r>
            <a:endParaRPr lang="en-US" sz="16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kern="100" dirty="0">
                <a:latin typeface="Times New Roman" panose="02020603050405020304" pitchFamily="18" charset="0"/>
                <a:ea typeface="Calibri" panose="020F0502020204030204" pitchFamily="34" charset="0"/>
                <a:cs typeface="Times New Roman" panose="02020603050405020304" pitchFamily="18" charset="0"/>
              </a:rPr>
              <a:t>Pattern found at index 0</a:t>
            </a:r>
            <a:endParaRPr lang="en-US" sz="16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kern="100" dirty="0">
                <a:latin typeface="Times New Roman" panose="02020603050405020304" pitchFamily="18" charset="0"/>
                <a:ea typeface="Calibri" panose="020F0502020204030204" pitchFamily="34" charset="0"/>
                <a:cs typeface="Times New Roman" panose="02020603050405020304" pitchFamily="18" charset="0"/>
              </a:rPr>
              <a:t>Pattern found at index 9</a:t>
            </a:r>
            <a:endParaRPr lang="en-US" sz="16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kern="100" dirty="0">
                <a:latin typeface="Times New Roman" panose="02020603050405020304" pitchFamily="18" charset="0"/>
                <a:ea typeface="Calibri" panose="020F0502020204030204" pitchFamily="34" charset="0"/>
                <a:cs typeface="Times New Roman" panose="02020603050405020304" pitchFamily="18" charset="0"/>
              </a:rPr>
              <a:t>Pattern found at index 12</a:t>
            </a:r>
            <a:endParaRPr lang="en-US" sz="16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kern="100" dirty="0">
                <a:latin typeface="Times New Roman" panose="02020603050405020304" pitchFamily="18" charset="0"/>
                <a:ea typeface="Calibri" panose="020F0502020204030204" pitchFamily="34" charset="0"/>
                <a:cs typeface="Times New Roman" panose="02020603050405020304" pitchFamily="18" charset="0"/>
              </a:rPr>
              <a:t>Second string output </a:t>
            </a:r>
            <a:r>
              <a:rPr lang="en-US" kern="100" dirty="0" err="1">
                <a:latin typeface="Times New Roman" panose="02020603050405020304" pitchFamily="18" charset="0"/>
                <a:ea typeface="Calibri" panose="020F0502020204030204" pitchFamily="34" charset="0"/>
                <a:cs typeface="Times New Roman" panose="02020603050405020304" pitchFamily="18" charset="0"/>
              </a:rPr>
              <a:t>ababcabdabcaabc</a:t>
            </a:r>
            <a:r>
              <a:rPr lang="en-US" kern="100" dirty="0">
                <a:latin typeface="Times New Roman" panose="02020603050405020304" pitchFamily="18" charset="0"/>
                <a:ea typeface="Calibri" panose="020F0502020204030204" pitchFamily="34" charset="0"/>
                <a:cs typeface="Times New Roman" panose="02020603050405020304" pitchFamily="18" charset="0"/>
              </a:rPr>
              <a:t> </a:t>
            </a:r>
            <a:r>
              <a:rPr lang="en-US" kern="100" dirty="0" err="1">
                <a:latin typeface="Times New Roman" panose="02020603050405020304" pitchFamily="18" charset="0"/>
                <a:ea typeface="Calibri" panose="020F0502020204030204" pitchFamily="34" charset="0"/>
                <a:cs typeface="Times New Roman" panose="02020603050405020304" pitchFamily="18" charset="0"/>
              </a:rPr>
              <a:t>abc</a:t>
            </a:r>
            <a:endParaRPr lang="en-US" sz="16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kern="100" dirty="0">
                <a:latin typeface="Times New Roman" panose="02020603050405020304" pitchFamily="18" charset="0"/>
                <a:ea typeface="Calibri" panose="020F0502020204030204" pitchFamily="34" charset="0"/>
                <a:cs typeface="Times New Roman" panose="02020603050405020304" pitchFamily="18" charset="0"/>
              </a:rPr>
              <a:t>Pattern found at index 2</a:t>
            </a:r>
            <a:endParaRPr lang="en-US" sz="16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kern="100" dirty="0">
                <a:latin typeface="Times New Roman" panose="02020603050405020304" pitchFamily="18" charset="0"/>
                <a:ea typeface="Calibri" panose="020F0502020204030204" pitchFamily="34" charset="0"/>
                <a:cs typeface="Times New Roman" panose="02020603050405020304" pitchFamily="18" charset="0"/>
              </a:rPr>
              <a:t>Pattern found at index 8</a:t>
            </a:r>
            <a:endParaRPr lang="en-US" sz="16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kern="100" dirty="0">
                <a:latin typeface="Times New Roman" panose="02020603050405020304" pitchFamily="18" charset="0"/>
                <a:ea typeface="Calibri" panose="020F0502020204030204" pitchFamily="34" charset="0"/>
                <a:cs typeface="Times New Roman" panose="02020603050405020304" pitchFamily="18" charset="0"/>
              </a:rPr>
              <a:t>Pattern found at index 12</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65320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12</a:t>
            </a:fld>
            <a:endParaRPr lang="en-AU"/>
          </a:p>
        </p:txBody>
      </p:sp>
      <p:sp>
        <p:nvSpPr>
          <p:cNvPr id="5" name="Rectangle 4"/>
          <p:cNvSpPr/>
          <p:nvPr/>
        </p:nvSpPr>
        <p:spPr>
          <a:xfrm>
            <a:off x="457200" y="1093371"/>
            <a:ext cx="11400817" cy="5262979"/>
          </a:xfrm>
          <a:prstGeom prst="rect">
            <a:avLst/>
          </a:prstGeom>
        </p:spPr>
        <p:txBody>
          <a:bodyPr wrap="square">
            <a:spAutoFit/>
          </a:bodyPr>
          <a:lstStyle/>
          <a:p>
            <a:r>
              <a:rPr lang="en-US" sz="2800" dirty="0"/>
              <a:t>Consider the worst case: P = "</a:t>
            </a:r>
            <a:r>
              <a:rPr lang="en-US" sz="2800" dirty="0" err="1"/>
              <a:t>aaab</a:t>
            </a:r>
            <a:r>
              <a:rPr lang="en-US" sz="2800" dirty="0"/>
              <a:t>" style patterns against runs of the same character.</a:t>
            </a:r>
          </a:p>
          <a:p>
            <a:r>
              <a:rPr lang="en-US" sz="2800" dirty="0"/>
              <a:t>Text T = "</a:t>
            </a:r>
            <a:r>
              <a:rPr lang="en-US" sz="2800" dirty="0" err="1"/>
              <a:t>aaaaaaaaab</a:t>
            </a:r>
            <a:r>
              <a:rPr lang="en-US" sz="2800" dirty="0"/>
              <a:t>" (n=10), keyword P = "</a:t>
            </a:r>
            <a:r>
              <a:rPr lang="en-US" sz="2800" dirty="0" err="1"/>
              <a:t>aaab</a:t>
            </a:r>
            <a:r>
              <a:rPr lang="en-US" sz="2800" dirty="0"/>
              <a:t>" (m=4). Windows </a:t>
            </a:r>
            <a:r>
              <a:rPr lang="en-US" sz="2800" dirty="0" err="1"/>
              <a:t>i</a:t>
            </a:r>
            <a:r>
              <a:rPr lang="en-US" sz="2800" dirty="0"/>
              <a:t> = 0…6:</a:t>
            </a:r>
          </a:p>
          <a:p>
            <a:r>
              <a:rPr lang="en-US" sz="2800" dirty="0" err="1"/>
              <a:t>i</a:t>
            </a:r>
            <a:r>
              <a:rPr lang="en-US" sz="2800" dirty="0"/>
              <a:t>=0:  a </a:t>
            </a:r>
            <a:r>
              <a:rPr lang="en-US" sz="2800" dirty="0" err="1"/>
              <a:t>a</a:t>
            </a:r>
            <a:r>
              <a:rPr lang="en-US" sz="2800" dirty="0"/>
              <a:t> </a:t>
            </a:r>
            <a:r>
              <a:rPr lang="en-US" sz="2800" dirty="0" err="1"/>
              <a:t>a</a:t>
            </a:r>
            <a:r>
              <a:rPr lang="en-US" sz="2800" dirty="0"/>
              <a:t> b   vs T[0..3]=a </a:t>
            </a:r>
            <a:r>
              <a:rPr lang="en-US" sz="2800" dirty="0" err="1"/>
              <a:t>a</a:t>
            </a:r>
            <a:r>
              <a:rPr lang="en-US" sz="2800" dirty="0"/>
              <a:t> </a:t>
            </a:r>
            <a:r>
              <a:rPr lang="en-US" sz="2800" dirty="0" err="1"/>
              <a:t>a</a:t>
            </a:r>
            <a:r>
              <a:rPr lang="en-US" sz="2800" dirty="0"/>
              <a:t> </a:t>
            </a:r>
            <a:r>
              <a:rPr lang="en-US" sz="2800" dirty="0" err="1"/>
              <a:t>a</a:t>
            </a:r>
            <a:r>
              <a:rPr lang="en-US" sz="2800" dirty="0"/>
              <a:t>   → a=</a:t>
            </a:r>
            <a:r>
              <a:rPr lang="en-US" sz="2800" dirty="0" err="1"/>
              <a:t>a,a</a:t>
            </a:r>
            <a:r>
              <a:rPr lang="en-US" sz="2800" dirty="0"/>
              <a:t>=</a:t>
            </a:r>
            <a:r>
              <a:rPr lang="en-US" sz="2800" dirty="0" err="1"/>
              <a:t>a,a</a:t>
            </a:r>
            <a:r>
              <a:rPr lang="en-US" sz="2800" dirty="0"/>
              <a:t>=</a:t>
            </a:r>
            <a:r>
              <a:rPr lang="en-US" sz="2800" dirty="0" err="1"/>
              <a:t>a,b≠a</a:t>
            </a:r>
            <a:r>
              <a:rPr lang="en-US" sz="2800" dirty="0"/>
              <a:t>  → 4 comparisons, FAIL</a:t>
            </a:r>
          </a:p>
          <a:p>
            <a:r>
              <a:rPr lang="en-US" sz="2800" dirty="0" err="1"/>
              <a:t>i</a:t>
            </a:r>
            <a:r>
              <a:rPr lang="en-US" sz="2800" dirty="0"/>
              <a:t>=1:  a </a:t>
            </a:r>
            <a:r>
              <a:rPr lang="en-US" sz="2800" dirty="0" err="1"/>
              <a:t>a</a:t>
            </a:r>
            <a:r>
              <a:rPr lang="en-US" sz="2800" dirty="0"/>
              <a:t> </a:t>
            </a:r>
            <a:r>
              <a:rPr lang="en-US" sz="2800" dirty="0" err="1"/>
              <a:t>a</a:t>
            </a:r>
            <a:r>
              <a:rPr lang="en-US" sz="2800" dirty="0"/>
              <a:t> b   vs T[1..4]=a </a:t>
            </a:r>
            <a:r>
              <a:rPr lang="en-US" sz="2800" dirty="0" err="1"/>
              <a:t>a</a:t>
            </a:r>
            <a:r>
              <a:rPr lang="en-US" sz="2800" dirty="0"/>
              <a:t> </a:t>
            </a:r>
            <a:r>
              <a:rPr lang="en-US" sz="2800" dirty="0" err="1"/>
              <a:t>a</a:t>
            </a:r>
            <a:r>
              <a:rPr lang="en-US" sz="2800" dirty="0"/>
              <a:t> </a:t>
            </a:r>
            <a:r>
              <a:rPr lang="en-US" sz="2800" dirty="0" err="1"/>
              <a:t>a</a:t>
            </a:r>
            <a:r>
              <a:rPr lang="en-US" sz="2800" dirty="0"/>
              <a:t>   → a=</a:t>
            </a:r>
            <a:r>
              <a:rPr lang="en-US" sz="2800" dirty="0" err="1"/>
              <a:t>a,a</a:t>
            </a:r>
            <a:r>
              <a:rPr lang="en-US" sz="2800" dirty="0"/>
              <a:t>=</a:t>
            </a:r>
            <a:r>
              <a:rPr lang="en-US" sz="2800" dirty="0" err="1"/>
              <a:t>a,a</a:t>
            </a:r>
            <a:r>
              <a:rPr lang="en-US" sz="2800" dirty="0"/>
              <a:t>=</a:t>
            </a:r>
            <a:r>
              <a:rPr lang="en-US" sz="2800" dirty="0" err="1"/>
              <a:t>a,b≠a</a:t>
            </a:r>
            <a:r>
              <a:rPr lang="en-US" sz="2800" dirty="0"/>
              <a:t>  → 4 comparisons, FAIL</a:t>
            </a:r>
          </a:p>
          <a:p>
            <a:r>
              <a:rPr lang="en-US" sz="2800" dirty="0" err="1"/>
              <a:t>i</a:t>
            </a:r>
            <a:r>
              <a:rPr lang="en-US" sz="2800" dirty="0"/>
              <a:t>=2:  a </a:t>
            </a:r>
            <a:r>
              <a:rPr lang="en-US" sz="2800" dirty="0" err="1"/>
              <a:t>a</a:t>
            </a:r>
            <a:r>
              <a:rPr lang="en-US" sz="2800" dirty="0"/>
              <a:t> </a:t>
            </a:r>
            <a:r>
              <a:rPr lang="en-US" sz="2800" dirty="0" err="1"/>
              <a:t>a</a:t>
            </a:r>
            <a:r>
              <a:rPr lang="en-US" sz="2800" dirty="0"/>
              <a:t> b   vs T[2..5]=a </a:t>
            </a:r>
            <a:r>
              <a:rPr lang="en-US" sz="2800" dirty="0" err="1"/>
              <a:t>a</a:t>
            </a:r>
            <a:r>
              <a:rPr lang="en-US" sz="2800" dirty="0"/>
              <a:t> </a:t>
            </a:r>
            <a:r>
              <a:rPr lang="en-US" sz="2800" dirty="0" err="1"/>
              <a:t>a</a:t>
            </a:r>
            <a:r>
              <a:rPr lang="en-US" sz="2800" dirty="0"/>
              <a:t> </a:t>
            </a:r>
            <a:r>
              <a:rPr lang="en-US" sz="2800" dirty="0" err="1"/>
              <a:t>a</a:t>
            </a:r>
            <a:r>
              <a:rPr lang="en-US" sz="2800" dirty="0"/>
              <a:t>   → 4 comparisons, FAIL</a:t>
            </a:r>
          </a:p>
          <a:p>
            <a:r>
              <a:rPr lang="en-US" sz="2800" dirty="0" err="1"/>
              <a:t>i</a:t>
            </a:r>
            <a:r>
              <a:rPr lang="en-US" sz="2800" dirty="0"/>
              <a:t>=3:  a </a:t>
            </a:r>
            <a:r>
              <a:rPr lang="en-US" sz="2800" dirty="0" err="1"/>
              <a:t>a</a:t>
            </a:r>
            <a:r>
              <a:rPr lang="en-US" sz="2800" dirty="0"/>
              <a:t> </a:t>
            </a:r>
            <a:r>
              <a:rPr lang="en-US" sz="2800" dirty="0" err="1"/>
              <a:t>a</a:t>
            </a:r>
            <a:r>
              <a:rPr lang="en-US" sz="2800" dirty="0"/>
              <a:t> b   vs T[3..6]=a </a:t>
            </a:r>
            <a:r>
              <a:rPr lang="en-US" sz="2800" dirty="0" err="1"/>
              <a:t>a</a:t>
            </a:r>
            <a:r>
              <a:rPr lang="en-US" sz="2800" dirty="0"/>
              <a:t> </a:t>
            </a:r>
            <a:r>
              <a:rPr lang="en-US" sz="2800" dirty="0" err="1"/>
              <a:t>a</a:t>
            </a:r>
            <a:r>
              <a:rPr lang="en-US" sz="2800" dirty="0"/>
              <a:t> </a:t>
            </a:r>
            <a:r>
              <a:rPr lang="en-US" sz="2800" dirty="0" err="1"/>
              <a:t>a</a:t>
            </a:r>
            <a:r>
              <a:rPr lang="en-US" sz="2800" dirty="0"/>
              <a:t>   → 4 comparisons, FAIL</a:t>
            </a:r>
          </a:p>
          <a:p>
            <a:r>
              <a:rPr lang="en-US" sz="2800" dirty="0" err="1"/>
              <a:t>i</a:t>
            </a:r>
            <a:r>
              <a:rPr lang="en-US" sz="2800" dirty="0"/>
              <a:t>=4:  a </a:t>
            </a:r>
            <a:r>
              <a:rPr lang="en-US" sz="2800" dirty="0" err="1"/>
              <a:t>a</a:t>
            </a:r>
            <a:r>
              <a:rPr lang="en-US" sz="2800" dirty="0"/>
              <a:t> </a:t>
            </a:r>
            <a:r>
              <a:rPr lang="en-US" sz="2800" dirty="0" err="1"/>
              <a:t>a</a:t>
            </a:r>
            <a:r>
              <a:rPr lang="en-US" sz="2800" dirty="0"/>
              <a:t> b   vs T[4..7]=a </a:t>
            </a:r>
            <a:r>
              <a:rPr lang="en-US" sz="2800" dirty="0" err="1"/>
              <a:t>a</a:t>
            </a:r>
            <a:r>
              <a:rPr lang="en-US" sz="2800" dirty="0"/>
              <a:t> </a:t>
            </a:r>
            <a:r>
              <a:rPr lang="en-US" sz="2800" dirty="0" err="1"/>
              <a:t>a</a:t>
            </a:r>
            <a:r>
              <a:rPr lang="en-US" sz="2800" dirty="0"/>
              <a:t> </a:t>
            </a:r>
            <a:r>
              <a:rPr lang="en-US" sz="2800" dirty="0" err="1"/>
              <a:t>a</a:t>
            </a:r>
            <a:r>
              <a:rPr lang="en-US" sz="2800" dirty="0"/>
              <a:t>   → 4 comparisons, FAIL</a:t>
            </a:r>
          </a:p>
          <a:p>
            <a:r>
              <a:rPr lang="en-US" sz="2800" dirty="0" err="1"/>
              <a:t>i</a:t>
            </a:r>
            <a:r>
              <a:rPr lang="en-US" sz="2800" dirty="0"/>
              <a:t>=5:  a </a:t>
            </a:r>
            <a:r>
              <a:rPr lang="en-US" sz="2800" dirty="0" err="1"/>
              <a:t>a</a:t>
            </a:r>
            <a:r>
              <a:rPr lang="en-US" sz="2800" dirty="0"/>
              <a:t> </a:t>
            </a:r>
            <a:r>
              <a:rPr lang="en-US" sz="2800" dirty="0" err="1"/>
              <a:t>a</a:t>
            </a:r>
            <a:r>
              <a:rPr lang="en-US" sz="2800" dirty="0"/>
              <a:t> b   vs T[5..8]=a </a:t>
            </a:r>
            <a:r>
              <a:rPr lang="en-US" sz="2800" dirty="0" err="1"/>
              <a:t>a</a:t>
            </a:r>
            <a:r>
              <a:rPr lang="en-US" sz="2800" dirty="0"/>
              <a:t> </a:t>
            </a:r>
            <a:r>
              <a:rPr lang="en-US" sz="2800" dirty="0" err="1"/>
              <a:t>a</a:t>
            </a:r>
            <a:r>
              <a:rPr lang="en-US" sz="2800" dirty="0"/>
              <a:t> </a:t>
            </a:r>
            <a:r>
              <a:rPr lang="en-US" sz="2800" dirty="0" err="1"/>
              <a:t>a</a:t>
            </a:r>
            <a:r>
              <a:rPr lang="en-US" sz="2800" dirty="0"/>
              <a:t>   → 4 comparisons, FAIL</a:t>
            </a:r>
          </a:p>
          <a:p>
            <a:r>
              <a:rPr lang="en-US" sz="2800" dirty="0" err="1"/>
              <a:t>i</a:t>
            </a:r>
            <a:r>
              <a:rPr lang="en-US" sz="2800" dirty="0"/>
              <a:t>=6:  a </a:t>
            </a:r>
            <a:r>
              <a:rPr lang="en-US" sz="2800" dirty="0" err="1"/>
              <a:t>a</a:t>
            </a:r>
            <a:r>
              <a:rPr lang="en-US" sz="2800" dirty="0"/>
              <a:t> </a:t>
            </a:r>
            <a:r>
              <a:rPr lang="en-US" sz="2800" dirty="0" err="1"/>
              <a:t>a</a:t>
            </a:r>
            <a:r>
              <a:rPr lang="en-US" sz="2800" dirty="0"/>
              <a:t> b   vs T[6..9]=a </a:t>
            </a:r>
            <a:r>
              <a:rPr lang="en-US" sz="2800" dirty="0" err="1"/>
              <a:t>a</a:t>
            </a:r>
            <a:r>
              <a:rPr lang="en-US" sz="2800" dirty="0"/>
              <a:t> </a:t>
            </a:r>
            <a:r>
              <a:rPr lang="en-US" sz="2800" dirty="0" err="1"/>
              <a:t>a</a:t>
            </a:r>
            <a:r>
              <a:rPr lang="en-US" sz="2800" dirty="0"/>
              <a:t> b   → 4 comparisons, MATCH</a:t>
            </a:r>
          </a:p>
          <a:p>
            <a:r>
              <a:rPr lang="en-US" sz="2800" dirty="0"/>
              <a:t>Now look at what was redundant: the character T[3]='a' alone was compared four separate times, at </a:t>
            </a:r>
            <a:r>
              <a:rPr lang="en-US" sz="2800" dirty="0" err="1"/>
              <a:t>i</a:t>
            </a:r>
            <a:r>
              <a:rPr lang="en-US" sz="2800" dirty="0"/>
              <a:t>=0, then again at </a:t>
            </a:r>
            <a:r>
              <a:rPr lang="en-US" sz="2800" dirty="0" err="1"/>
              <a:t>i</a:t>
            </a:r>
            <a:r>
              <a:rPr lang="en-US" sz="2800" dirty="0"/>
              <a:t>=1, </a:t>
            </a:r>
            <a:r>
              <a:rPr lang="en-US" sz="2800" dirty="0" err="1"/>
              <a:t>i</a:t>
            </a:r>
            <a:r>
              <a:rPr lang="en-US" sz="2800" dirty="0"/>
              <a:t>=2, </a:t>
            </a:r>
            <a:r>
              <a:rPr lang="en-US" sz="2800" dirty="0" err="1"/>
              <a:t>i</a:t>
            </a:r>
            <a:r>
              <a:rPr lang="en-US" sz="2800" dirty="0"/>
              <a:t>=3. </a:t>
            </a:r>
          </a:p>
        </p:txBody>
      </p:sp>
    </p:spTree>
    <p:extLst>
      <p:ext uri="{BB962C8B-B14F-4D97-AF65-F5344CB8AC3E}">
        <p14:creationId xmlns:p14="http://schemas.microsoft.com/office/powerpoint/2010/main" val="3141407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13</a:t>
            </a:fld>
            <a:endParaRPr lang="en-AU"/>
          </a:p>
        </p:txBody>
      </p:sp>
      <p:sp>
        <p:nvSpPr>
          <p:cNvPr id="4" name="Rectangle 1"/>
          <p:cNvSpPr>
            <a:spLocks noChangeArrowheads="1"/>
          </p:cNvSpPr>
          <p:nvPr/>
        </p:nvSpPr>
        <p:spPr bwMode="auto">
          <a:xfrm>
            <a:off x="758757" y="530122"/>
            <a:ext cx="10546552" cy="5831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Naïve pattern matching is simple and correct but it lets the text pointer backtrack after every mismatch and</a:t>
            </a:r>
            <a:r>
              <a:rPr kumimoji="0" lang="en-US" altLang="en-US" sz="2800" b="0"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ignores the pattern's internal structure, causing the same text characters to be compared repeatedly.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Its cost is O(</a:t>
            </a:r>
            <a:r>
              <a:rPr kumimoji="0" lang="en-US" altLang="en-US" sz="2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n·m</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the worst case, triggered precisely by the repetitive, partially-matching keyword text.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repeated comparisons are the redundant re-examination of characters already inspected in earlier alignments</a:t>
            </a:r>
            <a:r>
              <a:rPr kumimoji="0" lang="en-US" altLang="en-US" sz="2800" b="0"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eliminating them is the whole motivation for KMP, Boyer–Moore, and Rabin–Karp. </a:t>
            </a:r>
          </a:p>
        </p:txBody>
      </p:sp>
    </p:spTree>
    <p:extLst>
      <p:ext uri="{BB962C8B-B14F-4D97-AF65-F5344CB8AC3E}">
        <p14:creationId xmlns:p14="http://schemas.microsoft.com/office/powerpoint/2010/main" val="1656211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14</a:t>
            </a:fld>
            <a:endParaRPr lang="en-AU"/>
          </a:p>
        </p:txBody>
      </p:sp>
      <p:sp>
        <p:nvSpPr>
          <p:cNvPr id="5" name="Rectangle 4"/>
          <p:cNvSpPr/>
          <p:nvPr/>
        </p:nvSpPr>
        <p:spPr>
          <a:xfrm>
            <a:off x="96981" y="1084555"/>
            <a:ext cx="11804073" cy="5286062"/>
          </a:xfrm>
          <a:prstGeom prst="rect">
            <a:avLst/>
          </a:prstGeom>
        </p:spPr>
        <p:txBody>
          <a:bodyPr wrap="square">
            <a:spAutoFit/>
          </a:bodyPr>
          <a:lstStyle/>
          <a:p>
            <a:pPr marL="342900" marR="0" lvl="0" indent="-342900" algn="just">
              <a:lnSpc>
                <a:spcPct val="150000"/>
              </a:lnSpc>
              <a:spcBef>
                <a:spcPts val="0"/>
              </a:spcBef>
              <a:spcAft>
                <a:spcPts val="0"/>
              </a:spcAft>
              <a:buSzPct val="51000"/>
              <a:buFont typeface="Arial" pitchFamily="34" charset="0"/>
              <a:buChar char="•"/>
              <a:tabLst>
                <a:tab pos="457200" algn="l"/>
              </a:tabLst>
            </a:pPr>
            <a:r>
              <a:rPr lang="en-US" sz="2500" b="1"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Time Complexity (Worst Case):</a:t>
            </a:r>
            <a:r>
              <a:rPr lang="en-US" sz="25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500" b="1"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O(n*m)</a:t>
            </a:r>
            <a:r>
              <a:rPr lang="en-US" sz="25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This occurs in cases where the text and pattern have many repetitive characters (e.g., Text: AAAAA, Pattern: AAA) or have near matches. For every possible starting position, nearly the entire pattern is compared.</a:t>
            </a:r>
          </a:p>
          <a:p>
            <a:pPr marL="342900" marR="0" lvl="0" indent="-342900" algn="just">
              <a:lnSpc>
                <a:spcPct val="150000"/>
              </a:lnSpc>
              <a:spcBef>
                <a:spcPts val="0"/>
              </a:spcBef>
              <a:spcAft>
                <a:spcPts val="0"/>
              </a:spcAft>
              <a:buSzPct val="51000"/>
              <a:buFont typeface="Arial" pitchFamily="34" charset="0"/>
              <a:buChar char="•"/>
              <a:tabLst>
                <a:tab pos="457200" algn="l"/>
              </a:tabLst>
            </a:pPr>
            <a:endParaRPr lang="en-US" sz="25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ct val="150000"/>
              </a:lnSpc>
              <a:spcBef>
                <a:spcPts val="0"/>
              </a:spcBef>
              <a:spcAft>
                <a:spcPts val="0"/>
              </a:spcAft>
              <a:buSzPct val="51000"/>
              <a:buFont typeface="Arial" pitchFamily="34" charset="0"/>
              <a:buChar char="•"/>
              <a:tabLst>
                <a:tab pos="457200" algn="l"/>
              </a:tabLst>
            </a:pPr>
            <a:r>
              <a:rPr lang="en-US" sz="2500" b="1"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Time Complexity (Best Case):</a:t>
            </a:r>
            <a:r>
              <a:rPr lang="en-US" sz="25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500" b="1"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O(n)</a:t>
            </a:r>
            <a:r>
              <a:rPr lang="en-US" sz="25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This occurs when the first character of the pattern does not appear in the text at all, leading to an immediate mismatch at most positions.</a:t>
            </a:r>
          </a:p>
          <a:p>
            <a:pPr marL="342900" marR="0" lvl="0" indent="-342900" algn="just">
              <a:lnSpc>
                <a:spcPct val="150000"/>
              </a:lnSpc>
              <a:spcBef>
                <a:spcPts val="0"/>
              </a:spcBef>
              <a:spcAft>
                <a:spcPts val="0"/>
              </a:spcAft>
              <a:buSzPct val="51000"/>
              <a:buFont typeface="Arial" pitchFamily="34" charset="0"/>
              <a:buChar char="•"/>
              <a:tabLst>
                <a:tab pos="457200" algn="l"/>
              </a:tabLst>
            </a:pPr>
            <a:endParaRPr lang="en-US" sz="25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ct val="150000"/>
              </a:lnSpc>
              <a:spcBef>
                <a:spcPts val="0"/>
              </a:spcBef>
              <a:spcAft>
                <a:spcPts val="0"/>
              </a:spcAft>
              <a:buSzPct val="51000"/>
              <a:buFont typeface="Arial" pitchFamily="34" charset="0"/>
              <a:buChar char="•"/>
              <a:tabLst>
                <a:tab pos="457200" algn="l"/>
              </a:tabLst>
            </a:pPr>
            <a:r>
              <a:rPr lang="en-US" sz="2500" b="1"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Space Complexity:</a:t>
            </a:r>
            <a:r>
              <a:rPr lang="en-US" sz="25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500" b="1"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O(1)</a:t>
            </a:r>
            <a:r>
              <a:rPr lang="en-US" sz="2500" kern="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The algorithm requires a constant amount of extra memory regardless of the input size, as it only uses a few variables for indices and lengths. </a:t>
            </a:r>
            <a:endParaRPr lang="en-US" sz="25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Rectangle 5"/>
          <p:cNvSpPr/>
          <p:nvPr/>
        </p:nvSpPr>
        <p:spPr>
          <a:xfrm>
            <a:off x="3746203" y="199622"/>
            <a:ext cx="3347391" cy="522259"/>
          </a:xfrm>
          <a:prstGeom prst="rect">
            <a:avLst/>
          </a:prstGeom>
        </p:spPr>
        <p:txBody>
          <a:bodyPr wrap="none">
            <a:spAutoFit/>
          </a:bodyPr>
          <a:lstStyle/>
          <a:p>
            <a:pPr algn="just">
              <a:lnSpc>
                <a:spcPct val="107000"/>
              </a:lnSpc>
            </a:pPr>
            <a:r>
              <a:rPr lang="en-US" sz="2800" b="1" kern="0" dirty="0">
                <a:solidFill>
                  <a:srgbClr val="001D35"/>
                </a:solidFill>
                <a:latin typeface="Times New Roman" panose="02020603050405020304" pitchFamily="18" charset="0"/>
                <a:ea typeface="Times New Roman" panose="02020603050405020304" pitchFamily="18" charset="0"/>
                <a:cs typeface="Times New Roman" panose="02020603050405020304" pitchFamily="18" charset="0"/>
              </a:rPr>
              <a:t>Complexity Analysis</a:t>
            </a:r>
            <a:endParaRPr lang="en-US" sz="2800" kern="1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63818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15</a:t>
            </a:fld>
            <a:endParaRPr lang="en-AU"/>
          </a:p>
        </p:txBody>
      </p:sp>
      <p:sp>
        <p:nvSpPr>
          <p:cNvPr id="4" name="Rectangle 3"/>
          <p:cNvSpPr/>
          <p:nvPr/>
        </p:nvSpPr>
        <p:spPr>
          <a:xfrm>
            <a:off x="637309" y="749094"/>
            <a:ext cx="11194471" cy="5942652"/>
          </a:xfrm>
          <a:prstGeom prst="rect">
            <a:avLst/>
          </a:prstGeom>
        </p:spPr>
        <p:txBody>
          <a:bodyPr wrap="square">
            <a:spAutoFit/>
          </a:bodyPr>
          <a:lstStyle/>
          <a:p>
            <a:pPr>
              <a:lnSpc>
                <a:spcPct val="150000"/>
              </a:lnSpc>
              <a:spcBef>
                <a:spcPts val="1000"/>
              </a:spcBef>
              <a:spcAft>
                <a:spcPts val="450"/>
              </a:spcAft>
            </a:pPr>
            <a:r>
              <a:rPr lang="en-US" sz="2600" b="1" dirty="0">
                <a:latin typeface="Times New Roman" panose="02020603050405020304" pitchFamily="18" charset="0"/>
                <a:ea typeface="Calibri" panose="020F0502020204030204" pitchFamily="34" charset="0"/>
                <a:cs typeface="Times New Roman" panose="02020603050405020304" pitchFamily="18" charset="0"/>
              </a:rPr>
              <a:t>Advantages</a:t>
            </a:r>
          </a:p>
          <a:p>
            <a:pPr marL="342900" marR="0" lvl="0" indent="-342900">
              <a:lnSpc>
                <a:spcPct val="150000"/>
              </a:lnSpc>
              <a:spcBef>
                <a:spcPts val="0"/>
              </a:spcBef>
              <a:spcAft>
                <a:spcPts val="300"/>
              </a:spcAft>
              <a:buFont typeface="Arial" panose="020B0604020202020204" pitchFamily="34" charset="0"/>
              <a:buChar char="•"/>
            </a:pPr>
            <a:r>
              <a:rPr lang="en-US" sz="2600" dirty="0">
                <a:latin typeface="Times New Roman" panose="02020603050405020304" pitchFamily="18" charset="0"/>
                <a:ea typeface="Calibri" panose="020F0502020204030204" pitchFamily="34" charset="0"/>
                <a:cs typeface="Times New Roman" panose="02020603050405020304" pitchFamily="18" charset="0"/>
              </a:rPr>
              <a:t>Very simple to understand and implement.</a:t>
            </a:r>
          </a:p>
          <a:p>
            <a:pPr marL="342900" marR="0" lvl="0" indent="-342900">
              <a:lnSpc>
                <a:spcPct val="150000"/>
              </a:lnSpc>
              <a:spcBef>
                <a:spcPts val="0"/>
              </a:spcBef>
              <a:spcAft>
                <a:spcPts val="300"/>
              </a:spcAft>
              <a:buFont typeface="Arial" panose="020B0604020202020204" pitchFamily="34" charset="0"/>
              <a:buChar char="•"/>
            </a:pPr>
            <a:r>
              <a:rPr lang="en-US" sz="2600" dirty="0">
                <a:latin typeface="Times New Roman" panose="02020603050405020304" pitchFamily="18" charset="0"/>
                <a:ea typeface="Calibri" panose="020F0502020204030204" pitchFamily="34" charset="0"/>
                <a:cs typeface="Times New Roman" panose="02020603050405020304" pitchFamily="18" charset="0"/>
              </a:rPr>
              <a:t>No preprocessing and no extra memory required (O(1) space).</a:t>
            </a:r>
          </a:p>
          <a:p>
            <a:pPr marL="342900" marR="0" lvl="0" indent="-342900">
              <a:lnSpc>
                <a:spcPct val="150000"/>
              </a:lnSpc>
              <a:spcBef>
                <a:spcPts val="0"/>
              </a:spcBef>
              <a:spcAft>
                <a:spcPts val="300"/>
              </a:spcAft>
              <a:buFont typeface="Arial" panose="020B0604020202020204" pitchFamily="34" charset="0"/>
              <a:buChar char="•"/>
            </a:pPr>
            <a:r>
              <a:rPr lang="en-US" sz="2600" dirty="0">
                <a:latin typeface="Times New Roman" panose="02020603050405020304" pitchFamily="18" charset="0"/>
                <a:ea typeface="Calibri" panose="020F0502020204030204" pitchFamily="34" charset="0"/>
                <a:cs typeface="Times New Roman" panose="02020603050405020304" pitchFamily="18" charset="0"/>
              </a:rPr>
              <a:t>Works well for short patterns, small texts, or when matches are rare.</a:t>
            </a:r>
          </a:p>
          <a:p>
            <a:pPr>
              <a:lnSpc>
                <a:spcPct val="150000"/>
              </a:lnSpc>
              <a:spcBef>
                <a:spcPts val="1000"/>
              </a:spcBef>
              <a:spcAft>
                <a:spcPts val="450"/>
              </a:spcAft>
            </a:pPr>
            <a:r>
              <a:rPr lang="en-US" sz="2600" b="1" dirty="0">
                <a:latin typeface="Times New Roman" panose="02020603050405020304" pitchFamily="18" charset="0"/>
                <a:ea typeface="Calibri" panose="020F0502020204030204" pitchFamily="34" charset="0"/>
                <a:cs typeface="Times New Roman" panose="02020603050405020304" pitchFamily="18" charset="0"/>
              </a:rPr>
              <a:t>Disadvantages</a:t>
            </a:r>
          </a:p>
          <a:p>
            <a:pPr marL="342900" marR="0" lvl="0" indent="-342900">
              <a:lnSpc>
                <a:spcPct val="150000"/>
              </a:lnSpc>
              <a:spcBef>
                <a:spcPts val="0"/>
              </a:spcBef>
              <a:spcAft>
                <a:spcPts val="300"/>
              </a:spcAft>
              <a:buFont typeface="Arial" panose="020B0604020202020204" pitchFamily="34" charset="0"/>
              <a:buChar char="•"/>
            </a:pPr>
            <a:r>
              <a:rPr lang="en-US" sz="2600" dirty="0">
                <a:latin typeface="Times New Roman" panose="02020603050405020304" pitchFamily="18" charset="0"/>
                <a:ea typeface="Calibri" panose="020F0502020204030204" pitchFamily="34" charset="0"/>
                <a:cs typeface="Times New Roman" panose="02020603050405020304" pitchFamily="18" charset="0"/>
              </a:rPr>
              <a:t>Inefficient for large or highly repetitive inputs — up to O(</a:t>
            </a:r>
            <a:r>
              <a:rPr lang="en-US" sz="2600" dirty="0" err="1">
                <a:latin typeface="Times New Roman" panose="02020603050405020304" pitchFamily="18" charset="0"/>
                <a:ea typeface="Calibri" panose="020F0502020204030204" pitchFamily="34" charset="0"/>
                <a:cs typeface="Times New Roman" panose="02020603050405020304" pitchFamily="18" charset="0"/>
              </a:rPr>
              <a:t>n·m</a:t>
            </a:r>
            <a:r>
              <a:rPr lang="en-US" sz="2600" dirty="0">
                <a:latin typeface="Times New Roman" panose="02020603050405020304" pitchFamily="18" charset="0"/>
                <a:ea typeface="Calibri" panose="020F0502020204030204" pitchFamily="34" charset="0"/>
                <a:cs typeface="Times New Roman" panose="02020603050405020304" pitchFamily="18" charset="0"/>
              </a:rPr>
              <a:t>) time.</a:t>
            </a:r>
          </a:p>
          <a:p>
            <a:pPr marL="342900" marR="0" lvl="0" indent="-342900">
              <a:lnSpc>
                <a:spcPct val="150000"/>
              </a:lnSpc>
              <a:spcBef>
                <a:spcPts val="0"/>
              </a:spcBef>
              <a:spcAft>
                <a:spcPts val="300"/>
              </a:spcAft>
              <a:buFont typeface="Arial" panose="020B0604020202020204" pitchFamily="34" charset="0"/>
              <a:buChar char="•"/>
            </a:pPr>
            <a:r>
              <a:rPr lang="en-US" sz="2600" dirty="0">
                <a:latin typeface="Times New Roman" panose="02020603050405020304" pitchFamily="18" charset="0"/>
                <a:ea typeface="Calibri" panose="020F0502020204030204" pitchFamily="34" charset="0"/>
                <a:cs typeface="Times New Roman" panose="02020603050405020304" pitchFamily="18" charset="0"/>
              </a:rPr>
              <a:t>Re-examines characters it has already compared, wasting work.</a:t>
            </a:r>
          </a:p>
          <a:p>
            <a:pPr marL="342900" marR="0" lvl="0" indent="-342900">
              <a:lnSpc>
                <a:spcPct val="150000"/>
              </a:lnSpc>
              <a:spcBef>
                <a:spcPts val="0"/>
              </a:spcBef>
              <a:spcAft>
                <a:spcPts val="300"/>
              </a:spcAft>
              <a:buFont typeface="Arial" panose="020B0604020202020204" pitchFamily="34" charset="0"/>
              <a:buChar char="•"/>
            </a:pPr>
            <a:r>
              <a:rPr lang="en-US" sz="2600" dirty="0">
                <a:latin typeface="Times New Roman" panose="02020603050405020304" pitchFamily="18" charset="0"/>
                <a:ea typeface="Calibri" panose="020F0502020204030204" pitchFamily="34" charset="0"/>
                <a:cs typeface="Times New Roman" panose="02020603050405020304" pitchFamily="18" charset="0"/>
              </a:rPr>
              <a:t>Slower than smarter algorithms (KMP, Boyer–Moore, Rabin–Karp) that avoid redundant comparisons.</a:t>
            </a:r>
          </a:p>
        </p:txBody>
      </p:sp>
    </p:spTree>
    <p:extLst>
      <p:ext uri="{BB962C8B-B14F-4D97-AF65-F5344CB8AC3E}">
        <p14:creationId xmlns:p14="http://schemas.microsoft.com/office/powerpoint/2010/main" val="38911086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16</a:t>
            </a:fld>
            <a:endParaRPr lang="en-AU"/>
          </a:p>
        </p:txBody>
      </p:sp>
      <p:sp>
        <p:nvSpPr>
          <p:cNvPr id="4" name="Rectangle 3"/>
          <p:cNvSpPr/>
          <p:nvPr/>
        </p:nvSpPr>
        <p:spPr>
          <a:xfrm>
            <a:off x="2918267" y="19621"/>
            <a:ext cx="7423827" cy="460895"/>
          </a:xfrm>
          <a:prstGeom prst="rect">
            <a:avLst/>
          </a:prstGeom>
        </p:spPr>
        <p:txBody>
          <a:bodyPr wrap="none">
            <a:spAutoFit/>
          </a:bodyPr>
          <a:lstStyle/>
          <a:p>
            <a:pPr algn="just">
              <a:lnSpc>
                <a:spcPct val="107000"/>
              </a:lnSpc>
            </a:pPr>
            <a:r>
              <a:rPr lang="en-US" sz="2400" b="1" kern="0" dirty="0">
                <a:latin typeface="Times New Roman" panose="02020603050405020304" pitchFamily="18" charset="0"/>
                <a:ea typeface="Times New Roman" panose="02020603050405020304" pitchFamily="18" charset="0"/>
                <a:cs typeface="Times New Roman" panose="02020603050405020304" pitchFamily="18" charset="0"/>
              </a:rPr>
              <a:t>Applications Naïve String Pattern Matching Algorithm</a:t>
            </a:r>
            <a:endParaRPr lang="en-US" sz="24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1"/>
          <p:cNvSpPr>
            <a:spLocks noChangeArrowheads="1"/>
          </p:cNvSpPr>
          <p:nvPr/>
        </p:nvSpPr>
        <p:spPr bwMode="auto">
          <a:xfrm>
            <a:off x="917997" y="1314214"/>
            <a:ext cx="5188025" cy="4539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searching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Find and replace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Spell checking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DNA sequence analysis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Plagiarism detection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 file analysis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Source code search </a:t>
            </a:r>
          </a:p>
        </p:txBody>
      </p:sp>
      <p:sp>
        <p:nvSpPr>
          <p:cNvPr id="6" name="Rectangle 1"/>
          <p:cNvSpPr>
            <a:spLocks noChangeArrowheads="1"/>
          </p:cNvSpPr>
          <p:nvPr/>
        </p:nvSpPr>
        <p:spPr bwMode="auto">
          <a:xfrm>
            <a:off x="6366666" y="1621734"/>
            <a:ext cx="5825334"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search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Configuration file search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Virus signature detection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Educational demonstrations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Simple command-line search utilities </a:t>
            </a:r>
          </a:p>
        </p:txBody>
      </p:sp>
    </p:spTree>
    <p:extLst>
      <p:ext uri="{BB962C8B-B14F-4D97-AF65-F5344CB8AC3E}">
        <p14:creationId xmlns:p14="http://schemas.microsoft.com/office/powerpoint/2010/main" val="38238644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17</a:t>
            </a:fld>
            <a:endParaRPr lang="en-AU"/>
          </a:p>
        </p:txBody>
      </p:sp>
      <p:sp>
        <p:nvSpPr>
          <p:cNvPr id="4" name="Rectangle 3"/>
          <p:cNvSpPr/>
          <p:nvPr/>
        </p:nvSpPr>
        <p:spPr>
          <a:xfrm>
            <a:off x="282162" y="910242"/>
            <a:ext cx="11431302" cy="5119350"/>
          </a:xfrm>
          <a:prstGeom prst="rect">
            <a:avLst/>
          </a:prstGeom>
        </p:spPr>
        <p:txBody>
          <a:bodyPr wrap="square">
            <a:spAutoFit/>
          </a:bodyPr>
          <a:lstStyle/>
          <a:p>
            <a:pPr marL="342900" indent="-342900" algn="just">
              <a:spcBef>
                <a:spcPts val="200"/>
              </a:spcBef>
              <a:buFont typeface="Wingdings" panose="05000000000000000000" pitchFamily="2" charset="2"/>
              <a:buChar char="Ø"/>
            </a:pPr>
            <a:r>
              <a:rPr lang="en-US" sz="2100" kern="100" dirty="0">
                <a:latin typeface="Times New Roman" panose="02020603050405020304" pitchFamily="18" charset="0"/>
                <a:ea typeface="Times New Roman" panose="02020603050405020304" pitchFamily="18" charset="0"/>
                <a:cs typeface="Times New Roman" panose="02020603050405020304" pitchFamily="18" charset="0"/>
              </a:rPr>
              <a:t>The Knuth-Morris-Pratt (KMP) algorithm  is a string pattern matching algorithm developed by Donald Knuth, James Morris and Vaughan Pratt.  Hence the name Knuth-Morris-Pratt (KMP) Algorithm. </a:t>
            </a:r>
          </a:p>
          <a:p>
            <a:pPr marL="342900" indent="-342900" algn="just">
              <a:spcBef>
                <a:spcPts val="200"/>
              </a:spcBef>
              <a:buFont typeface="Wingdings" panose="05000000000000000000" pitchFamily="2" charset="2"/>
              <a:buChar char="Ø"/>
            </a:pPr>
            <a:r>
              <a:rPr lang="en-US" sz="2100" kern="100" dirty="0">
                <a:latin typeface="Times New Roman" panose="02020603050405020304" pitchFamily="18" charset="0"/>
                <a:ea typeface="Times New Roman" panose="02020603050405020304" pitchFamily="18" charset="0"/>
                <a:cs typeface="Times New Roman" panose="02020603050405020304" pitchFamily="18" charset="0"/>
              </a:rPr>
              <a:t>The Knuth-Morris-Pratt (KMP) algorithm is a highly efficient string-searching method that searches for occurrences of a pattern within a text in linear O(n + m) time. </a:t>
            </a:r>
          </a:p>
          <a:p>
            <a:pPr marL="342900" indent="-342900" algn="just">
              <a:spcBef>
                <a:spcPts val="200"/>
              </a:spcBef>
              <a:buFont typeface="Wingdings" panose="05000000000000000000" pitchFamily="2" charset="2"/>
              <a:buChar char="Ø"/>
            </a:pPr>
            <a:r>
              <a:rPr lang="en-US" sz="2100" kern="100" dirty="0">
                <a:latin typeface="Times New Roman" panose="02020603050405020304" pitchFamily="18" charset="0"/>
                <a:ea typeface="Times New Roman" panose="02020603050405020304" pitchFamily="18" charset="0"/>
                <a:cs typeface="Times New Roman" panose="02020603050405020304" pitchFamily="18" charset="0"/>
              </a:rPr>
              <a:t>Unlike the naive brute-force method, which resets completely and backtracks the text pointer after a mismatch, KMP uses the structural information of the pattern itself to skip redundant comparisons. </a:t>
            </a:r>
          </a:p>
          <a:p>
            <a:pPr marL="342900" indent="-342900" algn="just">
              <a:spcBef>
                <a:spcPts val="200"/>
              </a:spcBef>
              <a:buFont typeface="Wingdings" panose="05000000000000000000" pitchFamily="2" charset="2"/>
              <a:buChar char="Ø"/>
            </a:pPr>
            <a:r>
              <a:rPr lang="en-US" sz="2100" kern="100" dirty="0">
                <a:latin typeface="Times New Roman" panose="02020603050405020304" pitchFamily="18" charset="0"/>
                <a:ea typeface="Times New Roman" panose="02020603050405020304" pitchFamily="18" charset="0"/>
                <a:cs typeface="Times New Roman" panose="02020603050405020304" pitchFamily="18" charset="0"/>
              </a:rPr>
              <a:t>It achieves this by preprocessing the pattern string to construct a Failure Function. </a:t>
            </a:r>
          </a:p>
          <a:p>
            <a:pPr marL="342900" indent="-342900">
              <a:spcAft>
                <a:spcPts val="800"/>
              </a:spcAft>
              <a:buFont typeface="Wingdings" panose="05000000000000000000" pitchFamily="2" charset="2"/>
              <a:buChar char="Ø"/>
            </a:pPr>
            <a:r>
              <a:rPr lang="en-US" sz="2100" kern="0" dirty="0">
                <a:latin typeface="Times New Roman" panose="02020603050405020304" pitchFamily="18" charset="0"/>
                <a:ea typeface="Times New Roman" panose="02020603050405020304" pitchFamily="18" charset="0"/>
                <a:cs typeface="Times New Roman" panose="02020603050405020304" pitchFamily="18" charset="0"/>
              </a:rPr>
              <a:t>The failure function, denoted as π or </a:t>
            </a:r>
            <a:r>
              <a:rPr lang="en-US" sz="2100" kern="0" dirty="0" err="1">
                <a:latin typeface="Times New Roman" panose="02020603050405020304" pitchFamily="18" charset="0"/>
                <a:ea typeface="Times New Roman" panose="02020603050405020304" pitchFamily="18" charset="0"/>
                <a:cs typeface="Times New Roman" panose="02020603050405020304" pitchFamily="18" charset="0"/>
              </a:rPr>
              <a:t>lps</a:t>
            </a:r>
            <a:r>
              <a:rPr lang="en-US" sz="2100" kern="0" dirty="0">
                <a:latin typeface="Times New Roman" panose="02020603050405020304" pitchFamily="18" charset="0"/>
                <a:ea typeface="Times New Roman" panose="02020603050405020304" pitchFamily="18" charset="0"/>
                <a:cs typeface="Times New Roman" panose="02020603050405020304" pitchFamily="18" charset="0"/>
              </a:rPr>
              <a:t>[] (Longest Proper Prefix which is also a Suffix), stores the length of the longest proper prefix of the pattern substring that is also a suffix of that substring.</a:t>
            </a:r>
            <a:endParaRPr lang="en-US" sz="2100" kern="1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Ø"/>
            </a:pPr>
            <a:r>
              <a:rPr lang="en-US" sz="2100" dirty="0">
                <a:latin typeface="Times New Roman" panose="02020603050405020304" pitchFamily="18" charset="0"/>
                <a:ea typeface="Times New Roman" panose="02020603050405020304" pitchFamily="18" charset="0"/>
                <a:cs typeface="Times New Roman" panose="02020603050405020304" pitchFamily="18" charset="0"/>
              </a:rPr>
              <a:t>Proper Prefix: A prefix of a string that is not the entire string itself (e.g., proper prefixes of "</a:t>
            </a:r>
            <a:r>
              <a:rPr lang="en-US" sz="2100" dirty="0" err="1">
                <a:latin typeface="Times New Roman" panose="02020603050405020304" pitchFamily="18" charset="0"/>
                <a:ea typeface="Times New Roman" panose="02020603050405020304" pitchFamily="18" charset="0"/>
                <a:cs typeface="Times New Roman" panose="02020603050405020304" pitchFamily="18" charset="0"/>
              </a:rPr>
              <a:t>abc</a:t>
            </a:r>
            <a:r>
              <a:rPr lang="en-US" sz="2100" dirty="0">
                <a:latin typeface="Times New Roman" panose="02020603050405020304" pitchFamily="18" charset="0"/>
                <a:ea typeface="Times New Roman" panose="02020603050405020304" pitchFamily="18" charset="0"/>
                <a:cs typeface="Times New Roman" panose="02020603050405020304" pitchFamily="18" charset="0"/>
              </a:rPr>
              <a:t>" are "", "a", and "ab").</a:t>
            </a:r>
            <a:endParaRPr lang="en-US" sz="21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Ø"/>
            </a:pPr>
            <a:r>
              <a:rPr lang="en-US" sz="2100" dirty="0">
                <a:latin typeface="Times New Roman" panose="02020603050405020304" pitchFamily="18" charset="0"/>
                <a:ea typeface="Times New Roman" panose="02020603050405020304" pitchFamily="18" charset="0"/>
                <a:cs typeface="Times New Roman" panose="02020603050405020304" pitchFamily="18" charset="0"/>
              </a:rPr>
              <a:t>Suffix: A concluding segment of a string (e.g., suffixes of "</a:t>
            </a:r>
            <a:r>
              <a:rPr lang="en-US" sz="2100" dirty="0" err="1">
                <a:latin typeface="Times New Roman" panose="02020603050405020304" pitchFamily="18" charset="0"/>
                <a:ea typeface="Times New Roman" panose="02020603050405020304" pitchFamily="18" charset="0"/>
                <a:cs typeface="Times New Roman" panose="02020603050405020304" pitchFamily="18" charset="0"/>
              </a:rPr>
              <a:t>abc</a:t>
            </a:r>
            <a:r>
              <a:rPr lang="en-US" sz="2100" dirty="0">
                <a:latin typeface="Times New Roman" panose="02020603050405020304" pitchFamily="18" charset="0"/>
                <a:ea typeface="Times New Roman" panose="02020603050405020304" pitchFamily="18" charset="0"/>
                <a:cs typeface="Times New Roman" panose="02020603050405020304" pitchFamily="18" charset="0"/>
              </a:rPr>
              <a:t>" are "", "c", "</a:t>
            </a:r>
            <a:r>
              <a:rPr lang="en-US" sz="2100" dirty="0" err="1">
                <a:latin typeface="Times New Roman" panose="02020603050405020304" pitchFamily="18" charset="0"/>
                <a:ea typeface="Times New Roman" panose="02020603050405020304" pitchFamily="18" charset="0"/>
                <a:cs typeface="Times New Roman" panose="02020603050405020304" pitchFamily="18" charset="0"/>
              </a:rPr>
              <a:t>bc</a:t>
            </a:r>
            <a:r>
              <a:rPr lang="en-US" sz="2100" dirty="0">
                <a:latin typeface="Times New Roman" panose="02020603050405020304" pitchFamily="18" charset="0"/>
                <a:ea typeface="Times New Roman" panose="02020603050405020304" pitchFamily="18" charset="0"/>
                <a:cs typeface="Times New Roman" panose="02020603050405020304" pitchFamily="18" charset="0"/>
              </a:rPr>
              <a:t>", and "</a:t>
            </a:r>
            <a:r>
              <a:rPr lang="en-US" sz="2100" dirty="0" err="1">
                <a:latin typeface="Times New Roman" panose="02020603050405020304" pitchFamily="18" charset="0"/>
                <a:ea typeface="Times New Roman" panose="02020603050405020304" pitchFamily="18" charset="0"/>
                <a:cs typeface="Times New Roman" panose="02020603050405020304" pitchFamily="18" charset="0"/>
              </a:rPr>
              <a:t>abc</a:t>
            </a:r>
            <a:r>
              <a:rPr lang="en-US" sz="2100"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21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buFont typeface="Wingdings" panose="05000000000000000000" pitchFamily="2" charset="2"/>
              <a:buChar char="Ø"/>
            </a:pPr>
            <a:r>
              <a:rPr lang="en-US" sz="2100" kern="100" dirty="0">
                <a:latin typeface="Times New Roman" panose="02020603050405020304" pitchFamily="18" charset="0"/>
                <a:ea typeface="Calibri" panose="020F0502020204030204" pitchFamily="34" charset="0"/>
                <a:cs typeface="Times New Roman" panose="02020603050405020304" pitchFamily="18" charset="0"/>
              </a:rPr>
              <a:t> When a mismatch occurs at a specific index in the pattern, the failure function tells the algorithm exactly where to slide the pattern to resume matching, ensuring the text pointer never backtracks.</a:t>
            </a:r>
          </a:p>
        </p:txBody>
      </p:sp>
      <p:sp>
        <p:nvSpPr>
          <p:cNvPr id="5" name="Rectangle 4"/>
          <p:cNvSpPr/>
          <p:nvPr/>
        </p:nvSpPr>
        <p:spPr>
          <a:xfrm>
            <a:off x="3701166" y="285198"/>
            <a:ext cx="7007046" cy="584775"/>
          </a:xfrm>
          <a:prstGeom prst="rect">
            <a:avLst/>
          </a:prstGeom>
        </p:spPr>
        <p:txBody>
          <a:bodyPr wrap="none">
            <a:spAutoFit/>
          </a:bodyPr>
          <a:lstStyle/>
          <a:p>
            <a:r>
              <a:rPr lang="en-US" sz="3200" b="1" kern="100" dirty="0">
                <a:latin typeface="Times New Roman" panose="02020603050405020304" pitchFamily="18" charset="0"/>
                <a:ea typeface="Times New Roman" panose="02020603050405020304" pitchFamily="18" charset="0"/>
                <a:cs typeface="Times New Roman" panose="02020603050405020304" pitchFamily="18" charset="0"/>
              </a:rPr>
              <a:t>Knuth-Morris-Pratt (KMP) algorithm </a:t>
            </a:r>
            <a:endParaRPr lang="en-US" sz="3200" dirty="0"/>
          </a:p>
        </p:txBody>
      </p:sp>
    </p:spTree>
    <p:extLst>
      <p:ext uri="{BB962C8B-B14F-4D97-AF65-F5344CB8AC3E}">
        <p14:creationId xmlns:p14="http://schemas.microsoft.com/office/powerpoint/2010/main" val="42052589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847898" y="6356350"/>
            <a:ext cx="1107362" cy="365125"/>
          </a:xfrm>
        </p:spPr>
        <p:txBody>
          <a:bodyPr/>
          <a:lstStyle/>
          <a:p>
            <a:r>
              <a:rPr lang="en-AU" dirty="0">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18</a:t>
            </a:fld>
            <a:endParaRPr lang="en-AU"/>
          </a:p>
        </p:txBody>
      </p:sp>
      <p:sp>
        <p:nvSpPr>
          <p:cNvPr id="4" name="Rectangle 3"/>
          <p:cNvSpPr/>
          <p:nvPr/>
        </p:nvSpPr>
        <p:spPr>
          <a:xfrm>
            <a:off x="2233141" y="350278"/>
            <a:ext cx="8553945" cy="593304"/>
          </a:xfrm>
          <a:prstGeom prst="rect">
            <a:avLst/>
          </a:prstGeom>
        </p:spPr>
        <p:txBody>
          <a:bodyPr wrap="none">
            <a:spAutoFit/>
          </a:bodyPr>
          <a:lstStyle/>
          <a:p>
            <a:pPr>
              <a:lnSpc>
                <a:spcPct val="107000"/>
              </a:lnSpc>
              <a:spcAft>
                <a:spcPts val="800"/>
              </a:spcAft>
            </a:pPr>
            <a:r>
              <a:rPr lang="en-US" sz="3200" b="1" kern="0" dirty="0" err="1">
                <a:latin typeface="Times New Roman" panose="02020603050405020304" pitchFamily="18" charset="0"/>
                <a:ea typeface="Times New Roman" panose="02020603050405020304" pitchFamily="18" charset="0"/>
                <a:cs typeface="Times New Roman" panose="02020603050405020304" pitchFamily="18" charset="0"/>
              </a:rPr>
              <a:t>lps</a:t>
            </a:r>
            <a:r>
              <a:rPr lang="en-US" sz="3200" b="1" kern="0" dirty="0">
                <a:latin typeface="Times New Roman" panose="02020603050405020304" pitchFamily="18" charset="0"/>
                <a:ea typeface="Times New Roman" panose="02020603050405020304" pitchFamily="18" charset="0"/>
                <a:cs typeface="Times New Roman" panose="02020603050405020304" pitchFamily="18" charset="0"/>
              </a:rPr>
              <a:t>[] table for the pattern string: P = "ABABC"</a:t>
            </a:r>
            <a:endParaRPr lang="en-US" sz="32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015499204"/>
              </p:ext>
            </p:extLst>
          </p:nvPr>
        </p:nvGraphicFramePr>
        <p:xfrm>
          <a:off x="303176" y="1215952"/>
          <a:ext cx="11642389" cy="4698466"/>
        </p:xfrm>
        <a:graphic>
          <a:graphicData uri="http://schemas.openxmlformats.org/drawingml/2006/table">
            <a:tbl>
              <a:tblPr firstRow="1" firstCol="1" bandRow="1">
                <a:tableStyleId>{5C22544A-7EE6-4342-B048-85BDC9FD1C3A}</a:tableStyleId>
              </a:tblPr>
              <a:tblGrid>
                <a:gridCol w="1217123">
                  <a:extLst>
                    <a:ext uri="{9D8B030D-6E8A-4147-A177-3AD203B41FA5}">
                      <a16:colId xmlns:a16="http://schemas.microsoft.com/office/drawing/2014/main" val="2874410125"/>
                    </a:ext>
                  </a:extLst>
                </a:gridCol>
                <a:gridCol w="1581418">
                  <a:extLst>
                    <a:ext uri="{9D8B030D-6E8A-4147-A177-3AD203B41FA5}">
                      <a16:colId xmlns:a16="http://schemas.microsoft.com/office/drawing/2014/main" val="63117310"/>
                    </a:ext>
                  </a:extLst>
                </a:gridCol>
                <a:gridCol w="2968343">
                  <a:extLst>
                    <a:ext uri="{9D8B030D-6E8A-4147-A177-3AD203B41FA5}">
                      <a16:colId xmlns:a16="http://schemas.microsoft.com/office/drawing/2014/main" val="431456706"/>
                    </a:ext>
                  </a:extLst>
                </a:gridCol>
                <a:gridCol w="3326859">
                  <a:extLst>
                    <a:ext uri="{9D8B030D-6E8A-4147-A177-3AD203B41FA5}">
                      <a16:colId xmlns:a16="http://schemas.microsoft.com/office/drawing/2014/main" val="3062808207"/>
                    </a:ext>
                  </a:extLst>
                </a:gridCol>
                <a:gridCol w="2548646">
                  <a:extLst>
                    <a:ext uri="{9D8B030D-6E8A-4147-A177-3AD203B41FA5}">
                      <a16:colId xmlns:a16="http://schemas.microsoft.com/office/drawing/2014/main" val="3417485848"/>
                    </a:ext>
                  </a:extLst>
                </a:gridCol>
              </a:tblGrid>
              <a:tr h="796034">
                <a:tc>
                  <a:txBody>
                    <a:bodyPr/>
                    <a:lstStyle/>
                    <a:p>
                      <a:pPr marL="0" marR="0" algn="ctr">
                        <a:lnSpc>
                          <a:spcPct val="100000"/>
                        </a:lnSpc>
                        <a:spcBef>
                          <a:spcPts val="0"/>
                        </a:spcBef>
                        <a:spcAft>
                          <a:spcPts val="0"/>
                        </a:spcAft>
                      </a:pPr>
                      <a:r>
                        <a:rPr lang="en-US" sz="1900" kern="0" dirty="0">
                          <a:solidFill>
                            <a:srgbClr val="1E03BD"/>
                          </a:solidFill>
                          <a:effectLst/>
                          <a:latin typeface="Times New Roman" panose="02020603050405020304" pitchFamily="18" charset="0"/>
                          <a:cs typeface="Times New Roman" panose="02020603050405020304" pitchFamily="18" charset="0"/>
                        </a:rPr>
                        <a:t>Index (</a:t>
                      </a:r>
                      <a:r>
                        <a:rPr lang="en-US" sz="1900" kern="0" dirty="0" err="1">
                          <a:solidFill>
                            <a:srgbClr val="1E03BD"/>
                          </a:solidFill>
                          <a:effectLst/>
                          <a:latin typeface="Times New Roman" panose="02020603050405020304" pitchFamily="18" charset="0"/>
                          <a:cs typeface="Times New Roman" panose="02020603050405020304" pitchFamily="18" charset="0"/>
                        </a:rPr>
                        <a:t>i</a:t>
                      </a:r>
                      <a:r>
                        <a:rPr lang="en-US" sz="1900" kern="0" dirty="0">
                          <a:solidFill>
                            <a:srgbClr val="1E03BD"/>
                          </a:solidFill>
                          <a:effectLst/>
                          <a:latin typeface="Times New Roman" panose="02020603050405020304" pitchFamily="18" charset="0"/>
                          <a:cs typeface="Times New Roman" panose="02020603050405020304" pitchFamily="18" charset="0"/>
                        </a:rPr>
                        <a:t>)</a:t>
                      </a:r>
                      <a:endParaRPr lang="en-US" sz="1900" kern="100" dirty="0">
                        <a:solidFill>
                          <a:srgbClr val="1E03BD"/>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dirty="0">
                          <a:solidFill>
                            <a:srgbClr val="1E03BD"/>
                          </a:solidFill>
                          <a:effectLst/>
                          <a:latin typeface="Times New Roman" panose="02020603050405020304" pitchFamily="18" charset="0"/>
                          <a:cs typeface="Times New Roman" panose="02020603050405020304" pitchFamily="18" charset="0"/>
                        </a:rPr>
                        <a:t>Substring P[0...</a:t>
                      </a:r>
                      <a:r>
                        <a:rPr lang="en-US" sz="1900" kern="0" dirty="0" err="1">
                          <a:solidFill>
                            <a:srgbClr val="1E03BD"/>
                          </a:solidFill>
                          <a:effectLst/>
                          <a:latin typeface="Times New Roman" panose="02020603050405020304" pitchFamily="18" charset="0"/>
                          <a:cs typeface="Times New Roman" panose="02020603050405020304" pitchFamily="18" charset="0"/>
                        </a:rPr>
                        <a:t>i</a:t>
                      </a:r>
                      <a:r>
                        <a:rPr lang="en-US" sz="1900" kern="0" dirty="0">
                          <a:solidFill>
                            <a:srgbClr val="1E03BD"/>
                          </a:solidFill>
                          <a:effectLst/>
                          <a:latin typeface="Times New Roman" panose="02020603050405020304" pitchFamily="18" charset="0"/>
                          <a:cs typeface="Times New Roman" panose="02020603050405020304" pitchFamily="18" charset="0"/>
                        </a:rPr>
                        <a:t>]</a:t>
                      </a:r>
                      <a:endParaRPr lang="en-US" sz="1900" kern="100" dirty="0">
                        <a:solidFill>
                          <a:srgbClr val="1E03BD"/>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dirty="0">
                          <a:solidFill>
                            <a:srgbClr val="1E03BD"/>
                          </a:solidFill>
                          <a:effectLst/>
                          <a:latin typeface="Times New Roman" panose="02020603050405020304" pitchFamily="18" charset="0"/>
                          <a:cs typeface="Times New Roman" panose="02020603050405020304" pitchFamily="18" charset="0"/>
                        </a:rPr>
                        <a:t>Proper Prefixes</a:t>
                      </a:r>
                      <a:endParaRPr lang="en-US" sz="1900" kern="100" dirty="0">
                        <a:solidFill>
                          <a:srgbClr val="1E03BD"/>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dirty="0">
                          <a:solidFill>
                            <a:srgbClr val="1E03BD"/>
                          </a:solidFill>
                          <a:effectLst/>
                          <a:latin typeface="Times New Roman" panose="02020603050405020304" pitchFamily="18" charset="0"/>
                          <a:cs typeface="Times New Roman" panose="02020603050405020304" pitchFamily="18" charset="0"/>
                        </a:rPr>
                        <a:t>Suffixes</a:t>
                      </a:r>
                      <a:endParaRPr lang="en-US" sz="1900" kern="100" dirty="0">
                        <a:solidFill>
                          <a:srgbClr val="1E03BD"/>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dirty="0">
                          <a:solidFill>
                            <a:srgbClr val="1E03BD"/>
                          </a:solidFill>
                          <a:effectLst/>
                          <a:latin typeface="Times New Roman" panose="02020603050405020304" pitchFamily="18" charset="0"/>
                          <a:cs typeface="Times New Roman" panose="02020603050405020304" pitchFamily="18" charset="0"/>
                        </a:rPr>
                        <a:t>Longest Matching Length (</a:t>
                      </a:r>
                      <a:r>
                        <a:rPr lang="en-US" sz="1900" kern="0" dirty="0" err="1">
                          <a:solidFill>
                            <a:srgbClr val="1E03BD"/>
                          </a:solidFill>
                          <a:effectLst/>
                          <a:latin typeface="Times New Roman" panose="02020603050405020304" pitchFamily="18" charset="0"/>
                          <a:cs typeface="Times New Roman" panose="02020603050405020304" pitchFamily="18" charset="0"/>
                        </a:rPr>
                        <a:t>lps</a:t>
                      </a:r>
                      <a:r>
                        <a:rPr lang="en-US" sz="1900" kern="0" dirty="0">
                          <a:solidFill>
                            <a:srgbClr val="1E03BD"/>
                          </a:solidFill>
                          <a:effectLst/>
                          <a:latin typeface="Times New Roman" panose="02020603050405020304" pitchFamily="18" charset="0"/>
                          <a:cs typeface="Times New Roman" panose="02020603050405020304" pitchFamily="18" charset="0"/>
                        </a:rPr>
                        <a:t>[</a:t>
                      </a:r>
                      <a:r>
                        <a:rPr lang="en-US" sz="1900" kern="0" dirty="0" err="1">
                          <a:solidFill>
                            <a:srgbClr val="1E03BD"/>
                          </a:solidFill>
                          <a:effectLst/>
                          <a:latin typeface="Times New Roman" panose="02020603050405020304" pitchFamily="18" charset="0"/>
                          <a:cs typeface="Times New Roman" panose="02020603050405020304" pitchFamily="18" charset="0"/>
                        </a:rPr>
                        <a:t>i</a:t>
                      </a:r>
                      <a:r>
                        <a:rPr lang="en-US" sz="1900" kern="0" dirty="0">
                          <a:solidFill>
                            <a:srgbClr val="1E03BD"/>
                          </a:solidFill>
                          <a:effectLst/>
                          <a:latin typeface="Times New Roman" panose="02020603050405020304" pitchFamily="18" charset="0"/>
                          <a:cs typeface="Times New Roman" panose="02020603050405020304" pitchFamily="18" charset="0"/>
                        </a:rPr>
                        <a:t>])</a:t>
                      </a:r>
                      <a:endParaRPr lang="en-US" sz="1900" kern="100" dirty="0">
                        <a:solidFill>
                          <a:srgbClr val="1E03BD"/>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25701057"/>
                  </a:ext>
                </a:extLst>
              </a:tr>
              <a:tr h="757165">
                <a:tc>
                  <a:txBody>
                    <a:bodyPr/>
                    <a:lstStyle/>
                    <a:p>
                      <a:pPr marL="0" marR="0" algn="ctr">
                        <a:lnSpc>
                          <a:spcPct val="100000"/>
                        </a:lnSpc>
                        <a:spcBef>
                          <a:spcPts val="0"/>
                        </a:spcBef>
                        <a:spcAft>
                          <a:spcPts val="0"/>
                        </a:spcAft>
                      </a:pPr>
                      <a:r>
                        <a:rPr lang="en-US" sz="1900" kern="0">
                          <a:solidFill>
                            <a:schemeClr val="tx1"/>
                          </a:solidFill>
                          <a:effectLst/>
                          <a:latin typeface="Times New Roman" panose="02020603050405020304" pitchFamily="18" charset="0"/>
                          <a:cs typeface="Times New Roman" panose="02020603050405020304" pitchFamily="18" charset="0"/>
                        </a:rPr>
                        <a:t>0</a:t>
                      </a:r>
                      <a:endParaRPr lang="en-US" sz="19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dirty="0">
                          <a:solidFill>
                            <a:schemeClr val="tx1"/>
                          </a:solidFill>
                          <a:effectLst/>
                          <a:latin typeface="Times New Roman" panose="02020603050405020304" pitchFamily="18" charset="0"/>
                          <a:cs typeface="Times New Roman" panose="02020603050405020304" pitchFamily="18" charset="0"/>
                        </a:rPr>
                        <a:t>"A"</a:t>
                      </a:r>
                      <a:endPar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dirty="0">
                          <a:solidFill>
                            <a:schemeClr val="tx1"/>
                          </a:solidFill>
                          <a:effectLst/>
                          <a:latin typeface="Times New Roman" panose="02020603050405020304" pitchFamily="18" charset="0"/>
                          <a:cs typeface="Times New Roman" panose="02020603050405020304" pitchFamily="18" charset="0"/>
                        </a:rPr>
                        <a:t>None</a:t>
                      </a:r>
                      <a:endPar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dirty="0">
                          <a:solidFill>
                            <a:schemeClr val="tx1"/>
                          </a:solidFill>
                          <a:effectLst/>
                          <a:latin typeface="Times New Roman" panose="02020603050405020304" pitchFamily="18" charset="0"/>
                          <a:cs typeface="Times New Roman" panose="02020603050405020304" pitchFamily="18" charset="0"/>
                        </a:rPr>
                        <a:t>"A"</a:t>
                      </a:r>
                      <a:endPar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a:solidFill>
                            <a:schemeClr val="tx1"/>
                          </a:solidFill>
                          <a:effectLst/>
                          <a:latin typeface="Times New Roman" panose="02020603050405020304" pitchFamily="18" charset="0"/>
                          <a:cs typeface="Times New Roman" panose="02020603050405020304" pitchFamily="18" charset="0"/>
                        </a:rPr>
                        <a:t>0</a:t>
                      </a:r>
                      <a:endParaRPr lang="en-US" sz="19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07191914"/>
                  </a:ext>
                </a:extLst>
              </a:tr>
              <a:tr h="757165">
                <a:tc>
                  <a:txBody>
                    <a:bodyPr/>
                    <a:lstStyle/>
                    <a:p>
                      <a:pPr marL="0" marR="0" algn="ctr">
                        <a:lnSpc>
                          <a:spcPct val="100000"/>
                        </a:lnSpc>
                        <a:spcBef>
                          <a:spcPts val="0"/>
                        </a:spcBef>
                        <a:spcAft>
                          <a:spcPts val="0"/>
                        </a:spcAft>
                      </a:pPr>
                      <a:r>
                        <a:rPr lang="en-US" sz="1900" kern="0">
                          <a:solidFill>
                            <a:schemeClr val="tx1"/>
                          </a:solidFill>
                          <a:effectLst/>
                          <a:latin typeface="Times New Roman" panose="02020603050405020304" pitchFamily="18" charset="0"/>
                          <a:cs typeface="Times New Roman" panose="02020603050405020304" pitchFamily="18" charset="0"/>
                        </a:rPr>
                        <a:t>1</a:t>
                      </a:r>
                      <a:endParaRPr lang="en-US" sz="19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a:solidFill>
                            <a:schemeClr val="tx1"/>
                          </a:solidFill>
                          <a:effectLst/>
                          <a:latin typeface="Times New Roman" panose="02020603050405020304" pitchFamily="18" charset="0"/>
                          <a:cs typeface="Times New Roman" panose="02020603050405020304" pitchFamily="18" charset="0"/>
                        </a:rPr>
                        <a:t>"AB"</a:t>
                      </a:r>
                      <a:endParaRPr lang="en-US" sz="19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a:solidFill>
                            <a:schemeClr val="tx1"/>
                          </a:solidFill>
                          <a:effectLst/>
                          <a:latin typeface="Times New Roman" panose="02020603050405020304" pitchFamily="18" charset="0"/>
                          <a:cs typeface="Times New Roman" panose="02020603050405020304" pitchFamily="18" charset="0"/>
                        </a:rPr>
                        <a:t>"A"</a:t>
                      </a:r>
                      <a:endParaRPr lang="en-US" sz="19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dirty="0">
                          <a:solidFill>
                            <a:schemeClr val="tx1"/>
                          </a:solidFill>
                          <a:effectLst/>
                          <a:latin typeface="Times New Roman" panose="02020603050405020304" pitchFamily="18" charset="0"/>
                          <a:cs typeface="Times New Roman" panose="02020603050405020304" pitchFamily="18" charset="0"/>
                        </a:rPr>
                        <a:t>"B"</a:t>
                      </a:r>
                      <a:endPar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dirty="0">
                          <a:solidFill>
                            <a:schemeClr val="tx1"/>
                          </a:solidFill>
                          <a:effectLst/>
                          <a:latin typeface="Times New Roman" panose="02020603050405020304" pitchFamily="18" charset="0"/>
                          <a:cs typeface="Times New Roman" panose="02020603050405020304" pitchFamily="18" charset="0"/>
                        </a:rPr>
                        <a:t>0</a:t>
                      </a:r>
                      <a:endPar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2762924"/>
                  </a:ext>
                </a:extLst>
              </a:tr>
              <a:tr h="796034">
                <a:tc>
                  <a:txBody>
                    <a:bodyPr/>
                    <a:lstStyle/>
                    <a:p>
                      <a:pPr marL="0" marR="0" algn="ctr">
                        <a:lnSpc>
                          <a:spcPct val="100000"/>
                        </a:lnSpc>
                        <a:spcBef>
                          <a:spcPts val="0"/>
                        </a:spcBef>
                        <a:spcAft>
                          <a:spcPts val="0"/>
                        </a:spcAft>
                      </a:pPr>
                      <a:r>
                        <a:rPr lang="en-US" sz="1900" kern="0">
                          <a:solidFill>
                            <a:schemeClr val="tx1"/>
                          </a:solidFill>
                          <a:effectLst/>
                          <a:latin typeface="Times New Roman" panose="02020603050405020304" pitchFamily="18" charset="0"/>
                          <a:cs typeface="Times New Roman" panose="02020603050405020304" pitchFamily="18" charset="0"/>
                        </a:rPr>
                        <a:t>2</a:t>
                      </a:r>
                      <a:endParaRPr lang="en-US" sz="19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a:solidFill>
                            <a:schemeClr val="tx1"/>
                          </a:solidFill>
                          <a:effectLst/>
                          <a:latin typeface="Times New Roman" panose="02020603050405020304" pitchFamily="18" charset="0"/>
                          <a:cs typeface="Times New Roman" panose="02020603050405020304" pitchFamily="18" charset="0"/>
                        </a:rPr>
                        <a:t>"ABA"</a:t>
                      </a:r>
                      <a:endParaRPr lang="en-US" sz="19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a:solidFill>
                            <a:schemeClr val="tx1"/>
                          </a:solidFill>
                          <a:effectLst/>
                          <a:latin typeface="Times New Roman" panose="02020603050405020304" pitchFamily="18" charset="0"/>
                          <a:cs typeface="Times New Roman" panose="02020603050405020304" pitchFamily="18" charset="0"/>
                        </a:rPr>
                        <a:t>"A", "AB"</a:t>
                      </a:r>
                      <a:endParaRPr lang="en-US" sz="19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a:solidFill>
                            <a:schemeClr val="tx1"/>
                          </a:solidFill>
                          <a:effectLst/>
                          <a:latin typeface="Times New Roman" panose="02020603050405020304" pitchFamily="18" charset="0"/>
                          <a:cs typeface="Times New Roman" panose="02020603050405020304" pitchFamily="18" charset="0"/>
                        </a:rPr>
                        <a:t>"A", "BA"</a:t>
                      </a:r>
                      <a:endParaRPr lang="en-US" sz="19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dirty="0">
                          <a:solidFill>
                            <a:schemeClr val="tx1"/>
                          </a:solidFill>
                          <a:effectLst/>
                          <a:latin typeface="Times New Roman" panose="02020603050405020304" pitchFamily="18" charset="0"/>
                          <a:cs typeface="Times New Roman" panose="02020603050405020304" pitchFamily="18" charset="0"/>
                        </a:rPr>
                        <a:t>1 (Prefix "A" = Suffix "A")</a:t>
                      </a:r>
                      <a:endPar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6629655"/>
                  </a:ext>
                </a:extLst>
              </a:tr>
              <a:tr h="796034">
                <a:tc>
                  <a:txBody>
                    <a:bodyPr/>
                    <a:lstStyle/>
                    <a:p>
                      <a:pPr marL="0" marR="0" algn="ctr">
                        <a:lnSpc>
                          <a:spcPct val="100000"/>
                        </a:lnSpc>
                        <a:spcBef>
                          <a:spcPts val="0"/>
                        </a:spcBef>
                        <a:spcAft>
                          <a:spcPts val="0"/>
                        </a:spcAft>
                      </a:pPr>
                      <a:r>
                        <a:rPr lang="en-US" sz="1900" kern="0">
                          <a:solidFill>
                            <a:schemeClr val="tx1"/>
                          </a:solidFill>
                          <a:effectLst/>
                          <a:latin typeface="Times New Roman" panose="02020603050405020304" pitchFamily="18" charset="0"/>
                          <a:cs typeface="Times New Roman" panose="02020603050405020304" pitchFamily="18" charset="0"/>
                        </a:rPr>
                        <a:t>3</a:t>
                      </a:r>
                      <a:endParaRPr lang="en-US" sz="19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a:solidFill>
                            <a:schemeClr val="tx1"/>
                          </a:solidFill>
                          <a:effectLst/>
                          <a:latin typeface="Times New Roman" panose="02020603050405020304" pitchFamily="18" charset="0"/>
                          <a:cs typeface="Times New Roman" panose="02020603050405020304" pitchFamily="18" charset="0"/>
                        </a:rPr>
                        <a:t>"ABAB"</a:t>
                      </a:r>
                      <a:endParaRPr lang="en-US" sz="19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a:solidFill>
                            <a:schemeClr val="tx1"/>
                          </a:solidFill>
                          <a:effectLst/>
                          <a:latin typeface="Times New Roman" panose="02020603050405020304" pitchFamily="18" charset="0"/>
                          <a:cs typeface="Times New Roman" panose="02020603050405020304" pitchFamily="18" charset="0"/>
                        </a:rPr>
                        <a:t>"A", "AB", "ABA"</a:t>
                      </a:r>
                      <a:endParaRPr lang="en-US" sz="19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a:solidFill>
                            <a:schemeClr val="tx1"/>
                          </a:solidFill>
                          <a:effectLst/>
                          <a:latin typeface="Times New Roman" panose="02020603050405020304" pitchFamily="18" charset="0"/>
                          <a:cs typeface="Times New Roman" panose="02020603050405020304" pitchFamily="18" charset="0"/>
                        </a:rPr>
                        <a:t>"B", "AB", "BAB"</a:t>
                      </a:r>
                      <a:endParaRPr lang="en-US" sz="19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dirty="0">
                          <a:solidFill>
                            <a:schemeClr val="tx1"/>
                          </a:solidFill>
                          <a:effectLst/>
                          <a:latin typeface="Times New Roman" panose="02020603050405020304" pitchFamily="18" charset="0"/>
                          <a:cs typeface="Times New Roman" panose="02020603050405020304" pitchFamily="18" charset="0"/>
                        </a:rPr>
                        <a:t>2 (Prefix "AB" = Suffix "AB")</a:t>
                      </a:r>
                      <a:endPar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14769325"/>
                  </a:ext>
                </a:extLst>
              </a:tr>
              <a:tr h="796034">
                <a:tc>
                  <a:txBody>
                    <a:bodyPr/>
                    <a:lstStyle/>
                    <a:p>
                      <a:pPr marL="0" marR="0" algn="ctr">
                        <a:lnSpc>
                          <a:spcPct val="100000"/>
                        </a:lnSpc>
                        <a:spcBef>
                          <a:spcPts val="0"/>
                        </a:spcBef>
                        <a:spcAft>
                          <a:spcPts val="0"/>
                        </a:spcAft>
                      </a:pPr>
                      <a:r>
                        <a:rPr lang="en-US" sz="1900" kern="0">
                          <a:solidFill>
                            <a:schemeClr val="tx1"/>
                          </a:solidFill>
                          <a:effectLst/>
                          <a:latin typeface="Times New Roman" panose="02020603050405020304" pitchFamily="18" charset="0"/>
                          <a:cs typeface="Times New Roman" panose="02020603050405020304" pitchFamily="18" charset="0"/>
                        </a:rPr>
                        <a:t>4</a:t>
                      </a:r>
                      <a:endParaRPr lang="en-US" sz="19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a:solidFill>
                            <a:schemeClr val="tx1"/>
                          </a:solidFill>
                          <a:effectLst/>
                          <a:latin typeface="Times New Roman" panose="02020603050405020304" pitchFamily="18" charset="0"/>
                          <a:cs typeface="Times New Roman" panose="02020603050405020304" pitchFamily="18" charset="0"/>
                        </a:rPr>
                        <a:t>"ABABC"</a:t>
                      </a:r>
                      <a:endParaRPr lang="en-US" sz="19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a:solidFill>
                            <a:schemeClr val="tx1"/>
                          </a:solidFill>
                          <a:effectLst/>
                          <a:latin typeface="Times New Roman" panose="02020603050405020304" pitchFamily="18" charset="0"/>
                          <a:cs typeface="Times New Roman" panose="02020603050405020304" pitchFamily="18" charset="0"/>
                        </a:rPr>
                        <a:t>"A", "AB", "ABA", "ABAB"</a:t>
                      </a:r>
                      <a:endParaRPr lang="en-US" sz="19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a:solidFill>
                            <a:schemeClr val="tx1"/>
                          </a:solidFill>
                          <a:effectLst/>
                          <a:latin typeface="Times New Roman" panose="02020603050405020304" pitchFamily="18" charset="0"/>
                          <a:cs typeface="Times New Roman" panose="02020603050405020304" pitchFamily="18" charset="0"/>
                        </a:rPr>
                        <a:t>"C", "BC", "ABC", "BABC"</a:t>
                      </a:r>
                      <a:endParaRPr lang="en-US" sz="19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0000"/>
                        </a:lnSpc>
                        <a:spcBef>
                          <a:spcPts val="0"/>
                        </a:spcBef>
                        <a:spcAft>
                          <a:spcPts val="0"/>
                        </a:spcAft>
                      </a:pPr>
                      <a:r>
                        <a:rPr lang="en-US" sz="1900" kern="0" dirty="0">
                          <a:solidFill>
                            <a:schemeClr val="tx1"/>
                          </a:solidFill>
                          <a:effectLst/>
                          <a:latin typeface="Times New Roman" panose="02020603050405020304" pitchFamily="18" charset="0"/>
                          <a:cs typeface="Times New Roman" panose="02020603050405020304" pitchFamily="18" charset="0"/>
                        </a:rPr>
                        <a:t>0</a:t>
                      </a:r>
                      <a:endPar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89828814"/>
                  </a:ext>
                </a:extLst>
              </a:tr>
            </a:tbl>
          </a:graphicData>
        </a:graphic>
      </p:graphicFrame>
      <p:sp>
        <p:nvSpPr>
          <p:cNvPr id="6" name="Rectangle 5"/>
          <p:cNvSpPr/>
          <p:nvPr/>
        </p:nvSpPr>
        <p:spPr>
          <a:xfrm>
            <a:off x="2967288" y="6029681"/>
            <a:ext cx="4921540" cy="405367"/>
          </a:xfrm>
          <a:prstGeom prst="rect">
            <a:avLst/>
          </a:prstGeom>
        </p:spPr>
        <p:txBody>
          <a:bodyPr wrap="none">
            <a:spAutoFit/>
          </a:bodyPr>
          <a:lstStyle/>
          <a:p>
            <a:pPr>
              <a:lnSpc>
                <a:spcPct val="107000"/>
              </a:lnSpc>
              <a:spcAft>
                <a:spcPts val="800"/>
              </a:spcAft>
            </a:pP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Final </a:t>
            </a:r>
            <a:r>
              <a:rPr lang="en-US" sz="2000" b="1" kern="0" dirty="0" err="1">
                <a:latin typeface="Times New Roman" panose="02020603050405020304" pitchFamily="18" charset="0"/>
                <a:ea typeface="Times New Roman" panose="02020603050405020304" pitchFamily="18" charset="0"/>
                <a:cs typeface="Times New Roman" panose="02020603050405020304" pitchFamily="18" charset="0"/>
              </a:rPr>
              <a:t>lps</a:t>
            </a: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 array for "ABABC": [0, 0, 1, 2, 0]</a:t>
            </a:r>
            <a:endParaRPr lang="en-US"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616516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dirty="0">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19</a:t>
            </a:fld>
            <a:endParaRPr lang="en-AU"/>
          </a:p>
        </p:txBody>
      </p:sp>
      <p:sp>
        <p:nvSpPr>
          <p:cNvPr id="4" name="Rectangle 3"/>
          <p:cNvSpPr/>
          <p:nvPr/>
        </p:nvSpPr>
        <p:spPr>
          <a:xfrm>
            <a:off x="2733473" y="942308"/>
            <a:ext cx="5817140" cy="1569660"/>
          </a:xfrm>
          <a:prstGeom prst="rect">
            <a:avLst/>
          </a:prstGeom>
        </p:spPr>
        <p:txBody>
          <a:bodyPr wrap="square">
            <a:spAutoFit/>
          </a:bodyPr>
          <a:lstStyle/>
          <a:p>
            <a:r>
              <a:rPr lang="en-IN" altLang="en-US" sz="3200" b="1" dirty="0">
                <a:latin typeface="Times New Roman" panose="02020603050405020304" pitchFamily="18" charset="0"/>
                <a:cs typeface="Times New Roman" panose="02020603050405020304" pitchFamily="18" charset="0"/>
              </a:rPr>
              <a:t>	  1 2 3 4 5 6 7 8 9 10</a:t>
            </a:r>
          </a:p>
          <a:p>
            <a:pPr lvl="1"/>
            <a:r>
              <a:rPr lang="en-IN" altLang="en-US" sz="3200" b="1" dirty="0">
                <a:latin typeface="Times New Roman" panose="02020603050405020304" pitchFamily="18" charset="0"/>
                <a:cs typeface="Times New Roman" panose="02020603050405020304" pitchFamily="18" charset="0"/>
              </a:rPr>
              <a:t>P1: a b c d a b e a b f</a:t>
            </a:r>
          </a:p>
          <a:p>
            <a:pPr lvl="1">
              <a:buFont typeface="Arial" panose="020B0604020202020204" pitchFamily="34" charset="0"/>
              <a:buNone/>
            </a:pPr>
            <a:r>
              <a:rPr lang="en-IN" altLang="en-US" sz="3200" b="1" dirty="0">
                <a:latin typeface="Times New Roman" panose="02020603050405020304" pitchFamily="18" charset="0"/>
                <a:cs typeface="Times New Roman" panose="02020603050405020304" pitchFamily="18" charset="0"/>
              </a:rPr>
              <a:t>	</a:t>
            </a:r>
          </a:p>
        </p:txBody>
      </p:sp>
      <p:sp>
        <p:nvSpPr>
          <p:cNvPr id="5" name="TextBox 4"/>
          <p:cNvSpPr txBox="1"/>
          <p:nvPr/>
        </p:nvSpPr>
        <p:spPr>
          <a:xfrm>
            <a:off x="1664160" y="205057"/>
            <a:ext cx="9689640" cy="584775"/>
          </a:xfrm>
          <a:prstGeom prst="rect">
            <a:avLst/>
          </a:prstGeom>
          <a:noFill/>
        </p:spPr>
        <p:txBody>
          <a:bodyPr wrap="none" rtlCol="0">
            <a:spAutoFit/>
          </a:bodyPr>
          <a:lstStyle/>
          <a:p>
            <a:r>
              <a:rPr lang="en-US" sz="3200" b="1" dirty="0">
                <a:solidFill>
                  <a:srgbClr val="1E03BD"/>
                </a:solidFill>
              </a:rPr>
              <a:t>Examples for creating an LPS array for different patterns</a:t>
            </a:r>
          </a:p>
        </p:txBody>
      </p:sp>
    </p:spTree>
    <p:extLst>
      <p:ext uri="{BB962C8B-B14F-4D97-AF65-F5344CB8AC3E}">
        <p14:creationId xmlns:p14="http://schemas.microsoft.com/office/powerpoint/2010/main" val="33226875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dirty="0">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20</a:t>
            </a:fld>
            <a:endParaRPr lang="en-AU"/>
          </a:p>
        </p:txBody>
      </p:sp>
      <p:sp>
        <p:nvSpPr>
          <p:cNvPr id="4" name="Rectangle 3"/>
          <p:cNvSpPr/>
          <p:nvPr/>
        </p:nvSpPr>
        <p:spPr>
          <a:xfrm>
            <a:off x="2733473" y="942308"/>
            <a:ext cx="5817140" cy="1569660"/>
          </a:xfrm>
          <a:prstGeom prst="rect">
            <a:avLst/>
          </a:prstGeom>
        </p:spPr>
        <p:txBody>
          <a:bodyPr wrap="square">
            <a:spAutoFit/>
          </a:bodyPr>
          <a:lstStyle/>
          <a:p>
            <a:r>
              <a:rPr lang="en-IN" altLang="en-US" sz="3200" b="1" dirty="0">
                <a:latin typeface="Times New Roman" panose="02020603050405020304" pitchFamily="18" charset="0"/>
                <a:cs typeface="Times New Roman" panose="02020603050405020304" pitchFamily="18" charset="0"/>
              </a:rPr>
              <a:t>	  1 2 3 4 5 6 7 8 9 10</a:t>
            </a:r>
          </a:p>
          <a:p>
            <a:pPr lvl="1"/>
            <a:r>
              <a:rPr lang="en-IN" altLang="en-US" sz="3200" b="1" dirty="0">
                <a:latin typeface="Times New Roman" panose="02020603050405020304" pitchFamily="18" charset="0"/>
                <a:cs typeface="Times New Roman" panose="02020603050405020304" pitchFamily="18" charset="0"/>
              </a:rPr>
              <a:t>P1: a b c d a b e a b f</a:t>
            </a:r>
          </a:p>
          <a:p>
            <a:pPr lvl="1">
              <a:buFont typeface="Arial" panose="020B0604020202020204" pitchFamily="34" charset="0"/>
              <a:buNone/>
            </a:pPr>
            <a:r>
              <a:rPr lang="en-IN" altLang="en-US" sz="3200" b="1" dirty="0">
                <a:latin typeface="Times New Roman" panose="02020603050405020304" pitchFamily="18" charset="0"/>
                <a:cs typeface="Times New Roman" panose="02020603050405020304" pitchFamily="18" charset="0"/>
              </a:rPr>
              <a:t>	  </a:t>
            </a:r>
            <a:r>
              <a:rPr lang="en-IN" altLang="en-US" sz="3200" b="1" dirty="0">
                <a:solidFill>
                  <a:srgbClr val="FF0000"/>
                </a:solidFill>
                <a:latin typeface="Times New Roman" panose="02020603050405020304" pitchFamily="18" charset="0"/>
                <a:cs typeface="Times New Roman" panose="02020603050405020304" pitchFamily="18" charset="0"/>
              </a:rPr>
              <a:t>0 0 0 0 1 2 0 1 2 0</a:t>
            </a:r>
            <a:endParaRPr lang="en-IN" altLang="en-US" sz="32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664160" y="205057"/>
            <a:ext cx="9689640" cy="584775"/>
          </a:xfrm>
          <a:prstGeom prst="rect">
            <a:avLst/>
          </a:prstGeom>
          <a:noFill/>
        </p:spPr>
        <p:txBody>
          <a:bodyPr wrap="none" rtlCol="0">
            <a:spAutoFit/>
          </a:bodyPr>
          <a:lstStyle/>
          <a:p>
            <a:r>
              <a:rPr lang="en-US" sz="3200" b="1" dirty="0">
                <a:solidFill>
                  <a:srgbClr val="1E03BD"/>
                </a:solidFill>
              </a:rPr>
              <a:t>Examples for creating an LPS array for different patterns</a:t>
            </a:r>
          </a:p>
        </p:txBody>
      </p:sp>
    </p:spTree>
    <p:extLst>
      <p:ext uri="{BB962C8B-B14F-4D97-AF65-F5344CB8AC3E}">
        <p14:creationId xmlns:p14="http://schemas.microsoft.com/office/powerpoint/2010/main" val="31863424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dirty="0">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21</a:t>
            </a:fld>
            <a:endParaRPr lang="en-AU"/>
          </a:p>
        </p:txBody>
      </p:sp>
      <p:sp>
        <p:nvSpPr>
          <p:cNvPr id="4" name="Rectangle 3"/>
          <p:cNvSpPr/>
          <p:nvPr/>
        </p:nvSpPr>
        <p:spPr>
          <a:xfrm>
            <a:off x="2733473" y="942308"/>
            <a:ext cx="5817140" cy="2554545"/>
          </a:xfrm>
          <a:prstGeom prst="rect">
            <a:avLst/>
          </a:prstGeom>
        </p:spPr>
        <p:txBody>
          <a:bodyPr wrap="square">
            <a:spAutoFit/>
          </a:bodyPr>
          <a:lstStyle/>
          <a:p>
            <a:r>
              <a:rPr lang="en-IN" altLang="en-US" sz="3200" b="1" dirty="0">
                <a:latin typeface="Times New Roman" panose="02020603050405020304" pitchFamily="18" charset="0"/>
                <a:cs typeface="Times New Roman" panose="02020603050405020304" pitchFamily="18" charset="0"/>
              </a:rPr>
              <a:t>	  1 2 3 4 5 6 7 8 9 10</a:t>
            </a:r>
          </a:p>
          <a:p>
            <a:pPr lvl="1"/>
            <a:r>
              <a:rPr lang="en-IN" altLang="en-US" sz="3200" b="1" dirty="0">
                <a:latin typeface="Times New Roman" panose="02020603050405020304" pitchFamily="18" charset="0"/>
                <a:cs typeface="Times New Roman" panose="02020603050405020304" pitchFamily="18" charset="0"/>
              </a:rPr>
              <a:t>P1: a b c d a b e a b f</a:t>
            </a:r>
          </a:p>
          <a:p>
            <a:pPr lvl="1">
              <a:buFont typeface="Arial" panose="020B0604020202020204" pitchFamily="34" charset="0"/>
              <a:buNone/>
            </a:pPr>
            <a:r>
              <a:rPr lang="en-IN" altLang="en-US" sz="3200" b="1" dirty="0">
                <a:latin typeface="Times New Roman" panose="02020603050405020304" pitchFamily="18" charset="0"/>
                <a:cs typeface="Times New Roman" panose="02020603050405020304" pitchFamily="18" charset="0"/>
              </a:rPr>
              <a:t>	  </a:t>
            </a:r>
            <a:r>
              <a:rPr lang="en-IN" altLang="en-US" sz="3200" b="1" dirty="0">
                <a:solidFill>
                  <a:srgbClr val="FF0000"/>
                </a:solidFill>
                <a:latin typeface="Times New Roman" panose="02020603050405020304" pitchFamily="18" charset="0"/>
                <a:cs typeface="Times New Roman" panose="02020603050405020304" pitchFamily="18" charset="0"/>
              </a:rPr>
              <a:t>0 0 0 0 1 2 0 1 2 0</a:t>
            </a:r>
            <a:endParaRPr lang="en-IN" altLang="en-US" sz="3200" b="1" dirty="0">
              <a:latin typeface="Times New Roman" panose="02020603050405020304" pitchFamily="18" charset="0"/>
              <a:cs typeface="Times New Roman" panose="02020603050405020304" pitchFamily="18" charset="0"/>
            </a:endParaRPr>
          </a:p>
          <a:p>
            <a:pPr lvl="1"/>
            <a:r>
              <a:rPr lang="en-IN" altLang="en-US" sz="3200" b="1" dirty="0">
                <a:latin typeface="Times New Roman" panose="02020603050405020304" pitchFamily="18" charset="0"/>
                <a:cs typeface="Times New Roman" panose="02020603050405020304" pitchFamily="18" charset="0"/>
              </a:rPr>
              <a:t>P2: a b c d e a b f a b c</a:t>
            </a:r>
          </a:p>
          <a:p>
            <a:pPr lvl="1">
              <a:buFont typeface="Arial" panose="020B0604020202020204" pitchFamily="34" charset="0"/>
              <a:buNone/>
            </a:pPr>
            <a:r>
              <a:rPr lang="en-IN" altLang="en-US" sz="3200" b="1" dirty="0">
                <a:latin typeface="Times New Roman" panose="02020603050405020304" pitchFamily="18" charset="0"/>
                <a:cs typeface="Times New Roman" panose="02020603050405020304" pitchFamily="18" charset="0"/>
              </a:rPr>
              <a:t>	</a:t>
            </a:r>
            <a:endParaRPr lang="en-IN" altLang="en-US" sz="3200" b="1" dirty="0">
              <a:solidFill>
                <a:srgbClr val="FF0000"/>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1664160" y="205057"/>
            <a:ext cx="9689640" cy="584775"/>
          </a:xfrm>
          <a:prstGeom prst="rect">
            <a:avLst/>
          </a:prstGeom>
          <a:noFill/>
        </p:spPr>
        <p:txBody>
          <a:bodyPr wrap="none" rtlCol="0">
            <a:spAutoFit/>
          </a:bodyPr>
          <a:lstStyle/>
          <a:p>
            <a:r>
              <a:rPr lang="en-US" sz="3200" b="1" dirty="0">
                <a:solidFill>
                  <a:srgbClr val="1E03BD"/>
                </a:solidFill>
              </a:rPr>
              <a:t>Examples for creating an LPS array for different patterns</a:t>
            </a:r>
          </a:p>
        </p:txBody>
      </p:sp>
    </p:spTree>
    <p:extLst>
      <p:ext uri="{BB962C8B-B14F-4D97-AF65-F5344CB8AC3E}">
        <p14:creationId xmlns:p14="http://schemas.microsoft.com/office/powerpoint/2010/main" val="2970654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dirty="0">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22</a:t>
            </a:fld>
            <a:endParaRPr lang="en-AU"/>
          </a:p>
        </p:txBody>
      </p:sp>
      <p:sp>
        <p:nvSpPr>
          <p:cNvPr id="4" name="Rectangle 3"/>
          <p:cNvSpPr/>
          <p:nvPr/>
        </p:nvSpPr>
        <p:spPr>
          <a:xfrm>
            <a:off x="2733473" y="942308"/>
            <a:ext cx="5817140" cy="4524315"/>
          </a:xfrm>
          <a:prstGeom prst="rect">
            <a:avLst/>
          </a:prstGeom>
        </p:spPr>
        <p:txBody>
          <a:bodyPr wrap="square">
            <a:spAutoFit/>
          </a:bodyPr>
          <a:lstStyle/>
          <a:p>
            <a:r>
              <a:rPr lang="en-IN" altLang="en-US" sz="3200" b="1" dirty="0">
                <a:latin typeface="Times New Roman" panose="02020603050405020304" pitchFamily="18" charset="0"/>
                <a:cs typeface="Times New Roman" panose="02020603050405020304" pitchFamily="18" charset="0"/>
              </a:rPr>
              <a:t>	  1 2 3 4 5 6 7 8 9 10</a:t>
            </a:r>
          </a:p>
          <a:p>
            <a:pPr lvl="1"/>
            <a:r>
              <a:rPr lang="en-IN" altLang="en-US" sz="3200" b="1" dirty="0">
                <a:latin typeface="Times New Roman" panose="02020603050405020304" pitchFamily="18" charset="0"/>
                <a:cs typeface="Times New Roman" panose="02020603050405020304" pitchFamily="18" charset="0"/>
              </a:rPr>
              <a:t>P1: a b c d a b e a b f</a:t>
            </a:r>
          </a:p>
          <a:p>
            <a:pPr lvl="1">
              <a:buFont typeface="Arial" panose="020B0604020202020204" pitchFamily="34" charset="0"/>
              <a:buNone/>
            </a:pPr>
            <a:r>
              <a:rPr lang="en-IN" altLang="en-US" sz="3200" b="1" dirty="0">
                <a:latin typeface="Times New Roman" panose="02020603050405020304" pitchFamily="18" charset="0"/>
                <a:cs typeface="Times New Roman" panose="02020603050405020304" pitchFamily="18" charset="0"/>
              </a:rPr>
              <a:t>	  </a:t>
            </a:r>
            <a:r>
              <a:rPr lang="en-IN" altLang="en-US" sz="3200" b="1" dirty="0">
                <a:solidFill>
                  <a:srgbClr val="FF0000"/>
                </a:solidFill>
                <a:latin typeface="Times New Roman" panose="02020603050405020304" pitchFamily="18" charset="0"/>
                <a:cs typeface="Times New Roman" panose="02020603050405020304" pitchFamily="18" charset="0"/>
              </a:rPr>
              <a:t>0 0 0 0 1 2 0 1 2 0</a:t>
            </a:r>
            <a:endParaRPr lang="en-IN" altLang="en-US" sz="3200" b="1" dirty="0">
              <a:latin typeface="Times New Roman" panose="02020603050405020304" pitchFamily="18" charset="0"/>
              <a:cs typeface="Times New Roman" panose="02020603050405020304" pitchFamily="18" charset="0"/>
            </a:endParaRPr>
          </a:p>
          <a:p>
            <a:pPr lvl="1"/>
            <a:r>
              <a:rPr lang="en-IN" altLang="en-US" sz="3200" b="1" dirty="0">
                <a:latin typeface="Times New Roman" panose="02020603050405020304" pitchFamily="18" charset="0"/>
                <a:cs typeface="Times New Roman" panose="02020603050405020304" pitchFamily="18" charset="0"/>
              </a:rPr>
              <a:t>P2: a b c d e a b f a b c</a:t>
            </a:r>
          </a:p>
          <a:p>
            <a:pPr lvl="1">
              <a:buFont typeface="Arial" panose="020B0604020202020204" pitchFamily="34" charset="0"/>
              <a:buNone/>
            </a:pPr>
            <a:r>
              <a:rPr lang="en-IN" altLang="en-US" sz="3200" b="1" dirty="0">
                <a:latin typeface="Times New Roman" panose="02020603050405020304" pitchFamily="18" charset="0"/>
                <a:cs typeface="Times New Roman" panose="02020603050405020304" pitchFamily="18" charset="0"/>
              </a:rPr>
              <a:t>	  </a:t>
            </a:r>
            <a:r>
              <a:rPr lang="en-IN" altLang="en-US" sz="3200" b="1" dirty="0">
                <a:solidFill>
                  <a:srgbClr val="FF0000"/>
                </a:solidFill>
                <a:latin typeface="Times New Roman" panose="02020603050405020304" pitchFamily="18" charset="0"/>
                <a:cs typeface="Times New Roman" panose="02020603050405020304" pitchFamily="18" charset="0"/>
              </a:rPr>
              <a:t>0 0 0 0 0 1 2 0 1 2 3 </a:t>
            </a:r>
          </a:p>
          <a:p>
            <a:pPr lvl="1"/>
            <a:r>
              <a:rPr lang="en-IN" altLang="en-US" sz="3200" b="1" dirty="0">
                <a:latin typeface="Times New Roman" panose="02020603050405020304" pitchFamily="18" charset="0"/>
                <a:cs typeface="Times New Roman" panose="02020603050405020304" pitchFamily="18" charset="0"/>
              </a:rPr>
              <a:t>P3: a </a:t>
            </a:r>
            <a:r>
              <a:rPr lang="en-IN" altLang="en-US" sz="3200" b="1" dirty="0" err="1">
                <a:latin typeface="Times New Roman" panose="02020603050405020304" pitchFamily="18" charset="0"/>
                <a:cs typeface="Times New Roman" panose="02020603050405020304" pitchFamily="18" charset="0"/>
              </a:rPr>
              <a:t>a</a:t>
            </a:r>
            <a:r>
              <a:rPr lang="en-IN" altLang="en-US" sz="3200" b="1" dirty="0">
                <a:latin typeface="Times New Roman" panose="02020603050405020304" pitchFamily="18" charset="0"/>
                <a:cs typeface="Times New Roman" panose="02020603050405020304" pitchFamily="18" charset="0"/>
              </a:rPr>
              <a:t> b c a d a </a:t>
            </a:r>
            <a:r>
              <a:rPr lang="en-IN" altLang="en-US" sz="3200" b="1" dirty="0" err="1">
                <a:latin typeface="Times New Roman" panose="02020603050405020304" pitchFamily="18" charset="0"/>
                <a:cs typeface="Times New Roman" panose="02020603050405020304" pitchFamily="18" charset="0"/>
              </a:rPr>
              <a:t>a</a:t>
            </a:r>
            <a:r>
              <a:rPr lang="en-IN" altLang="en-US" sz="3200" b="1" dirty="0">
                <a:latin typeface="Times New Roman" panose="02020603050405020304" pitchFamily="18" charset="0"/>
                <a:cs typeface="Times New Roman" panose="02020603050405020304" pitchFamily="18" charset="0"/>
              </a:rPr>
              <a:t> b e </a:t>
            </a:r>
          </a:p>
          <a:p>
            <a:pPr lvl="1">
              <a:buFont typeface="Arial" panose="020B0604020202020204" pitchFamily="34" charset="0"/>
              <a:buNone/>
            </a:pPr>
            <a:r>
              <a:rPr lang="en-IN" altLang="en-US" sz="3200" b="1" dirty="0">
                <a:solidFill>
                  <a:srgbClr val="FF0000"/>
                </a:solidFill>
                <a:latin typeface="Times New Roman" panose="02020603050405020304" pitchFamily="18" charset="0"/>
                <a:cs typeface="Times New Roman" panose="02020603050405020304" pitchFamily="18" charset="0"/>
              </a:rPr>
              <a:t>       0 1 0 0 1 0 1 2 3 0</a:t>
            </a:r>
          </a:p>
          <a:p>
            <a:pPr lvl="1"/>
            <a:r>
              <a:rPr lang="en-IN" altLang="en-US" sz="3200" b="1" dirty="0">
                <a:latin typeface="Times New Roman" panose="02020603050405020304" pitchFamily="18" charset="0"/>
                <a:cs typeface="Times New Roman" panose="02020603050405020304" pitchFamily="18" charset="0"/>
              </a:rPr>
              <a:t>P4: a </a:t>
            </a:r>
            <a:r>
              <a:rPr lang="en-IN" altLang="en-US" sz="3200" b="1" dirty="0" err="1">
                <a:latin typeface="Times New Roman" panose="02020603050405020304" pitchFamily="18" charset="0"/>
                <a:cs typeface="Times New Roman" panose="02020603050405020304" pitchFamily="18" charset="0"/>
              </a:rPr>
              <a:t>a</a:t>
            </a:r>
            <a:r>
              <a:rPr lang="en-IN" altLang="en-US" sz="3200" b="1" dirty="0">
                <a:latin typeface="Times New Roman" panose="02020603050405020304" pitchFamily="18" charset="0"/>
                <a:cs typeface="Times New Roman" panose="02020603050405020304" pitchFamily="18" charset="0"/>
              </a:rPr>
              <a:t> </a:t>
            </a:r>
            <a:r>
              <a:rPr lang="en-IN" altLang="en-US" sz="3200" b="1" dirty="0" err="1">
                <a:latin typeface="Times New Roman" panose="02020603050405020304" pitchFamily="18" charset="0"/>
                <a:cs typeface="Times New Roman" panose="02020603050405020304" pitchFamily="18" charset="0"/>
              </a:rPr>
              <a:t>a</a:t>
            </a:r>
            <a:r>
              <a:rPr lang="en-IN" altLang="en-US" sz="3200" b="1" dirty="0">
                <a:latin typeface="Times New Roman" panose="02020603050405020304" pitchFamily="18" charset="0"/>
                <a:cs typeface="Times New Roman" panose="02020603050405020304" pitchFamily="18" charset="0"/>
              </a:rPr>
              <a:t> </a:t>
            </a:r>
            <a:r>
              <a:rPr lang="en-IN" altLang="en-US" sz="3200" b="1" dirty="0" err="1">
                <a:latin typeface="Times New Roman" panose="02020603050405020304" pitchFamily="18" charset="0"/>
                <a:cs typeface="Times New Roman" panose="02020603050405020304" pitchFamily="18" charset="0"/>
              </a:rPr>
              <a:t>a</a:t>
            </a:r>
            <a:r>
              <a:rPr lang="en-IN" altLang="en-US" sz="3200" b="1" dirty="0">
                <a:latin typeface="Times New Roman" panose="02020603050405020304" pitchFamily="18" charset="0"/>
                <a:cs typeface="Times New Roman" panose="02020603050405020304" pitchFamily="18" charset="0"/>
              </a:rPr>
              <a:t> b a </a:t>
            </a:r>
            <a:r>
              <a:rPr lang="en-IN" altLang="en-US" sz="3200" b="1" dirty="0" err="1">
                <a:latin typeface="Times New Roman" panose="02020603050405020304" pitchFamily="18" charset="0"/>
                <a:cs typeface="Times New Roman" panose="02020603050405020304" pitchFamily="18" charset="0"/>
              </a:rPr>
              <a:t>a</a:t>
            </a:r>
            <a:r>
              <a:rPr lang="en-IN" altLang="en-US" sz="3200" b="1" dirty="0">
                <a:latin typeface="Times New Roman" panose="02020603050405020304" pitchFamily="18" charset="0"/>
                <a:cs typeface="Times New Roman" panose="02020603050405020304" pitchFamily="18" charset="0"/>
              </a:rPr>
              <a:t> c d</a:t>
            </a:r>
          </a:p>
          <a:p>
            <a:pPr lvl="1">
              <a:buFont typeface="Arial" panose="020B0604020202020204" pitchFamily="34" charset="0"/>
              <a:buNone/>
            </a:pPr>
            <a:r>
              <a:rPr lang="en-IN" altLang="en-US" sz="3200" b="1" dirty="0">
                <a:solidFill>
                  <a:srgbClr val="FF0000"/>
                </a:solidFill>
                <a:latin typeface="Times New Roman" panose="02020603050405020304" pitchFamily="18" charset="0"/>
                <a:cs typeface="Times New Roman" panose="02020603050405020304" pitchFamily="18" charset="0"/>
              </a:rPr>
              <a:t>       0 1 2 3 0 1 2 0 0</a:t>
            </a:r>
          </a:p>
        </p:txBody>
      </p:sp>
      <p:sp>
        <p:nvSpPr>
          <p:cNvPr id="5" name="TextBox 4"/>
          <p:cNvSpPr txBox="1"/>
          <p:nvPr/>
        </p:nvSpPr>
        <p:spPr>
          <a:xfrm>
            <a:off x="1664160" y="205057"/>
            <a:ext cx="9689640" cy="584775"/>
          </a:xfrm>
          <a:prstGeom prst="rect">
            <a:avLst/>
          </a:prstGeom>
          <a:noFill/>
        </p:spPr>
        <p:txBody>
          <a:bodyPr wrap="none" rtlCol="0">
            <a:spAutoFit/>
          </a:bodyPr>
          <a:lstStyle/>
          <a:p>
            <a:r>
              <a:rPr lang="en-US" sz="3200" b="1" dirty="0">
                <a:solidFill>
                  <a:srgbClr val="1E03BD"/>
                </a:solidFill>
              </a:rPr>
              <a:t>Examples for creating an LPS array for different patterns</a:t>
            </a:r>
          </a:p>
        </p:txBody>
      </p:sp>
    </p:spTree>
    <p:extLst>
      <p:ext uri="{BB962C8B-B14F-4D97-AF65-F5344CB8AC3E}">
        <p14:creationId xmlns:p14="http://schemas.microsoft.com/office/powerpoint/2010/main" val="6432637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2655226" y="275035"/>
            <a:ext cx="7197431" cy="639762"/>
          </a:xfrm>
        </p:spPr>
        <p:txBody>
          <a:bodyPr/>
          <a:lstStyle/>
          <a:p>
            <a:r>
              <a:rPr lang="en-US" altLang="en-US" sz="4800" b="1" dirty="0">
                <a:solidFill>
                  <a:srgbClr val="1E03BD"/>
                </a:solidFill>
              </a:rPr>
              <a:t>How KMP Algorithm works</a:t>
            </a:r>
          </a:p>
        </p:txBody>
      </p:sp>
      <p:sp>
        <p:nvSpPr>
          <p:cNvPr id="6147" name="Rectangle 3"/>
          <p:cNvSpPr>
            <a:spLocks noGrp="1"/>
          </p:cNvSpPr>
          <p:nvPr>
            <p:ph type="body" idx="1"/>
          </p:nvPr>
        </p:nvSpPr>
        <p:spPr>
          <a:xfrm>
            <a:off x="1506682" y="1188640"/>
            <a:ext cx="9494520" cy="4754563"/>
          </a:xfrm>
        </p:spPr>
        <p:txBody>
          <a:bodyPr/>
          <a:lstStyle/>
          <a:p>
            <a:pPr marL="0" algn="just">
              <a:spcBef>
                <a:spcPct val="0"/>
              </a:spcBef>
            </a:pPr>
            <a:r>
              <a:rPr lang="en-US" altLang="en-US" sz="3200" dirty="0"/>
              <a:t>Text    :  a   b   a   b  c  a   b   c   a   b    a     b    a     b    d</a:t>
            </a:r>
          </a:p>
          <a:p>
            <a:pPr marL="0" algn="just">
              <a:spcBef>
                <a:spcPct val="0"/>
              </a:spcBef>
              <a:buNone/>
            </a:pPr>
            <a:r>
              <a:rPr lang="en-US" altLang="en-US" sz="3200" dirty="0">
                <a:solidFill>
                  <a:srgbClr val="FF0000"/>
                </a:solidFill>
              </a:rPr>
              <a:t>	       0  1   2   3  4   5  6   7   8  9  10  11  12  13   14 </a:t>
            </a:r>
          </a:p>
          <a:p>
            <a:pPr marL="0" algn="just"/>
            <a:r>
              <a:rPr lang="en-US" altLang="en-US" sz="3200" dirty="0"/>
              <a:t>Pattern: a b a b d</a:t>
            </a:r>
          </a:p>
          <a:p>
            <a:pPr marL="0" algn="just"/>
            <a:r>
              <a:rPr lang="en-US" altLang="en-US" sz="3200" dirty="0"/>
              <a:t>First, we will prepare the </a:t>
            </a:r>
            <a:r>
              <a:rPr lang="en-IN" altLang="en-US" sz="3200" dirty="0"/>
              <a:t>“</a:t>
            </a:r>
            <a:r>
              <a:rPr lang="el-GR" altLang="en-US" sz="3200" dirty="0"/>
              <a:t>π</a:t>
            </a:r>
            <a:r>
              <a:rPr lang="en-IN" altLang="en-US" sz="3200" dirty="0"/>
              <a:t>” Table  (LPS[] array)</a:t>
            </a:r>
          </a:p>
          <a:p>
            <a:pPr marL="0" algn="just">
              <a:buNone/>
            </a:pPr>
            <a:r>
              <a:rPr lang="en-US" altLang="en-US" sz="3200" dirty="0">
                <a:solidFill>
                  <a:srgbClr val="FF0000"/>
                </a:solidFill>
              </a:rPr>
              <a:t>		</a:t>
            </a:r>
            <a:endParaRPr lang="en-US" altLang="en-US" sz="3200" dirty="0"/>
          </a:p>
        </p:txBody>
      </p:sp>
      <p:graphicFrame>
        <p:nvGraphicFramePr>
          <p:cNvPr id="2" name="Table 2"/>
          <p:cNvGraphicFramePr>
            <a:graphicFrameLocks noGrp="1"/>
          </p:cNvGraphicFramePr>
          <p:nvPr>
            <p:extLst>
              <p:ext uri="{D42A27DB-BD31-4B8C-83A1-F6EECF244321}">
                <p14:modId xmlns:p14="http://schemas.microsoft.com/office/powerpoint/2010/main" val="3492600439"/>
              </p:ext>
            </p:extLst>
          </p:nvPr>
        </p:nvGraphicFramePr>
        <p:xfrm>
          <a:off x="3733800" y="3995928"/>
          <a:ext cx="5291330" cy="1158160"/>
        </p:xfrm>
        <a:graphic>
          <a:graphicData uri="http://schemas.openxmlformats.org/drawingml/2006/table">
            <a:tbl>
              <a:tblPr firstRow="1" bandRow="1">
                <a:tableStyleId>{5C22544A-7EE6-4342-B048-85BDC9FD1C3A}</a:tableStyleId>
              </a:tblPr>
              <a:tblGrid>
                <a:gridCol w="1058266">
                  <a:extLst>
                    <a:ext uri="{9D8B030D-6E8A-4147-A177-3AD203B41FA5}">
                      <a16:colId xmlns:a16="http://schemas.microsoft.com/office/drawing/2014/main" val="20000"/>
                    </a:ext>
                  </a:extLst>
                </a:gridCol>
                <a:gridCol w="1058266">
                  <a:extLst>
                    <a:ext uri="{9D8B030D-6E8A-4147-A177-3AD203B41FA5}">
                      <a16:colId xmlns:a16="http://schemas.microsoft.com/office/drawing/2014/main" val="20001"/>
                    </a:ext>
                  </a:extLst>
                </a:gridCol>
                <a:gridCol w="1058266">
                  <a:extLst>
                    <a:ext uri="{9D8B030D-6E8A-4147-A177-3AD203B41FA5}">
                      <a16:colId xmlns:a16="http://schemas.microsoft.com/office/drawing/2014/main" val="20002"/>
                    </a:ext>
                  </a:extLst>
                </a:gridCol>
                <a:gridCol w="1058266">
                  <a:extLst>
                    <a:ext uri="{9D8B030D-6E8A-4147-A177-3AD203B41FA5}">
                      <a16:colId xmlns:a16="http://schemas.microsoft.com/office/drawing/2014/main" val="20003"/>
                    </a:ext>
                  </a:extLst>
                </a:gridCol>
                <a:gridCol w="1058266">
                  <a:extLst>
                    <a:ext uri="{9D8B030D-6E8A-4147-A177-3AD203B41FA5}">
                      <a16:colId xmlns:a16="http://schemas.microsoft.com/office/drawing/2014/main" val="20004"/>
                    </a:ext>
                  </a:extLst>
                </a:gridCol>
              </a:tblGrid>
              <a:tr h="516636">
                <a:tc>
                  <a:txBody>
                    <a:bodyPr/>
                    <a:lstStyle/>
                    <a:p>
                      <a:pPr algn="ctr"/>
                      <a:r>
                        <a:rPr lang="en-IN" sz="3200" b="1" dirty="0"/>
                        <a:t>a</a:t>
                      </a:r>
                    </a:p>
                  </a:txBody>
                  <a:tcPr marT="45700" marB="45700"/>
                </a:tc>
                <a:tc>
                  <a:txBody>
                    <a:bodyPr/>
                    <a:lstStyle/>
                    <a:p>
                      <a:pPr algn="ctr"/>
                      <a:r>
                        <a:rPr lang="en-IN" sz="3200" b="1" dirty="0"/>
                        <a:t>b</a:t>
                      </a:r>
                    </a:p>
                  </a:txBody>
                  <a:tcPr marT="45700" marB="45700"/>
                </a:tc>
                <a:tc>
                  <a:txBody>
                    <a:bodyPr/>
                    <a:lstStyle/>
                    <a:p>
                      <a:pPr algn="ctr"/>
                      <a:r>
                        <a:rPr lang="en-IN" sz="3200" b="1" dirty="0"/>
                        <a:t>a</a:t>
                      </a:r>
                    </a:p>
                  </a:txBody>
                  <a:tcPr marT="45700" marB="45700"/>
                </a:tc>
                <a:tc>
                  <a:txBody>
                    <a:bodyPr/>
                    <a:lstStyle/>
                    <a:p>
                      <a:pPr algn="ctr"/>
                      <a:r>
                        <a:rPr lang="en-IN" sz="3200" b="1" dirty="0"/>
                        <a:t>b </a:t>
                      </a:r>
                    </a:p>
                  </a:txBody>
                  <a:tcPr marT="45700" marB="45700"/>
                </a:tc>
                <a:tc>
                  <a:txBody>
                    <a:bodyPr/>
                    <a:lstStyle/>
                    <a:p>
                      <a:pPr algn="ctr"/>
                      <a:r>
                        <a:rPr lang="en-IN" sz="3200" b="1" dirty="0"/>
                        <a:t>d</a:t>
                      </a:r>
                    </a:p>
                  </a:txBody>
                  <a:tcPr marT="45700" marB="45700"/>
                </a:tc>
                <a:extLst>
                  <a:ext uri="{0D108BD9-81ED-4DB2-BD59-A6C34878D82A}">
                    <a16:rowId xmlns:a16="http://schemas.microsoft.com/office/drawing/2014/main" val="10000"/>
                  </a:ext>
                </a:extLst>
              </a:tr>
              <a:tr h="516636">
                <a:tc>
                  <a:txBody>
                    <a:bodyPr/>
                    <a:lstStyle/>
                    <a:p>
                      <a:pPr algn="ctr"/>
                      <a:r>
                        <a:rPr lang="en-IN" sz="3200" b="1" dirty="0"/>
                        <a:t>0</a:t>
                      </a:r>
                    </a:p>
                  </a:txBody>
                  <a:tcPr marT="45700" marB="45700"/>
                </a:tc>
                <a:tc>
                  <a:txBody>
                    <a:bodyPr/>
                    <a:lstStyle/>
                    <a:p>
                      <a:pPr algn="ctr"/>
                      <a:r>
                        <a:rPr lang="en-IN" sz="3200" b="1" dirty="0"/>
                        <a:t>0</a:t>
                      </a:r>
                    </a:p>
                  </a:txBody>
                  <a:tcPr marT="45700" marB="45700"/>
                </a:tc>
                <a:tc>
                  <a:txBody>
                    <a:bodyPr/>
                    <a:lstStyle/>
                    <a:p>
                      <a:pPr algn="ctr"/>
                      <a:r>
                        <a:rPr lang="en-IN" sz="3200" b="1" dirty="0"/>
                        <a:t>1</a:t>
                      </a:r>
                    </a:p>
                  </a:txBody>
                  <a:tcPr marT="45700" marB="45700"/>
                </a:tc>
                <a:tc>
                  <a:txBody>
                    <a:bodyPr/>
                    <a:lstStyle/>
                    <a:p>
                      <a:pPr algn="ctr"/>
                      <a:r>
                        <a:rPr lang="en-IN" sz="3200" b="1" dirty="0"/>
                        <a:t>2</a:t>
                      </a:r>
                    </a:p>
                  </a:txBody>
                  <a:tcPr marT="45700" marB="45700"/>
                </a:tc>
                <a:tc>
                  <a:txBody>
                    <a:bodyPr/>
                    <a:lstStyle/>
                    <a:p>
                      <a:pPr algn="ctr"/>
                      <a:r>
                        <a:rPr lang="en-IN" sz="3200" b="1" dirty="0"/>
                        <a:t>0</a:t>
                      </a:r>
                    </a:p>
                  </a:txBody>
                  <a:tcPr marT="45700" marB="45700"/>
                </a:tc>
                <a:extLst>
                  <a:ext uri="{0D108BD9-81ED-4DB2-BD59-A6C34878D82A}">
                    <a16:rowId xmlns:a16="http://schemas.microsoft.com/office/drawing/2014/main" val="10001"/>
                  </a:ext>
                </a:extLst>
              </a:tr>
            </a:tbl>
          </a:graphicData>
        </a:graphic>
      </p:graphicFrame>
      <p:sp>
        <p:nvSpPr>
          <p:cNvPr id="10264" name="TextBox 5"/>
          <p:cNvSpPr txBox="1">
            <a:spLocks noChangeArrowheads="1"/>
          </p:cNvSpPr>
          <p:nvPr/>
        </p:nvSpPr>
        <p:spPr bwMode="auto">
          <a:xfrm>
            <a:off x="3355502" y="3288042"/>
            <a:ext cx="552332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sz="4000" dirty="0">
                <a:solidFill>
                  <a:srgbClr val="FF0000"/>
                </a:solidFill>
                <a:latin typeface="Calibri" panose="020F0502020204030204" pitchFamily="34" charset="0"/>
              </a:rPr>
              <a:t>     0       1        2       3       4</a:t>
            </a:r>
            <a:endParaRPr lang="en-IN" altLang="en-US" sz="4000" dirty="0"/>
          </a:p>
        </p:txBody>
      </p:sp>
      <p:sp>
        <p:nvSpPr>
          <p:cNvPr id="8" name="Footer Placeholder 1"/>
          <p:cNvSpPr>
            <a:spLocks noGrp="1"/>
          </p:cNvSpPr>
          <p:nvPr>
            <p:ph type="ftr" sz="quarter" idx="11"/>
          </p:nvPr>
        </p:nvSpPr>
        <p:spPr>
          <a:xfrm>
            <a:off x="847898" y="6356350"/>
            <a:ext cx="9144000" cy="365125"/>
          </a:xfrm>
        </p:spPr>
        <p:txBody>
          <a:bodyPr/>
          <a:lstStyle/>
          <a:p>
            <a:r>
              <a:rPr lang="en-AU" dirty="0">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23</a:t>
            </a:fld>
            <a:endParaRPr lang="en-AU"/>
          </a:p>
        </p:txBody>
      </p:sp>
    </p:spTree>
    <p:extLst>
      <p:ext uri="{BB962C8B-B14F-4D97-AF65-F5344CB8AC3E}">
        <p14:creationId xmlns:p14="http://schemas.microsoft.com/office/powerpoint/2010/main" val="30758976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Working of KMP</a:t>
            </a:r>
            <a:endParaRPr lang="en-IN" b="1" dirty="0"/>
          </a:p>
        </p:txBody>
      </p:sp>
      <p:sp>
        <p:nvSpPr>
          <p:cNvPr id="4" name="Footer Placeholder 3"/>
          <p:cNvSpPr>
            <a:spLocks noGrp="1"/>
          </p:cNvSpPr>
          <p:nvPr>
            <p:ph type="ftr" sz="quarter" idx="11"/>
          </p:nvPr>
        </p:nvSpPr>
        <p:spPr/>
        <p:txBody>
          <a:bodyPr/>
          <a:lstStyle/>
          <a:p>
            <a:r>
              <a:rPr lang="en-AU"/>
              <a:t>DSA-3 </a:t>
            </a:r>
          </a:p>
        </p:txBody>
      </p:sp>
      <p:sp>
        <p:nvSpPr>
          <p:cNvPr id="5" name="Slide Number Placeholder 4"/>
          <p:cNvSpPr>
            <a:spLocks noGrp="1"/>
          </p:cNvSpPr>
          <p:nvPr>
            <p:ph type="sldNum" sz="quarter" idx="12"/>
          </p:nvPr>
        </p:nvSpPr>
        <p:spPr/>
        <p:txBody>
          <a:bodyPr/>
          <a:lstStyle/>
          <a:p>
            <a:fld id="{68187FF5-4BF9-4B21-B0D2-9B7FF2B27D7F}" type="slidenum">
              <a:rPr lang="en-AU" smtClean="0"/>
              <a:pPr/>
              <a:t>24</a:t>
            </a:fld>
            <a:endParaRPr lang="en-AU"/>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23862" y="1390389"/>
            <a:ext cx="9611359" cy="458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69437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Working of KMP</a:t>
            </a:r>
            <a:endParaRPr lang="en-IN" b="1" dirty="0"/>
          </a:p>
        </p:txBody>
      </p:sp>
      <p:sp>
        <p:nvSpPr>
          <p:cNvPr id="4" name="Footer Placeholder 3"/>
          <p:cNvSpPr>
            <a:spLocks noGrp="1"/>
          </p:cNvSpPr>
          <p:nvPr>
            <p:ph type="ftr" sz="quarter" idx="11"/>
          </p:nvPr>
        </p:nvSpPr>
        <p:spPr/>
        <p:txBody>
          <a:bodyPr/>
          <a:lstStyle/>
          <a:p>
            <a:r>
              <a:rPr lang="en-AU"/>
              <a:t>DSA-3 </a:t>
            </a:r>
          </a:p>
        </p:txBody>
      </p:sp>
      <p:sp>
        <p:nvSpPr>
          <p:cNvPr id="5" name="Slide Number Placeholder 4"/>
          <p:cNvSpPr>
            <a:spLocks noGrp="1"/>
          </p:cNvSpPr>
          <p:nvPr>
            <p:ph type="sldNum" sz="quarter" idx="12"/>
          </p:nvPr>
        </p:nvSpPr>
        <p:spPr/>
        <p:txBody>
          <a:bodyPr/>
          <a:lstStyle/>
          <a:p>
            <a:fld id="{68187FF5-4BF9-4B21-B0D2-9B7FF2B27D7F}" type="slidenum">
              <a:rPr lang="en-AU" smtClean="0"/>
              <a:pPr/>
              <a:t>25</a:t>
            </a:fld>
            <a:endParaRPr lang="en-AU"/>
          </a:p>
        </p:txBody>
      </p:sp>
      <p:sp>
        <p:nvSpPr>
          <p:cNvPr id="3" name="Content Placeholder 2"/>
          <p:cNvSpPr>
            <a:spLocks noGrp="1"/>
          </p:cNvSpPr>
          <p:nvPr>
            <p:ph idx="1"/>
          </p:nvPr>
        </p:nvSpPr>
        <p:spPr/>
        <p:txBody>
          <a:bodyPr/>
          <a:lstStyle/>
          <a:p>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036" y="1139090"/>
            <a:ext cx="10540803" cy="4773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4181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Working of KMP</a:t>
            </a:r>
            <a:endParaRPr lang="en-IN" b="1" dirty="0"/>
          </a:p>
        </p:txBody>
      </p:sp>
      <p:sp>
        <p:nvSpPr>
          <p:cNvPr id="4" name="Footer Placeholder 3"/>
          <p:cNvSpPr>
            <a:spLocks noGrp="1"/>
          </p:cNvSpPr>
          <p:nvPr>
            <p:ph type="ftr" sz="quarter" idx="11"/>
          </p:nvPr>
        </p:nvSpPr>
        <p:spPr/>
        <p:txBody>
          <a:bodyPr/>
          <a:lstStyle/>
          <a:p>
            <a:r>
              <a:rPr lang="en-AU"/>
              <a:t>DSA-3 </a:t>
            </a:r>
          </a:p>
        </p:txBody>
      </p:sp>
      <p:sp>
        <p:nvSpPr>
          <p:cNvPr id="5" name="Slide Number Placeholder 4"/>
          <p:cNvSpPr>
            <a:spLocks noGrp="1"/>
          </p:cNvSpPr>
          <p:nvPr>
            <p:ph type="sldNum" sz="quarter" idx="12"/>
          </p:nvPr>
        </p:nvSpPr>
        <p:spPr/>
        <p:txBody>
          <a:bodyPr/>
          <a:lstStyle/>
          <a:p>
            <a:fld id="{68187FF5-4BF9-4B21-B0D2-9B7FF2B27D7F}" type="slidenum">
              <a:rPr lang="en-AU" smtClean="0"/>
              <a:pPr/>
              <a:t>26</a:t>
            </a:fld>
            <a:endParaRPr lang="en-AU"/>
          </a:p>
        </p:txBody>
      </p:sp>
      <p:sp>
        <p:nvSpPr>
          <p:cNvPr id="3" name="Content Placeholder 2"/>
          <p:cNvSpPr>
            <a:spLocks noGrp="1"/>
          </p:cNvSpPr>
          <p:nvPr>
            <p:ph idx="1"/>
          </p:nvPr>
        </p:nvSpPr>
        <p:spPr/>
        <p:txBody>
          <a:bodyPr/>
          <a:lstStyle/>
          <a:p>
            <a:endParaRPr lang="en-I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088" y="1248183"/>
            <a:ext cx="10008296" cy="4551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96215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Working of KMP</a:t>
            </a:r>
            <a:endParaRPr lang="en-IN" b="1" dirty="0"/>
          </a:p>
        </p:txBody>
      </p:sp>
      <p:sp>
        <p:nvSpPr>
          <p:cNvPr id="4" name="Footer Placeholder 3"/>
          <p:cNvSpPr>
            <a:spLocks noGrp="1"/>
          </p:cNvSpPr>
          <p:nvPr>
            <p:ph type="ftr" sz="quarter" idx="11"/>
          </p:nvPr>
        </p:nvSpPr>
        <p:spPr/>
        <p:txBody>
          <a:bodyPr/>
          <a:lstStyle/>
          <a:p>
            <a:r>
              <a:rPr lang="en-AU"/>
              <a:t>DSA-3 </a:t>
            </a:r>
          </a:p>
        </p:txBody>
      </p:sp>
      <p:sp>
        <p:nvSpPr>
          <p:cNvPr id="5" name="Slide Number Placeholder 4"/>
          <p:cNvSpPr>
            <a:spLocks noGrp="1"/>
          </p:cNvSpPr>
          <p:nvPr>
            <p:ph type="sldNum" sz="quarter" idx="12"/>
          </p:nvPr>
        </p:nvSpPr>
        <p:spPr/>
        <p:txBody>
          <a:bodyPr/>
          <a:lstStyle/>
          <a:p>
            <a:fld id="{68187FF5-4BF9-4B21-B0D2-9B7FF2B27D7F}" type="slidenum">
              <a:rPr lang="en-AU" smtClean="0"/>
              <a:pPr/>
              <a:t>27</a:t>
            </a:fld>
            <a:endParaRPr lang="en-AU"/>
          </a:p>
        </p:txBody>
      </p:sp>
      <p:sp>
        <p:nvSpPr>
          <p:cNvPr id="3" name="Content Placeholder 2"/>
          <p:cNvSpPr>
            <a:spLocks noGrp="1"/>
          </p:cNvSpPr>
          <p:nvPr>
            <p:ph idx="1"/>
          </p:nvPr>
        </p:nvSpPr>
        <p:spPr/>
        <p:txBody>
          <a:bodyPr/>
          <a:lstStyle/>
          <a:p>
            <a:endParaRPr lang="en-I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509" y="1234179"/>
            <a:ext cx="10555999" cy="4690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414528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Working of KMP</a:t>
            </a:r>
            <a:endParaRPr lang="en-IN" b="1" dirty="0"/>
          </a:p>
        </p:txBody>
      </p:sp>
      <p:sp>
        <p:nvSpPr>
          <p:cNvPr id="4" name="Footer Placeholder 3"/>
          <p:cNvSpPr>
            <a:spLocks noGrp="1"/>
          </p:cNvSpPr>
          <p:nvPr>
            <p:ph type="ftr" sz="quarter" idx="11"/>
          </p:nvPr>
        </p:nvSpPr>
        <p:spPr/>
        <p:txBody>
          <a:bodyPr/>
          <a:lstStyle/>
          <a:p>
            <a:r>
              <a:rPr lang="en-AU"/>
              <a:t>DSA-3 </a:t>
            </a:r>
          </a:p>
        </p:txBody>
      </p:sp>
      <p:sp>
        <p:nvSpPr>
          <p:cNvPr id="5" name="Slide Number Placeholder 4"/>
          <p:cNvSpPr>
            <a:spLocks noGrp="1"/>
          </p:cNvSpPr>
          <p:nvPr>
            <p:ph type="sldNum" sz="quarter" idx="12"/>
          </p:nvPr>
        </p:nvSpPr>
        <p:spPr/>
        <p:txBody>
          <a:bodyPr/>
          <a:lstStyle/>
          <a:p>
            <a:fld id="{68187FF5-4BF9-4B21-B0D2-9B7FF2B27D7F}" type="slidenum">
              <a:rPr lang="en-AU" smtClean="0"/>
              <a:pPr/>
              <a:t>28</a:t>
            </a:fld>
            <a:endParaRPr lang="en-AU"/>
          </a:p>
        </p:txBody>
      </p:sp>
      <p:sp>
        <p:nvSpPr>
          <p:cNvPr id="3" name="Content Placeholder 2"/>
          <p:cNvSpPr>
            <a:spLocks noGrp="1"/>
          </p:cNvSpPr>
          <p:nvPr>
            <p:ph idx="1"/>
          </p:nvPr>
        </p:nvSpPr>
        <p:spPr/>
        <p:txBody>
          <a:bodyPr/>
          <a:lstStyle/>
          <a:p>
            <a:endParaRPr lang="en-IN"/>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4192" y="1079625"/>
            <a:ext cx="10388235" cy="4807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359583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Working of KMP</a:t>
            </a:r>
            <a:endParaRPr lang="en-IN" b="1" dirty="0"/>
          </a:p>
        </p:txBody>
      </p:sp>
      <p:sp>
        <p:nvSpPr>
          <p:cNvPr id="4" name="Footer Placeholder 3"/>
          <p:cNvSpPr>
            <a:spLocks noGrp="1"/>
          </p:cNvSpPr>
          <p:nvPr>
            <p:ph type="ftr" sz="quarter" idx="11"/>
          </p:nvPr>
        </p:nvSpPr>
        <p:spPr/>
        <p:txBody>
          <a:bodyPr/>
          <a:lstStyle/>
          <a:p>
            <a:r>
              <a:rPr lang="en-AU"/>
              <a:t>DSA-3 </a:t>
            </a:r>
          </a:p>
        </p:txBody>
      </p:sp>
      <p:sp>
        <p:nvSpPr>
          <p:cNvPr id="5" name="Slide Number Placeholder 4"/>
          <p:cNvSpPr>
            <a:spLocks noGrp="1"/>
          </p:cNvSpPr>
          <p:nvPr>
            <p:ph type="sldNum" sz="quarter" idx="12"/>
          </p:nvPr>
        </p:nvSpPr>
        <p:spPr/>
        <p:txBody>
          <a:bodyPr/>
          <a:lstStyle/>
          <a:p>
            <a:fld id="{68187FF5-4BF9-4B21-B0D2-9B7FF2B27D7F}" type="slidenum">
              <a:rPr lang="en-AU" smtClean="0"/>
              <a:pPr/>
              <a:t>29</a:t>
            </a:fld>
            <a:endParaRPr lang="en-AU"/>
          </a:p>
        </p:txBody>
      </p:sp>
      <p:sp>
        <p:nvSpPr>
          <p:cNvPr id="3" name="Content Placeholder 2"/>
          <p:cNvSpPr>
            <a:spLocks noGrp="1"/>
          </p:cNvSpPr>
          <p:nvPr>
            <p:ph idx="1"/>
          </p:nvPr>
        </p:nvSpPr>
        <p:spPr/>
        <p:txBody>
          <a:bodyPr/>
          <a:lstStyle/>
          <a:p>
            <a:endParaRPr lang="en-IN"/>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244" y="1139020"/>
            <a:ext cx="9770301" cy="4572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29157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Working of KMP</a:t>
            </a:r>
            <a:endParaRPr lang="en-IN" b="1" dirty="0"/>
          </a:p>
        </p:txBody>
      </p:sp>
      <p:sp>
        <p:nvSpPr>
          <p:cNvPr id="4" name="Footer Placeholder 3"/>
          <p:cNvSpPr>
            <a:spLocks noGrp="1"/>
          </p:cNvSpPr>
          <p:nvPr>
            <p:ph type="ftr" sz="quarter" idx="11"/>
          </p:nvPr>
        </p:nvSpPr>
        <p:spPr/>
        <p:txBody>
          <a:bodyPr/>
          <a:lstStyle/>
          <a:p>
            <a:r>
              <a:rPr lang="en-AU"/>
              <a:t>DSA-3 </a:t>
            </a:r>
          </a:p>
        </p:txBody>
      </p:sp>
      <p:sp>
        <p:nvSpPr>
          <p:cNvPr id="5" name="Slide Number Placeholder 4"/>
          <p:cNvSpPr>
            <a:spLocks noGrp="1"/>
          </p:cNvSpPr>
          <p:nvPr>
            <p:ph type="sldNum" sz="quarter" idx="12"/>
          </p:nvPr>
        </p:nvSpPr>
        <p:spPr/>
        <p:txBody>
          <a:bodyPr/>
          <a:lstStyle/>
          <a:p>
            <a:fld id="{68187FF5-4BF9-4B21-B0D2-9B7FF2B27D7F}" type="slidenum">
              <a:rPr lang="en-AU" smtClean="0"/>
              <a:pPr/>
              <a:t>30</a:t>
            </a:fld>
            <a:endParaRPr lang="en-AU"/>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2290" y="1240077"/>
            <a:ext cx="9645568" cy="4684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34650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Working of KMP</a:t>
            </a:r>
            <a:endParaRPr lang="en-IN" b="1" dirty="0"/>
          </a:p>
        </p:txBody>
      </p:sp>
      <p:sp>
        <p:nvSpPr>
          <p:cNvPr id="4" name="Footer Placeholder 3"/>
          <p:cNvSpPr>
            <a:spLocks noGrp="1"/>
          </p:cNvSpPr>
          <p:nvPr>
            <p:ph type="ftr" sz="quarter" idx="11"/>
          </p:nvPr>
        </p:nvSpPr>
        <p:spPr/>
        <p:txBody>
          <a:bodyPr/>
          <a:lstStyle/>
          <a:p>
            <a:r>
              <a:rPr lang="en-AU"/>
              <a:t>DSA-3 </a:t>
            </a:r>
          </a:p>
        </p:txBody>
      </p:sp>
      <p:sp>
        <p:nvSpPr>
          <p:cNvPr id="5" name="Slide Number Placeholder 4"/>
          <p:cNvSpPr>
            <a:spLocks noGrp="1"/>
          </p:cNvSpPr>
          <p:nvPr>
            <p:ph type="sldNum" sz="quarter" idx="12"/>
          </p:nvPr>
        </p:nvSpPr>
        <p:spPr/>
        <p:txBody>
          <a:bodyPr/>
          <a:lstStyle/>
          <a:p>
            <a:fld id="{68187FF5-4BF9-4B21-B0D2-9B7FF2B27D7F}" type="slidenum">
              <a:rPr lang="en-AU" smtClean="0"/>
              <a:pPr/>
              <a:t>31</a:t>
            </a:fld>
            <a:endParaRPr lang="en-AU"/>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4504" y="1177447"/>
            <a:ext cx="10070926" cy="502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539848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Working of KMP</a:t>
            </a:r>
            <a:endParaRPr lang="en-IN" b="1" dirty="0"/>
          </a:p>
        </p:txBody>
      </p:sp>
      <p:sp>
        <p:nvSpPr>
          <p:cNvPr id="4" name="Footer Placeholder 3"/>
          <p:cNvSpPr>
            <a:spLocks noGrp="1"/>
          </p:cNvSpPr>
          <p:nvPr>
            <p:ph type="ftr" sz="quarter" idx="11"/>
          </p:nvPr>
        </p:nvSpPr>
        <p:spPr/>
        <p:txBody>
          <a:bodyPr/>
          <a:lstStyle/>
          <a:p>
            <a:r>
              <a:rPr lang="en-AU"/>
              <a:t>DSA-3 </a:t>
            </a:r>
          </a:p>
        </p:txBody>
      </p:sp>
      <p:sp>
        <p:nvSpPr>
          <p:cNvPr id="5" name="Slide Number Placeholder 4"/>
          <p:cNvSpPr>
            <a:spLocks noGrp="1"/>
          </p:cNvSpPr>
          <p:nvPr>
            <p:ph type="sldNum" sz="quarter" idx="12"/>
          </p:nvPr>
        </p:nvSpPr>
        <p:spPr/>
        <p:txBody>
          <a:bodyPr/>
          <a:lstStyle/>
          <a:p>
            <a:fld id="{68187FF5-4BF9-4B21-B0D2-9B7FF2B27D7F}" type="slidenum">
              <a:rPr lang="en-AU" smtClean="0"/>
              <a:pPr/>
              <a:t>32</a:t>
            </a:fld>
            <a:endParaRPr lang="en-AU"/>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4920" y="985085"/>
            <a:ext cx="10269341" cy="4877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81251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Working of KMP</a:t>
            </a:r>
            <a:endParaRPr lang="en-IN" b="1" dirty="0"/>
          </a:p>
        </p:txBody>
      </p:sp>
      <p:sp>
        <p:nvSpPr>
          <p:cNvPr id="4" name="Footer Placeholder 3"/>
          <p:cNvSpPr>
            <a:spLocks noGrp="1"/>
          </p:cNvSpPr>
          <p:nvPr>
            <p:ph type="ftr" sz="quarter" idx="11"/>
          </p:nvPr>
        </p:nvSpPr>
        <p:spPr/>
        <p:txBody>
          <a:bodyPr/>
          <a:lstStyle/>
          <a:p>
            <a:r>
              <a:rPr lang="en-AU"/>
              <a:t>DSA-3 </a:t>
            </a:r>
          </a:p>
        </p:txBody>
      </p:sp>
      <p:sp>
        <p:nvSpPr>
          <p:cNvPr id="5" name="Slide Number Placeholder 4"/>
          <p:cNvSpPr>
            <a:spLocks noGrp="1"/>
          </p:cNvSpPr>
          <p:nvPr>
            <p:ph type="sldNum" sz="quarter" idx="12"/>
          </p:nvPr>
        </p:nvSpPr>
        <p:spPr/>
        <p:txBody>
          <a:bodyPr/>
          <a:lstStyle/>
          <a:p>
            <a:fld id="{68187FF5-4BF9-4B21-B0D2-9B7FF2B27D7F}" type="slidenum">
              <a:rPr lang="en-AU" smtClean="0"/>
              <a:pPr/>
              <a:t>33</a:t>
            </a:fld>
            <a:endParaRPr lang="en-AU"/>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4191" y="1277655"/>
            <a:ext cx="9895561" cy="4885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88157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Working of KMP</a:t>
            </a:r>
            <a:endParaRPr lang="en-IN" b="1" dirty="0"/>
          </a:p>
        </p:txBody>
      </p:sp>
      <p:sp>
        <p:nvSpPr>
          <p:cNvPr id="4" name="Footer Placeholder 3"/>
          <p:cNvSpPr>
            <a:spLocks noGrp="1"/>
          </p:cNvSpPr>
          <p:nvPr>
            <p:ph type="ftr" sz="quarter" idx="11"/>
          </p:nvPr>
        </p:nvSpPr>
        <p:spPr/>
        <p:txBody>
          <a:bodyPr/>
          <a:lstStyle/>
          <a:p>
            <a:r>
              <a:rPr lang="en-AU"/>
              <a:t>DSA-3 </a:t>
            </a:r>
          </a:p>
        </p:txBody>
      </p:sp>
      <p:sp>
        <p:nvSpPr>
          <p:cNvPr id="5" name="Slide Number Placeholder 4"/>
          <p:cNvSpPr>
            <a:spLocks noGrp="1"/>
          </p:cNvSpPr>
          <p:nvPr>
            <p:ph type="sldNum" sz="quarter" idx="12"/>
          </p:nvPr>
        </p:nvSpPr>
        <p:spPr/>
        <p:txBody>
          <a:bodyPr/>
          <a:lstStyle/>
          <a:p>
            <a:fld id="{68187FF5-4BF9-4B21-B0D2-9B7FF2B27D7F}" type="slidenum">
              <a:rPr lang="en-AU" smtClean="0"/>
              <a:pPr/>
              <a:t>34</a:t>
            </a:fld>
            <a:endParaRPr lang="en-AU"/>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087" y="1265129"/>
            <a:ext cx="9707671" cy="4885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196170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Working of KMP</a:t>
            </a:r>
            <a:endParaRPr lang="en-IN" b="1" dirty="0"/>
          </a:p>
        </p:txBody>
      </p:sp>
      <p:sp>
        <p:nvSpPr>
          <p:cNvPr id="4" name="Footer Placeholder 3"/>
          <p:cNvSpPr>
            <a:spLocks noGrp="1"/>
          </p:cNvSpPr>
          <p:nvPr>
            <p:ph type="ftr" sz="quarter" idx="11"/>
          </p:nvPr>
        </p:nvSpPr>
        <p:spPr/>
        <p:txBody>
          <a:bodyPr/>
          <a:lstStyle/>
          <a:p>
            <a:r>
              <a:rPr lang="en-AU"/>
              <a:t>DSA-3 </a:t>
            </a:r>
          </a:p>
        </p:txBody>
      </p:sp>
      <p:sp>
        <p:nvSpPr>
          <p:cNvPr id="5" name="Slide Number Placeholder 4"/>
          <p:cNvSpPr>
            <a:spLocks noGrp="1"/>
          </p:cNvSpPr>
          <p:nvPr>
            <p:ph type="sldNum" sz="quarter" idx="12"/>
          </p:nvPr>
        </p:nvSpPr>
        <p:spPr/>
        <p:txBody>
          <a:bodyPr/>
          <a:lstStyle/>
          <a:p>
            <a:fld id="{68187FF5-4BF9-4B21-B0D2-9B7FF2B27D7F}" type="slidenum">
              <a:rPr lang="en-AU" smtClean="0"/>
              <a:pPr/>
              <a:t>35</a:t>
            </a:fld>
            <a:endParaRPr lang="en-AU"/>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665" y="1050245"/>
            <a:ext cx="10558193" cy="4912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070150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Working of KMP</a:t>
            </a:r>
            <a:endParaRPr lang="en-IN" b="1" dirty="0"/>
          </a:p>
        </p:txBody>
      </p:sp>
      <p:sp>
        <p:nvSpPr>
          <p:cNvPr id="4" name="Footer Placeholder 3"/>
          <p:cNvSpPr>
            <a:spLocks noGrp="1"/>
          </p:cNvSpPr>
          <p:nvPr>
            <p:ph type="ftr" sz="quarter" idx="11"/>
          </p:nvPr>
        </p:nvSpPr>
        <p:spPr/>
        <p:txBody>
          <a:bodyPr/>
          <a:lstStyle/>
          <a:p>
            <a:r>
              <a:rPr lang="en-AU"/>
              <a:t>DSA-3 </a:t>
            </a:r>
          </a:p>
        </p:txBody>
      </p:sp>
      <p:sp>
        <p:nvSpPr>
          <p:cNvPr id="5" name="Slide Number Placeholder 4"/>
          <p:cNvSpPr>
            <a:spLocks noGrp="1"/>
          </p:cNvSpPr>
          <p:nvPr>
            <p:ph type="sldNum" sz="quarter" idx="12"/>
          </p:nvPr>
        </p:nvSpPr>
        <p:spPr/>
        <p:txBody>
          <a:bodyPr/>
          <a:lstStyle/>
          <a:p>
            <a:fld id="{68187FF5-4BF9-4B21-B0D2-9B7FF2B27D7F}" type="slidenum">
              <a:rPr lang="en-AU" smtClean="0"/>
              <a:pPr/>
              <a:t>36</a:t>
            </a:fld>
            <a:endParaRPr lang="en-AU"/>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9452" y="1177447"/>
            <a:ext cx="10658147" cy="4935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22132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Working of KMP</a:t>
            </a:r>
            <a:endParaRPr lang="en-IN" b="1" dirty="0"/>
          </a:p>
        </p:txBody>
      </p:sp>
      <p:sp>
        <p:nvSpPr>
          <p:cNvPr id="4" name="Footer Placeholder 3"/>
          <p:cNvSpPr>
            <a:spLocks noGrp="1"/>
          </p:cNvSpPr>
          <p:nvPr>
            <p:ph type="ftr" sz="quarter" idx="11"/>
          </p:nvPr>
        </p:nvSpPr>
        <p:spPr/>
        <p:txBody>
          <a:bodyPr/>
          <a:lstStyle/>
          <a:p>
            <a:r>
              <a:rPr lang="en-AU"/>
              <a:t>DSA-3 </a:t>
            </a:r>
          </a:p>
        </p:txBody>
      </p:sp>
      <p:sp>
        <p:nvSpPr>
          <p:cNvPr id="5" name="Slide Number Placeholder 4"/>
          <p:cNvSpPr>
            <a:spLocks noGrp="1"/>
          </p:cNvSpPr>
          <p:nvPr>
            <p:ph type="sldNum" sz="quarter" idx="12"/>
          </p:nvPr>
        </p:nvSpPr>
        <p:spPr/>
        <p:txBody>
          <a:bodyPr/>
          <a:lstStyle/>
          <a:p>
            <a:fld id="{68187FF5-4BF9-4B21-B0D2-9B7FF2B27D7F}" type="slidenum">
              <a:rPr lang="en-AU" smtClean="0"/>
              <a:pPr/>
              <a:t>37</a:t>
            </a:fld>
            <a:endParaRPr lang="en-AU"/>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041" y="1189972"/>
            <a:ext cx="11171475" cy="5060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58456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2979738" y="-6350"/>
            <a:ext cx="8229600" cy="639763"/>
          </a:xfrm>
        </p:spPr>
        <p:txBody>
          <a:bodyPr/>
          <a:lstStyle/>
          <a:p>
            <a:r>
              <a:rPr lang="en-US" altLang="en-US" b="1" dirty="0">
                <a:solidFill>
                  <a:srgbClr val="1E03BD"/>
                </a:solidFill>
              </a:rPr>
              <a:t>How KMP Algorithm works</a:t>
            </a:r>
          </a:p>
        </p:txBody>
      </p:sp>
      <p:sp>
        <p:nvSpPr>
          <p:cNvPr id="6147" name="Rectangle 3"/>
          <p:cNvSpPr>
            <a:spLocks noGrp="1"/>
          </p:cNvSpPr>
          <p:nvPr>
            <p:ph type="body" idx="1"/>
          </p:nvPr>
        </p:nvSpPr>
        <p:spPr>
          <a:xfrm>
            <a:off x="2026910" y="1441450"/>
            <a:ext cx="8229600" cy="4754563"/>
          </a:xfrm>
        </p:spPr>
        <p:txBody>
          <a:bodyPr/>
          <a:lstStyle/>
          <a:p>
            <a:pPr marL="0" indent="0" algn="just">
              <a:spcBef>
                <a:spcPts val="0"/>
              </a:spcBef>
              <a:buNone/>
              <a:defRPr/>
            </a:pPr>
            <a:r>
              <a:rPr lang="en-US" altLang="en-US" dirty="0">
                <a:ea typeface="ＭＳ Ｐゴシック" panose="020B0600070205080204" pitchFamily="34" charset="-128"/>
              </a:rPr>
              <a:t>    Text:  a b a b c a b c a b  a  b  a   b  d</a:t>
            </a:r>
          </a:p>
          <a:p>
            <a:pPr marL="0" indent="0" algn="just">
              <a:spcBef>
                <a:spcPts val="0"/>
              </a:spcBef>
              <a:buNone/>
              <a:defRPr/>
            </a:pPr>
            <a:r>
              <a:rPr lang="en-US" altLang="en-US" dirty="0">
                <a:solidFill>
                  <a:srgbClr val="FF0000"/>
                </a:solidFill>
                <a:ea typeface="ＭＳ Ｐゴシック" panose="020B0600070205080204" pitchFamily="34" charset="-128"/>
              </a:rPr>
              <a:t>	    </a:t>
            </a:r>
            <a:r>
              <a:rPr lang="en-US" altLang="en-US" sz="2000" dirty="0">
                <a:solidFill>
                  <a:srgbClr val="FF0000"/>
                </a:solidFill>
                <a:ea typeface="ＭＳ Ｐゴシック" panose="020B0600070205080204" pitchFamily="34" charset="-128"/>
              </a:rPr>
              <a:t>0  1  2  3   4  5  6  7  8  9  10  11   12   13  14  		</a:t>
            </a:r>
            <a:endParaRPr lang="en-US" altLang="en-US" sz="2000" dirty="0">
              <a:ea typeface="ＭＳ Ｐゴシック" panose="020B0600070205080204" pitchFamily="34" charset="-128"/>
            </a:endParaRPr>
          </a:p>
        </p:txBody>
      </p:sp>
      <p:graphicFrame>
        <p:nvGraphicFramePr>
          <p:cNvPr id="2" name="Table 2"/>
          <p:cNvGraphicFramePr>
            <a:graphicFrameLocks noGrp="1"/>
          </p:cNvGraphicFramePr>
          <p:nvPr/>
        </p:nvGraphicFramePr>
        <p:xfrm>
          <a:off x="3733800" y="3200400"/>
          <a:ext cx="1600200" cy="741364"/>
        </p:xfrm>
        <a:graphic>
          <a:graphicData uri="http://schemas.openxmlformats.org/drawingml/2006/table">
            <a:tbl>
              <a:tblPr firstRow="1" bandRow="1">
                <a:tableStyleId>{5C22544A-7EE6-4342-B048-85BDC9FD1C3A}</a:tableStyleId>
              </a:tblPr>
              <a:tblGrid>
                <a:gridCol w="320040">
                  <a:extLst>
                    <a:ext uri="{9D8B030D-6E8A-4147-A177-3AD203B41FA5}">
                      <a16:colId xmlns:a16="http://schemas.microsoft.com/office/drawing/2014/main" val="20000"/>
                    </a:ext>
                  </a:extLst>
                </a:gridCol>
                <a:gridCol w="320040">
                  <a:extLst>
                    <a:ext uri="{9D8B030D-6E8A-4147-A177-3AD203B41FA5}">
                      <a16:colId xmlns:a16="http://schemas.microsoft.com/office/drawing/2014/main" val="20001"/>
                    </a:ext>
                  </a:extLst>
                </a:gridCol>
                <a:gridCol w="320040">
                  <a:extLst>
                    <a:ext uri="{9D8B030D-6E8A-4147-A177-3AD203B41FA5}">
                      <a16:colId xmlns:a16="http://schemas.microsoft.com/office/drawing/2014/main" val="20002"/>
                    </a:ext>
                  </a:extLst>
                </a:gridCol>
                <a:gridCol w="320040">
                  <a:extLst>
                    <a:ext uri="{9D8B030D-6E8A-4147-A177-3AD203B41FA5}">
                      <a16:colId xmlns:a16="http://schemas.microsoft.com/office/drawing/2014/main" val="20003"/>
                    </a:ext>
                  </a:extLst>
                </a:gridCol>
                <a:gridCol w="320040">
                  <a:extLst>
                    <a:ext uri="{9D8B030D-6E8A-4147-A177-3AD203B41FA5}">
                      <a16:colId xmlns:a16="http://schemas.microsoft.com/office/drawing/2014/main" val="20004"/>
                    </a:ext>
                  </a:extLst>
                </a:gridCol>
              </a:tblGrid>
              <a:tr h="370682">
                <a:tc>
                  <a:txBody>
                    <a:bodyPr/>
                    <a:lstStyle/>
                    <a:p>
                      <a:r>
                        <a:rPr lang="en-IN" sz="1800" dirty="0"/>
                        <a:t>a</a:t>
                      </a:r>
                    </a:p>
                  </a:txBody>
                  <a:tcPr marT="45700" marB="45700"/>
                </a:tc>
                <a:tc>
                  <a:txBody>
                    <a:bodyPr/>
                    <a:lstStyle/>
                    <a:p>
                      <a:r>
                        <a:rPr lang="en-IN" sz="1800" dirty="0"/>
                        <a:t>b</a:t>
                      </a:r>
                    </a:p>
                  </a:txBody>
                  <a:tcPr marT="45700" marB="45700"/>
                </a:tc>
                <a:tc>
                  <a:txBody>
                    <a:bodyPr/>
                    <a:lstStyle/>
                    <a:p>
                      <a:r>
                        <a:rPr lang="en-IN" sz="1800" dirty="0"/>
                        <a:t>a</a:t>
                      </a:r>
                    </a:p>
                  </a:txBody>
                  <a:tcPr marT="45700" marB="45700"/>
                </a:tc>
                <a:tc>
                  <a:txBody>
                    <a:bodyPr/>
                    <a:lstStyle/>
                    <a:p>
                      <a:r>
                        <a:rPr lang="en-IN" sz="1800" dirty="0"/>
                        <a:t>b </a:t>
                      </a:r>
                    </a:p>
                  </a:txBody>
                  <a:tcPr marT="45700" marB="45700"/>
                </a:tc>
                <a:tc>
                  <a:txBody>
                    <a:bodyPr/>
                    <a:lstStyle/>
                    <a:p>
                      <a:r>
                        <a:rPr lang="en-IN" sz="1800" dirty="0"/>
                        <a:t>d</a:t>
                      </a:r>
                    </a:p>
                  </a:txBody>
                  <a:tcPr marT="45700" marB="45700"/>
                </a:tc>
                <a:extLst>
                  <a:ext uri="{0D108BD9-81ED-4DB2-BD59-A6C34878D82A}">
                    <a16:rowId xmlns:a16="http://schemas.microsoft.com/office/drawing/2014/main" val="10000"/>
                  </a:ext>
                </a:extLst>
              </a:tr>
              <a:tr h="370682">
                <a:tc>
                  <a:txBody>
                    <a:bodyPr/>
                    <a:lstStyle/>
                    <a:p>
                      <a:r>
                        <a:rPr lang="en-IN" sz="1800" dirty="0"/>
                        <a:t>0</a:t>
                      </a:r>
                    </a:p>
                  </a:txBody>
                  <a:tcPr marT="45700" marB="45700"/>
                </a:tc>
                <a:tc>
                  <a:txBody>
                    <a:bodyPr/>
                    <a:lstStyle/>
                    <a:p>
                      <a:r>
                        <a:rPr lang="en-IN" sz="1800" dirty="0"/>
                        <a:t>0</a:t>
                      </a:r>
                    </a:p>
                  </a:txBody>
                  <a:tcPr marT="45700" marB="45700"/>
                </a:tc>
                <a:tc>
                  <a:txBody>
                    <a:bodyPr/>
                    <a:lstStyle/>
                    <a:p>
                      <a:r>
                        <a:rPr lang="en-IN" sz="1800" dirty="0"/>
                        <a:t>1</a:t>
                      </a:r>
                    </a:p>
                  </a:txBody>
                  <a:tcPr marT="45700" marB="45700"/>
                </a:tc>
                <a:tc>
                  <a:txBody>
                    <a:bodyPr/>
                    <a:lstStyle/>
                    <a:p>
                      <a:r>
                        <a:rPr lang="en-IN" sz="1800" dirty="0"/>
                        <a:t>2</a:t>
                      </a:r>
                    </a:p>
                  </a:txBody>
                  <a:tcPr marT="45700" marB="45700"/>
                </a:tc>
                <a:tc>
                  <a:txBody>
                    <a:bodyPr/>
                    <a:lstStyle/>
                    <a:p>
                      <a:r>
                        <a:rPr lang="en-IN" sz="1800" dirty="0"/>
                        <a:t>0</a:t>
                      </a:r>
                    </a:p>
                  </a:txBody>
                  <a:tcPr marT="45700" marB="45700"/>
                </a:tc>
                <a:extLst>
                  <a:ext uri="{0D108BD9-81ED-4DB2-BD59-A6C34878D82A}">
                    <a16:rowId xmlns:a16="http://schemas.microsoft.com/office/drawing/2014/main" val="10001"/>
                  </a:ext>
                </a:extLst>
              </a:tr>
            </a:tbl>
          </a:graphicData>
        </a:graphic>
      </p:graphicFrame>
      <p:sp>
        <p:nvSpPr>
          <p:cNvPr id="12312" name="TextBox 5"/>
          <p:cNvSpPr txBox="1">
            <a:spLocks noChangeArrowheads="1"/>
          </p:cNvSpPr>
          <p:nvPr/>
        </p:nvSpPr>
        <p:spPr bwMode="auto">
          <a:xfrm>
            <a:off x="3720230" y="2922588"/>
            <a:ext cx="22836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solidFill>
                  <a:srgbClr val="FF0000"/>
                </a:solidFill>
                <a:latin typeface="Calibri" panose="020F0502020204030204" pitchFamily="34" charset="0"/>
              </a:rPr>
              <a:t>0   1    2   3   4   5</a:t>
            </a:r>
            <a:endParaRPr lang="en-IN" altLang="en-US" dirty="0"/>
          </a:p>
        </p:txBody>
      </p:sp>
      <p:sp>
        <p:nvSpPr>
          <p:cNvPr id="5" name="Arrow: Down 4"/>
          <p:cNvSpPr/>
          <p:nvPr/>
        </p:nvSpPr>
        <p:spPr>
          <a:xfrm>
            <a:off x="3863975" y="2693988"/>
            <a:ext cx="44450"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2">
                    <a:lumMod val="75000"/>
                  </a:schemeClr>
                </a:solidFill>
              </a:rPr>
              <a:t>j</a:t>
            </a:r>
          </a:p>
          <a:p>
            <a:pPr algn="ctr">
              <a:defRPr/>
            </a:pPr>
            <a:endParaRPr lang="en-IN" dirty="0">
              <a:solidFill>
                <a:schemeClr val="tx2">
                  <a:lumMod val="75000"/>
                </a:schemeClr>
              </a:solidFill>
            </a:endParaRPr>
          </a:p>
          <a:p>
            <a:pPr algn="ctr">
              <a:defRPr/>
            </a:pPr>
            <a:endParaRPr lang="en-IN" dirty="0">
              <a:solidFill>
                <a:schemeClr val="tx2">
                  <a:lumMod val="75000"/>
                </a:schemeClr>
              </a:solidFill>
            </a:endParaRPr>
          </a:p>
        </p:txBody>
      </p:sp>
      <p:sp>
        <p:nvSpPr>
          <p:cNvPr id="10" name="Arrow: Down 9"/>
          <p:cNvSpPr/>
          <p:nvPr/>
        </p:nvSpPr>
        <p:spPr>
          <a:xfrm>
            <a:off x="3329118" y="1237293"/>
            <a:ext cx="46037"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err="1">
                <a:solidFill>
                  <a:schemeClr val="tx2">
                    <a:lumMod val="75000"/>
                  </a:schemeClr>
                </a:solidFill>
              </a:rPr>
              <a:t>i</a:t>
            </a:r>
            <a:endParaRPr lang="en-IN" dirty="0">
              <a:solidFill>
                <a:schemeClr val="tx2">
                  <a:lumMod val="75000"/>
                </a:schemeClr>
              </a:solidFill>
            </a:endParaRPr>
          </a:p>
          <a:p>
            <a:pPr algn="ctr">
              <a:defRPr/>
            </a:pPr>
            <a:endParaRPr lang="en-IN" dirty="0">
              <a:solidFill>
                <a:schemeClr val="tx2">
                  <a:lumMod val="75000"/>
                </a:schemeClr>
              </a:solidFill>
            </a:endParaRPr>
          </a:p>
          <a:p>
            <a:pPr algn="ctr">
              <a:defRPr/>
            </a:pPr>
            <a:endParaRPr lang="en-IN" dirty="0">
              <a:solidFill>
                <a:schemeClr val="tx2">
                  <a:lumMod val="75000"/>
                </a:schemeClr>
              </a:solidFill>
            </a:endParaRPr>
          </a:p>
        </p:txBody>
      </p:sp>
      <p:sp>
        <p:nvSpPr>
          <p:cNvPr id="12317" name="TextBox 14"/>
          <p:cNvSpPr txBox="1">
            <a:spLocks noChangeArrowheads="1"/>
          </p:cNvSpPr>
          <p:nvPr/>
        </p:nvSpPr>
        <p:spPr bwMode="auto">
          <a:xfrm>
            <a:off x="2370812" y="3227151"/>
            <a:ext cx="457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t>Pattern</a:t>
            </a:r>
            <a:endParaRPr lang="en-IN" altLang="en-US" dirty="0"/>
          </a:p>
        </p:txBody>
      </p:sp>
      <p:sp>
        <p:nvSpPr>
          <p:cNvPr id="12318" name="TextBox 15"/>
          <p:cNvSpPr txBox="1">
            <a:spLocks noChangeArrowheads="1"/>
          </p:cNvSpPr>
          <p:nvPr/>
        </p:nvSpPr>
        <p:spPr bwMode="auto">
          <a:xfrm>
            <a:off x="465812" y="1441450"/>
            <a:ext cx="1416334"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t>Pattern -&gt;</a:t>
            </a:r>
            <a:endParaRPr lang="en-IN" altLang="en-US" dirty="0"/>
          </a:p>
        </p:txBody>
      </p:sp>
      <p:sp>
        <p:nvSpPr>
          <p:cNvPr id="12319" name="TextBox 16"/>
          <p:cNvSpPr txBox="1">
            <a:spLocks noChangeArrowheads="1"/>
          </p:cNvSpPr>
          <p:nvPr/>
        </p:nvSpPr>
        <p:spPr bwMode="auto">
          <a:xfrm>
            <a:off x="1882146" y="2858654"/>
            <a:ext cx="1962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solidFill>
                  <a:srgbClr val="FF0000"/>
                </a:solidFill>
                <a:latin typeface="Calibri" panose="020F0502020204030204" pitchFamily="34" charset="0"/>
              </a:rPr>
              <a:t>‘j’ – P [index] -&gt;</a:t>
            </a:r>
            <a:endParaRPr lang="en-IN" altLang="en-US" dirty="0"/>
          </a:p>
        </p:txBody>
      </p:sp>
      <p:sp>
        <p:nvSpPr>
          <p:cNvPr id="12320" name="TextBox 17"/>
          <p:cNvSpPr txBox="1">
            <a:spLocks noChangeArrowheads="1"/>
          </p:cNvSpPr>
          <p:nvPr/>
        </p:nvSpPr>
        <p:spPr bwMode="auto">
          <a:xfrm>
            <a:off x="465812" y="1807816"/>
            <a:ext cx="1905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solidFill>
                  <a:srgbClr val="FF0000"/>
                </a:solidFill>
                <a:latin typeface="Calibri" panose="020F0502020204030204" pitchFamily="34" charset="0"/>
              </a:rPr>
              <a:t>‘i’ - T [index] -&gt;</a:t>
            </a:r>
            <a:endParaRPr lang="en-IN" altLang="en-US" dirty="0"/>
          </a:p>
        </p:txBody>
      </p:sp>
      <p:sp>
        <p:nvSpPr>
          <p:cNvPr id="15" name="TextBox 14"/>
          <p:cNvSpPr txBox="1"/>
          <p:nvPr/>
        </p:nvSpPr>
        <p:spPr>
          <a:xfrm>
            <a:off x="6003923" y="2693988"/>
            <a:ext cx="5783069" cy="2308324"/>
          </a:xfrm>
          <a:prstGeom prst="rect">
            <a:avLst/>
          </a:prstGeom>
          <a:noFill/>
        </p:spPr>
        <p:txBody>
          <a:bodyPr wrap="square">
            <a:spAutoFit/>
          </a:bodyPr>
          <a:lstStyle/>
          <a:p>
            <a:pPr>
              <a:defRPr/>
            </a:pPr>
            <a:r>
              <a:rPr lang="en-US" altLang="en-US" sz="2400" dirty="0">
                <a:ea typeface="ＭＳ Ｐゴシック" panose="020B0600070205080204" pitchFamily="34" charset="-128"/>
              </a:rPr>
              <a:t>Now, Compare, Text[i] with the Pattern[j].</a:t>
            </a:r>
          </a:p>
          <a:p>
            <a:pPr>
              <a:defRPr/>
            </a:pPr>
            <a:endParaRPr lang="en-US" altLang="en-US" sz="2400" dirty="0">
              <a:ea typeface="ＭＳ Ｐゴシック" panose="020B0600070205080204" pitchFamily="34" charset="-128"/>
            </a:endParaRPr>
          </a:p>
          <a:p>
            <a:pPr>
              <a:defRPr/>
            </a:pPr>
            <a:r>
              <a:rPr lang="en-US" altLang="en-US" sz="2400" dirty="0">
                <a:solidFill>
                  <a:schemeClr val="accent2">
                    <a:lumMod val="75000"/>
                  </a:schemeClr>
                </a:solidFill>
                <a:ea typeface="ＭＳ Ｐゴシック" panose="020B0600070205080204" pitchFamily="34" charset="-128"/>
              </a:rPr>
              <a:t>If Matched, Increment both ‘j’ &amp; ‘</a:t>
            </a:r>
            <a:r>
              <a:rPr lang="en-US" altLang="en-US" sz="2400" dirty="0" err="1">
                <a:solidFill>
                  <a:schemeClr val="accent2">
                    <a:lumMod val="75000"/>
                  </a:schemeClr>
                </a:solidFill>
                <a:ea typeface="ＭＳ Ｐゴシック" panose="020B0600070205080204" pitchFamily="34" charset="-128"/>
              </a:rPr>
              <a:t>i</a:t>
            </a:r>
            <a:r>
              <a:rPr lang="en-US" altLang="en-US" sz="2400" dirty="0">
                <a:solidFill>
                  <a:schemeClr val="accent2">
                    <a:lumMod val="75000"/>
                  </a:schemeClr>
                </a:solidFill>
                <a:ea typeface="ＭＳ Ｐゴシック" panose="020B0600070205080204" pitchFamily="34" charset="-128"/>
              </a:rPr>
              <a:t>’ by 1.</a:t>
            </a:r>
          </a:p>
          <a:p>
            <a:pPr>
              <a:defRPr/>
            </a:pPr>
            <a:endParaRPr lang="en-US" altLang="en-US" sz="2400" dirty="0">
              <a:ea typeface="ＭＳ Ｐゴシック" panose="020B0600070205080204" pitchFamily="34" charset="-128"/>
            </a:endParaRPr>
          </a:p>
          <a:p>
            <a:pPr>
              <a:defRPr/>
            </a:pPr>
            <a:r>
              <a:rPr lang="en-US" altLang="en-US" sz="2400" dirty="0">
                <a:ea typeface="ＭＳ Ｐゴシック" panose="020B0600070205080204" pitchFamily="34" charset="-128"/>
              </a:rPr>
              <a:t>Else if not matched, move the ‘j’ to the index numbered by  LPS[j]</a:t>
            </a:r>
          </a:p>
        </p:txBody>
      </p:sp>
      <p:sp>
        <p:nvSpPr>
          <p:cNvPr id="16" name="Footer Placeholder 1"/>
          <p:cNvSpPr>
            <a:spLocks noGrp="1"/>
          </p:cNvSpPr>
          <p:nvPr>
            <p:ph type="ftr" sz="quarter" idx="11"/>
          </p:nvPr>
        </p:nvSpPr>
        <p:spPr>
          <a:xfrm>
            <a:off x="847898" y="6356350"/>
            <a:ext cx="9144000" cy="365125"/>
          </a:xfrm>
        </p:spPr>
        <p:txBody>
          <a:bodyPr/>
          <a:lstStyle/>
          <a:p>
            <a:r>
              <a:rPr lang="en-AU" dirty="0">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38</a:t>
            </a:fld>
            <a:endParaRPr lang="en-AU"/>
          </a:p>
        </p:txBody>
      </p:sp>
      <mc:AlternateContent xmlns:mc="http://schemas.openxmlformats.org/markup-compatibility/2006" xmlns:a14="http://schemas.microsoft.com/office/drawing/2010/main">
        <mc:Choice Requires="a14">
          <p:sp>
            <p:nvSpPr>
              <p:cNvPr id="4" name="TextBox 3"/>
              <p:cNvSpPr txBox="1"/>
              <p:nvPr/>
            </p:nvSpPr>
            <p:spPr>
              <a:xfrm>
                <a:off x="2545503" y="3412856"/>
                <a:ext cx="635435" cy="553998"/>
              </a:xfrm>
              <a:prstGeom prst="rect">
                <a:avLst/>
              </a:prstGeom>
              <a:noFill/>
            </p:spPr>
            <p:txBody>
              <a:bodyPr wrap="square" rtlCol="0">
                <a:spAutoFit/>
              </a:bodyPr>
              <a:lstStyle/>
              <a:p>
                <a:pPr/>
                <a14:m>
                  <m:oMathPara xmlns:m="http://schemas.openxmlformats.org/officeDocument/2006/math">
                    <m:oMath>
                      <m:r>
                        <a:rPr lang="el-GR" sz="3000" i="1" smtClean="0">
                          <a:latin typeface="Cambria Math"/>
                        </a:rPr>
                        <m:t>ᴨ</m:t>
                      </m:r>
                    </m:oMath>
                  </m:oMathPara>
                </a14:m>
                <a:endParaRPr lang="en-IN" sz="3000" dirty="0"/>
              </a:p>
            </p:txBody>
          </p:sp>
        </mc:Choice>
        <mc:Fallback xmlns="">
          <p:sp>
            <p:nvSpPr>
              <p:cNvPr id="4" name="TextBox 3"/>
              <p:cNvSpPr txBox="1">
                <a:spLocks noRot="1" noChangeAspect="1" noMove="1" noResize="1" noEditPoints="1" noAdjustHandles="1" noChangeArrowheads="1" noChangeShapeType="1" noTextEdit="1"/>
              </p:cNvSpPr>
              <p:nvPr/>
            </p:nvSpPr>
            <p:spPr>
              <a:xfrm>
                <a:off x="2545503" y="3412856"/>
                <a:ext cx="635435" cy="553998"/>
              </a:xfrm>
              <a:prstGeom prst="rect">
                <a:avLst/>
              </a:prstGeom>
              <a:blipFill rotWithShape="1">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285596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2979738" y="-6350"/>
            <a:ext cx="8229600" cy="639763"/>
          </a:xfrm>
        </p:spPr>
        <p:txBody>
          <a:bodyPr/>
          <a:lstStyle/>
          <a:p>
            <a:r>
              <a:rPr lang="en-US" altLang="en-US" b="1" dirty="0">
                <a:solidFill>
                  <a:srgbClr val="1E03BD"/>
                </a:solidFill>
              </a:rPr>
              <a:t>How KMP Algorithm works</a:t>
            </a:r>
          </a:p>
        </p:txBody>
      </p:sp>
      <p:sp>
        <p:nvSpPr>
          <p:cNvPr id="6147" name="Rectangle 3"/>
          <p:cNvSpPr>
            <a:spLocks noGrp="1"/>
          </p:cNvSpPr>
          <p:nvPr>
            <p:ph type="body" idx="1"/>
          </p:nvPr>
        </p:nvSpPr>
        <p:spPr>
          <a:xfrm>
            <a:off x="2026910" y="1441450"/>
            <a:ext cx="8229600" cy="4754563"/>
          </a:xfrm>
        </p:spPr>
        <p:txBody>
          <a:bodyPr/>
          <a:lstStyle/>
          <a:p>
            <a:pPr marL="0" indent="0" algn="just">
              <a:spcBef>
                <a:spcPts val="0"/>
              </a:spcBef>
              <a:buNone/>
              <a:defRPr/>
            </a:pPr>
            <a:r>
              <a:rPr lang="en-US" altLang="en-US" dirty="0">
                <a:ea typeface="ＭＳ Ｐゴシック" panose="020B0600070205080204" pitchFamily="34" charset="-128"/>
              </a:rPr>
              <a:t>    Text:  a b a b c a b c a b  a  b  a   b  d</a:t>
            </a:r>
          </a:p>
          <a:p>
            <a:pPr marL="0" indent="0" algn="just">
              <a:spcBef>
                <a:spcPts val="0"/>
              </a:spcBef>
              <a:buNone/>
              <a:defRPr/>
            </a:pPr>
            <a:r>
              <a:rPr lang="en-US" altLang="en-US" dirty="0">
                <a:solidFill>
                  <a:srgbClr val="FF0000"/>
                </a:solidFill>
                <a:ea typeface="ＭＳ Ｐゴシック" panose="020B0600070205080204" pitchFamily="34" charset="-128"/>
              </a:rPr>
              <a:t>	    </a:t>
            </a:r>
            <a:r>
              <a:rPr lang="en-US" altLang="en-US" sz="2000" dirty="0">
                <a:solidFill>
                  <a:srgbClr val="FF0000"/>
                </a:solidFill>
                <a:ea typeface="ＭＳ Ｐゴシック" panose="020B0600070205080204" pitchFamily="34" charset="-128"/>
              </a:rPr>
              <a:t>0  1  2  3   4  5  6  7  8  9  10  11   12   13  14  		</a:t>
            </a:r>
            <a:endParaRPr lang="en-US" altLang="en-US" sz="2000" dirty="0">
              <a:ea typeface="ＭＳ Ｐゴシック" panose="020B0600070205080204" pitchFamily="34" charset="-128"/>
            </a:endParaRPr>
          </a:p>
        </p:txBody>
      </p:sp>
      <p:graphicFrame>
        <p:nvGraphicFramePr>
          <p:cNvPr id="2" name="Table 2"/>
          <p:cNvGraphicFramePr>
            <a:graphicFrameLocks noGrp="1"/>
          </p:cNvGraphicFramePr>
          <p:nvPr/>
        </p:nvGraphicFramePr>
        <p:xfrm>
          <a:off x="3733800" y="3200400"/>
          <a:ext cx="1600200" cy="741364"/>
        </p:xfrm>
        <a:graphic>
          <a:graphicData uri="http://schemas.openxmlformats.org/drawingml/2006/table">
            <a:tbl>
              <a:tblPr firstRow="1" bandRow="1">
                <a:tableStyleId>{5C22544A-7EE6-4342-B048-85BDC9FD1C3A}</a:tableStyleId>
              </a:tblPr>
              <a:tblGrid>
                <a:gridCol w="320040">
                  <a:extLst>
                    <a:ext uri="{9D8B030D-6E8A-4147-A177-3AD203B41FA5}">
                      <a16:colId xmlns:a16="http://schemas.microsoft.com/office/drawing/2014/main" val="20000"/>
                    </a:ext>
                  </a:extLst>
                </a:gridCol>
                <a:gridCol w="320040">
                  <a:extLst>
                    <a:ext uri="{9D8B030D-6E8A-4147-A177-3AD203B41FA5}">
                      <a16:colId xmlns:a16="http://schemas.microsoft.com/office/drawing/2014/main" val="20001"/>
                    </a:ext>
                  </a:extLst>
                </a:gridCol>
                <a:gridCol w="320040">
                  <a:extLst>
                    <a:ext uri="{9D8B030D-6E8A-4147-A177-3AD203B41FA5}">
                      <a16:colId xmlns:a16="http://schemas.microsoft.com/office/drawing/2014/main" val="20002"/>
                    </a:ext>
                  </a:extLst>
                </a:gridCol>
                <a:gridCol w="320040">
                  <a:extLst>
                    <a:ext uri="{9D8B030D-6E8A-4147-A177-3AD203B41FA5}">
                      <a16:colId xmlns:a16="http://schemas.microsoft.com/office/drawing/2014/main" val="20003"/>
                    </a:ext>
                  </a:extLst>
                </a:gridCol>
                <a:gridCol w="320040">
                  <a:extLst>
                    <a:ext uri="{9D8B030D-6E8A-4147-A177-3AD203B41FA5}">
                      <a16:colId xmlns:a16="http://schemas.microsoft.com/office/drawing/2014/main" val="20004"/>
                    </a:ext>
                  </a:extLst>
                </a:gridCol>
              </a:tblGrid>
              <a:tr h="370682">
                <a:tc>
                  <a:txBody>
                    <a:bodyPr/>
                    <a:lstStyle/>
                    <a:p>
                      <a:r>
                        <a:rPr lang="en-IN" sz="1800" dirty="0"/>
                        <a:t>a</a:t>
                      </a:r>
                    </a:p>
                  </a:txBody>
                  <a:tcPr marT="45700" marB="45700"/>
                </a:tc>
                <a:tc>
                  <a:txBody>
                    <a:bodyPr/>
                    <a:lstStyle/>
                    <a:p>
                      <a:r>
                        <a:rPr lang="en-IN" sz="1800" dirty="0"/>
                        <a:t>b</a:t>
                      </a:r>
                    </a:p>
                  </a:txBody>
                  <a:tcPr marT="45700" marB="45700"/>
                </a:tc>
                <a:tc>
                  <a:txBody>
                    <a:bodyPr/>
                    <a:lstStyle/>
                    <a:p>
                      <a:r>
                        <a:rPr lang="en-IN" sz="1800" dirty="0"/>
                        <a:t>a</a:t>
                      </a:r>
                    </a:p>
                  </a:txBody>
                  <a:tcPr marT="45700" marB="45700"/>
                </a:tc>
                <a:tc>
                  <a:txBody>
                    <a:bodyPr/>
                    <a:lstStyle/>
                    <a:p>
                      <a:r>
                        <a:rPr lang="en-IN" sz="1800" dirty="0"/>
                        <a:t>b </a:t>
                      </a:r>
                    </a:p>
                  </a:txBody>
                  <a:tcPr marT="45700" marB="45700"/>
                </a:tc>
                <a:tc>
                  <a:txBody>
                    <a:bodyPr/>
                    <a:lstStyle/>
                    <a:p>
                      <a:r>
                        <a:rPr lang="en-IN" sz="1800" dirty="0"/>
                        <a:t>d</a:t>
                      </a:r>
                    </a:p>
                  </a:txBody>
                  <a:tcPr marT="45700" marB="45700"/>
                </a:tc>
                <a:extLst>
                  <a:ext uri="{0D108BD9-81ED-4DB2-BD59-A6C34878D82A}">
                    <a16:rowId xmlns:a16="http://schemas.microsoft.com/office/drawing/2014/main" val="10000"/>
                  </a:ext>
                </a:extLst>
              </a:tr>
              <a:tr h="370682">
                <a:tc>
                  <a:txBody>
                    <a:bodyPr/>
                    <a:lstStyle/>
                    <a:p>
                      <a:r>
                        <a:rPr lang="en-IN" sz="1800" dirty="0"/>
                        <a:t>0</a:t>
                      </a:r>
                    </a:p>
                  </a:txBody>
                  <a:tcPr marT="45700" marB="45700"/>
                </a:tc>
                <a:tc>
                  <a:txBody>
                    <a:bodyPr/>
                    <a:lstStyle/>
                    <a:p>
                      <a:r>
                        <a:rPr lang="en-IN" sz="1800" dirty="0"/>
                        <a:t>0</a:t>
                      </a:r>
                    </a:p>
                  </a:txBody>
                  <a:tcPr marT="45700" marB="45700"/>
                </a:tc>
                <a:tc>
                  <a:txBody>
                    <a:bodyPr/>
                    <a:lstStyle/>
                    <a:p>
                      <a:r>
                        <a:rPr lang="en-IN" sz="1800" dirty="0"/>
                        <a:t>1</a:t>
                      </a:r>
                    </a:p>
                  </a:txBody>
                  <a:tcPr marT="45700" marB="45700"/>
                </a:tc>
                <a:tc>
                  <a:txBody>
                    <a:bodyPr/>
                    <a:lstStyle/>
                    <a:p>
                      <a:r>
                        <a:rPr lang="en-IN" sz="1800" dirty="0"/>
                        <a:t>2</a:t>
                      </a:r>
                    </a:p>
                  </a:txBody>
                  <a:tcPr marT="45700" marB="45700"/>
                </a:tc>
                <a:tc>
                  <a:txBody>
                    <a:bodyPr/>
                    <a:lstStyle/>
                    <a:p>
                      <a:r>
                        <a:rPr lang="en-IN" sz="1800" dirty="0"/>
                        <a:t>0</a:t>
                      </a:r>
                    </a:p>
                  </a:txBody>
                  <a:tcPr marT="45700" marB="45700"/>
                </a:tc>
                <a:extLst>
                  <a:ext uri="{0D108BD9-81ED-4DB2-BD59-A6C34878D82A}">
                    <a16:rowId xmlns:a16="http://schemas.microsoft.com/office/drawing/2014/main" val="10001"/>
                  </a:ext>
                </a:extLst>
              </a:tr>
            </a:tbl>
          </a:graphicData>
        </a:graphic>
      </p:graphicFrame>
      <p:sp>
        <p:nvSpPr>
          <p:cNvPr id="12312" name="TextBox 5"/>
          <p:cNvSpPr txBox="1">
            <a:spLocks noChangeArrowheads="1"/>
          </p:cNvSpPr>
          <p:nvPr/>
        </p:nvSpPr>
        <p:spPr bwMode="auto">
          <a:xfrm>
            <a:off x="3720230" y="2922588"/>
            <a:ext cx="22836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solidFill>
                  <a:srgbClr val="FF0000"/>
                </a:solidFill>
                <a:latin typeface="Calibri" panose="020F0502020204030204" pitchFamily="34" charset="0"/>
              </a:rPr>
              <a:t>0   1    2   3   4   5</a:t>
            </a:r>
            <a:endParaRPr lang="en-IN" altLang="en-US" dirty="0"/>
          </a:p>
        </p:txBody>
      </p:sp>
      <p:sp>
        <p:nvSpPr>
          <p:cNvPr id="5" name="Arrow: Down 4"/>
          <p:cNvSpPr/>
          <p:nvPr/>
        </p:nvSpPr>
        <p:spPr>
          <a:xfrm>
            <a:off x="4139548" y="2707406"/>
            <a:ext cx="44450"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2">
                    <a:lumMod val="75000"/>
                  </a:schemeClr>
                </a:solidFill>
              </a:rPr>
              <a:t>j</a:t>
            </a:r>
          </a:p>
          <a:p>
            <a:pPr algn="ctr">
              <a:defRPr/>
            </a:pPr>
            <a:endParaRPr lang="en-IN" dirty="0">
              <a:solidFill>
                <a:schemeClr val="tx2">
                  <a:lumMod val="75000"/>
                </a:schemeClr>
              </a:solidFill>
            </a:endParaRPr>
          </a:p>
          <a:p>
            <a:pPr algn="ctr">
              <a:defRPr/>
            </a:pPr>
            <a:endParaRPr lang="en-IN" dirty="0">
              <a:solidFill>
                <a:schemeClr val="tx2">
                  <a:lumMod val="75000"/>
                </a:schemeClr>
              </a:solidFill>
            </a:endParaRPr>
          </a:p>
        </p:txBody>
      </p:sp>
      <p:sp>
        <p:nvSpPr>
          <p:cNvPr id="10" name="Arrow: Down 9"/>
          <p:cNvSpPr/>
          <p:nvPr/>
        </p:nvSpPr>
        <p:spPr>
          <a:xfrm>
            <a:off x="3579639" y="1237293"/>
            <a:ext cx="46037"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err="1">
                <a:solidFill>
                  <a:schemeClr val="tx2">
                    <a:lumMod val="75000"/>
                  </a:schemeClr>
                </a:solidFill>
              </a:rPr>
              <a:t>i</a:t>
            </a:r>
            <a:endParaRPr lang="en-IN" dirty="0">
              <a:solidFill>
                <a:schemeClr val="tx2">
                  <a:lumMod val="75000"/>
                </a:schemeClr>
              </a:solidFill>
            </a:endParaRPr>
          </a:p>
          <a:p>
            <a:pPr algn="ctr">
              <a:defRPr/>
            </a:pPr>
            <a:endParaRPr lang="en-IN" dirty="0">
              <a:solidFill>
                <a:schemeClr val="tx2">
                  <a:lumMod val="75000"/>
                </a:schemeClr>
              </a:solidFill>
            </a:endParaRPr>
          </a:p>
          <a:p>
            <a:pPr algn="ctr">
              <a:defRPr/>
            </a:pPr>
            <a:endParaRPr lang="en-IN" dirty="0">
              <a:solidFill>
                <a:schemeClr val="tx2">
                  <a:lumMod val="75000"/>
                </a:schemeClr>
              </a:solidFill>
            </a:endParaRPr>
          </a:p>
        </p:txBody>
      </p:sp>
      <p:sp>
        <p:nvSpPr>
          <p:cNvPr id="12317" name="TextBox 14"/>
          <p:cNvSpPr txBox="1">
            <a:spLocks noChangeArrowheads="1"/>
          </p:cNvSpPr>
          <p:nvPr/>
        </p:nvSpPr>
        <p:spPr bwMode="auto">
          <a:xfrm>
            <a:off x="2522538" y="3202664"/>
            <a:ext cx="11976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t>Pattern</a:t>
            </a:r>
          </a:p>
        </p:txBody>
      </p:sp>
      <p:sp>
        <p:nvSpPr>
          <p:cNvPr id="12318" name="TextBox 15"/>
          <p:cNvSpPr txBox="1">
            <a:spLocks noChangeArrowheads="1"/>
          </p:cNvSpPr>
          <p:nvPr/>
        </p:nvSpPr>
        <p:spPr bwMode="auto">
          <a:xfrm>
            <a:off x="465812" y="1441450"/>
            <a:ext cx="1416334"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t>Pattern -&gt;</a:t>
            </a:r>
            <a:endParaRPr lang="en-IN" altLang="en-US" dirty="0"/>
          </a:p>
        </p:txBody>
      </p:sp>
      <p:sp>
        <p:nvSpPr>
          <p:cNvPr id="12319" name="TextBox 16"/>
          <p:cNvSpPr txBox="1">
            <a:spLocks noChangeArrowheads="1"/>
          </p:cNvSpPr>
          <p:nvPr/>
        </p:nvSpPr>
        <p:spPr bwMode="auto">
          <a:xfrm>
            <a:off x="1882146" y="2858654"/>
            <a:ext cx="1962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solidFill>
                  <a:srgbClr val="FF0000"/>
                </a:solidFill>
                <a:latin typeface="Calibri" panose="020F0502020204030204" pitchFamily="34" charset="0"/>
              </a:rPr>
              <a:t>‘j’ – P [index] -&gt;</a:t>
            </a:r>
            <a:endParaRPr lang="en-IN" altLang="en-US" dirty="0"/>
          </a:p>
        </p:txBody>
      </p:sp>
      <p:sp>
        <p:nvSpPr>
          <p:cNvPr id="12320" name="TextBox 17"/>
          <p:cNvSpPr txBox="1">
            <a:spLocks noChangeArrowheads="1"/>
          </p:cNvSpPr>
          <p:nvPr/>
        </p:nvSpPr>
        <p:spPr bwMode="auto">
          <a:xfrm>
            <a:off x="465812" y="1807816"/>
            <a:ext cx="1905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solidFill>
                  <a:srgbClr val="FF0000"/>
                </a:solidFill>
                <a:latin typeface="Calibri" panose="020F0502020204030204" pitchFamily="34" charset="0"/>
              </a:rPr>
              <a:t>‘i’ - T [index] -&gt;</a:t>
            </a:r>
            <a:endParaRPr lang="en-IN" altLang="en-US" dirty="0"/>
          </a:p>
        </p:txBody>
      </p:sp>
      <p:sp>
        <p:nvSpPr>
          <p:cNvPr id="16" name="Footer Placeholder 1"/>
          <p:cNvSpPr>
            <a:spLocks noGrp="1"/>
          </p:cNvSpPr>
          <p:nvPr>
            <p:ph type="ftr" sz="quarter" idx="11"/>
          </p:nvPr>
        </p:nvSpPr>
        <p:spPr>
          <a:xfrm>
            <a:off x="847898" y="6356350"/>
            <a:ext cx="9144000" cy="365125"/>
          </a:xfrm>
        </p:spPr>
        <p:txBody>
          <a:bodyPr/>
          <a:lstStyle/>
          <a:p>
            <a:r>
              <a:rPr lang="en-AU" dirty="0">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39</a:t>
            </a:fld>
            <a:endParaRPr lang="en-AU"/>
          </a:p>
        </p:txBody>
      </p:sp>
      <mc:AlternateContent xmlns:mc="http://schemas.openxmlformats.org/markup-compatibility/2006" xmlns:a14="http://schemas.microsoft.com/office/drawing/2010/main">
        <mc:Choice Requires="a14">
          <p:sp>
            <p:nvSpPr>
              <p:cNvPr id="17" name="TextBox 16"/>
              <p:cNvSpPr txBox="1"/>
              <p:nvPr/>
            </p:nvSpPr>
            <p:spPr>
              <a:xfrm>
                <a:off x="2803666" y="3387330"/>
                <a:ext cx="635435" cy="553998"/>
              </a:xfrm>
              <a:prstGeom prst="rect">
                <a:avLst/>
              </a:prstGeom>
              <a:noFill/>
            </p:spPr>
            <p:txBody>
              <a:bodyPr wrap="square" rtlCol="0">
                <a:spAutoFit/>
              </a:bodyPr>
              <a:lstStyle/>
              <a:p>
                <a:pPr/>
                <a14:m>
                  <m:oMathPara xmlns:m="http://schemas.openxmlformats.org/officeDocument/2006/math">
                    <m:oMath>
                      <m:r>
                        <a:rPr lang="el-GR" sz="3000" i="1" smtClean="0">
                          <a:latin typeface="Cambria Math"/>
                        </a:rPr>
                        <m:t>ᴨ</m:t>
                      </m:r>
                    </m:oMath>
                  </m:oMathPara>
                </a14:m>
                <a:endParaRPr lang="en-IN" sz="3000" dirty="0"/>
              </a:p>
            </p:txBody>
          </p:sp>
        </mc:Choice>
        <mc:Fallback xmlns="">
          <p:sp>
            <p:nvSpPr>
              <p:cNvPr id="17" name="TextBox 16"/>
              <p:cNvSpPr txBox="1">
                <a:spLocks noRot="1" noChangeAspect="1" noMove="1" noResize="1" noEditPoints="1" noAdjustHandles="1" noChangeArrowheads="1" noChangeShapeType="1" noTextEdit="1"/>
              </p:cNvSpPr>
              <p:nvPr/>
            </p:nvSpPr>
            <p:spPr>
              <a:xfrm>
                <a:off x="2803666" y="3387330"/>
                <a:ext cx="635435" cy="553998"/>
              </a:xfrm>
              <a:prstGeom prst="rect">
                <a:avLst/>
              </a:prstGeom>
              <a:blipFill rotWithShape="1">
                <a:blip r:embed="rId3"/>
                <a:stretch>
                  <a:fillRect/>
                </a:stretch>
              </a:blipFill>
            </p:spPr>
            <p:txBody>
              <a:bodyPr/>
              <a:lstStyle/>
              <a:p>
                <a:r>
                  <a:rPr lang="en-IN">
                    <a:noFill/>
                  </a:rPr>
                  <a:t> </a:t>
                </a:r>
              </a:p>
            </p:txBody>
          </p:sp>
        </mc:Fallback>
      </mc:AlternateContent>
      <p:sp>
        <p:nvSpPr>
          <p:cNvPr id="18" name="TextBox 17"/>
          <p:cNvSpPr txBox="1"/>
          <p:nvPr/>
        </p:nvSpPr>
        <p:spPr>
          <a:xfrm>
            <a:off x="5891188" y="2693988"/>
            <a:ext cx="5783069" cy="2308324"/>
          </a:xfrm>
          <a:prstGeom prst="rect">
            <a:avLst/>
          </a:prstGeom>
          <a:noFill/>
        </p:spPr>
        <p:txBody>
          <a:bodyPr wrap="square">
            <a:spAutoFit/>
          </a:bodyPr>
          <a:lstStyle/>
          <a:p>
            <a:pPr>
              <a:defRPr/>
            </a:pPr>
            <a:r>
              <a:rPr lang="en-US" altLang="en-US" sz="2400" dirty="0">
                <a:ea typeface="ＭＳ Ｐゴシック" panose="020B0600070205080204" pitchFamily="34" charset="-128"/>
              </a:rPr>
              <a:t>Now, Compare, Text[i] with the Pattern[j].</a:t>
            </a:r>
          </a:p>
          <a:p>
            <a:pPr>
              <a:defRPr/>
            </a:pPr>
            <a:endParaRPr lang="en-US" altLang="en-US" sz="2400" dirty="0">
              <a:ea typeface="ＭＳ Ｐゴシック" panose="020B0600070205080204" pitchFamily="34" charset="-128"/>
            </a:endParaRPr>
          </a:p>
          <a:p>
            <a:pPr>
              <a:defRPr/>
            </a:pPr>
            <a:r>
              <a:rPr lang="en-US" altLang="en-US" sz="2400" dirty="0">
                <a:solidFill>
                  <a:schemeClr val="accent2">
                    <a:lumMod val="75000"/>
                  </a:schemeClr>
                </a:solidFill>
                <a:ea typeface="ＭＳ Ｐゴシック" panose="020B0600070205080204" pitchFamily="34" charset="-128"/>
              </a:rPr>
              <a:t>If Matched, Increment both ‘j’ &amp; ‘</a:t>
            </a:r>
            <a:r>
              <a:rPr lang="en-US" altLang="en-US" sz="2400" dirty="0" err="1">
                <a:solidFill>
                  <a:schemeClr val="accent2">
                    <a:lumMod val="75000"/>
                  </a:schemeClr>
                </a:solidFill>
                <a:ea typeface="ＭＳ Ｐゴシック" panose="020B0600070205080204" pitchFamily="34" charset="-128"/>
              </a:rPr>
              <a:t>i</a:t>
            </a:r>
            <a:r>
              <a:rPr lang="en-US" altLang="en-US" sz="2400" dirty="0">
                <a:solidFill>
                  <a:schemeClr val="accent2">
                    <a:lumMod val="75000"/>
                  </a:schemeClr>
                </a:solidFill>
                <a:ea typeface="ＭＳ Ｐゴシック" panose="020B0600070205080204" pitchFamily="34" charset="-128"/>
              </a:rPr>
              <a:t>’ by 1.</a:t>
            </a:r>
          </a:p>
          <a:p>
            <a:pPr>
              <a:defRPr/>
            </a:pPr>
            <a:endParaRPr lang="en-US" altLang="en-US" sz="2400" dirty="0">
              <a:ea typeface="ＭＳ Ｐゴシック" panose="020B0600070205080204" pitchFamily="34" charset="-128"/>
            </a:endParaRPr>
          </a:p>
          <a:p>
            <a:pPr>
              <a:defRPr/>
            </a:pPr>
            <a:r>
              <a:rPr lang="en-US" altLang="en-US" sz="2400" dirty="0">
                <a:ea typeface="ＭＳ Ｐゴシック" panose="020B0600070205080204" pitchFamily="34" charset="-128"/>
              </a:rPr>
              <a:t>Else if not matched, move the ‘j’ to the index numbered by  LPS[j]</a:t>
            </a:r>
          </a:p>
        </p:txBody>
      </p:sp>
    </p:spTree>
    <p:extLst>
      <p:ext uri="{BB962C8B-B14F-4D97-AF65-F5344CB8AC3E}">
        <p14:creationId xmlns:p14="http://schemas.microsoft.com/office/powerpoint/2010/main" val="24839732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2979738" y="-6350"/>
            <a:ext cx="8229600" cy="639763"/>
          </a:xfrm>
        </p:spPr>
        <p:txBody>
          <a:bodyPr/>
          <a:lstStyle/>
          <a:p>
            <a:r>
              <a:rPr lang="en-US" altLang="en-US" b="1" dirty="0">
                <a:solidFill>
                  <a:srgbClr val="1E03BD"/>
                </a:solidFill>
              </a:rPr>
              <a:t>How KMP Algorithm works</a:t>
            </a:r>
          </a:p>
        </p:txBody>
      </p:sp>
      <p:sp>
        <p:nvSpPr>
          <p:cNvPr id="6147" name="Rectangle 3"/>
          <p:cNvSpPr>
            <a:spLocks noGrp="1"/>
          </p:cNvSpPr>
          <p:nvPr>
            <p:ph type="body" idx="1"/>
          </p:nvPr>
        </p:nvSpPr>
        <p:spPr>
          <a:xfrm>
            <a:off x="2026910" y="1441450"/>
            <a:ext cx="8229600" cy="4754563"/>
          </a:xfrm>
        </p:spPr>
        <p:txBody>
          <a:bodyPr/>
          <a:lstStyle/>
          <a:p>
            <a:pPr marL="0" indent="0" algn="just">
              <a:spcBef>
                <a:spcPts val="0"/>
              </a:spcBef>
              <a:buNone/>
              <a:defRPr/>
            </a:pPr>
            <a:r>
              <a:rPr lang="en-US" altLang="en-US" dirty="0">
                <a:ea typeface="ＭＳ Ｐゴシック" panose="020B0600070205080204" pitchFamily="34" charset="-128"/>
              </a:rPr>
              <a:t>    Text:  a b a b c a b c a b  a  b  a   b  d</a:t>
            </a:r>
          </a:p>
          <a:p>
            <a:pPr marL="0" indent="0" algn="just">
              <a:spcBef>
                <a:spcPts val="0"/>
              </a:spcBef>
              <a:buNone/>
              <a:defRPr/>
            </a:pPr>
            <a:r>
              <a:rPr lang="en-US" altLang="en-US" dirty="0">
                <a:solidFill>
                  <a:srgbClr val="FF0000"/>
                </a:solidFill>
                <a:ea typeface="ＭＳ Ｐゴシック" panose="020B0600070205080204" pitchFamily="34" charset="-128"/>
              </a:rPr>
              <a:t>	    </a:t>
            </a:r>
            <a:r>
              <a:rPr lang="en-US" altLang="en-US" sz="2000" dirty="0">
                <a:solidFill>
                  <a:srgbClr val="FF0000"/>
                </a:solidFill>
                <a:ea typeface="ＭＳ Ｐゴシック" panose="020B0600070205080204" pitchFamily="34" charset="-128"/>
              </a:rPr>
              <a:t>0  1  2  3   4  5  6  7  8  9  10  11   12   13  14  		</a:t>
            </a:r>
            <a:endParaRPr lang="en-US" altLang="en-US" sz="2000" dirty="0">
              <a:ea typeface="ＭＳ Ｐゴシック" panose="020B0600070205080204" pitchFamily="34" charset="-128"/>
            </a:endParaRPr>
          </a:p>
        </p:txBody>
      </p:sp>
      <p:graphicFrame>
        <p:nvGraphicFramePr>
          <p:cNvPr id="2" name="Table 2"/>
          <p:cNvGraphicFramePr>
            <a:graphicFrameLocks noGrp="1"/>
          </p:cNvGraphicFramePr>
          <p:nvPr/>
        </p:nvGraphicFramePr>
        <p:xfrm>
          <a:off x="3733800" y="3200400"/>
          <a:ext cx="1600200" cy="741364"/>
        </p:xfrm>
        <a:graphic>
          <a:graphicData uri="http://schemas.openxmlformats.org/drawingml/2006/table">
            <a:tbl>
              <a:tblPr firstRow="1" bandRow="1">
                <a:tableStyleId>{5C22544A-7EE6-4342-B048-85BDC9FD1C3A}</a:tableStyleId>
              </a:tblPr>
              <a:tblGrid>
                <a:gridCol w="320040">
                  <a:extLst>
                    <a:ext uri="{9D8B030D-6E8A-4147-A177-3AD203B41FA5}">
                      <a16:colId xmlns:a16="http://schemas.microsoft.com/office/drawing/2014/main" val="20000"/>
                    </a:ext>
                  </a:extLst>
                </a:gridCol>
                <a:gridCol w="320040">
                  <a:extLst>
                    <a:ext uri="{9D8B030D-6E8A-4147-A177-3AD203B41FA5}">
                      <a16:colId xmlns:a16="http://schemas.microsoft.com/office/drawing/2014/main" val="20001"/>
                    </a:ext>
                  </a:extLst>
                </a:gridCol>
                <a:gridCol w="320040">
                  <a:extLst>
                    <a:ext uri="{9D8B030D-6E8A-4147-A177-3AD203B41FA5}">
                      <a16:colId xmlns:a16="http://schemas.microsoft.com/office/drawing/2014/main" val="20002"/>
                    </a:ext>
                  </a:extLst>
                </a:gridCol>
                <a:gridCol w="320040">
                  <a:extLst>
                    <a:ext uri="{9D8B030D-6E8A-4147-A177-3AD203B41FA5}">
                      <a16:colId xmlns:a16="http://schemas.microsoft.com/office/drawing/2014/main" val="20003"/>
                    </a:ext>
                  </a:extLst>
                </a:gridCol>
                <a:gridCol w="320040">
                  <a:extLst>
                    <a:ext uri="{9D8B030D-6E8A-4147-A177-3AD203B41FA5}">
                      <a16:colId xmlns:a16="http://schemas.microsoft.com/office/drawing/2014/main" val="20004"/>
                    </a:ext>
                  </a:extLst>
                </a:gridCol>
              </a:tblGrid>
              <a:tr h="370682">
                <a:tc>
                  <a:txBody>
                    <a:bodyPr/>
                    <a:lstStyle/>
                    <a:p>
                      <a:r>
                        <a:rPr lang="en-IN" sz="1800" dirty="0"/>
                        <a:t>a</a:t>
                      </a:r>
                    </a:p>
                  </a:txBody>
                  <a:tcPr marT="45700" marB="45700"/>
                </a:tc>
                <a:tc>
                  <a:txBody>
                    <a:bodyPr/>
                    <a:lstStyle/>
                    <a:p>
                      <a:r>
                        <a:rPr lang="en-IN" sz="1800" dirty="0"/>
                        <a:t>b</a:t>
                      </a:r>
                    </a:p>
                  </a:txBody>
                  <a:tcPr marT="45700" marB="45700"/>
                </a:tc>
                <a:tc>
                  <a:txBody>
                    <a:bodyPr/>
                    <a:lstStyle/>
                    <a:p>
                      <a:r>
                        <a:rPr lang="en-IN" sz="1800" dirty="0"/>
                        <a:t>a</a:t>
                      </a:r>
                    </a:p>
                  </a:txBody>
                  <a:tcPr marT="45700" marB="45700"/>
                </a:tc>
                <a:tc>
                  <a:txBody>
                    <a:bodyPr/>
                    <a:lstStyle/>
                    <a:p>
                      <a:r>
                        <a:rPr lang="en-IN" sz="1800" dirty="0"/>
                        <a:t>b </a:t>
                      </a:r>
                    </a:p>
                  </a:txBody>
                  <a:tcPr marT="45700" marB="45700"/>
                </a:tc>
                <a:tc>
                  <a:txBody>
                    <a:bodyPr/>
                    <a:lstStyle/>
                    <a:p>
                      <a:r>
                        <a:rPr lang="en-IN" sz="1800" dirty="0"/>
                        <a:t>d</a:t>
                      </a:r>
                    </a:p>
                  </a:txBody>
                  <a:tcPr marT="45700" marB="45700"/>
                </a:tc>
                <a:extLst>
                  <a:ext uri="{0D108BD9-81ED-4DB2-BD59-A6C34878D82A}">
                    <a16:rowId xmlns:a16="http://schemas.microsoft.com/office/drawing/2014/main" val="10000"/>
                  </a:ext>
                </a:extLst>
              </a:tr>
              <a:tr h="370682">
                <a:tc>
                  <a:txBody>
                    <a:bodyPr/>
                    <a:lstStyle/>
                    <a:p>
                      <a:r>
                        <a:rPr lang="en-IN" sz="1800" dirty="0"/>
                        <a:t>0</a:t>
                      </a:r>
                    </a:p>
                  </a:txBody>
                  <a:tcPr marT="45700" marB="45700"/>
                </a:tc>
                <a:tc>
                  <a:txBody>
                    <a:bodyPr/>
                    <a:lstStyle/>
                    <a:p>
                      <a:r>
                        <a:rPr lang="en-IN" sz="1800" dirty="0"/>
                        <a:t>0</a:t>
                      </a:r>
                    </a:p>
                  </a:txBody>
                  <a:tcPr marT="45700" marB="45700"/>
                </a:tc>
                <a:tc>
                  <a:txBody>
                    <a:bodyPr/>
                    <a:lstStyle/>
                    <a:p>
                      <a:r>
                        <a:rPr lang="en-IN" sz="1800" dirty="0"/>
                        <a:t>1</a:t>
                      </a:r>
                    </a:p>
                  </a:txBody>
                  <a:tcPr marT="45700" marB="45700"/>
                </a:tc>
                <a:tc>
                  <a:txBody>
                    <a:bodyPr/>
                    <a:lstStyle/>
                    <a:p>
                      <a:r>
                        <a:rPr lang="en-IN" sz="1800" dirty="0"/>
                        <a:t>2</a:t>
                      </a:r>
                    </a:p>
                  </a:txBody>
                  <a:tcPr marT="45700" marB="45700"/>
                </a:tc>
                <a:tc>
                  <a:txBody>
                    <a:bodyPr/>
                    <a:lstStyle/>
                    <a:p>
                      <a:r>
                        <a:rPr lang="en-IN" sz="1800" dirty="0"/>
                        <a:t>0</a:t>
                      </a:r>
                    </a:p>
                  </a:txBody>
                  <a:tcPr marT="45700" marB="45700"/>
                </a:tc>
                <a:extLst>
                  <a:ext uri="{0D108BD9-81ED-4DB2-BD59-A6C34878D82A}">
                    <a16:rowId xmlns:a16="http://schemas.microsoft.com/office/drawing/2014/main" val="10001"/>
                  </a:ext>
                </a:extLst>
              </a:tr>
            </a:tbl>
          </a:graphicData>
        </a:graphic>
      </p:graphicFrame>
      <p:sp>
        <p:nvSpPr>
          <p:cNvPr id="12312" name="TextBox 5"/>
          <p:cNvSpPr txBox="1">
            <a:spLocks noChangeArrowheads="1"/>
          </p:cNvSpPr>
          <p:nvPr/>
        </p:nvSpPr>
        <p:spPr bwMode="auto">
          <a:xfrm>
            <a:off x="3720230" y="2922588"/>
            <a:ext cx="22836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solidFill>
                  <a:srgbClr val="FF0000"/>
                </a:solidFill>
                <a:latin typeface="Calibri" panose="020F0502020204030204" pitchFamily="34" charset="0"/>
              </a:rPr>
              <a:t>0   1    2   3   4   5</a:t>
            </a:r>
            <a:endParaRPr lang="en-IN" altLang="en-US" dirty="0"/>
          </a:p>
        </p:txBody>
      </p:sp>
      <p:sp>
        <p:nvSpPr>
          <p:cNvPr id="5" name="Arrow: Down 4"/>
          <p:cNvSpPr/>
          <p:nvPr/>
        </p:nvSpPr>
        <p:spPr>
          <a:xfrm>
            <a:off x="4452699" y="2646560"/>
            <a:ext cx="44450"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2">
                    <a:lumMod val="75000"/>
                  </a:schemeClr>
                </a:solidFill>
              </a:rPr>
              <a:t>j</a:t>
            </a:r>
          </a:p>
          <a:p>
            <a:pPr algn="ctr">
              <a:defRPr/>
            </a:pPr>
            <a:endParaRPr lang="en-IN" dirty="0">
              <a:solidFill>
                <a:schemeClr val="tx2">
                  <a:lumMod val="75000"/>
                </a:schemeClr>
              </a:solidFill>
            </a:endParaRPr>
          </a:p>
          <a:p>
            <a:pPr algn="ctr">
              <a:defRPr/>
            </a:pPr>
            <a:endParaRPr lang="en-IN" dirty="0">
              <a:solidFill>
                <a:schemeClr val="tx2">
                  <a:lumMod val="75000"/>
                </a:schemeClr>
              </a:solidFill>
            </a:endParaRPr>
          </a:p>
        </p:txBody>
      </p:sp>
      <p:sp>
        <p:nvSpPr>
          <p:cNvPr id="10" name="Arrow: Down 9"/>
          <p:cNvSpPr/>
          <p:nvPr/>
        </p:nvSpPr>
        <p:spPr>
          <a:xfrm>
            <a:off x="3821277" y="1212850"/>
            <a:ext cx="46037"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err="1">
                <a:solidFill>
                  <a:schemeClr val="tx2">
                    <a:lumMod val="75000"/>
                  </a:schemeClr>
                </a:solidFill>
              </a:rPr>
              <a:t>i</a:t>
            </a:r>
            <a:endParaRPr lang="en-IN" dirty="0">
              <a:solidFill>
                <a:schemeClr val="tx2">
                  <a:lumMod val="75000"/>
                </a:schemeClr>
              </a:solidFill>
            </a:endParaRPr>
          </a:p>
          <a:p>
            <a:pPr algn="ctr">
              <a:defRPr/>
            </a:pPr>
            <a:endParaRPr lang="en-IN" dirty="0">
              <a:solidFill>
                <a:schemeClr val="tx2">
                  <a:lumMod val="75000"/>
                </a:schemeClr>
              </a:solidFill>
            </a:endParaRPr>
          </a:p>
          <a:p>
            <a:pPr algn="ctr">
              <a:defRPr/>
            </a:pPr>
            <a:endParaRPr lang="en-IN" dirty="0">
              <a:solidFill>
                <a:schemeClr val="tx2">
                  <a:lumMod val="75000"/>
                </a:schemeClr>
              </a:solidFill>
            </a:endParaRPr>
          </a:p>
        </p:txBody>
      </p:sp>
      <p:sp>
        <p:nvSpPr>
          <p:cNvPr id="12317" name="TextBox 14"/>
          <p:cNvSpPr txBox="1">
            <a:spLocks noChangeArrowheads="1"/>
          </p:cNvSpPr>
          <p:nvPr/>
        </p:nvSpPr>
        <p:spPr bwMode="auto">
          <a:xfrm>
            <a:off x="2522538" y="3226954"/>
            <a:ext cx="457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t>Pattern</a:t>
            </a:r>
            <a:endParaRPr lang="en-IN" altLang="en-US" dirty="0"/>
          </a:p>
        </p:txBody>
      </p:sp>
      <p:sp>
        <p:nvSpPr>
          <p:cNvPr id="12318" name="TextBox 15"/>
          <p:cNvSpPr txBox="1">
            <a:spLocks noChangeArrowheads="1"/>
          </p:cNvSpPr>
          <p:nvPr/>
        </p:nvSpPr>
        <p:spPr bwMode="auto">
          <a:xfrm>
            <a:off x="465812" y="1441450"/>
            <a:ext cx="1416334"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t>Pattern -&gt;</a:t>
            </a:r>
            <a:endParaRPr lang="en-IN" altLang="en-US" dirty="0"/>
          </a:p>
        </p:txBody>
      </p:sp>
      <p:sp>
        <p:nvSpPr>
          <p:cNvPr id="12319" name="TextBox 16"/>
          <p:cNvSpPr txBox="1">
            <a:spLocks noChangeArrowheads="1"/>
          </p:cNvSpPr>
          <p:nvPr/>
        </p:nvSpPr>
        <p:spPr bwMode="auto">
          <a:xfrm>
            <a:off x="1882146" y="2858654"/>
            <a:ext cx="1962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solidFill>
                  <a:srgbClr val="FF0000"/>
                </a:solidFill>
                <a:latin typeface="Calibri" panose="020F0502020204030204" pitchFamily="34" charset="0"/>
              </a:rPr>
              <a:t>‘j’ – P [index] -&gt;</a:t>
            </a:r>
            <a:endParaRPr lang="en-IN" altLang="en-US" dirty="0"/>
          </a:p>
        </p:txBody>
      </p:sp>
      <p:sp>
        <p:nvSpPr>
          <p:cNvPr id="12320" name="TextBox 17"/>
          <p:cNvSpPr txBox="1">
            <a:spLocks noChangeArrowheads="1"/>
          </p:cNvSpPr>
          <p:nvPr/>
        </p:nvSpPr>
        <p:spPr bwMode="auto">
          <a:xfrm>
            <a:off x="465812" y="1807816"/>
            <a:ext cx="1905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solidFill>
                  <a:srgbClr val="FF0000"/>
                </a:solidFill>
                <a:latin typeface="Calibri" panose="020F0502020204030204" pitchFamily="34" charset="0"/>
              </a:rPr>
              <a:t>‘i’ - T [index] -&gt;</a:t>
            </a:r>
            <a:endParaRPr lang="en-IN" altLang="en-US" dirty="0"/>
          </a:p>
        </p:txBody>
      </p:sp>
      <p:sp>
        <p:nvSpPr>
          <p:cNvPr id="16" name="Footer Placeholder 1"/>
          <p:cNvSpPr>
            <a:spLocks noGrp="1"/>
          </p:cNvSpPr>
          <p:nvPr>
            <p:ph type="ftr" sz="quarter" idx="11"/>
          </p:nvPr>
        </p:nvSpPr>
        <p:spPr>
          <a:xfrm>
            <a:off x="847898" y="6356350"/>
            <a:ext cx="9144000" cy="365125"/>
          </a:xfrm>
        </p:spPr>
        <p:txBody>
          <a:bodyPr/>
          <a:lstStyle/>
          <a:p>
            <a:r>
              <a:rPr lang="en-AU" dirty="0">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40</a:t>
            </a:fld>
            <a:endParaRPr lang="en-AU"/>
          </a:p>
        </p:txBody>
      </p:sp>
      <mc:AlternateContent xmlns:mc="http://schemas.openxmlformats.org/markup-compatibility/2006" xmlns:a14="http://schemas.microsoft.com/office/drawing/2010/main">
        <mc:Choice Requires="a14">
          <p:sp>
            <p:nvSpPr>
              <p:cNvPr id="17" name="TextBox 16"/>
              <p:cNvSpPr txBox="1"/>
              <p:nvPr/>
            </p:nvSpPr>
            <p:spPr>
              <a:xfrm>
                <a:off x="2545503" y="3412856"/>
                <a:ext cx="635435" cy="553998"/>
              </a:xfrm>
              <a:prstGeom prst="rect">
                <a:avLst/>
              </a:prstGeom>
              <a:noFill/>
            </p:spPr>
            <p:txBody>
              <a:bodyPr wrap="square" rtlCol="0">
                <a:spAutoFit/>
              </a:bodyPr>
              <a:lstStyle/>
              <a:p>
                <a:pPr/>
                <a14:m>
                  <m:oMathPara xmlns:m="http://schemas.openxmlformats.org/officeDocument/2006/math">
                    <m:oMath>
                      <m:r>
                        <a:rPr lang="el-GR" sz="3000" i="1" smtClean="0">
                          <a:latin typeface="Cambria Math"/>
                        </a:rPr>
                        <m:t>ᴨ</m:t>
                      </m:r>
                    </m:oMath>
                  </m:oMathPara>
                </a14:m>
                <a:endParaRPr lang="en-IN" sz="3000" dirty="0"/>
              </a:p>
            </p:txBody>
          </p:sp>
        </mc:Choice>
        <mc:Fallback xmlns="">
          <p:sp>
            <p:nvSpPr>
              <p:cNvPr id="17" name="TextBox 16"/>
              <p:cNvSpPr txBox="1">
                <a:spLocks noRot="1" noChangeAspect="1" noMove="1" noResize="1" noEditPoints="1" noAdjustHandles="1" noChangeArrowheads="1" noChangeShapeType="1" noTextEdit="1"/>
              </p:cNvSpPr>
              <p:nvPr/>
            </p:nvSpPr>
            <p:spPr>
              <a:xfrm>
                <a:off x="2545503" y="3412856"/>
                <a:ext cx="635435" cy="553998"/>
              </a:xfrm>
              <a:prstGeom prst="rect">
                <a:avLst/>
              </a:prstGeom>
              <a:blipFill rotWithShape="1">
                <a:blip r:embed="rId3"/>
                <a:stretch>
                  <a:fillRect/>
                </a:stretch>
              </a:blipFill>
            </p:spPr>
            <p:txBody>
              <a:bodyPr/>
              <a:lstStyle/>
              <a:p>
                <a:r>
                  <a:rPr lang="en-IN">
                    <a:noFill/>
                  </a:rPr>
                  <a:t> </a:t>
                </a:r>
              </a:p>
            </p:txBody>
          </p:sp>
        </mc:Fallback>
      </mc:AlternateContent>
      <p:sp>
        <p:nvSpPr>
          <p:cNvPr id="18" name="TextBox 17"/>
          <p:cNvSpPr txBox="1"/>
          <p:nvPr/>
        </p:nvSpPr>
        <p:spPr>
          <a:xfrm>
            <a:off x="5891188" y="2693988"/>
            <a:ext cx="5783069" cy="2308324"/>
          </a:xfrm>
          <a:prstGeom prst="rect">
            <a:avLst/>
          </a:prstGeom>
          <a:noFill/>
        </p:spPr>
        <p:txBody>
          <a:bodyPr wrap="square">
            <a:spAutoFit/>
          </a:bodyPr>
          <a:lstStyle/>
          <a:p>
            <a:pPr>
              <a:defRPr/>
            </a:pPr>
            <a:r>
              <a:rPr lang="en-US" altLang="en-US" sz="2400" dirty="0">
                <a:ea typeface="ＭＳ Ｐゴシック" panose="020B0600070205080204" pitchFamily="34" charset="-128"/>
              </a:rPr>
              <a:t>Now, Compare, Text[i] with the Pattern[j].</a:t>
            </a:r>
          </a:p>
          <a:p>
            <a:pPr>
              <a:defRPr/>
            </a:pPr>
            <a:endParaRPr lang="en-US" altLang="en-US" sz="2400" dirty="0">
              <a:ea typeface="ＭＳ Ｐゴシック" panose="020B0600070205080204" pitchFamily="34" charset="-128"/>
            </a:endParaRPr>
          </a:p>
          <a:p>
            <a:pPr>
              <a:defRPr/>
            </a:pPr>
            <a:r>
              <a:rPr lang="en-US" altLang="en-US" sz="2400" dirty="0">
                <a:solidFill>
                  <a:schemeClr val="accent2">
                    <a:lumMod val="75000"/>
                  </a:schemeClr>
                </a:solidFill>
                <a:ea typeface="ＭＳ Ｐゴシック" panose="020B0600070205080204" pitchFamily="34" charset="-128"/>
              </a:rPr>
              <a:t>If Matched, Increment both ‘j’ &amp; ‘</a:t>
            </a:r>
            <a:r>
              <a:rPr lang="en-US" altLang="en-US" sz="2400" dirty="0" err="1">
                <a:solidFill>
                  <a:schemeClr val="accent2">
                    <a:lumMod val="75000"/>
                  </a:schemeClr>
                </a:solidFill>
                <a:ea typeface="ＭＳ Ｐゴシック" panose="020B0600070205080204" pitchFamily="34" charset="-128"/>
              </a:rPr>
              <a:t>i</a:t>
            </a:r>
            <a:r>
              <a:rPr lang="en-US" altLang="en-US" sz="2400" dirty="0">
                <a:solidFill>
                  <a:schemeClr val="accent2">
                    <a:lumMod val="75000"/>
                  </a:schemeClr>
                </a:solidFill>
                <a:ea typeface="ＭＳ Ｐゴシック" panose="020B0600070205080204" pitchFamily="34" charset="-128"/>
              </a:rPr>
              <a:t>’ by 1.</a:t>
            </a:r>
          </a:p>
          <a:p>
            <a:pPr>
              <a:defRPr/>
            </a:pPr>
            <a:endParaRPr lang="en-US" altLang="en-US" sz="2400" dirty="0">
              <a:ea typeface="ＭＳ Ｐゴシック" panose="020B0600070205080204" pitchFamily="34" charset="-128"/>
            </a:endParaRPr>
          </a:p>
          <a:p>
            <a:pPr>
              <a:defRPr/>
            </a:pPr>
            <a:r>
              <a:rPr lang="en-US" altLang="en-US" sz="2400" dirty="0">
                <a:ea typeface="ＭＳ Ｐゴシック" panose="020B0600070205080204" pitchFamily="34" charset="-128"/>
              </a:rPr>
              <a:t>Else if not matched, move the ‘j’ to the index numbered by  LPS[j]</a:t>
            </a:r>
          </a:p>
        </p:txBody>
      </p:sp>
    </p:spTree>
    <p:extLst>
      <p:ext uri="{BB962C8B-B14F-4D97-AF65-F5344CB8AC3E}">
        <p14:creationId xmlns:p14="http://schemas.microsoft.com/office/powerpoint/2010/main" val="9170173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2979738" y="-6350"/>
            <a:ext cx="8229600" cy="639763"/>
          </a:xfrm>
        </p:spPr>
        <p:txBody>
          <a:bodyPr/>
          <a:lstStyle/>
          <a:p>
            <a:r>
              <a:rPr lang="en-US" altLang="en-US" b="1" dirty="0">
                <a:solidFill>
                  <a:srgbClr val="1E03BD"/>
                </a:solidFill>
              </a:rPr>
              <a:t>How KMP Algorithm works</a:t>
            </a:r>
          </a:p>
        </p:txBody>
      </p:sp>
      <p:sp>
        <p:nvSpPr>
          <p:cNvPr id="6147" name="Rectangle 3"/>
          <p:cNvSpPr>
            <a:spLocks noGrp="1"/>
          </p:cNvSpPr>
          <p:nvPr>
            <p:ph type="body" idx="1"/>
          </p:nvPr>
        </p:nvSpPr>
        <p:spPr>
          <a:xfrm>
            <a:off x="2026910" y="1441450"/>
            <a:ext cx="8229600" cy="4754563"/>
          </a:xfrm>
        </p:spPr>
        <p:txBody>
          <a:bodyPr/>
          <a:lstStyle/>
          <a:p>
            <a:pPr marL="0" indent="0" algn="just">
              <a:spcBef>
                <a:spcPts val="0"/>
              </a:spcBef>
              <a:buNone/>
              <a:defRPr/>
            </a:pPr>
            <a:r>
              <a:rPr lang="en-US" altLang="en-US" dirty="0">
                <a:ea typeface="ＭＳ Ｐゴシック" panose="020B0600070205080204" pitchFamily="34" charset="-128"/>
              </a:rPr>
              <a:t>    Text:  a b a b c a b c a b  a  b  a   b  d</a:t>
            </a:r>
          </a:p>
          <a:p>
            <a:pPr marL="0" indent="0" algn="just">
              <a:spcBef>
                <a:spcPts val="0"/>
              </a:spcBef>
              <a:buNone/>
              <a:defRPr/>
            </a:pPr>
            <a:r>
              <a:rPr lang="en-US" altLang="en-US" dirty="0">
                <a:solidFill>
                  <a:srgbClr val="FF0000"/>
                </a:solidFill>
                <a:ea typeface="ＭＳ Ｐゴシック" panose="020B0600070205080204" pitchFamily="34" charset="-128"/>
              </a:rPr>
              <a:t>	    </a:t>
            </a:r>
            <a:r>
              <a:rPr lang="en-US" altLang="en-US" sz="2000" dirty="0">
                <a:solidFill>
                  <a:srgbClr val="FF0000"/>
                </a:solidFill>
                <a:ea typeface="ＭＳ Ｐゴシック" panose="020B0600070205080204" pitchFamily="34" charset="-128"/>
              </a:rPr>
              <a:t>0  1  2  3   4  5  6  7  8  9  10  11   12   13  14  		</a:t>
            </a:r>
            <a:endParaRPr lang="en-US" altLang="en-US" sz="2000" dirty="0">
              <a:ea typeface="ＭＳ Ｐゴシック" panose="020B0600070205080204" pitchFamily="34" charset="-128"/>
            </a:endParaRPr>
          </a:p>
        </p:txBody>
      </p:sp>
      <p:graphicFrame>
        <p:nvGraphicFramePr>
          <p:cNvPr id="2" name="Table 2"/>
          <p:cNvGraphicFramePr>
            <a:graphicFrameLocks noGrp="1"/>
          </p:cNvGraphicFramePr>
          <p:nvPr/>
        </p:nvGraphicFramePr>
        <p:xfrm>
          <a:off x="3733800" y="3200400"/>
          <a:ext cx="1600200" cy="741364"/>
        </p:xfrm>
        <a:graphic>
          <a:graphicData uri="http://schemas.openxmlformats.org/drawingml/2006/table">
            <a:tbl>
              <a:tblPr firstRow="1" bandRow="1">
                <a:tableStyleId>{5C22544A-7EE6-4342-B048-85BDC9FD1C3A}</a:tableStyleId>
              </a:tblPr>
              <a:tblGrid>
                <a:gridCol w="320040">
                  <a:extLst>
                    <a:ext uri="{9D8B030D-6E8A-4147-A177-3AD203B41FA5}">
                      <a16:colId xmlns:a16="http://schemas.microsoft.com/office/drawing/2014/main" val="20000"/>
                    </a:ext>
                  </a:extLst>
                </a:gridCol>
                <a:gridCol w="320040">
                  <a:extLst>
                    <a:ext uri="{9D8B030D-6E8A-4147-A177-3AD203B41FA5}">
                      <a16:colId xmlns:a16="http://schemas.microsoft.com/office/drawing/2014/main" val="20001"/>
                    </a:ext>
                  </a:extLst>
                </a:gridCol>
                <a:gridCol w="320040">
                  <a:extLst>
                    <a:ext uri="{9D8B030D-6E8A-4147-A177-3AD203B41FA5}">
                      <a16:colId xmlns:a16="http://schemas.microsoft.com/office/drawing/2014/main" val="20002"/>
                    </a:ext>
                  </a:extLst>
                </a:gridCol>
                <a:gridCol w="320040">
                  <a:extLst>
                    <a:ext uri="{9D8B030D-6E8A-4147-A177-3AD203B41FA5}">
                      <a16:colId xmlns:a16="http://schemas.microsoft.com/office/drawing/2014/main" val="20003"/>
                    </a:ext>
                  </a:extLst>
                </a:gridCol>
                <a:gridCol w="320040">
                  <a:extLst>
                    <a:ext uri="{9D8B030D-6E8A-4147-A177-3AD203B41FA5}">
                      <a16:colId xmlns:a16="http://schemas.microsoft.com/office/drawing/2014/main" val="20004"/>
                    </a:ext>
                  </a:extLst>
                </a:gridCol>
              </a:tblGrid>
              <a:tr h="370682">
                <a:tc>
                  <a:txBody>
                    <a:bodyPr/>
                    <a:lstStyle/>
                    <a:p>
                      <a:r>
                        <a:rPr lang="en-IN" sz="1800" dirty="0"/>
                        <a:t>a</a:t>
                      </a:r>
                    </a:p>
                  </a:txBody>
                  <a:tcPr marT="45700" marB="45700"/>
                </a:tc>
                <a:tc>
                  <a:txBody>
                    <a:bodyPr/>
                    <a:lstStyle/>
                    <a:p>
                      <a:r>
                        <a:rPr lang="en-IN" sz="1800" dirty="0"/>
                        <a:t>b</a:t>
                      </a:r>
                    </a:p>
                  </a:txBody>
                  <a:tcPr marT="45700" marB="45700"/>
                </a:tc>
                <a:tc>
                  <a:txBody>
                    <a:bodyPr/>
                    <a:lstStyle/>
                    <a:p>
                      <a:r>
                        <a:rPr lang="en-IN" sz="1800" dirty="0"/>
                        <a:t>a</a:t>
                      </a:r>
                    </a:p>
                  </a:txBody>
                  <a:tcPr marT="45700" marB="45700"/>
                </a:tc>
                <a:tc>
                  <a:txBody>
                    <a:bodyPr/>
                    <a:lstStyle/>
                    <a:p>
                      <a:r>
                        <a:rPr lang="en-IN" sz="1800" dirty="0"/>
                        <a:t>b </a:t>
                      </a:r>
                    </a:p>
                  </a:txBody>
                  <a:tcPr marT="45700" marB="45700"/>
                </a:tc>
                <a:tc>
                  <a:txBody>
                    <a:bodyPr/>
                    <a:lstStyle/>
                    <a:p>
                      <a:r>
                        <a:rPr lang="en-IN" sz="1800" dirty="0"/>
                        <a:t>d</a:t>
                      </a:r>
                    </a:p>
                  </a:txBody>
                  <a:tcPr marT="45700" marB="45700"/>
                </a:tc>
                <a:extLst>
                  <a:ext uri="{0D108BD9-81ED-4DB2-BD59-A6C34878D82A}">
                    <a16:rowId xmlns:a16="http://schemas.microsoft.com/office/drawing/2014/main" val="10000"/>
                  </a:ext>
                </a:extLst>
              </a:tr>
              <a:tr h="370682">
                <a:tc>
                  <a:txBody>
                    <a:bodyPr/>
                    <a:lstStyle/>
                    <a:p>
                      <a:r>
                        <a:rPr lang="en-IN" sz="1800" dirty="0"/>
                        <a:t>0</a:t>
                      </a:r>
                    </a:p>
                  </a:txBody>
                  <a:tcPr marT="45700" marB="45700"/>
                </a:tc>
                <a:tc>
                  <a:txBody>
                    <a:bodyPr/>
                    <a:lstStyle/>
                    <a:p>
                      <a:r>
                        <a:rPr lang="en-IN" sz="1800" dirty="0"/>
                        <a:t>0</a:t>
                      </a:r>
                    </a:p>
                  </a:txBody>
                  <a:tcPr marT="45700" marB="45700"/>
                </a:tc>
                <a:tc>
                  <a:txBody>
                    <a:bodyPr/>
                    <a:lstStyle/>
                    <a:p>
                      <a:r>
                        <a:rPr lang="en-IN" sz="1800" dirty="0"/>
                        <a:t>1</a:t>
                      </a:r>
                    </a:p>
                  </a:txBody>
                  <a:tcPr marT="45700" marB="45700"/>
                </a:tc>
                <a:tc>
                  <a:txBody>
                    <a:bodyPr/>
                    <a:lstStyle/>
                    <a:p>
                      <a:r>
                        <a:rPr lang="en-IN" sz="1800" dirty="0"/>
                        <a:t>2</a:t>
                      </a:r>
                    </a:p>
                  </a:txBody>
                  <a:tcPr marT="45700" marB="45700"/>
                </a:tc>
                <a:tc>
                  <a:txBody>
                    <a:bodyPr/>
                    <a:lstStyle/>
                    <a:p>
                      <a:r>
                        <a:rPr lang="en-IN" sz="1800" dirty="0"/>
                        <a:t>0</a:t>
                      </a:r>
                    </a:p>
                  </a:txBody>
                  <a:tcPr marT="45700" marB="45700"/>
                </a:tc>
                <a:extLst>
                  <a:ext uri="{0D108BD9-81ED-4DB2-BD59-A6C34878D82A}">
                    <a16:rowId xmlns:a16="http://schemas.microsoft.com/office/drawing/2014/main" val="10001"/>
                  </a:ext>
                </a:extLst>
              </a:tr>
            </a:tbl>
          </a:graphicData>
        </a:graphic>
      </p:graphicFrame>
      <p:sp>
        <p:nvSpPr>
          <p:cNvPr id="12312" name="TextBox 5"/>
          <p:cNvSpPr txBox="1">
            <a:spLocks noChangeArrowheads="1"/>
          </p:cNvSpPr>
          <p:nvPr/>
        </p:nvSpPr>
        <p:spPr bwMode="auto">
          <a:xfrm>
            <a:off x="3720230" y="2922588"/>
            <a:ext cx="22836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solidFill>
                  <a:srgbClr val="FF0000"/>
                </a:solidFill>
                <a:latin typeface="Calibri" panose="020F0502020204030204" pitchFamily="34" charset="0"/>
              </a:rPr>
              <a:t>0   1    2   3   4   5</a:t>
            </a:r>
            <a:endParaRPr lang="en-IN" altLang="en-US" dirty="0"/>
          </a:p>
        </p:txBody>
      </p:sp>
      <p:sp>
        <p:nvSpPr>
          <p:cNvPr id="5" name="Arrow: Down 4"/>
          <p:cNvSpPr/>
          <p:nvPr/>
        </p:nvSpPr>
        <p:spPr>
          <a:xfrm>
            <a:off x="4764088" y="2646560"/>
            <a:ext cx="44450"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2">
                    <a:lumMod val="75000"/>
                  </a:schemeClr>
                </a:solidFill>
              </a:rPr>
              <a:t>j</a:t>
            </a:r>
          </a:p>
          <a:p>
            <a:pPr algn="ctr">
              <a:defRPr/>
            </a:pPr>
            <a:endParaRPr lang="en-IN" dirty="0">
              <a:solidFill>
                <a:schemeClr val="tx2">
                  <a:lumMod val="75000"/>
                </a:schemeClr>
              </a:solidFill>
            </a:endParaRPr>
          </a:p>
          <a:p>
            <a:pPr algn="ctr">
              <a:defRPr/>
            </a:pPr>
            <a:endParaRPr lang="en-IN" dirty="0">
              <a:solidFill>
                <a:schemeClr val="tx2">
                  <a:lumMod val="75000"/>
                </a:schemeClr>
              </a:solidFill>
            </a:endParaRPr>
          </a:p>
        </p:txBody>
      </p:sp>
      <p:sp>
        <p:nvSpPr>
          <p:cNvPr id="10" name="Arrow: Down 9"/>
          <p:cNvSpPr/>
          <p:nvPr/>
        </p:nvSpPr>
        <p:spPr>
          <a:xfrm>
            <a:off x="4084324" y="1262345"/>
            <a:ext cx="46037"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err="1">
                <a:solidFill>
                  <a:schemeClr val="tx2">
                    <a:lumMod val="75000"/>
                  </a:schemeClr>
                </a:solidFill>
              </a:rPr>
              <a:t>i</a:t>
            </a:r>
            <a:endParaRPr lang="en-IN" dirty="0">
              <a:solidFill>
                <a:schemeClr val="tx2">
                  <a:lumMod val="75000"/>
                </a:schemeClr>
              </a:solidFill>
            </a:endParaRPr>
          </a:p>
          <a:p>
            <a:pPr algn="ctr">
              <a:defRPr/>
            </a:pPr>
            <a:endParaRPr lang="en-IN" dirty="0">
              <a:solidFill>
                <a:schemeClr val="tx2">
                  <a:lumMod val="75000"/>
                </a:schemeClr>
              </a:solidFill>
            </a:endParaRPr>
          </a:p>
          <a:p>
            <a:pPr algn="ctr">
              <a:defRPr/>
            </a:pPr>
            <a:endParaRPr lang="en-IN" dirty="0">
              <a:solidFill>
                <a:schemeClr val="tx2">
                  <a:lumMod val="75000"/>
                </a:schemeClr>
              </a:solidFill>
            </a:endParaRPr>
          </a:p>
        </p:txBody>
      </p:sp>
      <p:sp>
        <p:nvSpPr>
          <p:cNvPr id="12317" name="TextBox 14"/>
          <p:cNvSpPr txBox="1">
            <a:spLocks noChangeArrowheads="1"/>
          </p:cNvSpPr>
          <p:nvPr/>
        </p:nvSpPr>
        <p:spPr bwMode="auto">
          <a:xfrm>
            <a:off x="2522538" y="3226954"/>
            <a:ext cx="457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t>Pattern</a:t>
            </a:r>
            <a:endParaRPr lang="en-IN" altLang="en-US" dirty="0"/>
          </a:p>
        </p:txBody>
      </p:sp>
      <p:sp>
        <p:nvSpPr>
          <p:cNvPr id="12318" name="TextBox 15"/>
          <p:cNvSpPr txBox="1">
            <a:spLocks noChangeArrowheads="1"/>
          </p:cNvSpPr>
          <p:nvPr/>
        </p:nvSpPr>
        <p:spPr bwMode="auto">
          <a:xfrm>
            <a:off x="465812" y="1441450"/>
            <a:ext cx="1416334"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t>Pattern -&gt;</a:t>
            </a:r>
            <a:endParaRPr lang="en-IN" altLang="en-US" dirty="0"/>
          </a:p>
        </p:txBody>
      </p:sp>
      <p:sp>
        <p:nvSpPr>
          <p:cNvPr id="12319" name="TextBox 16"/>
          <p:cNvSpPr txBox="1">
            <a:spLocks noChangeArrowheads="1"/>
          </p:cNvSpPr>
          <p:nvPr/>
        </p:nvSpPr>
        <p:spPr bwMode="auto">
          <a:xfrm>
            <a:off x="1882146" y="2858654"/>
            <a:ext cx="1962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solidFill>
                  <a:srgbClr val="FF0000"/>
                </a:solidFill>
                <a:latin typeface="Calibri" panose="020F0502020204030204" pitchFamily="34" charset="0"/>
              </a:rPr>
              <a:t>‘j’ – P [index] -&gt;</a:t>
            </a:r>
            <a:endParaRPr lang="en-IN" altLang="en-US" dirty="0"/>
          </a:p>
        </p:txBody>
      </p:sp>
      <p:sp>
        <p:nvSpPr>
          <p:cNvPr id="12320" name="TextBox 17"/>
          <p:cNvSpPr txBox="1">
            <a:spLocks noChangeArrowheads="1"/>
          </p:cNvSpPr>
          <p:nvPr/>
        </p:nvSpPr>
        <p:spPr bwMode="auto">
          <a:xfrm>
            <a:off x="465812" y="1807816"/>
            <a:ext cx="1905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solidFill>
                  <a:srgbClr val="FF0000"/>
                </a:solidFill>
                <a:latin typeface="Calibri" panose="020F0502020204030204" pitchFamily="34" charset="0"/>
              </a:rPr>
              <a:t>‘i’ - T [index] -&gt;</a:t>
            </a:r>
            <a:endParaRPr lang="en-IN" altLang="en-US" dirty="0"/>
          </a:p>
        </p:txBody>
      </p:sp>
      <p:sp>
        <p:nvSpPr>
          <p:cNvPr id="16" name="Footer Placeholder 1"/>
          <p:cNvSpPr>
            <a:spLocks noGrp="1"/>
          </p:cNvSpPr>
          <p:nvPr>
            <p:ph type="ftr" sz="quarter" idx="11"/>
          </p:nvPr>
        </p:nvSpPr>
        <p:spPr>
          <a:xfrm>
            <a:off x="847898" y="6356350"/>
            <a:ext cx="9144000" cy="365125"/>
          </a:xfrm>
        </p:spPr>
        <p:txBody>
          <a:bodyPr/>
          <a:lstStyle/>
          <a:p>
            <a:r>
              <a:rPr lang="en-AU" dirty="0">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41</a:t>
            </a:fld>
            <a:endParaRPr lang="en-AU"/>
          </a:p>
        </p:txBody>
      </p:sp>
      <mc:AlternateContent xmlns:mc="http://schemas.openxmlformats.org/markup-compatibility/2006" xmlns:a14="http://schemas.microsoft.com/office/drawing/2010/main">
        <mc:Choice Requires="a14">
          <p:sp>
            <p:nvSpPr>
              <p:cNvPr id="17" name="TextBox 16"/>
              <p:cNvSpPr txBox="1"/>
              <p:nvPr/>
            </p:nvSpPr>
            <p:spPr>
              <a:xfrm>
                <a:off x="2545503" y="3412856"/>
                <a:ext cx="635435" cy="553998"/>
              </a:xfrm>
              <a:prstGeom prst="rect">
                <a:avLst/>
              </a:prstGeom>
              <a:noFill/>
            </p:spPr>
            <p:txBody>
              <a:bodyPr wrap="square" rtlCol="0">
                <a:spAutoFit/>
              </a:bodyPr>
              <a:lstStyle/>
              <a:p>
                <a:pPr/>
                <a14:m>
                  <m:oMathPara xmlns:m="http://schemas.openxmlformats.org/officeDocument/2006/math">
                    <m:oMath>
                      <m:r>
                        <a:rPr lang="el-GR" sz="3000" i="1" smtClean="0">
                          <a:latin typeface="Cambria Math"/>
                        </a:rPr>
                        <m:t>ᴨ</m:t>
                      </m:r>
                    </m:oMath>
                  </m:oMathPara>
                </a14:m>
                <a:endParaRPr lang="en-IN" sz="3000" dirty="0"/>
              </a:p>
            </p:txBody>
          </p:sp>
        </mc:Choice>
        <mc:Fallback xmlns="">
          <p:sp>
            <p:nvSpPr>
              <p:cNvPr id="17" name="TextBox 16"/>
              <p:cNvSpPr txBox="1">
                <a:spLocks noRot="1" noChangeAspect="1" noMove="1" noResize="1" noEditPoints="1" noAdjustHandles="1" noChangeArrowheads="1" noChangeShapeType="1" noTextEdit="1"/>
              </p:cNvSpPr>
              <p:nvPr/>
            </p:nvSpPr>
            <p:spPr>
              <a:xfrm>
                <a:off x="2545503" y="3412856"/>
                <a:ext cx="635435" cy="553998"/>
              </a:xfrm>
              <a:prstGeom prst="rect">
                <a:avLst/>
              </a:prstGeom>
              <a:blipFill rotWithShape="1">
                <a:blip r:embed="rId3"/>
                <a:stretch>
                  <a:fillRect/>
                </a:stretch>
              </a:blipFill>
            </p:spPr>
            <p:txBody>
              <a:bodyPr/>
              <a:lstStyle/>
              <a:p>
                <a:r>
                  <a:rPr lang="en-IN">
                    <a:noFill/>
                  </a:rPr>
                  <a:t> </a:t>
                </a:r>
              </a:p>
            </p:txBody>
          </p:sp>
        </mc:Fallback>
      </mc:AlternateContent>
      <p:sp>
        <p:nvSpPr>
          <p:cNvPr id="18" name="TextBox 17"/>
          <p:cNvSpPr txBox="1"/>
          <p:nvPr/>
        </p:nvSpPr>
        <p:spPr>
          <a:xfrm>
            <a:off x="5891188" y="2693988"/>
            <a:ext cx="5783069" cy="2308324"/>
          </a:xfrm>
          <a:prstGeom prst="rect">
            <a:avLst/>
          </a:prstGeom>
          <a:noFill/>
        </p:spPr>
        <p:txBody>
          <a:bodyPr wrap="square">
            <a:spAutoFit/>
          </a:bodyPr>
          <a:lstStyle/>
          <a:p>
            <a:pPr>
              <a:defRPr/>
            </a:pPr>
            <a:r>
              <a:rPr lang="en-US" altLang="en-US" sz="2400" dirty="0">
                <a:ea typeface="ＭＳ Ｐゴシック" panose="020B0600070205080204" pitchFamily="34" charset="-128"/>
              </a:rPr>
              <a:t>Now, Compare, Text[i] with the Pattern[j].</a:t>
            </a:r>
          </a:p>
          <a:p>
            <a:pPr>
              <a:defRPr/>
            </a:pPr>
            <a:endParaRPr lang="en-US" altLang="en-US" sz="2400" dirty="0">
              <a:ea typeface="ＭＳ Ｐゴシック" panose="020B0600070205080204" pitchFamily="34" charset="-128"/>
            </a:endParaRPr>
          </a:p>
          <a:p>
            <a:pPr>
              <a:defRPr/>
            </a:pPr>
            <a:r>
              <a:rPr lang="en-US" altLang="en-US" sz="2400" dirty="0">
                <a:solidFill>
                  <a:schemeClr val="accent2">
                    <a:lumMod val="75000"/>
                  </a:schemeClr>
                </a:solidFill>
                <a:ea typeface="ＭＳ Ｐゴシック" panose="020B0600070205080204" pitchFamily="34" charset="-128"/>
              </a:rPr>
              <a:t>If Matched, Increment both ‘j’ &amp; ‘</a:t>
            </a:r>
            <a:r>
              <a:rPr lang="en-US" altLang="en-US" sz="2400" dirty="0" err="1">
                <a:solidFill>
                  <a:schemeClr val="accent2">
                    <a:lumMod val="75000"/>
                  </a:schemeClr>
                </a:solidFill>
                <a:ea typeface="ＭＳ Ｐゴシック" panose="020B0600070205080204" pitchFamily="34" charset="-128"/>
              </a:rPr>
              <a:t>i</a:t>
            </a:r>
            <a:r>
              <a:rPr lang="en-US" altLang="en-US" sz="2400" dirty="0">
                <a:solidFill>
                  <a:schemeClr val="accent2">
                    <a:lumMod val="75000"/>
                  </a:schemeClr>
                </a:solidFill>
                <a:ea typeface="ＭＳ Ｐゴシック" panose="020B0600070205080204" pitchFamily="34" charset="-128"/>
              </a:rPr>
              <a:t>’ by 1.</a:t>
            </a:r>
          </a:p>
          <a:p>
            <a:pPr>
              <a:defRPr/>
            </a:pPr>
            <a:endParaRPr lang="en-US" altLang="en-US" sz="2400" dirty="0">
              <a:ea typeface="ＭＳ Ｐゴシック" panose="020B0600070205080204" pitchFamily="34" charset="-128"/>
            </a:endParaRPr>
          </a:p>
          <a:p>
            <a:pPr>
              <a:defRPr/>
            </a:pPr>
            <a:r>
              <a:rPr lang="en-US" altLang="en-US" sz="2400" dirty="0">
                <a:ea typeface="ＭＳ Ｐゴシック" panose="020B0600070205080204" pitchFamily="34" charset="-128"/>
              </a:rPr>
              <a:t>Else if not matched, move the ‘j’ to the index numbered by  LPS[j]</a:t>
            </a:r>
          </a:p>
        </p:txBody>
      </p:sp>
    </p:spTree>
    <p:extLst>
      <p:ext uri="{BB962C8B-B14F-4D97-AF65-F5344CB8AC3E}">
        <p14:creationId xmlns:p14="http://schemas.microsoft.com/office/powerpoint/2010/main" val="7730764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2979738" y="-6350"/>
            <a:ext cx="8229600" cy="639763"/>
          </a:xfrm>
        </p:spPr>
        <p:txBody>
          <a:bodyPr/>
          <a:lstStyle/>
          <a:p>
            <a:r>
              <a:rPr lang="en-US" altLang="en-US" b="1" dirty="0">
                <a:solidFill>
                  <a:srgbClr val="1E03BD"/>
                </a:solidFill>
              </a:rPr>
              <a:t>How KMP Algorithm works</a:t>
            </a:r>
          </a:p>
        </p:txBody>
      </p:sp>
      <p:sp>
        <p:nvSpPr>
          <p:cNvPr id="6147" name="Rectangle 3"/>
          <p:cNvSpPr>
            <a:spLocks noGrp="1"/>
          </p:cNvSpPr>
          <p:nvPr>
            <p:ph type="body" idx="1"/>
          </p:nvPr>
        </p:nvSpPr>
        <p:spPr>
          <a:xfrm>
            <a:off x="2026910" y="1441450"/>
            <a:ext cx="8229600" cy="4754563"/>
          </a:xfrm>
        </p:spPr>
        <p:txBody>
          <a:bodyPr/>
          <a:lstStyle/>
          <a:p>
            <a:pPr marL="0" indent="0" algn="just">
              <a:spcBef>
                <a:spcPts val="0"/>
              </a:spcBef>
              <a:buNone/>
              <a:defRPr/>
            </a:pPr>
            <a:r>
              <a:rPr lang="en-US" altLang="en-US" dirty="0">
                <a:ea typeface="ＭＳ Ｐゴシック" panose="020B0600070205080204" pitchFamily="34" charset="-128"/>
              </a:rPr>
              <a:t>    Text:  a b a b c a b c a b  a  b  a   b  d</a:t>
            </a:r>
          </a:p>
          <a:p>
            <a:pPr marL="0" indent="0" algn="just">
              <a:spcBef>
                <a:spcPts val="0"/>
              </a:spcBef>
              <a:buNone/>
              <a:defRPr/>
            </a:pPr>
            <a:r>
              <a:rPr lang="en-US" altLang="en-US" dirty="0">
                <a:solidFill>
                  <a:srgbClr val="FF0000"/>
                </a:solidFill>
                <a:ea typeface="ＭＳ Ｐゴシック" panose="020B0600070205080204" pitchFamily="34" charset="-128"/>
              </a:rPr>
              <a:t>	    </a:t>
            </a:r>
            <a:r>
              <a:rPr lang="en-US" altLang="en-US" sz="2000" dirty="0">
                <a:solidFill>
                  <a:srgbClr val="FF0000"/>
                </a:solidFill>
                <a:ea typeface="ＭＳ Ｐゴシック" panose="020B0600070205080204" pitchFamily="34" charset="-128"/>
              </a:rPr>
              <a:t>0  1  2  3   4  5  6  7  8  9  10  11   12   13  14  		</a:t>
            </a:r>
            <a:endParaRPr lang="en-US" altLang="en-US" sz="2000" dirty="0">
              <a:ea typeface="ＭＳ Ｐゴシック" panose="020B0600070205080204" pitchFamily="34" charset="-128"/>
            </a:endParaRPr>
          </a:p>
        </p:txBody>
      </p:sp>
      <p:graphicFrame>
        <p:nvGraphicFramePr>
          <p:cNvPr id="2" name="Table 2"/>
          <p:cNvGraphicFramePr>
            <a:graphicFrameLocks noGrp="1"/>
          </p:cNvGraphicFramePr>
          <p:nvPr/>
        </p:nvGraphicFramePr>
        <p:xfrm>
          <a:off x="3733800" y="3200400"/>
          <a:ext cx="1600200" cy="741364"/>
        </p:xfrm>
        <a:graphic>
          <a:graphicData uri="http://schemas.openxmlformats.org/drawingml/2006/table">
            <a:tbl>
              <a:tblPr firstRow="1" bandRow="1">
                <a:tableStyleId>{5C22544A-7EE6-4342-B048-85BDC9FD1C3A}</a:tableStyleId>
              </a:tblPr>
              <a:tblGrid>
                <a:gridCol w="320040">
                  <a:extLst>
                    <a:ext uri="{9D8B030D-6E8A-4147-A177-3AD203B41FA5}">
                      <a16:colId xmlns:a16="http://schemas.microsoft.com/office/drawing/2014/main" val="20000"/>
                    </a:ext>
                  </a:extLst>
                </a:gridCol>
                <a:gridCol w="320040">
                  <a:extLst>
                    <a:ext uri="{9D8B030D-6E8A-4147-A177-3AD203B41FA5}">
                      <a16:colId xmlns:a16="http://schemas.microsoft.com/office/drawing/2014/main" val="20001"/>
                    </a:ext>
                  </a:extLst>
                </a:gridCol>
                <a:gridCol w="320040">
                  <a:extLst>
                    <a:ext uri="{9D8B030D-6E8A-4147-A177-3AD203B41FA5}">
                      <a16:colId xmlns:a16="http://schemas.microsoft.com/office/drawing/2014/main" val="20002"/>
                    </a:ext>
                  </a:extLst>
                </a:gridCol>
                <a:gridCol w="320040">
                  <a:extLst>
                    <a:ext uri="{9D8B030D-6E8A-4147-A177-3AD203B41FA5}">
                      <a16:colId xmlns:a16="http://schemas.microsoft.com/office/drawing/2014/main" val="20003"/>
                    </a:ext>
                  </a:extLst>
                </a:gridCol>
                <a:gridCol w="320040">
                  <a:extLst>
                    <a:ext uri="{9D8B030D-6E8A-4147-A177-3AD203B41FA5}">
                      <a16:colId xmlns:a16="http://schemas.microsoft.com/office/drawing/2014/main" val="20004"/>
                    </a:ext>
                  </a:extLst>
                </a:gridCol>
              </a:tblGrid>
              <a:tr h="370682">
                <a:tc>
                  <a:txBody>
                    <a:bodyPr/>
                    <a:lstStyle/>
                    <a:p>
                      <a:r>
                        <a:rPr lang="en-IN" sz="1800" dirty="0"/>
                        <a:t>a</a:t>
                      </a:r>
                    </a:p>
                  </a:txBody>
                  <a:tcPr marT="45700" marB="45700"/>
                </a:tc>
                <a:tc>
                  <a:txBody>
                    <a:bodyPr/>
                    <a:lstStyle/>
                    <a:p>
                      <a:r>
                        <a:rPr lang="en-IN" sz="1800" dirty="0"/>
                        <a:t>b</a:t>
                      </a:r>
                    </a:p>
                  </a:txBody>
                  <a:tcPr marT="45700" marB="45700"/>
                </a:tc>
                <a:tc>
                  <a:txBody>
                    <a:bodyPr/>
                    <a:lstStyle/>
                    <a:p>
                      <a:r>
                        <a:rPr lang="en-IN" sz="1800" dirty="0"/>
                        <a:t>a</a:t>
                      </a:r>
                    </a:p>
                  </a:txBody>
                  <a:tcPr marT="45700" marB="45700"/>
                </a:tc>
                <a:tc>
                  <a:txBody>
                    <a:bodyPr/>
                    <a:lstStyle/>
                    <a:p>
                      <a:r>
                        <a:rPr lang="en-IN" sz="1800" dirty="0"/>
                        <a:t>b </a:t>
                      </a:r>
                    </a:p>
                  </a:txBody>
                  <a:tcPr marT="45700" marB="45700"/>
                </a:tc>
                <a:tc>
                  <a:txBody>
                    <a:bodyPr/>
                    <a:lstStyle/>
                    <a:p>
                      <a:r>
                        <a:rPr lang="en-IN" sz="1800" dirty="0"/>
                        <a:t>d</a:t>
                      </a:r>
                    </a:p>
                  </a:txBody>
                  <a:tcPr marT="45700" marB="45700"/>
                </a:tc>
                <a:extLst>
                  <a:ext uri="{0D108BD9-81ED-4DB2-BD59-A6C34878D82A}">
                    <a16:rowId xmlns:a16="http://schemas.microsoft.com/office/drawing/2014/main" val="10000"/>
                  </a:ext>
                </a:extLst>
              </a:tr>
              <a:tr h="370682">
                <a:tc>
                  <a:txBody>
                    <a:bodyPr/>
                    <a:lstStyle/>
                    <a:p>
                      <a:r>
                        <a:rPr lang="en-IN" sz="1800" dirty="0"/>
                        <a:t>0</a:t>
                      </a:r>
                    </a:p>
                  </a:txBody>
                  <a:tcPr marT="45700" marB="45700"/>
                </a:tc>
                <a:tc>
                  <a:txBody>
                    <a:bodyPr/>
                    <a:lstStyle/>
                    <a:p>
                      <a:r>
                        <a:rPr lang="en-IN" sz="1800" dirty="0"/>
                        <a:t>0</a:t>
                      </a:r>
                    </a:p>
                  </a:txBody>
                  <a:tcPr marT="45700" marB="45700"/>
                </a:tc>
                <a:tc>
                  <a:txBody>
                    <a:bodyPr/>
                    <a:lstStyle/>
                    <a:p>
                      <a:r>
                        <a:rPr lang="en-IN" sz="1800" dirty="0"/>
                        <a:t>1</a:t>
                      </a:r>
                    </a:p>
                  </a:txBody>
                  <a:tcPr marT="45700" marB="45700"/>
                </a:tc>
                <a:tc>
                  <a:txBody>
                    <a:bodyPr/>
                    <a:lstStyle/>
                    <a:p>
                      <a:r>
                        <a:rPr lang="en-IN" sz="1800" dirty="0"/>
                        <a:t>2</a:t>
                      </a:r>
                    </a:p>
                  </a:txBody>
                  <a:tcPr marT="45700" marB="45700"/>
                </a:tc>
                <a:tc>
                  <a:txBody>
                    <a:bodyPr/>
                    <a:lstStyle/>
                    <a:p>
                      <a:r>
                        <a:rPr lang="en-IN" sz="1800" dirty="0"/>
                        <a:t>0</a:t>
                      </a:r>
                    </a:p>
                  </a:txBody>
                  <a:tcPr marT="45700" marB="45700"/>
                </a:tc>
                <a:extLst>
                  <a:ext uri="{0D108BD9-81ED-4DB2-BD59-A6C34878D82A}">
                    <a16:rowId xmlns:a16="http://schemas.microsoft.com/office/drawing/2014/main" val="10001"/>
                  </a:ext>
                </a:extLst>
              </a:tr>
            </a:tbl>
          </a:graphicData>
        </a:graphic>
      </p:graphicFrame>
      <p:sp>
        <p:nvSpPr>
          <p:cNvPr id="12312" name="TextBox 5"/>
          <p:cNvSpPr txBox="1">
            <a:spLocks noChangeArrowheads="1"/>
          </p:cNvSpPr>
          <p:nvPr/>
        </p:nvSpPr>
        <p:spPr bwMode="auto">
          <a:xfrm>
            <a:off x="3720230" y="2922588"/>
            <a:ext cx="22836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solidFill>
                  <a:srgbClr val="FF0000"/>
                </a:solidFill>
                <a:latin typeface="Calibri" panose="020F0502020204030204" pitchFamily="34" charset="0"/>
              </a:rPr>
              <a:t>0   1    2   3     4  </a:t>
            </a:r>
            <a:endParaRPr lang="en-IN" altLang="en-US" dirty="0"/>
          </a:p>
        </p:txBody>
      </p:sp>
      <p:sp>
        <p:nvSpPr>
          <p:cNvPr id="5" name="Arrow: Down 4"/>
          <p:cNvSpPr/>
          <p:nvPr/>
        </p:nvSpPr>
        <p:spPr>
          <a:xfrm>
            <a:off x="5114817" y="2676746"/>
            <a:ext cx="44450"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2">
                    <a:lumMod val="75000"/>
                  </a:schemeClr>
                </a:solidFill>
              </a:rPr>
              <a:t>j</a:t>
            </a:r>
          </a:p>
          <a:p>
            <a:pPr algn="ctr">
              <a:defRPr/>
            </a:pPr>
            <a:endParaRPr lang="en-IN" dirty="0">
              <a:solidFill>
                <a:schemeClr val="tx2">
                  <a:lumMod val="75000"/>
                </a:schemeClr>
              </a:solidFill>
            </a:endParaRPr>
          </a:p>
          <a:p>
            <a:pPr algn="ctr">
              <a:defRPr/>
            </a:pPr>
            <a:endParaRPr lang="en-IN" dirty="0">
              <a:solidFill>
                <a:schemeClr val="tx2">
                  <a:lumMod val="75000"/>
                </a:schemeClr>
              </a:solidFill>
            </a:endParaRPr>
          </a:p>
        </p:txBody>
      </p:sp>
      <p:sp>
        <p:nvSpPr>
          <p:cNvPr id="10" name="Arrow: Down 9"/>
          <p:cNvSpPr/>
          <p:nvPr/>
        </p:nvSpPr>
        <p:spPr>
          <a:xfrm>
            <a:off x="4397475" y="1262345"/>
            <a:ext cx="46037"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err="1">
                <a:solidFill>
                  <a:schemeClr val="tx2">
                    <a:lumMod val="75000"/>
                  </a:schemeClr>
                </a:solidFill>
              </a:rPr>
              <a:t>i</a:t>
            </a:r>
            <a:endParaRPr lang="en-IN" dirty="0">
              <a:solidFill>
                <a:schemeClr val="tx2">
                  <a:lumMod val="75000"/>
                </a:schemeClr>
              </a:solidFill>
            </a:endParaRPr>
          </a:p>
          <a:p>
            <a:pPr algn="ctr">
              <a:defRPr/>
            </a:pPr>
            <a:endParaRPr lang="en-IN" dirty="0">
              <a:solidFill>
                <a:schemeClr val="tx2">
                  <a:lumMod val="75000"/>
                </a:schemeClr>
              </a:solidFill>
            </a:endParaRPr>
          </a:p>
          <a:p>
            <a:pPr algn="ctr">
              <a:defRPr/>
            </a:pPr>
            <a:endParaRPr lang="en-IN" dirty="0">
              <a:solidFill>
                <a:schemeClr val="tx2">
                  <a:lumMod val="75000"/>
                </a:schemeClr>
              </a:solidFill>
            </a:endParaRPr>
          </a:p>
        </p:txBody>
      </p:sp>
      <p:sp>
        <p:nvSpPr>
          <p:cNvPr id="12317" name="TextBox 14"/>
          <p:cNvSpPr txBox="1">
            <a:spLocks noChangeArrowheads="1"/>
          </p:cNvSpPr>
          <p:nvPr/>
        </p:nvSpPr>
        <p:spPr bwMode="auto">
          <a:xfrm>
            <a:off x="2522538" y="3226954"/>
            <a:ext cx="457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t>Pattern</a:t>
            </a:r>
            <a:endParaRPr lang="en-IN" altLang="en-US" dirty="0"/>
          </a:p>
        </p:txBody>
      </p:sp>
      <p:sp>
        <p:nvSpPr>
          <p:cNvPr id="12318" name="TextBox 15"/>
          <p:cNvSpPr txBox="1">
            <a:spLocks noChangeArrowheads="1"/>
          </p:cNvSpPr>
          <p:nvPr/>
        </p:nvSpPr>
        <p:spPr bwMode="auto">
          <a:xfrm>
            <a:off x="465812" y="1441450"/>
            <a:ext cx="1416334"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t>Pattern -&gt;</a:t>
            </a:r>
            <a:endParaRPr lang="en-IN" altLang="en-US" dirty="0"/>
          </a:p>
        </p:txBody>
      </p:sp>
      <p:sp>
        <p:nvSpPr>
          <p:cNvPr id="12319" name="TextBox 16"/>
          <p:cNvSpPr txBox="1">
            <a:spLocks noChangeArrowheads="1"/>
          </p:cNvSpPr>
          <p:nvPr/>
        </p:nvSpPr>
        <p:spPr bwMode="auto">
          <a:xfrm>
            <a:off x="1882146" y="2858654"/>
            <a:ext cx="1962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solidFill>
                  <a:srgbClr val="FF0000"/>
                </a:solidFill>
                <a:latin typeface="Calibri" panose="020F0502020204030204" pitchFamily="34" charset="0"/>
              </a:rPr>
              <a:t>‘j’ – P [index] -&gt;</a:t>
            </a:r>
            <a:endParaRPr lang="en-IN" altLang="en-US" dirty="0"/>
          </a:p>
        </p:txBody>
      </p:sp>
      <p:sp>
        <p:nvSpPr>
          <p:cNvPr id="12320" name="TextBox 17"/>
          <p:cNvSpPr txBox="1">
            <a:spLocks noChangeArrowheads="1"/>
          </p:cNvSpPr>
          <p:nvPr/>
        </p:nvSpPr>
        <p:spPr bwMode="auto">
          <a:xfrm>
            <a:off x="465812" y="1807816"/>
            <a:ext cx="1905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dirty="0">
                <a:solidFill>
                  <a:srgbClr val="FF0000"/>
                </a:solidFill>
                <a:latin typeface="Calibri" panose="020F0502020204030204" pitchFamily="34" charset="0"/>
              </a:rPr>
              <a:t>‘i’ - T [index] -&gt;</a:t>
            </a:r>
            <a:endParaRPr lang="en-IN" altLang="en-US" dirty="0"/>
          </a:p>
        </p:txBody>
      </p:sp>
      <p:sp>
        <p:nvSpPr>
          <p:cNvPr id="16" name="Footer Placeholder 1"/>
          <p:cNvSpPr>
            <a:spLocks noGrp="1"/>
          </p:cNvSpPr>
          <p:nvPr>
            <p:ph type="ftr" sz="quarter" idx="11"/>
          </p:nvPr>
        </p:nvSpPr>
        <p:spPr>
          <a:xfrm>
            <a:off x="847898" y="6356350"/>
            <a:ext cx="9144000" cy="365125"/>
          </a:xfrm>
        </p:spPr>
        <p:txBody>
          <a:bodyPr/>
          <a:lstStyle/>
          <a:p>
            <a:r>
              <a:rPr lang="en-AU" dirty="0">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42</a:t>
            </a:fld>
            <a:endParaRPr lang="en-AU"/>
          </a:p>
        </p:txBody>
      </p:sp>
      <mc:AlternateContent xmlns:mc="http://schemas.openxmlformats.org/markup-compatibility/2006" xmlns:a14="http://schemas.microsoft.com/office/drawing/2010/main">
        <mc:Choice Requires="a14">
          <p:sp>
            <p:nvSpPr>
              <p:cNvPr id="17" name="TextBox 16"/>
              <p:cNvSpPr txBox="1"/>
              <p:nvPr/>
            </p:nvSpPr>
            <p:spPr>
              <a:xfrm>
                <a:off x="2545503" y="3412856"/>
                <a:ext cx="635435" cy="553998"/>
              </a:xfrm>
              <a:prstGeom prst="rect">
                <a:avLst/>
              </a:prstGeom>
              <a:noFill/>
            </p:spPr>
            <p:txBody>
              <a:bodyPr wrap="square" rtlCol="0">
                <a:spAutoFit/>
              </a:bodyPr>
              <a:lstStyle/>
              <a:p>
                <a:pPr/>
                <a14:m>
                  <m:oMathPara xmlns:m="http://schemas.openxmlformats.org/officeDocument/2006/math">
                    <m:oMath>
                      <m:r>
                        <a:rPr lang="el-GR" sz="3000" i="1" smtClean="0">
                          <a:latin typeface="Cambria Math"/>
                        </a:rPr>
                        <m:t>ᴨ</m:t>
                      </m:r>
                    </m:oMath>
                  </m:oMathPara>
                </a14:m>
                <a:endParaRPr lang="en-IN" sz="3000" dirty="0"/>
              </a:p>
            </p:txBody>
          </p:sp>
        </mc:Choice>
        <mc:Fallback xmlns="">
          <p:sp>
            <p:nvSpPr>
              <p:cNvPr id="17" name="TextBox 16"/>
              <p:cNvSpPr txBox="1">
                <a:spLocks noRot="1" noChangeAspect="1" noMove="1" noResize="1" noEditPoints="1" noAdjustHandles="1" noChangeArrowheads="1" noChangeShapeType="1" noTextEdit="1"/>
              </p:cNvSpPr>
              <p:nvPr/>
            </p:nvSpPr>
            <p:spPr>
              <a:xfrm>
                <a:off x="2545503" y="3412856"/>
                <a:ext cx="635435" cy="553998"/>
              </a:xfrm>
              <a:prstGeom prst="rect">
                <a:avLst/>
              </a:prstGeom>
              <a:blipFill rotWithShape="1">
                <a:blip r:embed="rId3"/>
                <a:stretch>
                  <a:fillRect/>
                </a:stretch>
              </a:blipFill>
            </p:spPr>
            <p:txBody>
              <a:bodyPr/>
              <a:lstStyle/>
              <a:p>
                <a:r>
                  <a:rPr lang="en-IN">
                    <a:noFill/>
                  </a:rPr>
                  <a:t> </a:t>
                </a:r>
              </a:p>
            </p:txBody>
          </p:sp>
        </mc:Fallback>
      </mc:AlternateContent>
      <p:sp>
        <p:nvSpPr>
          <p:cNvPr id="18" name="TextBox 17"/>
          <p:cNvSpPr txBox="1"/>
          <p:nvPr/>
        </p:nvSpPr>
        <p:spPr>
          <a:xfrm>
            <a:off x="5891188" y="2693988"/>
            <a:ext cx="5783069" cy="2308324"/>
          </a:xfrm>
          <a:prstGeom prst="rect">
            <a:avLst/>
          </a:prstGeom>
          <a:noFill/>
        </p:spPr>
        <p:txBody>
          <a:bodyPr wrap="square">
            <a:spAutoFit/>
          </a:bodyPr>
          <a:lstStyle/>
          <a:p>
            <a:pPr>
              <a:defRPr/>
            </a:pPr>
            <a:r>
              <a:rPr lang="en-US" altLang="en-US" sz="2400" dirty="0">
                <a:ea typeface="ＭＳ Ｐゴシック" panose="020B0600070205080204" pitchFamily="34" charset="-128"/>
              </a:rPr>
              <a:t>Now, Compare, Text[i] with the Pattern[j].</a:t>
            </a:r>
          </a:p>
          <a:p>
            <a:pPr>
              <a:defRPr/>
            </a:pPr>
            <a:endParaRPr lang="en-US" altLang="en-US" sz="2400" dirty="0">
              <a:ea typeface="ＭＳ Ｐゴシック" panose="020B0600070205080204" pitchFamily="34" charset="-128"/>
            </a:endParaRPr>
          </a:p>
          <a:p>
            <a:pPr>
              <a:defRPr/>
            </a:pPr>
            <a:r>
              <a:rPr lang="en-US" altLang="en-US" sz="2400" dirty="0">
                <a:ea typeface="ＭＳ Ｐゴシック" panose="020B0600070205080204" pitchFamily="34" charset="-128"/>
              </a:rPr>
              <a:t>If Matched, Increment both ‘j’ &amp; ‘i’ by 1.</a:t>
            </a:r>
          </a:p>
          <a:p>
            <a:pPr>
              <a:defRPr/>
            </a:pPr>
            <a:endParaRPr lang="en-US" altLang="en-US" sz="2400" dirty="0">
              <a:ea typeface="ＭＳ Ｐゴシック" panose="020B0600070205080204" pitchFamily="34" charset="-128"/>
            </a:endParaRPr>
          </a:p>
          <a:p>
            <a:pPr>
              <a:defRPr/>
            </a:pPr>
            <a:r>
              <a:rPr lang="en-US" altLang="en-US" sz="2400" dirty="0">
                <a:ea typeface="ＭＳ Ｐゴシック" panose="020B0600070205080204" pitchFamily="34" charset="-128"/>
              </a:rPr>
              <a:t>Else </a:t>
            </a:r>
            <a:r>
              <a:rPr lang="en-US" altLang="en-US" sz="2400" b="1" dirty="0">
                <a:solidFill>
                  <a:schemeClr val="accent2">
                    <a:lumMod val="75000"/>
                  </a:schemeClr>
                </a:solidFill>
                <a:ea typeface="ＭＳ Ｐゴシック" panose="020B0600070205080204" pitchFamily="34" charset="-128"/>
              </a:rPr>
              <a:t>if not matched, move the ‘j’ to the index numbered by  LPS[j]</a:t>
            </a:r>
          </a:p>
        </p:txBody>
      </p:sp>
    </p:spTree>
    <p:extLst>
      <p:ext uri="{BB962C8B-B14F-4D97-AF65-F5344CB8AC3E}">
        <p14:creationId xmlns:p14="http://schemas.microsoft.com/office/powerpoint/2010/main" val="15769224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rrow: Down 9"/>
          <p:cNvSpPr/>
          <p:nvPr/>
        </p:nvSpPr>
        <p:spPr>
          <a:xfrm>
            <a:off x="7772400" y="709613"/>
            <a:ext cx="46038"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err="1">
                <a:solidFill>
                  <a:schemeClr val="tx2">
                    <a:lumMod val="75000"/>
                  </a:schemeClr>
                </a:solidFill>
              </a:rPr>
              <a:t>i</a:t>
            </a:r>
            <a:endParaRPr lang="en-IN" dirty="0">
              <a:solidFill>
                <a:schemeClr val="tx2">
                  <a:lumMod val="75000"/>
                </a:schemeClr>
              </a:solidFill>
            </a:endParaRPr>
          </a:p>
          <a:p>
            <a:pPr algn="ctr">
              <a:defRPr/>
            </a:pPr>
            <a:endParaRPr lang="en-IN" dirty="0">
              <a:solidFill>
                <a:schemeClr val="tx2">
                  <a:lumMod val="75000"/>
                </a:schemeClr>
              </a:solidFill>
            </a:endParaRPr>
          </a:p>
        </p:txBody>
      </p:sp>
      <p:sp>
        <p:nvSpPr>
          <p:cNvPr id="19" name="TextBox 18"/>
          <p:cNvSpPr txBox="1"/>
          <p:nvPr/>
        </p:nvSpPr>
        <p:spPr>
          <a:xfrm>
            <a:off x="1571624" y="1080305"/>
            <a:ext cx="8712243" cy="193899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defRPr/>
            </a:pPr>
            <a:r>
              <a:rPr lang="en-US" altLang="en-US" sz="2400" b="1" dirty="0">
                <a:ea typeface="ＭＳ Ｐゴシック" panose="020B0600070205080204" pitchFamily="34" charset="-128"/>
              </a:rPr>
              <a:t>The Basic Idea in KMP is If a substring of a pattern is again appeared in the pattern, then no need to compare again and again. In that way, we can reduce the number of comparisons. </a:t>
            </a:r>
          </a:p>
          <a:p>
            <a:pPr algn="just">
              <a:defRPr/>
            </a:pPr>
            <a:endParaRPr lang="en-US" altLang="en-US" sz="2400" b="1" dirty="0">
              <a:ea typeface="ＭＳ Ｐゴシック" panose="020B0600070205080204" pitchFamily="34" charset="-128"/>
            </a:endParaRPr>
          </a:p>
          <a:p>
            <a:pPr algn="just">
              <a:defRPr/>
            </a:pPr>
            <a:r>
              <a:rPr lang="en-US" altLang="en-US" sz="2400" b="1" dirty="0">
                <a:ea typeface="ＭＳ Ｐゴシック" panose="020B0600070205080204" pitchFamily="34" charset="-128"/>
              </a:rPr>
              <a:t>Here, we are not backtracking the ‘</a:t>
            </a:r>
            <a:r>
              <a:rPr lang="en-US" altLang="en-US" sz="2400" b="1" dirty="0" err="1">
                <a:ea typeface="ＭＳ Ｐゴシック" panose="020B0600070205080204" pitchFamily="34" charset="-128"/>
              </a:rPr>
              <a:t>i</a:t>
            </a:r>
            <a:r>
              <a:rPr lang="en-US" altLang="en-US" sz="2400" b="1" dirty="0">
                <a:ea typeface="ＭＳ Ｐゴシック" panose="020B0600070205080204" pitchFamily="34" charset="-128"/>
              </a:rPr>
              <a:t>’, only ‘j’ is backtracking. </a:t>
            </a:r>
            <a:endParaRPr lang="en-US" altLang="en-US" sz="2400" b="1" dirty="0">
              <a:solidFill>
                <a:schemeClr val="accent2">
                  <a:lumMod val="75000"/>
                </a:schemeClr>
              </a:solidFill>
              <a:ea typeface="ＭＳ Ｐゴシック" panose="020B0600070205080204" pitchFamily="34" charset="-128"/>
            </a:endParaRPr>
          </a:p>
        </p:txBody>
      </p:sp>
      <p:sp>
        <p:nvSpPr>
          <p:cNvPr id="20" name="TextBox 19"/>
          <p:cNvSpPr txBox="1"/>
          <p:nvPr/>
        </p:nvSpPr>
        <p:spPr>
          <a:xfrm>
            <a:off x="1571623" y="3471014"/>
            <a:ext cx="8712243" cy="240835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defRPr/>
            </a:pPr>
            <a:r>
              <a:rPr lang="en-US" altLang="en-US" sz="2400" b="1" dirty="0">
                <a:ea typeface="ＭＳ Ｐゴシック" panose="020B0600070205080204" pitchFamily="34" charset="-128"/>
              </a:rPr>
              <a:t>The Time Complexity of KMP is</a:t>
            </a:r>
            <a:endParaRPr lang="en-US" altLang="en-US" sz="2400" b="1" dirty="0">
              <a:solidFill>
                <a:schemeClr val="accent2">
                  <a:lumMod val="75000"/>
                </a:schemeClr>
              </a:solidFill>
              <a:ea typeface="ＭＳ Ｐゴシック" panose="020B0600070205080204" pitchFamily="34" charset="-128"/>
            </a:endParaRPr>
          </a:p>
          <a:p>
            <a:pPr algn="just">
              <a:defRPr/>
            </a:pPr>
            <a:r>
              <a:rPr lang="en-US" altLang="en-US" sz="2400" b="1" dirty="0">
                <a:solidFill>
                  <a:srgbClr val="1E03BD"/>
                </a:solidFill>
                <a:ea typeface="ＭＳ Ｐゴシック" panose="020B0600070205080204" pitchFamily="34" charset="-128"/>
              </a:rPr>
              <a:t>         O(    m            +             n )</a:t>
            </a:r>
          </a:p>
          <a:p>
            <a:pPr algn="just">
              <a:defRPr/>
            </a:pPr>
            <a:endParaRPr lang="en-US" altLang="en-US" sz="2400" b="1" dirty="0">
              <a:solidFill>
                <a:schemeClr val="accent2">
                  <a:lumMod val="75000"/>
                </a:schemeClr>
              </a:solidFill>
              <a:ea typeface="ＭＳ Ｐゴシック" panose="020B0600070205080204" pitchFamily="34" charset="-128"/>
            </a:endParaRPr>
          </a:p>
          <a:p>
            <a:pPr algn="just">
              <a:defRPr/>
            </a:pPr>
            <a:endParaRPr lang="en-US" altLang="en-US" sz="2400" b="1" dirty="0">
              <a:solidFill>
                <a:schemeClr val="accent2">
                  <a:lumMod val="75000"/>
                </a:schemeClr>
              </a:solidFill>
              <a:ea typeface="ＭＳ Ｐゴシック" panose="020B0600070205080204" pitchFamily="34" charset="-128"/>
            </a:endParaRPr>
          </a:p>
          <a:p>
            <a:pPr algn="just">
              <a:defRPr/>
            </a:pPr>
            <a:endParaRPr lang="en-US" altLang="en-US" sz="1050" b="1" dirty="0">
              <a:solidFill>
                <a:schemeClr val="accent2">
                  <a:lumMod val="75000"/>
                </a:schemeClr>
              </a:solidFill>
              <a:ea typeface="ＭＳ Ｐゴシック" panose="020B0600070205080204" pitchFamily="34" charset="-128"/>
            </a:endParaRPr>
          </a:p>
          <a:p>
            <a:pPr algn="just">
              <a:defRPr/>
            </a:pPr>
            <a:r>
              <a:rPr lang="en-US" altLang="en-US" sz="2200" b="1" dirty="0">
                <a:solidFill>
                  <a:schemeClr val="accent2">
                    <a:lumMod val="75000"/>
                  </a:schemeClr>
                </a:solidFill>
                <a:latin typeface="Times New Roman" panose="02020603050405020304" pitchFamily="18" charset="0"/>
                <a:ea typeface="ＭＳ Ｐゴシック" panose="020B0600070205080204" pitchFamily="34" charset="-128"/>
                <a:cs typeface="Times New Roman" panose="02020603050405020304" pitchFamily="18" charset="0"/>
              </a:rPr>
              <a:t>O(</a:t>
            </a:r>
            <a:r>
              <a:rPr lang="en-US" altLang="en-US" sz="2200" b="1" dirty="0" err="1">
                <a:solidFill>
                  <a:schemeClr val="accent2">
                    <a:lumMod val="75000"/>
                  </a:schemeClr>
                </a:solidFill>
                <a:latin typeface="Times New Roman" panose="02020603050405020304" pitchFamily="18" charset="0"/>
                <a:ea typeface="ＭＳ Ｐゴシック" panose="020B0600070205080204" pitchFamily="34" charset="-128"/>
                <a:cs typeface="Times New Roman" panose="02020603050405020304" pitchFamily="18" charset="0"/>
              </a:rPr>
              <a:t>m+n</a:t>
            </a:r>
            <a:r>
              <a:rPr lang="en-US" altLang="en-US" sz="2200" b="1" dirty="0">
                <a:solidFill>
                  <a:schemeClr val="accent2">
                    <a:lumMod val="75000"/>
                  </a:schemeClr>
                </a:solidFill>
                <a:latin typeface="Times New Roman" panose="02020603050405020304" pitchFamily="18" charset="0"/>
                <a:ea typeface="ＭＳ Ｐゴシック" panose="020B0600070205080204" pitchFamily="34" charset="-128"/>
                <a:cs typeface="Times New Roman" panose="02020603050405020304" pitchFamily="18" charset="0"/>
              </a:rPr>
              <a:t>) – This is one of the Fastest algorithm in Pattern Matching Algorithms.</a:t>
            </a:r>
            <a:endParaRPr lang="en-US" altLang="en-US" sz="2200" b="1"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3" name="Arrow: Up 2"/>
          <p:cNvSpPr/>
          <p:nvPr/>
        </p:nvSpPr>
        <p:spPr>
          <a:xfrm>
            <a:off x="2969418" y="4249305"/>
            <a:ext cx="46037" cy="2794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21" name="Arrow: Up 20"/>
          <p:cNvSpPr/>
          <p:nvPr/>
        </p:nvSpPr>
        <p:spPr>
          <a:xfrm>
            <a:off x="4991825" y="4250847"/>
            <a:ext cx="46037" cy="28098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22" name="TextBox 21"/>
          <p:cNvSpPr txBox="1"/>
          <p:nvPr/>
        </p:nvSpPr>
        <p:spPr>
          <a:xfrm>
            <a:off x="2530258" y="4675190"/>
            <a:ext cx="3047911" cy="461962"/>
          </a:xfrm>
          <a:prstGeom prst="rect">
            <a:avLst/>
          </a:prstGeom>
          <a:noFill/>
        </p:spPr>
        <p:txBody>
          <a:bodyPr wrap="square">
            <a:spAutoFit/>
          </a:bodyPr>
          <a:lstStyle/>
          <a:p>
            <a:pPr algn="just">
              <a:defRPr/>
            </a:pPr>
            <a:r>
              <a:rPr lang="en-US" altLang="en-US" sz="2400" dirty="0">
                <a:solidFill>
                  <a:schemeClr val="accent2">
                    <a:lumMod val="75000"/>
                  </a:schemeClr>
                </a:solidFill>
                <a:ea typeface="ＭＳ Ｐゴシック" panose="020B0600070205080204" pitchFamily="34" charset="-128"/>
              </a:rPr>
              <a:t>LPS Array           Search</a:t>
            </a:r>
          </a:p>
        </p:txBody>
      </p:sp>
      <p:sp>
        <p:nvSpPr>
          <p:cNvPr id="7" name="Rounded Rectangle 17"/>
          <p:cNvSpPr txBox="1">
            <a:spLocks/>
          </p:cNvSpPr>
          <p:nvPr/>
        </p:nvSpPr>
        <p:spPr>
          <a:xfrm>
            <a:off x="3575050" y="188913"/>
            <a:ext cx="5689600" cy="463550"/>
          </a:xfrm>
          <a:prstGeom prst="roundRect">
            <a:avLst/>
          </a:prstGeom>
          <a:solidFill>
            <a:srgbClr val="BA2532"/>
          </a:solidFill>
          <a:ln w="12700" cap="flat" cmpd="sng" algn="ctr">
            <a:noFill/>
            <a:prstDash val="solid"/>
            <a:miter lim="800000"/>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Aft>
                <a:spcPts val="0"/>
              </a:spcAft>
              <a:defRPr/>
            </a:pPr>
            <a:r>
              <a:rPr lang="en-US" sz="3200" b="1" dirty="0"/>
              <a:t>How KMP Algorithm works</a:t>
            </a:r>
          </a:p>
        </p:txBody>
      </p:sp>
      <p:sp>
        <p:nvSpPr>
          <p:cNvPr id="3178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C1BFD93-896F-4622-9503-DD2F627D8577}" type="slidenum">
              <a:rPr lang="en-AU" altLang="en-US" smtClean="0"/>
              <a:pPr/>
              <a:t>43</a:t>
            </a:fld>
            <a:endParaRPr lang="en-AU" altLang="en-US"/>
          </a:p>
        </p:txBody>
      </p:sp>
      <p:sp>
        <p:nvSpPr>
          <p:cNvPr id="23" name="Footer Placeholder 1"/>
          <p:cNvSpPr>
            <a:spLocks noGrp="1"/>
          </p:cNvSpPr>
          <p:nvPr>
            <p:ph type="ftr" sz="quarter" idx="11"/>
          </p:nvPr>
        </p:nvSpPr>
        <p:spPr>
          <a:xfrm>
            <a:off x="847898" y="6356350"/>
            <a:ext cx="904584" cy="365125"/>
          </a:xfrm>
        </p:spPr>
        <p:txBody>
          <a:bodyPr/>
          <a:lstStyle/>
          <a:p>
            <a:r>
              <a:rPr lang="en-AU" dirty="0">
                <a:solidFill>
                  <a:srgbClr val="C00000"/>
                </a:solidFill>
              </a:rPr>
              <a:t>DSA-3 </a:t>
            </a:r>
          </a:p>
        </p:txBody>
      </p:sp>
    </p:spTree>
    <p:extLst>
      <p:ext uri="{BB962C8B-B14F-4D97-AF65-F5344CB8AC3E}">
        <p14:creationId xmlns:p14="http://schemas.microsoft.com/office/powerpoint/2010/main" val="22544646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44</a:t>
            </a:fld>
            <a:endParaRPr lang="en-AU"/>
          </a:p>
        </p:txBody>
      </p:sp>
      <p:sp>
        <p:nvSpPr>
          <p:cNvPr id="4" name="Rectangle 3"/>
          <p:cNvSpPr/>
          <p:nvPr/>
        </p:nvSpPr>
        <p:spPr>
          <a:xfrm>
            <a:off x="2305454" y="619789"/>
            <a:ext cx="9416376" cy="6001643"/>
          </a:xfrm>
          <a:prstGeom prst="rect">
            <a:avLst/>
          </a:prstGeom>
        </p:spPr>
        <p:txBody>
          <a:bodyPr wrap="square">
            <a:spAutoFit/>
          </a:bodyPr>
          <a:lstStyle/>
          <a:p>
            <a:r>
              <a:rPr lang="en-US" sz="2400" dirty="0"/>
              <a:t>Step 1: Read the Text (T) and Pattern (P).</a:t>
            </a:r>
          </a:p>
          <a:p>
            <a:r>
              <a:rPr lang="en-US" sz="2400" dirty="0"/>
              <a:t>Step 2: Construct the LPS (Longest Prefix Suffix) array for the pattern.</a:t>
            </a:r>
          </a:p>
          <a:p>
            <a:r>
              <a:rPr lang="en-US" sz="2400" dirty="0"/>
              <a:t>Step 3: Initialize two indices:</a:t>
            </a:r>
          </a:p>
          <a:p>
            <a:pPr lvl="2"/>
            <a:r>
              <a:rPr lang="en-US" sz="2400" dirty="0" err="1"/>
              <a:t>i</a:t>
            </a:r>
            <a:r>
              <a:rPr lang="en-US" sz="2400" dirty="0"/>
              <a:t> = 0 (for the Text)</a:t>
            </a:r>
          </a:p>
          <a:p>
            <a:pPr lvl="2"/>
            <a:r>
              <a:rPr lang="en-US" sz="2400" dirty="0"/>
              <a:t>j = 0 (for the Pattern)</a:t>
            </a:r>
          </a:p>
          <a:p>
            <a:r>
              <a:rPr lang="en-US" sz="2400" dirty="0"/>
              <a:t>Step 4: Compare the current characters of the Text and Pattern.</a:t>
            </a:r>
          </a:p>
          <a:p>
            <a:pPr marL="285750" indent="-285750">
              <a:buFont typeface="Arial" panose="020B0604020202020204" pitchFamily="34" charset="0"/>
              <a:buChar char="•"/>
            </a:pPr>
            <a:r>
              <a:rPr lang="en-US" sz="2400" dirty="0"/>
              <a:t>If the characters match:</a:t>
            </a:r>
          </a:p>
          <a:p>
            <a:pPr marL="742950" lvl="1" indent="-285750">
              <a:buFont typeface="Arial" panose="020B0604020202020204" pitchFamily="34" charset="0"/>
              <a:buChar char="•"/>
            </a:pPr>
            <a:r>
              <a:rPr lang="en-US" sz="2400" dirty="0"/>
              <a:t>Move both indices (</a:t>
            </a:r>
            <a:r>
              <a:rPr lang="en-US" sz="2400" dirty="0" err="1"/>
              <a:t>i</a:t>
            </a:r>
            <a:r>
              <a:rPr lang="en-US" sz="2400" dirty="0"/>
              <a:t> and j) to the next character.</a:t>
            </a:r>
          </a:p>
          <a:p>
            <a:pPr marL="285750" indent="-285750">
              <a:buFont typeface="Arial" panose="020B0604020202020204" pitchFamily="34" charset="0"/>
              <a:buChar char="•"/>
            </a:pPr>
            <a:r>
              <a:rPr lang="en-US" sz="2400" dirty="0"/>
              <a:t>If all characters of the pattern are matched (j = m):</a:t>
            </a:r>
          </a:p>
          <a:p>
            <a:pPr marL="742950" lvl="1" indent="-285750">
              <a:buFont typeface="Arial" panose="020B0604020202020204" pitchFamily="34" charset="0"/>
              <a:buChar char="•"/>
            </a:pPr>
            <a:r>
              <a:rPr lang="en-US" sz="2400" dirty="0"/>
              <a:t>Display "Pattern Found".</a:t>
            </a:r>
          </a:p>
          <a:p>
            <a:pPr marL="742950" lvl="1" indent="-285750">
              <a:buFont typeface="Arial" panose="020B0604020202020204" pitchFamily="34" charset="0"/>
              <a:buChar char="•"/>
            </a:pPr>
            <a:r>
              <a:rPr lang="en-US" sz="2400" dirty="0"/>
              <a:t>Continue searching using the LPS value.</a:t>
            </a:r>
          </a:p>
          <a:p>
            <a:pPr marL="285750" indent="-285750">
              <a:buFont typeface="Arial" panose="020B0604020202020204" pitchFamily="34" charset="0"/>
              <a:buChar char="•"/>
            </a:pPr>
            <a:r>
              <a:rPr lang="en-US" sz="2400" dirty="0"/>
              <a:t>If a mismatch occurs:</a:t>
            </a:r>
          </a:p>
          <a:p>
            <a:pPr marL="742950" lvl="1" indent="-285750">
              <a:buFont typeface="Arial" panose="020B0604020202020204" pitchFamily="34" charset="0"/>
              <a:buChar char="•"/>
            </a:pPr>
            <a:r>
              <a:rPr lang="en-US" sz="2400" dirty="0"/>
              <a:t>If j is not 0, set j = LPS[j − 1] and continue matching.</a:t>
            </a:r>
          </a:p>
          <a:p>
            <a:pPr marL="742950" lvl="1" indent="-285750">
              <a:buFont typeface="Arial" panose="020B0604020202020204" pitchFamily="34" charset="0"/>
              <a:buChar char="•"/>
            </a:pPr>
            <a:r>
              <a:rPr lang="en-US" sz="2400" dirty="0"/>
              <a:t>Otherwise, move to the next character in the text (</a:t>
            </a:r>
            <a:r>
              <a:rPr lang="en-US" sz="2400" dirty="0" err="1"/>
              <a:t>i</a:t>
            </a:r>
            <a:r>
              <a:rPr lang="en-US" sz="2400" dirty="0"/>
              <a:t> = </a:t>
            </a:r>
            <a:r>
              <a:rPr lang="en-US" sz="2400" dirty="0" err="1"/>
              <a:t>i</a:t>
            </a:r>
            <a:r>
              <a:rPr lang="en-US" sz="2400" dirty="0"/>
              <a:t> + 1).</a:t>
            </a:r>
          </a:p>
          <a:p>
            <a:r>
              <a:rPr lang="en-US" sz="2400" dirty="0"/>
              <a:t>Step 5: Repeat the above steps until the entire text has been searched.</a:t>
            </a:r>
          </a:p>
          <a:p>
            <a:r>
              <a:rPr lang="en-US" sz="2400" dirty="0"/>
              <a:t>Step 6: Stop.</a:t>
            </a:r>
          </a:p>
        </p:txBody>
      </p:sp>
      <p:sp>
        <p:nvSpPr>
          <p:cNvPr id="5" name="TextBox 4"/>
          <p:cNvSpPr txBox="1"/>
          <p:nvPr/>
        </p:nvSpPr>
        <p:spPr>
          <a:xfrm>
            <a:off x="5204298" y="96569"/>
            <a:ext cx="2459006" cy="523220"/>
          </a:xfrm>
          <a:prstGeom prst="rect">
            <a:avLst/>
          </a:prstGeom>
          <a:noFill/>
        </p:spPr>
        <p:txBody>
          <a:bodyPr wrap="none" rtlCol="0">
            <a:spAutoFit/>
          </a:bodyPr>
          <a:lstStyle/>
          <a:p>
            <a:r>
              <a:rPr lang="en-US" sz="2800" b="1" u="sng" dirty="0"/>
              <a:t>KMP Algorithm</a:t>
            </a:r>
          </a:p>
        </p:txBody>
      </p:sp>
    </p:spTree>
    <p:extLst>
      <p:ext uri="{BB962C8B-B14F-4D97-AF65-F5344CB8AC3E}">
        <p14:creationId xmlns:p14="http://schemas.microsoft.com/office/powerpoint/2010/main" val="38292343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847898" y="6356350"/>
            <a:ext cx="854442" cy="365125"/>
          </a:xfrm>
        </p:spPr>
        <p:txBody>
          <a:bodyPr/>
          <a:lstStyle/>
          <a:p>
            <a:r>
              <a:rPr lang="en-AU" dirty="0">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45</a:t>
            </a:fld>
            <a:endParaRPr lang="en-AU"/>
          </a:p>
        </p:txBody>
      </p:sp>
      <p:sp>
        <p:nvSpPr>
          <p:cNvPr id="5" name="Rectangle 4"/>
          <p:cNvSpPr/>
          <p:nvPr/>
        </p:nvSpPr>
        <p:spPr>
          <a:xfrm>
            <a:off x="162128" y="1225689"/>
            <a:ext cx="6141395" cy="5016758"/>
          </a:xfrm>
          <a:prstGeom prst="rect">
            <a:avLst/>
          </a:prstGeom>
        </p:spPr>
        <p:txBody>
          <a:bodyPr wrap="square">
            <a:spAutoFit/>
          </a:bodyPr>
          <a:lstStyle/>
          <a:p>
            <a:r>
              <a:rPr lang="en-US" sz="2000" dirty="0"/>
              <a:t>function </a:t>
            </a:r>
            <a:r>
              <a:rPr lang="en-US" sz="2000" dirty="0" err="1"/>
              <a:t>computeLPS</a:t>
            </a:r>
            <a:r>
              <a:rPr lang="en-US" sz="2000" dirty="0"/>
              <a:t>(P, m):</a:t>
            </a:r>
          </a:p>
          <a:p>
            <a:r>
              <a:rPr lang="en-US" sz="2000" dirty="0"/>
              <a:t>    </a:t>
            </a:r>
            <a:r>
              <a:rPr lang="en-US" sz="2000" dirty="0" err="1"/>
              <a:t>lps</a:t>
            </a:r>
            <a:r>
              <a:rPr lang="en-US" sz="2000" dirty="0"/>
              <a:t>[0] = 0</a:t>
            </a:r>
          </a:p>
          <a:p>
            <a:r>
              <a:rPr lang="en-US" sz="2000" dirty="0"/>
              <a:t>    </a:t>
            </a:r>
            <a:r>
              <a:rPr lang="en-US" sz="2000" dirty="0" err="1"/>
              <a:t>len</a:t>
            </a:r>
            <a:r>
              <a:rPr lang="en-US" sz="2000" dirty="0"/>
              <a:t> = 0            # length of previous longest prefix-suffix</a:t>
            </a:r>
          </a:p>
          <a:p>
            <a:r>
              <a:rPr lang="en-US" sz="2000" dirty="0"/>
              <a:t>    </a:t>
            </a:r>
            <a:r>
              <a:rPr lang="en-US" sz="2000" dirty="0" err="1"/>
              <a:t>i</a:t>
            </a:r>
            <a:r>
              <a:rPr lang="en-US" sz="2000" dirty="0"/>
              <a:t> = 1</a:t>
            </a:r>
          </a:p>
          <a:p>
            <a:r>
              <a:rPr lang="en-US" sz="2000" dirty="0"/>
              <a:t>    while </a:t>
            </a:r>
            <a:r>
              <a:rPr lang="en-US" sz="2000" dirty="0" err="1"/>
              <a:t>i</a:t>
            </a:r>
            <a:r>
              <a:rPr lang="en-US" sz="2000" dirty="0"/>
              <a:t> &lt; m:</a:t>
            </a:r>
          </a:p>
          <a:p>
            <a:r>
              <a:rPr lang="en-US" sz="2000" dirty="0"/>
              <a:t>        if P[</a:t>
            </a:r>
            <a:r>
              <a:rPr lang="en-US" sz="2000" dirty="0" err="1"/>
              <a:t>i</a:t>
            </a:r>
            <a:r>
              <a:rPr lang="en-US" sz="2000" dirty="0"/>
              <a:t>] == P[</a:t>
            </a:r>
            <a:r>
              <a:rPr lang="en-US" sz="2000" dirty="0" err="1"/>
              <a:t>len</a:t>
            </a:r>
            <a:r>
              <a:rPr lang="en-US" sz="2000" dirty="0"/>
              <a:t>]:</a:t>
            </a:r>
          </a:p>
          <a:p>
            <a:r>
              <a:rPr lang="en-US" sz="2000" dirty="0"/>
              <a:t>            </a:t>
            </a:r>
            <a:r>
              <a:rPr lang="en-US" sz="2000" dirty="0" err="1"/>
              <a:t>len</a:t>
            </a:r>
            <a:r>
              <a:rPr lang="en-US" sz="2000" dirty="0"/>
              <a:t> = </a:t>
            </a:r>
            <a:r>
              <a:rPr lang="en-US" sz="2000" dirty="0" err="1"/>
              <a:t>len</a:t>
            </a:r>
            <a:r>
              <a:rPr lang="en-US" sz="2000" dirty="0"/>
              <a:t> + 1</a:t>
            </a:r>
          </a:p>
          <a:p>
            <a:r>
              <a:rPr lang="en-US" sz="2000" dirty="0"/>
              <a:t>            </a:t>
            </a:r>
            <a:r>
              <a:rPr lang="en-US" sz="2000" dirty="0" err="1"/>
              <a:t>lps</a:t>
            </a:r>
            <a:r>
              <a:rPr lang="en-US" sz="2000" dirty="0"/>
              <a:t>[</a:t>
            </a:r>
            <a:r>
              <a:rPr lang="en-US" sz="2000" dirty="0" err="1"/>
              <a:t>i</a:t>
            </a:r>
            <a:r>
              <a:rPr lang="en-US" sz="2000" dirty="0"/>
              <a:t>] = </a:t>
            </a:r>
            <a:r>
              <a:rPr lang="en-US" sz="2000" dirty="0" err="1"/>
              <a:t>len</a:t>
            </a:r>
            <a:endParaRPr lang="en-US" sz="2000" dirty="0"/>
          </a:p>
          <a:p>
            <a:r>
              <a:rPr lang="en-US" sz="2000" dirty="0"/>
              <a:t>            </a:t>
            </a:r>
            <a:r>
              <a:rPr lang="en-US" sz="2000" dirty="0" err="1"/>
              <a:t>i</a:t>
            </a:r>
            <a:r>
              <a:rPr lang="en-US" sz="2000" dirty="0"/>
              <a:t> = </a:t>
            </a:r>
            <a:r>
              <a:rPr lang="en-US" sz="2000" dirty="0" err="1"/>
              <a:t>i</a:t>
            </a:r>
            <a:r>
              <a:rPr lang="en-US" sz="2000" dirty="0"/>
              <a:t> + 1</a:t>
            </a:r>
          </a:p>
          <a:p>
            <a:r>
              <a:rPr lang="en-US" sz="2000" dirty="0"/>
              <a:t>        else:</a:t>
            </a:r>
          </a:p>
          <a:p>
            <a:r>
              <a:rPr lang="en-US" sz="2000" dirty="0"/>
              <a:t>            if </a:t>
            </a:r>
            <a:r>
              <a:rPr lang="en-US" sz="2000" dirty="0" err="1"/>
              <a:t>len</a:t>
            </a:r>
            <a:r>
              <a:rPr lang="en-US" sz="2000" dirty="0"/>
              <a:t> != 0:</a:t>
            </a:r>
          </a:p>
          <a:p>
            <a:r>
              <a:rPr lang="en-US" sz="2000" dirty="0"/>
              <a:t>                </a:t>
            </a:r>
            <a:r>
              <a:rPr lang="en-US" sz="2000" dirty="0" err="1"/>
              <a:t>len</a:t>
            </a:r>
            <a:r>
              <a:rPr lang="en-US" sz="2000" dirty="0"/>
              <a:t> = </a:t>
            </a:r>
            <a:r>
              <a:rPr lang="en-US" sz="2000" dirty="0" err="1"/>
              <a:t>lps</a:t>
            </a:r>
            <a:r>
              <a:rPr lang="en-US" sz="2000" dirty="0"/>
              <a:t>[</a:t>
            </a:r>
            <a:r>
              <a:rPr lang="en-US" sz="2000" dirty="0" err="1"/>
              <a:t>len</a:t>
            </a:r>
            <a:r>
              <a:rPr lang="en-US" sz="2000" dirty="0"/>
              <a:t> - 1]   # fall back, do NOT advance </a:t>
            </a:r>
            <a:r>
              <a:rPr lang="en-US" sz="2000" dirty="0" err="1"/>
              <a:t>i</a:t>
            </a:r>
            <a:endParaRPr lang="en-US" sz="2000" dirty="0"/>
          </a:p>
          <a:p>
            <a:r>
              <a:rPr lang="en-US" sz="2000" dirty="0"/>
              <a:t>            else:</a:t>
            </a:r>
          </a:p>
          <a:p>
            <a:r>
              <a:rPr lang="en-US" sz="2000" dirty="0"/>
              <a:t>                </a:t>
            </a:r>
            <a:r>
              <a:rPr lang="en-US" sz="2000" dirty="0" err="1"/>
              <a:t>lps</a:t>
            </a:r>
            <a:r>
              <a:rPr lang="en-US" sz="2000" dirty="0"/>
              <a:t>[</a:t>
            </a:r>
            <a:r>
              <a:rPr lang="en-US" sz="2000" dirty="0" err="1"/>
              <a:t>i</a:t>
            </a:r>
            <a:r>
              <a:rPr lang="en-US" sz="2000" dirty="0"/>
              <a:t>] = 0</a:t>
            </a:r>
          </a:p>
          <a:p>
            <a:r>
              <a:rPr lang="en-US" sz="2000" dirty="0"/>
              <a:t>                </a:t>
            </a:r>
            <a:r>
              <a:rPr lang="en-US" sz="2000" dirty="0" err="1"/>
              <a:t>i</a:t>
            </a:r>
            <a:r>
              <a:rPr lang="en-US" sz="2000" dirty="0"/>
              <a:t> = </a:t>
            </a:r>
            <a:r>
              <a:rPr lang="en-US" sz="2000" dirty="0" err="1"/>
              <a:t>i</a:t>
            </a:r>
            <a:r>
              <a:rPr lang="en-US" sz="2000" dirty="0"/>
              <a:t> + 1</a:t>
            </a:r>
          </a:p>
          <a:p>
            <a:r>
              <a:rPr lang="en-US" sz="2000" dirty="0"/>
              <a:t>    return </a:t>
            </a:r>
            <a:r>
              <a:rPr lang="en-US" sz="2000" dirty="0" err="1"/>
              <a:t>lps</a:t>
            </a:r>
            <a:endParaRPr lang="en-US" sz="2000" dirty="0"/>
          </a:p>
        </p:txBody>
      </p:sp>
      <p:sp>
        <p:nvSpPr>
          <p:cNvPr id="6" name="Rectangle 5"/>
          <p:cNvSpPr/>
          <p:nvPr/>
        </p:nvSpPr>
        <p:spPr>
          <a:xfrm>
            <a:off x="1896885" y="700536"/>
            <a:ext cx="2716834" cy="369332"/>
          </a:xfrm>
          <a:prstGeom prst="rect">
            <a:avLst/>
          </a:prstGeom>
        </p:spPr>
        <p:txBody>
          <a:bodyPr wrap="none">
            <a:spAutoFit/>
          </a:bodyPr>
          <a:lstStyle/>
          <a:p>
            <a:r>
              <a:rPr lang="en-US" b="1" u="sng" dirty="0"/>
              <a:t>Constructing the LPS Array</a:t>
            </a:r>
          </a:p>
        </p:txBody>
      </p:sp>
      <p:sp>
        <p:nvSpPr>
          <p:cNvPr id="7" name="Rectangle 6"/>
          <p:cNvSpPr/>
          <p:nvPr/>
        </p:nvSpPr>
        <p:spPr>
          <a:xfrm>
            <a:off x="6275820" y="885202"/>
            <a:ext cx="5888477" cy="4801314"/>
          </a:xfrm>
          <a:prstGeom prst="rect">
            <a:avLst/>
          </a:prstGeom>
        </p:spPr>
        <p:txBody>
          <a:bodyPr wrap="square">
            <a:spAutoFit/>
          </a:bodyPr>
          <a:lstStyle/>
          <a:p>
            <a:r>
              <a:rPr lang="en-US" dirty="0"/>
              <a:t>function KMP(T, n, P, m):</a:t>
            </a:r>
          </a:p>
          <a:p>
            <a:r>
              <a:rPr lang="en-US" dirty="0"/>
              <a:t>    </a:t>
            </a:r>
            <a:r>
              <a:rPr lang="en-US" dirty="0" err="1"/>
              <a:t>lps</a:t>
            </a:r>
            <a:r>
              <a:rPr lang="en-US" dirty="0"/>
              <a:t> = </a:t>
            </a:r>
            <a:r>
              <a:rPr lang="en-US" dirty="0" err="1"/>
              <a:t>computeLPS</a:t>
            </a:r>
            <a:r>
              <a:rPr lang="en-US" dirty="0"/>
              <a:t>(P, m)</a:t>
            </a:r>
          </a:p>
          <a:p>
            <a:r>
              <a:rPr lang="en-US" dirty="0"/>
              <a:t>    </a:t>
            </a:r>
            <a:r>
              <a:rPr lang="en-US" dirty="0" err="1"/>
              <a:t>i</a:t>
            </a:r>
            <a:r>
              <a:rPr lang="en-US" dirty="0"/>
              <a:t> = 0             # index into text T</a:t>
            </a:r>
          </a:p>
          <a:p>
            <a:r>
              <a:rPr lang="en-US" dirty="0"/>
              <a:t>    j = 0             # index into pattern P</a:t>
            </a:r>
          </a:p>
          <a:p>
            <a:r>
              <a:rPr lang="en-US" dirty="0"/>
              <a:t>    while </a:t>
            </a:r>
            <a:r>
              <a:rPr lang="en-US" dirty="0" err="1"/>
              <a:t>i</a:t>
            </a:r>
            <a:r>
              <a:rPr lang="en-US" dirty="0"/>
              <a:t> &lt; n:</a:t>
            </a:r>
          </a:p>
          <a:p>
            <a:r>
              <a:rPr lang="en-US" dirty="0"/>
              <a:t>        if T[</a:t>
            </a:r>
            <a:r>
              <a:rPr lang="en-US" dirty="0" err="1"/>
              <a:t>i</a:t>
            </a:r>
            <a:r>
              <a:rPr lang="en-US" dirty="0"/>
              <a:t>] == P[j]:</a:t>
            </a:r>
          </a:p>
          <a:p>
            <a:r>
              <a:rPr lang="en-US" dirty="0"/>
              <a:t>            </a:t>
            </a:r>
            <a:r>
              <a:rPr lang="en-US" dirty="0" err="1"/>
              <a:t>i</a:t>
            </a:r>
            <a:r>
              <a:rPr lang="en-US" dirty="0"/>
              <a:t> = </a:t>
            </a:r>
            <a:r>
              <a:rPr lang="en-US" dirty="0" err="1"/>
              <a:t>i</a:t>
            </a:r>
            <a:r>
              <a:rPr lang="en-US" dirty="0"/>
              <a:t> + 1</a:t>
            </a:r>
          </a:p>
          <a:p>
            <a:r>
              <a:rPr lang="en-US" dirty="0"/>
              <a:t>            j = j + 1</a:t>
            </a:r>
          </a:p>
          <a:p>
            <a:r>
              <a:rPr lang="en-US" dirty="0"/>
              <a:t>            if j == m:</a:t>
            </a:r>
          </a:p>
          <a:p>
            <a:r>
              <a:rPr lang="en-US" dirty="0"/>
              <a:t>                report match at index (</a:t>
            </a:r>
            <a:r>
              <a:rPr lang="en-US" dirty="0" err="1"/>
              <a:t>i</a:t>
            </a:r>
            <a:r>
              <a:rPr lang="en-US" dirty="0"/>
              <a:t> - j)</a:t>
            </a:r>
          </a:p>
          <a:p>
            <a:r>
              <a:rPr lang="en-US" dirty="0"/>
              <a:t>                j = </a:t>
            </a:r>
            <a:r>
              <a:rPr lang="en-US" dirty="0" err="1"/>
              <a:t>lps</a:t>
            </a:r>
            <a:r>
              <a:rPr lang="en-US" dirty="0"/>
              <a:t>[j - 1]    # continue searching for more matches</a:t>
            </a:r>
          </a:p>
          <a:p>
            <a:r>
              <a:rPr lang="en-US" dirty="0"/>
              <a:t>        else:</a:t>
            </a:r>
          </a:p>
          <a:p>
            <a:r>
              <a:rPr lang="en-US" dirty="0"/>
              <a:t>            if j != 0:</a:t>
            </a:r>
          </a:p>
          <a:p>
            <a:r>
              <a:rPr lang="en-US" dirty="0"/>
              <a:t>                j = </a:t>
            </a:r>
            <a:r>
              <a:rPr lang="en-US" dirty="0" err="1"/>
              <a:t>lps</a:t>
            </a:r>
            <a:r>
              <a:rPr lang="en-US" dirty="0"/>
              <a:t>[j - 1]        # shift pattern, reuse matched prefix</a:t>
            </a:r>
          </a:p>
          <a:p>
            <a:r>
              <a:rPr lang="en-US" dirty="0"/>
              <a:t>            else:</a:t>
            </a:r>
          </a:p>
          <a:p>
            <a:r>
              <a:rPr lang="en-US" dirty="0"/>
              <a:t>                </a:t>
            </a:r>
            <a:r>
              <a:rPr lang="en-US" dirty="0" err="1"/>
              <a:t>i</a:t>
            </a:r>
            <a:r>
              <a:rPr lang="en-US" dirty="0"/>
              <a:t> = </a:t>
            </a:r>
            <a:r>
              <a:rPr lang="en-US" dirty="0" err="1"/>
              <a:t>i</a:t>
            </a:r>
            <a:r>
              <a:rPr lang="en-US" dirty="0"/>
              <a:t> + 1</a:t>
            </a:r>
          </a:p>
          <a:p>
            <a:r>
              <a:rPr lang="en-US" dirty="0"/>
              <a:t>    # no more matches</a:t>
            </a:r>
          </a:p>
        </p:txBody>
      </p:sp>
      <p:sp>
        <p:nvSpPr>
          <p:cNvPr id="8" name="Rectangle 7"/>
          <p:cNvSpPr/>
          <p:nvPr/>
        </p:nvSpPr>
        <p:spPr>
          <a:xfrm>
            <a:off x="8557089" y="312012"/>
            <a:ext cx="1325940" cy="369332"/>
          </a:xfrm>
          <a:prstGeom prst="rect">
            <a:avLst/>
          </a:prstGeom>
        </p:spPr>
        <p:txBody>
          <a:bodyPr wrap="none">
            <a:spAutoFit/>
          </a:bodyPr>
          <a:lstStyle/>
          <a:p>
            <a:r>
              <a:rPr lang="en-US" b="1" u="sng" dirty="0"/>
              <a:t>KMP Search</a:t>
            </a:r>
          </a:p>
        </p:txBody>
      </p:sp>
      <p:sp>
        <p:nvSpPr>
          <p:cNvPr id="9" name="TextBox 8"/>
          <p:cNvSpPr txBox="1"/>
          <p:nvPr/>
        </p:nvSpPr>
        <p:spPr>
          <a:xfrm>
            <a:off x="5009745" y="158124"/>
            <a:ext cx="1800493" cy="461665"/>
          </a:xfrm>
          <a:prstGeom prst="rect">
            <a:avLst/>
          </a:prstGeom>
          <a:noFill/>
        </p:spPr>
        <p:txBody>
          <a:bodyPr wrap="none" rtlCol="0">
            <a:spAutoFit/>
          </a:bodyPr>
          <a:lstStyle/>
          <a:p>
            <a:r>
              <a:rPr lang="en-US" sz="2400" b="1" u="sng" dirty="0"/>
              <a:t>Pseudocode</a:t>
            </a:r>
          </a:p>
        </p:txBody>
      </p:sp>
    </p:spTree>
    <p:extLst>
      <p:ext uri="{BB962C8B-B14F-4D97-AF65-F5344CB8AC3E}">
        <p14:creationId xmlns:p14="http://schemas.microsoft.com/office/powerpoint/2010/main" val="37735924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847898" y="6356350"/>
            <a:ext cx="1136545" cy="365125"/>
          </a:xfrm>
        </p:spPr>
        <p:txBody>
          <a:bodyPr/>
          <a:lstStyle/>
          <a:p>
            <a:r>
              <a:rPr lang="en-AU" dirty="0">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46</a:t>
            </a:fld>
            <a:endParaRPr lang="en-AU"/>
          </a:p>
        </p:txBody>
      </p:sp>
      <p:sp>
        <p:nvSpPr>
          <p:cNvPr id="4" name="Rectangle 3"/>
          <p:cNvSpPr/>
          <p:nvPr/>
        </p:nvSpPr>
        <p:spPr>
          <a:xfrm>
            <a:off x="1603896" y="136525"/>
            <a:ext cx="7694579" cy="5016758"/>
          </a:xfrm>
          <a:prstGeom prst="rect">
            <a:avLst/>
          </a:prstGeom>
        </p:spPr>
        <p:txBody>
          <a:bodyPr wrap="square">
            <a:spAutoFit/>
          </a:bodyPr>
          <a:lstStyle/>
          <a:p>
            <a:r>
              <a:rPr lang="en-US" sz="1600" dirty="0">
                <a:solidFill>
                  <a:srgbClr val="3F7F5F"/>
                </a:solidFill>
                <a:latin typeface="Consolas" panose="020B0609020204030204" pitchFamily="49" charset="0"/>
              </a:rPr>
              <a:t>//JAVA program for implementation of KMP pattern searching algorithm</a:t>
            </a:r>
            <a:endParaRPr lang="en-US" sz="1600" dirty="0">
              <a:solidFill>
                <a:srgbClr val="000000"/>
              </a:solidFill>
              <a:latin typeface="Consolas" panose="020B0609020204030204" pitchFamily="49" charset="0"/>
            </a:endParaRPr>
          </a:p>
          <a:p>
            <a:r>
              <a:rPr lang="en-US" sz="1600" b="1" dirty="0">
                <a:solidFill>
                  <a:srgbClr val="7F0055"/>
                </a:solidFill>
                <a:latin typeface="Consolas" panose="020B0609020204030204" pitchFamily="49" charset="0"/>
              </a:rPr>
              <a:t>class</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KMPString</a:t>
            </a:r>
            <a:r>
              <a:rPr lang="en-US" sz="1600" dirty="0">
                <a:solidFill>
                  <a:srgbClr val="000000"/>
                </a:solidFill>
                <a:latin typeface="Consolas" panose="020B0609020204030204" pitchFamily="49" charset="0"/>
              </a:rPr>
              <a:t> {</a:t>
            </a:r>
          </a:p>
          <a:p>
            <a:r>
              <a:rPr lang="en-US" sz="1600" b="1" dirty="0">
                <a:solidFill>
                  <a:srgbClr val="7F0055"/>
                </a:solidFill>
                <a:latin typeface="Consolas" panose="020B0609020204030204" pitchFamily="49" charset="0"/>
              </a:rPr>
              <a:t>  void</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KMPSearch</a:t>
            </a:r>
            <a:r>
              <a:rPr lang="en-US" sz="1600" dirty="0">
                <a:solidFill>
                  <a:srgbClr val="000000"/>
                </a:solidFill>
                <a:latin typeface="Consolas" panose="020B0609020204030204" pitchFamily="49" charset="0"/>
              </a:rPr>
              <a:t>(String </a:t>
            </a:r>
            <a:r>
              <a:rPr lang="en-US" sz="1600" dirty="0">
                <a:solidFill>
                  <a:srgbClr val="6A3E3E"/>
                </a:solidFill>
                <a:latin typeface="Consolas" panose="020B0609020204030204" pitchFamily="49" charset="0"/>
              </a:rPr>
              <a:t>pat</a:t>
            </a:r>
            <a:r>
              <a:rPr lang="en-US" sz="1600" dirty="0">
                <a:solidFill>
                  <a:srgbClr val="000000"/>
                </a:solidFill>
                <a:latin typeface="Consolas" panose="020B0609020204030204" pitchFamily="49" charset="0"/>
              </a:rPr>
              <a:t>, String </a:t>
            </a:r>
            <a:r>
              <a:rPr lang="en-US" sz="1600" dirty="0">
                <a:solidFill>
                  <a:srgbClr val="6A3E3E"/>
                </a:solidFill>
                <a:latin typeface="Consolas" panose="020B0609020204030204" pitchFamily="49" charset="0"/>
              </a:rPr>
              <a:t>txt</a:t>
            </a:r>
            <a:r>
              <a:rPr lang="en-US" sz="1600" dirty="0">
                <a:solidFill>
                  <a:srgbClr val="000000"/>
                </a:solidFill>
                <a:latin typeface="Consolas" panose="020B0609020204030204" pitchFamily="49" charset="0"/>
              </a:rPr>
              <a:t>){</a:t>
            </a:r>
          </a:p>
          <a:p>
            <a:pPr lvl="1"/>
            <a:r>
              <a:rPr lang="en-US" sz="1600" b="1" dirty="0" err="1">
                <a:solidFill>
                  <a:srgbClr val="7F0055"/>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a:solidFill>
                  <a:srgbClr val="6A3E3E"/>
                </a:solidFill>
                <a:latin typeface="Consolas" panose="020B0609020204030204" pitchFamily="49" charset="0"/>
              </a:rPr>
              <a:t>M</a:t>
            </a:r>
            <a:r>
              <a:rPr lang="en-US" sz="1600" dirty="0">
                <a:solidFill>
                  <a:srgbClr val="000000"/>
                </a:solidFill>
                <a:latin typeface="Consolas" panose="020B0609020204030204" pitchFamily="49" charset="0"/>
              </a:rPr>
              <a:t> = </a:t>
            </a:r>
            <a:r>
              <a:rPr lang="en-US" sz="1600" dirty="0" err="1">
                <a:solidFill>
                  <a:srgbClr val="6A3E3E"/>
                </a:solidFill>
                <a:latin typeface="Consolas" panose="020B0609020204030204" pitchFamily="49" charset="0"/>
              </a:rPr>
              <a:t>pat</a:t>
            </a:r>
            <a:r>
              <a:rPr lang="en-US" sz="1600" dirty="0" err="1">
                <a:solidFill>
                  <a:srgbClr val="000000"/>
                </a:solidFill>
                <a:latin typeface="Consolas" panose="020B0609020204030204" pitchFamily="49" charset="0"/>
              </a:rPr>
              <a:t>.length</a:t>
            </a:r>
            <a:r>
              <a:rPr lang="en-US" sz="1600" dirty="0">
                <a:solidFill>
                  <a:srgbClr val="000000"/>
                </a:solidFill>
                <a:latin typeface="Consolas" panose="020B0609020204030204" pitchFamily="49" charset="0"/>
              </a:rPr>
              <a:t>();	</a:t>
            </a:r>
          </a:p>
          <a:p>
            <a:pPr lvl="1"/>
            <a:r>
              <a:rPr lang="en-US" sz="1600" b="1" dirty="0" err="1">
                <a:solidFill>
                  <a:srgbClr val="7F0055"/>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a:solidFill>
                  <a:srgbClr val="6A3E3E"/>
                </a:solidFill>
                <a:latin typeface="Consolas" panose="020B0609020204030204" pitchFamily="49" charset="0"/>
              </a:rPr>
              <a:t>N</a:t>
            </a:r>
            <a:r>
              <a:rPr lang="en-US" sz="1600" dirty="0">
                <a:solidFill>
                  <a:srgbClr val="000000"/>
                </a:solidFill>
                <a:latin typeface="Consolas" panose="020B0609020204030204" pitchFamily="49" charset="0"/>
              </a:rPr>
              <a:t> = </a:t>
            </a:r>
            <a:r>
              <a:rPr lang="en-US" sz="1600" dirty="0" err="1">
                <a:solidFill>
                  <a:srgbClr val="6A3E3E"/>
                </a:solidFill>
                <a:latin typeface="Consolas" panose="020B0609020204030204" pitchFamily="49" charset="0"/>
              </a:rPr>
              <a:t>txt</a:t>
            </a:r>
            <a:r>
              <a:rPr lang="en-US" sz="1600" dirty="0" err="1">
                <a:solidFill>
                  <a:srgbClr val="000000"/>
                </a:solidFill>
                <a:latin typeface="Consolas" panose="020B0609020204030204" pitchFamily="49" charset="0"/>
              </a:rPr>
              <a:t>.length</a:t>
            </a:r>
            <a:r>
              <a:rPr lang="en-US" sz="1600" dirty="0">
                <a:solidFill>
                  <a:srgbClr val="000000"/>
                </a:solidFill>
                <a:latin typeface="Consolas" panose="020B0609020204030204" pitchFamily="49" charset="0"/>
              </a:rPr>
              <a:t>();</a:t>
            </a:r>
          </a:p>
          <a:p>
            <a:pPr lvl="1"/>
            <a:r>
              <a:rPr lang="en-US" sz="1600" b="1" dirty="0" err="1">
                <a:solidFill>
                  <a:srgbClr val="7F0055"/>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err="1">
                <a:solidFill>
                  <a:srgbClr val="6A3E3E"/>
                </a:solidFill>
                <a:latin typeface="Consolas" panose="020B0609020204030204" pitchFamily="49" charset="0"/>
              </a:rPr>
              <a:t>lps</a:t>
            </a:r>
            <a:r>
              <a:rPr lang="en-US" sz="1600" dirty="0">
                <a:solidFill>
                  <a:srgbClr val="000000"/>
                </a:solidFill>
                <a:latin typeface="Consolas" panose="020B0609020204030204" pitchFamily="49" charset="0"/>
              </a:rPr>
              <a:t>[] = </a:t>
            </a:r>
            <a:r>
              <a:rPr lang="en-US" sz="1600" b="1" dirty="0">
                <a:solidFill>
                  <a:srgbClr val="7F0055"/>
                </a:solidFill>
                <a:latin typeface="Consolas" panose="020B0609020204030204" pitchFamily="49" charset="0"/>
              </a:rPr>
              <a:t>new</a:t>
            </a:r>
            <a:r>
              <a:rPr lang="en-US" sz="1600" dirty="0">
                <a:solidFill>
                  <a:srgbClr val="000000"/>
                </a:solidFill>
                <a:latin typeface="Consolas" panose="020B0609020204030204" pitchFamily="49" charset="0"/>
              </a:rPr>
              <a:t> </a:t>
            </a:r>
            <a:r>
              <a:rPr lang="en-US" sz="1600" b="1" dirty="0" err="1">
                <a:solidFill>
                  <a:srgbClr val="7F0055"/>
                </a:solidFill>
                <a:latin typeface="Consolas" panose="020B0609020204030204" pitchFamily="49" charset="0"/>
              </a:rPr>
              <a:t>int</a:t>
            </a:r>
            <a:r>
              <a:rPr lang="en-US" sz="1600" dirty="0">
                <a:solidFill>
                  <a:srgbClr val="000000"/>
                </a:solidFill>
                <a:latin typeface="Consolas" panose="020B0609020204030204" pitchFamily="49" charset="0"/>
              </a:rPr>
              <a:t>[</a:t>
            </a:r>
            <a:r>
              <a:rPr lang="en-US" sz="1600" dirty="0">
                <a:solidFill>
                  <a:srgbClr val="6A3E3E"/>
                </a:solidFill>
                <a:latin typeface="Consolas" panose="020B0609020204030204" pitchFamily="49" charset="0"/>
              </a:rPr>
              <a:t>M</a:t>
            </a:r>
            <a:r>
              <a:rPr lang="en-US" sz="1600" dirty="0">
                <a:solidFill>
                  <a:srgbClr val="000000"/>
                </a:solidFill>
                <a:latin typeface="Consolas" panose="020B0609020204030204" pitchFamily="49" charset="0"/>
              </a:rPr>
              <a:t>];</a:t>
            </a:r>
          </a:p>
          <a:p>
            <a:pPr lvl="1"/>
            <a:r>
              <a:rPr lang="en-US" sz="1600" b="1" dirty="0" err="1">
                <a:solidFill>
                  <a:srgbClr val="7F0055"/>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a:solidFill>
                  <a:srgbClr val="6A3E3E"/>
                </a:solidFill>
                <a:latin typeface="Consolas" panose="020B0609020204030204" pitchFamily="49" charset="0"/>
              </a:rPr>
              <a:t>j</a:t>
            </a:r>
            <a:r>
              <a:rPr lang="en-US" sz="1600" dirty="0">
                <a:solidFill>
                  <a:srgbClr val="000000"/>
                </a:solidFill>
                <a:latin typeface="Consolas" panose="020B0609020204030204" pitchFamily="49" charset="0"/>
              </a:rPr>
              <a:t> = 0; </a:t>
            </a:r>
          </a:p>
          <a:p>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computeLPSArray</a:t>
            </a:r>
            <a:r>
              <a:rPr lang="en-US" sz="1600" dirty="0">
                <a:solidFill>
                  <a:srgbClr val="000000"/>
                </a:solidFill>
                <a:latin typeface="Consolas" panose="020B0609020204030204" pitchFamily="49" charset="0"/>
              </a:rPr>
              <a:t>(</a:t>
            </a:r>
            <a:r>
              <a:rPr lang="en-US" sz="1600" dirty="0">
                <a:solidFill>
                  <a:srgbClr val="6A3E3E"/>
                </a:solidFill>
                <a:latin typeface="Consolas" panose="020B0609020204030204" pitchFamily="49" charset="0"/>
              </a:rPr>
              <a:t>pat</a:t>
            </a:r>
            <a:r>
              <a:rPr lang="en-US" sz="1600" dirty="0">
                <a:solidFill>
                  <a:srgbClr val="000000"/>
                </a:solidFill>
                <a:latin typeface="Consolas" panose="020B0609020204030204" pitchFamily="49" charset="0"/>
              </a:rPr>
              <a:t>, </a:t>
            </a:r>
            <a:r>
              <a:rPr lang="en-US" sz="1600" dirty="0">
                <a:solidFill>
                  <a:srgbClr val="6A3E3E"/>
                </a:solidFill>
                <a:latin typeface="Consolas" panose="020B0609020204030204" pitchFamily="49" charset="0"/>
              </a:rPr>
              <a:t>M</a:t>
            </a:r>
            <a:r>
              <a:rPr lang="en-US" sz="1600" dirty="0">
                <a:solidFill>
                  <a:srgbClr val="000000"/>
                </a:solidFill>
                <a:latin typeface="Consolas" panose="020B0609020204030204" pitchFamily="49" charset="0"/>
              </a:rPr>
              <a:t>, </a:t>
            </a:r>
            <a:r>
              <a:rPr lang="en-US" sz="1600" dirty="0" err="1">
                <a:solidFill>
                  <a:srgbClr val="6A3E3E"/>
                </a:solidFill>
                <a:latin typeface="Consolas" panose="020B0609020204030204" pitchFamily="49" charset="0"/>
              </a:rPr>
              <a:t>lps</a:t>
            </a:r>
            <a:r>
              <a:rPr lang="en-US" sz="1600" dirty="0">
                <a:solidFill>
                  <a:srgbClr val="000000"/>
                </a:solidFill>
                <a:latin typeface="Consolas" panose="020B0609020204030204" pitchFamily="49" charset="0"/>
              </a:rPr>
              <a:t>);</a:t>
            </a:r>
          </a:p>
          <a:p>
            <a:pPr lvl="1"/>
            <a:r>
              <a:rPr lang="en-US" sz="1600" b="1" dirty="0" err="1">
                <a:solidFill>
                  <a:srgbClr val="7F0055"/>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err="1">
                <a:solidFill>
                  <a:srgbClr val="6A3E3E"/>
                </a:solidFill>
                <a:latin typeface="Consolas" panose="020B0609020204030204" pitchFamily="49" charset="0"/>
              </a:rPr>
              <a:t>i</a:t>
            </a:r>
            <a:r>
              <a:rPr lang="en-US" sz="1600" dirty="0">
                <a:solidFill>
                  <a:srgbClr val="000000"/>
                </a:solidFill>
                <a:latin typeface="Consolas" panose="020B0609020204030204" pitchFamily="49" charset="0"/>
              </a:rPr>
              <a:t> = 0; </a:t>
            </a:r>
          </a:p>
          <a:p>
            <a:pPr lvl="1"/>
            <a:r>
              <a:rPr lang="en-US" sz="1600" b="1" dirty="0">
                <a:solidFill>
                  <a:srgbClr val="7F0055"/>
                </a:solidFill>
                <a:latin typeface="Consolas" panose="020B0609020204030204" pitchFamily="49" charset="0"/>
              </a:rPr>
              <a:t>while</a:t>
            </a:r>
            <a:r>
              <a:rPr lang="en-US" sz="1600" dirty="0">
                <a:solidFill>
                  <a:srgbClr val="000000"/>
                </a:solidFill>
                <a:latin typeface="Consolas" panose="020B0609020204030204" pitchFamily="49" charset="0"/>
              </a:rPr>
              <a:t> (</a:t>
            </a:r>
            <a:r>
              <a:rPr lang="en-US" sz="1600" dirty="0" err="1">
                <a:solidFill>
                  <a:srgbClr val="6A3E3E"/>
                </a:solidFill>
                <a:latin typeface="Consolas" panose="020B0609020204030204" pitchFamily="49" charset="0"/>
              </a:rPr>
              <a:t>i</a:t>
            </a:r>
            <a:r>
              <a:rPr lang="en-US" sz="1600" dirty="0">
                <a:solidFill>
                  <a:srgbClr val="000000"/>
                </a:solidFill>
                <a:latin typeface="Consolas" panose="020B0609020204030204" pitchFamily="49" charset="0"/>
              </a:rPr>
              <a:t> &lt; </a:t>
            </a:r>
            <a:r>
              <a:rPr lang="en-US" sz="1600" dirty="0">
                <a:solidFill>
                  <a:srgbClr val="6A3E3E"/>
                </a:solidFill>
                <a:latin typeface="Consolas" panose="020B0609020204030204" pitchFamily="49" charset="0"/>
              </a:rPr>
              <a:t>N</a:t>
            </a:r>
            <a:r>
              <a:rPr lang="en-US" sz="1600" dirty="0">
                <a:solidFill>
                  <a:srgbClr val="000000"/>
                </a:solidFill>
                <a:latin typeface="Consolas" panose="020B0609020204030204" pitchFamily="49" charset="0"/>
              </a:rPr>
              <a:t>) {</a:t>
            </a:r>
          </a:p>
          <a:p>
            <a:r>
              <a:rPr lang="en-US" sz="1600" b="1" dirty="0">
                <a:solidFill>
                  <a:srgbClr val="7F0055"/>
                </a:solidFill>
                <a:latin typeface="Consolas" panose="020B0609020204030204" pitchFamily="49" charset="0"/>
              </a:rPr>
              <a:t>	if</a:t>
            </a:r>
            <a:r>
              <a:rPr lang="en-US" sz="1600" dirty="0">
                <a:solidFill>
                  <a:srgbClr val="000000"/>
                </a:solidFill>
                <a:latin typeface="Consolas" panose="020B0609020204030204" pitchFamily="49" charset="0"/>
              </a:rPr>
              <a:t> (</a:t>
            </a:r>
            <a:r>
              <a:rPr lang="en-US" sz="1600" dirty="0" err="1">
                <a:solidFill>
                  <a:srgbClr val="6A3E3E"/>
                </a:solidFill>
                <a:latin typeface="Consolas" panose="020B0609020204030204" pitchFamily="49" charset="0"/>
              </a:rPr>
              <a:t>pat</a:t>
            </a:r>
            <a:r>
              <a:rPr lang="en-US" sz="1600" dirty="0" err="1">
                <a:solidFill>
                  <a:srgbClr val="000000"/>
                </a:solidFill>
                <a:latin typeface="Consolas" panose="020B0609020204030204" pitchFamily="49" charset="0"/>
              </a:rPr>
              <a:t>.charAt</a:t>
            </a:r>
            <a:r>
              <a:rPr lang="en-US" sz="1600" dirty="0">
                <a:solidFill>
                  <a:srgbClr val="000000"/>
                </a:solidFill>
                <a:latin typeface="Consolas" panose="020B0609020204030204" pitchFamily="49" charset="0"/>
              </a:rPr>
              <a:t>(</a:t>
            </a:r>
            <a:r>
              <a:rPr lang="en-US" sz="1600" dirty="0">
                <a:solidFill>
                  <a:srgbClr val="6A3E3E"/>
                </a:solidFill>
                <a:latin typeface="Consolas" panose="020B0609020204030204" pitchFamily="49" charset="0"/>
              </a:rPr>
              <a:t>j</a:t>
            </a:r>
            <a:r>
              <a:rPr lang="en-US" sz="1600" dirty="0">
                <a:solidFill>
                  <a:srgbClr val="000000"/>
                </a:solidFill>
                <a:latin typeface="Consolas" panose="020B0609020204030204" pitchFamily="49" charset="0"/>
              </a:rPr>
              <a:t>) == </a:t>
            </a:r>
            <a:r>
              <a:rPr lang="en-US" sz="1600" dirty="0" err="1">
                <a:solidFill>
                  <a:srgbClr val="6A3E3E"/>
                </a:solidFill>
                <a:latin typeface="Consolas" panose="020B0609020204030204" pitchFamily="49" charset="0"/>
              </a:rPr>
              <a:t>txt</a:t>
            </a:r>
            <a:r>
              <a:rPr lang="en-US" sz="1600" dirty="0" err="1">
                <a:solidFill>
                  <a:srgbClr val="000000"/>
                </a:solidFill>
                <a:latin typeface="Consolas" panose="020B0609020204030204" pitchFamily="49" charset="0"/>
              </a:rPr>
              <a:t>.charAt</a:t>
            </a:r>
            <a:r>
              <a:rPr lang="en-US" sz="1600" dirty="0">
                <a:solidFill>
                  <a:srgbClr val="000000"/>
                </a:solidFill>
                <a:latin typeface="Consolas" panose="020B0609020204030204" pitchFamily="49" charset="0"/>
              </a:rPr>
              <a:t>(</a:t>
            </a:r>
            <a:r>
              <a:rPr lang="en-US" sz="1600" dirty="0" err="1">
                <a:solidFill>
                  <a:srgbClr val="6A3E3E"/>
                </a:solidFill>
                <a:latin typeface="Consolas" panose="020B0609020204030204" pitchFamily="49" charset="0"/>
              </a:rPr>
              <a:t>i</a:t>
            </a:r>
            <a:r>
              <a:rPr lang="en-US" sz="1600" dirty="0">
                <a:solidFill>
                  <a:srgbClr val="000000"/>
                </a:solidFill>
                <a:latin typeface="Consolas" panose="020B0609020204030204" pitchFamily="49" charset="0"/>
              </a:rPr>
              <a:t>)) {</a:t>
            </a:r>
          </a:p>
          <a:p>
            <a:r>
              <a:rPr lang="en-US" sz="1600" dirty="0">
                <a:solidFill>
                  <a:srgbClr val="6A3E3E"/>
                </a:solidFill>
                <a:latin typeface="Consolas" panose="020B0609020204030204" pitchFamily="49" charset="0"/>
              </a:rPr>
              <a:t>	</a:t>
            </a:r>
            <a:r>
              <a:rPr lang="en-US" sz="1600" dirty="0" err="1">
                <a:solidFill>
                  <a:srgbClr val="6A3E3E"/>
                </a:solidFill>
                <a:latin typeface="Consolas" panose="020B0609020204030204" pitchFamily="49" charset="0"/>
              </a:rPr>
              <a:t>j</a:t>
            </a:r>
            <a:r>
              <a:rPr lang="en-US" sz="1600" dirty="0" err="1">
                <a:solidFill>
                  <a:srgbClr val="00000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err="1">
                <a:solidFill>
                  <a:srgbClr val="6A3E3E"/>
                </a:solidFill>
                <a:latin typeface="Consolas" panose="020B0609020204030204" pitchFamily="49" charset="0"/>
              </a:rPr>
              <a:t>i</a:t>
            </a:r>
            <a:r>
              <a:rPr lang="en-US" sz="1600" dirty="0">
                <a:solidFill>
                  <a:srgbClr val="000000"/>
                </a:solidFill>
                <a:latin typeface="Consolas" panose="020B0609020204030204" pitchFamily="49" charset="0"/>
              </a:rPr>
              <a:t>++; }</a:t>
            </a:r>
          </a:p>
          <a:p>
            <a:r>
              <a:rPr lang="en-US" sz="1600" b="1" dirty="0">
                <a:solidFill>
                  <a:srgbClr val="7F0055"/>
                </a:solidFill>
                <a:latin typeface="Consolas" panose="020B0609020204030204" pitchFamily="49" charset="0"/>
              </a:rPr>
              <a:t>        if</a:t>
            </a:r>
            <a:r>
              <a:rPr lang="en-US" sz="1600" dirty="0">
                <a:solidFill>
                  <a:srgbClr val="000000"/>
                </a:solidFill>
                <a:latin typeface="Consolas" panose="020B0609020204030204" pitchFamily="49" charset="0"/>
              </a:rPr>
              <a:t> (</a:t>
            </a:r>
            <a:r>
              <a:rPr lang="en-US" sz="1600" dirty="0">
                <a:solidFill>
                  <a:srgbClr val="6A3E3E"/>
                </a:solidFill>
                <a:latin typeface="Consolas" panose="020B0609020204030204" pitchFamily="49" charset="0"/>
              </a:rPr>
              <a:t>j</a:t>
            </a:r>
            <a:r>
              <a:rPr lang="en-US" sz="1600" dirty="0">
                <a:solidFill>
                  <a:srgbClr val="000000"/>
                </a:solidFill>
                <a:latin typeface="Consolas" panose="020B0609020204030204" pitchFamily="49" charset="0"/>
              </a:rPr>
              <a:t> == </a:t>
            </a:r>
            <a:r>
              <a:rPr lang="en-US" sz="1600" dirty="0">
                <a:solidFill>
                  <a:srgbClr val="6A3E3E"/>
                </a:solidFill>
                <a:latin typeface="Consolas" panose="020B0609020204030204" pitchFamily="49" charset="0"/>
              </a:rPr>
              <a:t>M</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System.</a:t>
            </a:r>
            <a:r>
              <a:rPr lang="en-US" sz="1600" b="1" i="1" dirty="0" err="1">
                <a:solidFill>
                  <a:srgbClr val="0000C0"/>
                </a:solidFill>
                <a:latin typeface="Consolas" panose="020B0609020204030204" pitchFamily="49" charset="0"/>
              </a:rPr>
              <a:t>out</a:t>
            </a:r>
            <a:r>
              <a:rPr lang="en-US" sz="1600" dirty="0" err="1">
                <a:solidFill>
                  <a:srgbClr val="000000"/>
                </a:solidFill>
                <a:latin typeface="Consolas" panose="020B0609020204030204" pitchFamily="49" charset="0"/>
              </a:rPr>
              <a:t>.println</a:t>
            </a:r>
            <a:r>
              <a:rPr lang="en-US" sz="1600" dirty="0">
                <a:solidFill>
                  <a:srgbClr val="000000"/>
                </a:solidFill>
                <a:latin typeface="Consolas" panose="020B0609020204030204" pitchFamily="49" charset="0"/>
              </a:rPr>
              <a:t>(</a:t>
            </a:r>
            <a:r>
              <a:rPr lang="en-US" sz="1600" dirty="0">
                <a:solidFill>
                  <a:srgbClr val="2A00FF"/>
                </a:solidFill>
                <a:latin typeface="Consolas" panose="020B0609020204030204" pitchFamily="49" charset="0"/>
              </a:rPr>
              <a:t>"Found pattern "</a:t>
            </a:r>
            <a:r>
              <a:rPr lang="en-US" sz="1600" dirty="0">
                <a:solidFill>
                  <a:srgbClr val="000000"/>
                </a:solidFill>
                <a:latin typeface="Consolas" panose="020B0609020204030204" pitchFamily="49" charset="0"/>
              </a:rPr>
              <a:t>+ </a:t>
            </a:r>
            <a:r>
              <a:rPr lang="en-US" sz="1600" dirty="0">
                <a:solidFill>
                  <a:srgbClr val="2A00FF"/>
                </a:solidFill>
                <a:latin typeface="Consolas" panose="020B0609020204030204" pitchFamily="49" charset="0"/>
              </a:rPr>
              <a:t>"at index "</a:t>
            </a:r>
            <a:r>
              <a:rPr lang="en-US" sz="1600" dirty="0">
                <a:solidFill>
                  <a:srgbClr val="000000"/>
                </a:solidFill>
                <a:latin typeface="Consolas" panose="020B0609020204030204" pitchFamily="49" charset="0"/>
              </a:rPr>
              <a:t>+(</a:t>
            </a:r>
            <a:r>
              <a:rPr lang="en-US" sz="1600" dirty="0" err="1">
                <a:solidFill>
                  <a:srgbClr val="6A3E3E"/>
                </a:solidFill>
                <a:latin typeface="Consolas" panose="020B0609020204030204" pitchFamily="49" charset="0"/>
              </a:rPr>
              <a:t>i</a:t>
            </a:r>
            <a:r>
              <a:rPr lang="en-US" sz="1600" dirty="0">
                <a:solidFill>
                  <a:srgbClr val="000000"/>
                </a:solidFill>
                <a:latin typeface="Consolas" panose="020B0609020204030204" pitchFamily="49" charset="0"/>
              </a:rPr>
              <a:t>- </a:t>
            </a:r>
            <a:r>
              <a:rPr lang="en-US" sz="1600" dirty="0">
                <a:solidFill>
                  <a:srgbClr val="6A3E3E"/>
                </a:solidFill>
                <a:latin typeface="Consolas" panose="020B0609020204030204" pitchFamily="49" charset="0"/>
              </a:rPr>
              <a:t>j</a:t>
            </a:r>
            <a:r>
              <a:rPr lang="en-US" sz="1600" dirty="0">
                <a:solidFill>
                  <a:srgbClr val="000000"/>
                </a:solidFill>
                <a:latin typeface="Consolas" panose="020B0609020204030204" pitchFamily="49" charset="0"/>
              </a:rPr>
              <a:t>));</a:t>
            </a:r>
          </a:p>
          <a:p>
            <a:r>
              <a:rPr lang="en-US" sz="1600" dirty="0">
                <a:solidFill>
                  <a:srgbClr val="6A3E3E"/>
                </a:solidFill>
                <a:latin typeface="Consolas" panose="020B0609020204030204" pitchFamily="49" charset="0"/>
              </a:rPr>
              <a:t>          j</a:t>
            </a:r>
            <a:r>
              <a:rPr lang="en-US" sz="1600" dirty="0">
                <a:solidFill>
                  <a:srgbClr val="000000"/>
                </a:solidFill>
                <a:latin typeface="Consolas" panose="020B0609020204030204" pitchFamily="49" charset="0"/>
              </a:rPr>
              <a:t> = </a:t>
            </a:r>
            <a:r>
              <a:rPr lang="en-US" sz="1600" dirty="0" err="1">
                <a:solidFill>
                  <a:srgbClr val="6A3E3E"/>
                </a:solidFill>
                <a:latin typeface="Consolas" panose="020B0609020204030204" pitchFamily="49" charset="0"/>
              </a:rPr>
              <a:t>lps</a:t>
            </a:r>
            <a:r>
              <a:rPr lang="en-US" sz="1600" dirty="0">
                <a:solidFill>
                  <a:srgbClr val="000000"/>
                </a:solidFill>
                <a:latin typeface="Consolas" panose="020B0609020204030204" pitchFamily="49" charset="0"/>
              </a:rPr>
              <a:t>[</a:t>
            </a:r>
            <a:r>
              <a:rPr lang="en-US" sz="1600" dirty="0">
                <a:solidFill>
                  <a:srgbClr val="6A3E3E"/>
                </a:solidFill>
                <a:latin typeface="Consolas" panose="020B0609020204030204" pitchFamily="49" charset="0"/>
              </a:rPr>
              <a:t>j</a:t>
            </a:r>
            <a:r>
              <a:rPr lang="en-US" sz="1600" dirty="0">
                <a:solidFill>
                  <a:srgbClr val="000000"/>
                </a:solidFill>
                <a:latin typeface="Consolas" panose="020B0609020204030204" pitchFamily="49" charset="0"/>
              </a:rPr>
              <a:t> - 1];</a:t>
            </a:r>
          </a:p>
          <a:p>
            <a:r>
              <a:rPr lang="en-US" sz="1600" dirty="0">
                <a:solidFill>
                  <a:srgbClr val="000000"/>
                </a:solidFill>
                <a:latin typeface="Consolas" panose="020B0609020204030204" pitchFamily="49" charset="0"/>
              </a:rPr>
              <a:t>         }</a:t>
            </a:r>
          </a:p>
          <a:p>
            <a:r>
              <a:rPr lang="en-US" sz="1600" b="1" dirty="0">
                <a:solidFill>
                  <a:srgbClr val="7F0055"/>
                </a:solidFill>
                <a:latin typeface="Consolas" panose="020B0609020204030204" pitchFamily="49" charset="0"/>
              </a:rPr>
              <a:t>       else</a:t>
            </a:r>
            <a:r>
              <a:rPr lang="en-US" sz="1600" dirty="0">
                <a:solidFill>
                  <a:srgbClr val="000000"/>
                </a:solidFill>
                <a:latin typeface="Consolas" panose="020B0609020204030204" pitchFamily="49" charset="0"/>
              </a:rPr>
              <a:t> </a:t>
            </a:r>
            <a:r>
              <a:rPr lang="en-US" sz="1600" b="1" dirty="0">
                <a:solidFill>
                  <a:srgbClr val="7F0055"/>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6A3E3E"/>
                </a:solidFill>
                <a:latin typeface="Consolas" panose="020B0609020204030204" pitchFamily="49" charset="0"/>
              </a:rPr>
              <a:t>i</a:t>
            </a:r>
            <a:r>
              <a:rPr lang="en-US" sz="1600" dirty="0">
                <a:solidFill>
                  <a:srgbClr val="000000"/>
                </a:solidFill>
                <a:latin typeface="Consolas" panose="020B0609020204030204" pitchFamily="49" charset="0"/>
              </a:rPr>
              <a:t> &lt; </a:t>
            </a:r>
            <a:r>
              <a:rPr lang="en-US" sz="1600" dirty="0">
                <a:solidFill>
                  <a:srgbClr val="6A3E3E"/>
                </a:solidFill>
                <a:latin typeface="Consolas" panose="020B0609020204030204" pitchFamily="49" charset="0"/>
              </a:rPr>
              <a:t>N</a:t>
            </a:r>
            <a:r>
              <a:rPr lang="en-US" sz="1600" dirty="0">
                <a:solidFill>
                  <a:srgbClr val="000000"/>
                </a:solidFill>
                <a:latin typeface="Consolas" panose="020B0609020204030204" pitchFamily="49" charset="0"/>
              </a:rPr>
              <a:t> &amp;&amp; </a:t>
            </a:r>
            <a:r>
              <a:rPr lang="en-US" sz="1600" dirty="0" err="1">
                <a:solidFill>
                  <a:srgbClr val="6A3E3E"/>
                </a:solidFill>
                <a:latin typeface="Consolas" panose="020B0609020204030204" pitchFamily="49" charset="0"/>
              </a:rPr>
              <a:t>pat</a:t>
            </a:r>
            <a:r>
              <a:rPr lang="en-US" sz="1600" dirty="0" err="1">
                <a:solidFill>
                  <a:srgbClr val="000000"/>
                </a:solidFill>
                <a:latin typeface="Consolas" panose="020B0609020204030204" pitchFamily="49" charset="0"/>
              </a:rPr>
              <a:t>.charAt</a:t>
            </a:r>
            <a:r>
              <a:rPr lang="en-US" sz="1600" dirty="0">
                <a:solidFill>
                  <a:srgbClr val="000000"/>
                </a:solidFill>
                <a:latin typeface="Consolas" panose="020B0609020204030204" pitchFamily="49" charset="0"/>
              </a:rPr>
              <a:t>(</a:t>
            </a:r>
            <a:r>
              <a:rPr lang="en-US" sz="1600" dirty="0">
                <a:solidFill>
                  <a:srgbClr val="6A3E3E"/>
                </a:solidFill>
                <a:latin typeface="Consolas" panose="020B0609020204030204" pitchFamily="49" charset="0"/>
              </a:rPr>
              <a:t>j</a:t>
            </a:r>
            <a:r>
              <a:rPr lang="en-US" sz="1600" dirty="0">
                <a:solidFill>
                  <a:srgbClr val="000000"/>
                </a:solidFill>
                <a:latin typeface="Consolas" panose="020B0609020204030204" pitchFamily="49" charset="0"/>
              </a:rPr>
              <a:t>) != </a:t>
            </a:r>
            <a:r>
              <a:rPr lang="en-US" sz="1600" dirty="0" err="1">
                <a:solidFill>
                  <a:srgbClr val="6A3E3E"/>
                </a:solidFill>
                <a:latin typeface="Consolas" panose="020B0609020204030204" pitchFamily="49" charset="0"/>
              </a:rPr>
              <a:t>txt</a:t>
            </a:r>
            <a:r>
              <a:rPr lang="en-US" sz="1600" dirty="0" err="1">
                <a:solidFill>
                  <a:srgbClr val="000000"/>
                </a:solidFill>
                <a:latin typeface="Consolas" panose="020B0609020204030204" pitchFamily="49" charset="0"/>
              </a:rPr>
              <a:t>.charAt</a:t>
            </a:r>
            <a:r>
              <a:rPr lang="en-US" sz="1600" dirty="0">
                <a:solidFill>
                  <a:srgbClr val="000000"/>
                </a:solidFill>
                <a:latin typeface="Consolas" panose="020B0609020204030204" pitchFamily="49" charset="0"/>
              </a:rPr>
              <a:t>(</a:t>
            </a:r>
            <a:r>
              <a:rPr lang="en-US" sz="1600" dirty="0" err="1">
                <a:solidFill>
                  <a:srgbClr val="6A3E3E"/>
                </a:solidFill>
                <a:latin typeface="Consolas" panose="020B0609020204030204" pitchFamily="49" charset="0"/>
              </a:rPr>
              <a:t>i</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p>
          <a:p>
            <a:endParaRPr lang="en-US" sz="1600" dirty="0">
              <a:solidFill>
                <a:srgbClr val="000000"/>
              </a:solidFill>
              <a:latin typeface="Consolas" panose="020B0609020204030204" pitchFamily="49" charset="0"/>
            </a:endParaRPr>
          </a:p>
        </p:txBody>
      </p:sp>
      <p:sp>
        <p:nvSpPr>
          <p:cNvPr id="5" name="Rectangle 4"/>
          <p:cNvSpPr/>
          <p:nvPr/>
        </p:nvSpPr>
        <p:spPr>
          <a:xfrm>
            <a:off x="1503312" y="4723030"/>
            <a:ext cx="4056435" cy="1815882"/>
          </a:xfrm>
          <a:prstGeom prst="rect">
            <a:avLst/>
          </a:prstGeom>
        </p:spPr>
        <p:txBody>
          <a:bodyPr wrap="square">
            <a:spAutoFit/>
          </a:bodyPr>
          <a:lstStyle/>
          <a:p>
            <a:pPr lvl="3"/>
            <a:r>
              <a:rPr lang="en-US" sz="1600" b="1" dirty="0">
                <a:solidFill>
                  <a:srgbClr val="7F0055"/>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a:solidFill>
                  <a:srgbClr val="6A3E3E"/>
                </a:solidFill>
                <a:latin typeface="Consolas" panose="020B0609020204030204" pitchFamily="49" charset="0"/>
              </a:rPr>
              <a:t>j</a:t>
            </a:r>
            <a:r>
              <a:rPr lang="en-US" sz="1600" dirty="0">
                <a:solidFill>
                  <a:srgbClr val="000000"/>
                </a:solidFill>
                <a:latin typeface="Consolas" panose="020B0609020204030204" pitchFamily="49" charset="0"/>
              </a:rPr>
              <a:t> != 0)</a:t>
            </a:r>
          </a:p>
          <a:p>
            <a:pPr lvl="3"/>
            <a:r>
              <a:rPr lang="en-US" sz="1600" dirty="0">
                <a:solidFill>
                  <a:srgbClr val="6A3E3E"/>
                </a:solidFill>
                <a:latin typeface="Consolas" panose="020B0609020204030204" pitchFamily="49" charset="0"/>
              </a:rPr>
              <a:t>j</a:t>
            </a:r>
            <a:r>
              <a:rPr lang="en-US" sz="1600" dirty="0">
                <a:solidFill>
                  <a:srgbClr val="000000"/>
                </a:solidFill>
                <a:latin typeface="Consolas" panose="020B0609020204030204" pitchFamily="49" charset="0"/>
              </a:rPr>
              <a:t> = </a:t>
            </a:r>
            <a:r>
              <a:rPr lang="en-US" sz="1600" dirty="0" err="1">
                <a:solidFill>
                  <a:srgbClr val="6A3E3E"/>
                </a:solidFill>
                <a:latin typeface="Consolas" panose="020B0609020204030204" pitchFamily="49" charset="0"/>
              </a:rPr>
              <a:t>lps</a:t>
            </a:r>
            <a:r>
              <a:rPr lang="en-US" sz="1600" dirty="0">
                <a:solidFill>
                  <a:srgbClr val="000000"/>
                </a:solidFill>
                <a:latin typeface="Consolas" panose="020B0609020204030204" pitchFamily="49" charset="0"/>
              </a:rPr>
              <a:t>[</a:t>
            </a:r>
            <a:r>
              <a:rPr lang="en-US" sz="1600" dirty="0">
                <a:solidFill>
                  <a:srgbClr val="6A3E3E"/>
                </a:solidFill>
                <a:latin typeface="Consolas" panose="020B0609020204030204" pitchFamily="49" charset="0"/>
              </a:rPr>
              <a:t>j</a:t>
            </a:r>
            <a:r>
              <a:rPr lang="en-US" sz="1600" dirty="0">
                <a:solidFill>
                  <a:srgbClr val="000000"/>
                </a:solidFill>
                <a:latin typeface="Consolas" panose="020B0609020204030204" pitchFamily="49" charset="0"/>
              </a:rPr>
              <a:t> - 1];</a:t>
            </a:r>
          </a:p>
          <a:p>
            <a:pPr lvl="3"/>
            <a:r>
              <a:rPr lang="en-US" sz="1600" b="1" dirty="0">
                <a:solidFill>
                  <a:srgbClr val="7F0055"/>
                </a:solidFill>
                <a:latin typeface="Consolas" panose="020B0609020204030204" pitchFamily="49" charset="0"/>
              </a:rPr>
              <a:t>else</a:t>
            </a:r>
            <a:endParaRPr lang="en-US" sz="1600" dirty="0">
              <a:solidFill>
                <a:srgbClr val="000000"/>
              </a:solidFill>
              <a:latin typeface="Consolas" panose="020B0609020204030204" pitchFamily="49" charset="0"/>
            </a:endParaRPr>
          </a:p>
          <a:p>
            <a:pPr lvl="3"/>
            <a:r>
              <a:rPr lang="en-US" sz="1600" dirty="0" err="1">
                <a:solidFill>
                  <a:srgbClr val="6A3E3E"/>
                </a:solidFill>
                <a:latin typeface="Consolas" panose="020B0609020204030204" pitchFamily="49" charset="0"/>
              </a:rPr>
              <a:t>i</a:t>
            </a:r>
            <a:r>
              <a:rPr lang="en-US" sz="1600" dirty="0">
                <a:solidFill>
                  <a:srgbClr val="000000"/>
                </a:solidFill>
                <a:latin typeface="Consolas" panose="020B0609020204030204" pitchFamily="49" charset="0"/>
              </a:rPr>
              <a:t> = </a:t>
            </a:r>
            <a:r>
              <a:rPr lang="en-US" sz="1600" dirty="0" err="1">
                <a:solidFill>
                  <a:srgbClr val="6A3E3E"/>
                </a:solidFill>
                <a:latin typeface="Consolas" panose="020B0609020204030204" pitchFamily="49" charset="0"/>
              </a:rPr>
              <a:t>i</a:t>
            </a:r>
            <a:r>
              <a:rPr lang="en-US" sz="1600" dirty="0">
                <a:solidFill>
                  <a:srgbClr val="000000"/>
                </a:solidFill>
                <a:latin typeface="Consolas" panose="020B0609020204030204" pitchFamily="49" charset="0"/>
              </a:rPr>
              <a:t> + 1; </a:t>
            </a:r>
          </a:p>
          <a:p>
            <a:r>
              <a:rPr lang="en-US" sz="1600" dirty="0">
                <a:solidFill>
                  <a:srgbClr val="000000"/>
                </a:solidFill>
                <a:latin typeface="Consolas" panose="020B0609020204030204" pitchFamily="49" charset="0"/>
              </a:rPr>
              <a:t>	}  //else if close    </a:t>
            </a:r>
          </a:p>
          <a:p>
            <a:r>
              <a:rPr lang="en-US" sz="1600" dirty="0">
                <a:solidFill>
                  <a:srgbClr val="000000"/>
                </a:solidFill>
                <a:latin typeface="Consolas" panose="020B0609020204030204" pitchFamily="49" charset="0"/>
              </a:rPr>
              <a:t>      }    //while close</a:t>
            </a:r>
          </a:p>
          <a:p>
            <a:r>
              <a:rPr lang="en-US" sz="1600" dirty="0">
                <a:solidFill>
                  <a:srgbClr val="000000"/>
                </a:solidFill>
                <a:latin typeface="Consolas" panose="020B0609020204030204" pitchFamily="49" charset="0"/>
              </a:rPr>
              <a:t>     } //function close</a:t>
            </a:r>
            <a:endParaRPr lang="en-US" dirty="0"/>
          </a:p>
        </p:txBody>
      </p:sp>
    </p:spTree>
    <p:extLst>
      <p:ext uri="{BB962C8B-B14F-4D97-AF65-F5344CB8AC3E}">
        <p14:creationId xmlns:p14="http://schemas.microsoft.com/office/powerpoint/2010/main" val="34758795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47</a:t>
            </a:fld>
            <a:endParaRPr lang="en-AU"/>
          </a:p>
        </p:txBody>
      </p:sp>
      <p:sp>
        <p:nvSpPr>
          <p:cNvPr id="4" name="Rectangle 3"/>
          <p:cNvSpPr/>
          <p:nvPr/>
        </p:nvSpPr>
        <p:spPr>
          <a:xfrm>
            <a:off x="770484" y="917912"/>
            <a:ext cx="5797685" cy="5940088"/>
          </a:xfrm>
          <a:prstGeom prst="rect">
            <a:avLst/>
          </a:prstGeom>
        </p:spPr>
        <p:txBody>
          <a:bodyPr wrap="square">
            <a:spAutoFit/>
          </a:bodyPr>
          <a:lstStyle/>
          <a:p>
            <a:r>
              <a:rPr lang="en-US" sz="2000" b="1" dirty="0">
                <a:solidFill>
                  <a:srgbClr val="7F0055"/>
                </a:solidFill>
                <a:latin typeface="Times New Roman" panose="02020603050405020304" pitchFamily="18" charset="0"/>
                <a:cs typeface="Times New Roman" panose="02020603050405020304" pitchFamily="18" charset="0"/>
              </a:rPr>
              <a:t>void</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err="1">
                <a:solidFill>
                  <a:srgbClr val="000000"/>
                </a:solidFill>
                <a:latin typeface="Times New Roman" panose="02020603050405020304" pitchFamily="18" charset="0"/>
                <a:cs typeface="Times New Roman" panose="02020603050405020304" pitchFamily="18" charset="0"/>
              </a:rPr>
              <a:t>computeLPSArray</a:t>
            </a:r>
            <a:r>
              <a:rPr lang="en-US" sz="2000" dirty="0">
                <a:solidFill>
                  <a:srgbClr val="000000"/>
                </a:solidFill>
                <a:latin typeface="Times New Roman" panose="02020603050405020304" pitchFamily="18" charset="0"/>
                <a:cs typeface="Times New Roman" panose="02020603050405020304" pitchFamily="18" charset="0"/>
              </a:rPr>
              <a:t>(String </a:t>
            </a:r>
            <a:r>
              <a:rPr lang="en-US" sz="2000" dirty="0">
                <a:solidFill>
                  <a:srgbClr val="6A3E3E"/>
                </a:solidFill>
                <a:latin typeface="Times New Roman" panose="02020603050405020304" pitchFamily="18" charset="0"/>
                <a:cs typeface="Times New Roman" panose="02020603050405020304" pitchFamily="18" charset="0"/>
              </a:rPr>
              <a:t>pat</a:t>
            </a:r>
            <a:r>
              <a:rPr lang="en-US" sz="2000" dirty="0">
                <a:solidFill>
                  <a:srgbClr val="000000"/>
                </a:solidFill>
                <a:latin typeface="Times New Roman" panose="02020603050405020304" pitchFamily="18" charset="0"/>
                <a:cs typeface="Times New Roman" panose="02020603050405020304" pitchFamily="18" charset="0"/>
              </a:rPr>
              <a:t>, </a:t>
            </a:r>
            <a:r>
              <a:rPr lang="en-US" sz="2000" b="1" dirty="0" err="1">
                <a:solidFill>
                  <a:srgbClr val="7F0055"/>
                </a:solidFill>
                <a:latin typeface="Times New Roman" panose="02020603050405020304" pitchFamily="18" charset="0"/>
                <a:cs typeface="Times New Roman" panose="02020603050405020304" pitchFamily="18" charset="0"/>
              </a:rPr>
              <a:t>int</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a:solidFill>
                  <a:srgbClr val="6A3E3E"/>
                </a:solidFill>
                <a:latin typeface="Times New Roman" panose="02020603050405020304" pitchFamily="18" charset="0"/>
                <a:cs typeface="Times New Roman" panose="02020603050405020304" pitchFamily="18" charset="0"/>
              </a:rPr>
              <a:t>M</a:t>
            </a:r>
            <a:r>
              <a:rPr lang="en-US" sz="2000" dirty="0">
                <a:solidFill>
                  <a:srgbClr val="000000"/>
                </a:solidFill>
                <a:latin typeface="Times New Roman" panose="02020603050405020304" pitchFamily="18" charset="0"/>
                <a:cs typeface="Times New Roman" panose="02020603050405020304" pitchFamily="18" charset="0"/>
              </a:rPr>
              <a:t>, </a:t>
            </a:r>
            <a:r>
              <a:rPr lang="en-US" sz="2000" b="1" dirty="0" err="1">
                <a:solidFill>
                  <a:srgbClr val="7F0055"/>
                </a:solidFill>
                <a:latin typeface="Times New Roman" panose="02020603050405020304" pitchFamily="18" charset="0"/>
                <a:cs typeface="Times New Roman" panose="02020603050405020304" pitchFamily="18" charset="0"/>
              </a:rPr>
              <a:t>int</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err="1">
                <a:solidFill>
                  <a:srgbClr val="6A3E3E"/>
                </a:solidFill>
                <a:latin typeface="Times New Roman" panose="02020603050405020304" pitchFamily="18" charset="0"/>
                <a:cs typeface="Times New Roman" panose="02020603050405020304" pitchFamily="18" charset="0"/>
              </a:rPr>
              <a:t>lps</a:t>
            </a:r>
            <a:r>
              <a:rPr lang="en-US" sz="2000" dirty="0">
                <a:solidFill>
                  <a:srgbClr val="000000"/>
                </a:solidFill>
                <a:latin typeface="Times New Roman" panose="02020603050405020304" pitchFamily="18" charset="0"/>
                <a:cs typeface="Times New Roman" panose="02020603050405020304" pitchFamily="18" charset="0"/>
              </a:rPr>
              <a:t>[]){</a:t>
            </a:r>
          </a:p>
          <a:p>
            <a:pPr lvl="1"/>
            <a:r>
              <a:rPr lang="en-US" sz="2000" b="1" dirty="0" err="1">
                <a:solidFill>
                  <a:srgbClr val="7F0055"/>
                </a:solidFill>
                <a:latin typeface="Times New Roman" panose="02020603050405020304" pitchFamily="18" charset="0"/>
                <a:cs typeface="Times New Roman" panose="02020603050405020304" pitchFamily="18" charset="0"/>
              </a:rPr>
              <a:t>int</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err="1">
                <a:solidFill>
                  <a:srgbClr val="6A3E3E"/>
                </a:solidFill>
                <a:latin typeface="Times New Roman" panose="02020603050405020304" pitchFamily="18" charset="0"/>
                <a:cs typeface="Times New Roman" panose="02020603050405020304" pitchFamily="18" charset="0"/>
              </a:rPr>
              <a:t>len</a:t>
            </a:r>
            <a:r>
              <a:rPr lang="en-US" sz="2000" dirty="0">
                <a:solidFill>
                  <a:srgbClr val="000000"/>
                </a:solidFill>
                <a:latin typeface="Times New Roman" panose="02020603050405020304" pitchFamily="18" charset="0"/>
                <a:cs typeface="Times New Roman" panose="02020603050405020304" pitchFamily="18" charset="0"/>
              </a:rPr>
              <a:t> = 0;</a:t>
            </a:r>
          </a:p>
          <a:p>
            <a:pPr lvl="1"/>
            <a:r>
              <a:rPr lang="en-US" sz="2000" b="1" dirty="0" err="1">
                <a:solidFill>
                  <a:srgbClr val="7F0055"/>
                </a:solidFill>
                <a:latin typeface="Times New Roman" panose="02020603050405020304" pitchFamily="18" charset="0"/>
                <a:cs typeface="Times New Roman" panose="02020603050405020304" pitchFamily="18" charset="0"/>
              </a:rPr>
              <a:t>int</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err="1">
                <a:solidFill>
                  <a:srgbClr val="6A3E3E"/>
                </a:solidFill>
                <a:latin typeface="Times New Roman" panose="02020603050405020304" pitchFamily="18" charset="0"/>
                <a:cs typeface="Times New Roman" panose="02020603050405020304" pitchFamily="18" charset="0"/>
              </a:rPr>
              <a:t>i</a:t>
            </a:r>
            <a:r>
              <a:rPr lang="en-US" sz="2000" dirty="0">
                <a:solidFill>
                  <a:srgbClr val="000000"/>
                </a:solidFill>
                <a:latin typeface="Times New Roman" panose="02020603050405020304" pitchFamily="18" charset="0"/>
                <a:cs typeface="Times New Roman" panose="02020603050405020304" pitchFamily="18" charset="0"/>
              </a:rPr>
              <a:t> = 1;</a:t>
            </a:r>
          </a:p>
          <a:p>
            <a:pPr lvl="1"/>
            <a:r>
              <a:rPr lang="en-US" sz="2000" dirty="0" err="1">
                <a:solidFill>
                  <a:srgbClr val="6A3E3E"/>
                </a:solidFill>
                <a:latin typeface="Times New Roman" panose="02020603050405020304" pitchFamily="18" charset="0"/>
                <a:cs typeface="Times New Roman" panose="02020603050405020304" pitchFamily="18" charset="0"/>
              </a:rPr>
              <a:t>lps</a:t>
            </a:r>
            <a:r>
              <a:rPr lang="en-US" sz="2000" dirty="0">
                <a:solidFill>
                  <a:srgbClr val="000000"/>
                </a:solidFill>
                <a:latin typeface="Times New Roman" panose="02020603050405020304" pitchFamily="18" charset="0"/>
                <a:cs typeface="Times New Roman" panose="02020603050405020304" pitchFamily="18" charset="0"/>
              </a:rPr>
              <a:t>[0] = 0; </a:t>
            </a:r>
          </a:p>
          <a:p>
            <a:pPr lvl="1"/>
            <a:r>
              <a:rPr lang="en-US" sz="2000" b="1" dirty="0">
                <a:solidFill>
                  <a:srgbClr val="7F0055"/>
                </a:solidFill>
                <a:latin typeface="Times New Roman" panose="02020603050405020304" pitchFamily="18" charset="0"/>
                <a:cs typeface="Times New Roman" panose="02020603050405020304" pitchFamily="18" charset="0"/>
              </a:rPr>
              <a:t>while</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err="1">
                <a:solidFill>
                  <a:srgbClr val="6A3E3E"/>
                </a:solidFill>
                <a:latin typeface="Times New Roman" panose="02020603050405020304" pitchFamily="18" charset="0"/>
                <a:cs typeface="Times New Roman" panose="02020603050405020304" pitchFamily="18" charset="0"/>
              </a:rPr>
              <a:t>i</a:t>
            </a:r>
            <a:r>
              <a:rPr lang="en-US" sz="2000" dirty="0">
                <a:solidFill>
                  <a:srgbClr val="000000"/>
                </a:solidFill>
                <a:latin typeface="Times New Roman" panose="02020603050405020304" pitchFamily="18" charset="0"/>
                <a:cs typeface="Times New Roman" panose="02020603050405020304" pitchFamily="18" charset="0"/>
              </a:rPr>
              <a:t> &lt; </a:t>
            </a:r>
            <a:r>
              <a:rPr lang="en-US" sz="2000" dirty="0">
                <a:solidFill>
                  <a:srgbClr val="6A3E3E"/>
                </a:solidFill>
                <a:latin typeface="Times New Roman" panose="02020603050405020304" pitchFamily="18" charset="0"/>
                <a:cs typeface="Times New Roman" panose="02020603050405020304" pitchFamily="18" charset="0"/>
              </a:rPr>
              <a:t>M</a:t>
            </a:r>
            <a:r>
              <a:rPr lang="en-US" sz="2000" dirty="0">
                <a:solidFill>
                  <a:srgbClr val="000000"/>
                </a:solidFill>
                <a:latin typeface="Times New Roman" panose="02020603050405020304" pitchFamily="18" charset="0"/>
                <a:cs typeface="Times New Roman" panose="02020603050405020304" pitchFamily="18" charset="0"/>
              </a:rPr>
              <a:t>) {</a:t>
            </a:r>
          </a:p>
          <a:p>
            <a:pPr lvl="1"/>
            <a:r>
              <a:rPr lang="en-US" sz="2000" b="1" dirty="0">
                <a:solidFill>
                  <a:srgbClr val="7F0055"/>
                </a:solidFill>
                <a:latin typeface="Times New Roman" panose="02020603050405020304" pitchFamily="18" charset="0"/>
                <a:cs typeface="Times New Roman" panose="02020603050405020304" pitchFamily="18" charset="0"/>
              </a:rPr>
              <a:t>	if</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err="1">
                <a:solidFill>
                  <a:srgbClr val="6A3E3E"/>
                </a:solidFill>
                <a:latin typeface="Times New Roman" panose="02020603050405020304" pitchFamily="18" charset="0"/>
                <a:cs typeface="Times New Roman" panose="02020603050405020304" pitchFamily="18" charset="0"/>
              </a:rPr>
              <a:t>pat</a:t>
            </a:r>
            <a:r>
              <a:rPr lang="en-US" sz="2000" dirty="0" err="1">
                <a:solidFill>
                  <a:srgbClr val="000000"/>
                </a:solidFill>
                <a:latin typeface="Times New Roman" panose="02020603050405020304" pitchFamily="18" charset="0"/>
                <a:cs typeface="Times New Roman" panose="02020603050405020304" pitchFamily="18" charset="0"/>
              </a:rPr>
              <a:t>.charAt</a:t>
            </a:r>
            <a:r>
              <a:rPr lang="en-US" sz="2000" dirty="0">
                <a:solidFill>
                  <a:srgbClr val="000000"/>
                </a:solidFill>
                <a:latin typeface="Times New Roman" panose="02020603050405020304" pitchFamily="18" charset="0"/>
                <a:cs typeface="Times New Roman" panose="02020603050405020304" pitchFamily="18" charset="0"/>
              </a:rPr>
              <a:t>(</a:t>
            </a:r>
            <a:r>
              <a:rPr lang="en-US" sz="2000" dirty="0" err="1">
                <a:solidFill>
                  <a:srgbClr val="6A3E3E"/>
                </a:solidFill>
                <a:latin typeface="Times New Roman" panose="02020603050405020304" pitchFamily="18" charset="0"/>
                <a:cs typeface="Times New Roman" panose="02020603050405020304" pitchFamily="18" charset="0"/>
              </a:rPr>
              <a:t>i</a:t>
            </a:r>
            <a:r>
              <a:rPr lang="en-US" sz="2000" dirty="0">
                <a:solidFill>
                  <a:srgbClr val="000000"/>
                </a:solidFill>
                <a:latin typeface="Times New Roman" panose="02020603050405020304" pitchFamily="18" charset="0"/>
                <a:cs typeface="Times New Roman" panose="02020603050405020304" pitchFamily="18" charset="0"/>
              </a:rPr>
              <a:t>) == </a:t>
            </a:r>
            <a:r>
              <a:rPr lang="en-US" sz="2000" dirty="0" err="1">
                <a:solidFill>
                  <a:srgbClr val="6A3E3E"/>
                </a:solidFill>
                <a:latin typeface="Times New Roman" panose="02020603050405020304" pitchFamily="18" charset="0"/>
                <a:cs typeface="Times New Roman" panose="02020603050405020304" pitchFamily="18" charset="0"/>
              </a:rPr>
              <a:t>pat</a:t>
            </a:r>
            <a:r>
              <a:rPr lang="en-US" sz="2000" dirty="0" err="1">
                <a:solidFill>
                  <a:srgbClr val="000000"/>
                </a:solidFill>
                <a:latin typeface="Times New Roman" panose="02020603050405020304" pitchFamily="18" charset="0"/>
                <a:cs typeface="Times New Roman" panose="02020603050405020304" pitchFamily="18" charset="0"/>
              </a:rPr>
              <a:t>.charAt</a:t>
            </a:r>
            <a:r>
              <a:rPr lang="en-US" sz="2000" dirty="0">
                <a:solidFill>
                  <a:srgbClr val="000000"/>
                </a:solidFill>
                <a:latin typeface="Times New Roman" panose="02020603050405020304" pitchFamily="18" charset="0"/>
                <a:cs typeface="Times New Roman" panose="02020603050405020304" pitchFamily="18" charset="0"/>
              </a:rPr>
              <a:t>(</a:t>
            </a:r>
            <a:r>
              <a:rPr lang="en-US" sz="2000" dirty="0" err="1">
                <a:solidFill>
                  <a:srgbClr val="6A3E3E"/>
                </a:solidFill>
                <a:latin typeface="Times New Roman" panose="02020603050405020304" pitchFamily="18" charset="0"/>
                <a:cs typeface="Times New Roman" panose="02020603050405020304" pitchFamily="18" charset="0"/>
              </a:rPr>
              <a:t>len</a:t>
            </a:r>
            <a:r>
              <a:rPr lang="en-US" sz="2000" dirty="0">
                <a:solidFill>
                  <a:srgbClr val="000000"/>
                </a:solidFill>
                <a:latin typeface="Times New Roman" panose="02020603050405020304" pitchFamily="18" charset="0"/>
                <a:cs typeface="Times New Roman" panose="02020603050405020304" pitchFamily="18" charset="0"/>
              </a:rPr>
              <a:t>)) {</a:t>
            </a:r>
          </a:p>
          <a:p>
            <a:pPr lvl="2"/>
            <a:r>
              <a:rPr lang="en-US" sz="2000" dirty="0" err="1">
                <a:solidFill>
                  <a:srgbClr val="6A3E3E"/>
                </a:solidFill>
                <a:latin typeface="Times New Roman" panose="02020603050405020304" pitchFamily="18" charset="0"/>
                <a:cs typeface="Times New Roman" panose="02020603050405020304" pitchFamily="18" charset="0"/>
              </a:rPr>
              <a:t>len</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err="1">
                <a:solidFill>
                  <a:srgbClr val="6A3E3E"/>
                </a:solidFill>
                <a:latin typeface="Times New Roman" panose="02020603050405020304" pitchFamily="18" charset="0"/>
                <a:cs typeface="Times New Roman" panose="02020603050405020304" pitchFamily="18" charset="0"/>
              </a:rPr>
              <a:t>lps</a:t>
            </a:r>
            <a:r>
              <a:rPr lang="en-US" sz="2000" dirty="0">
                <a:solidFill>
                  <a:srgbClr val="000000"/>
                </a:solidFill>
                <a:latin typeface="Times New Roman" panose="02020603050405020304" pitchFamily="18" charset="0"/>
                <a:cs typeface="Times New Roman" panose="02020603050405020304" pitchFamily="18" charset="0"/>
              </a:rPr>
              <a:t>[</a:t>
            </a:r>
            <a:r>
              <a:rPr lang="en-US" sz="2000" dirty="0" err="1">
                <a:solidFill>
                  <a:srgbClr val="6A3E3E"/>
                </a:solidFill>
                <a:latin typeface="Times New Roman" panose="02020603050405020304" pitchFamily="18" charset="0"/>
                <a:cs typeface="Times New Roman" panose="02020603050405020304" pitchFamily="18" charset="0"/>
              </a:rPr>
              <a:t>i</a:t>
            </a:r>
            <a:r>
              <a:rPr lang="en-US" sz="2000" dirty="0">
                <a:solidFill>
                  <a:srgbClr val="000000"/>
                </a:solidFill>
                <a:latin typeface="Times New Roman" panose="02020603050405020304" pitchFamily="18" charset="0"/>
                <a:cs typeface="Times New Roman" panose="02020603050405020304" pitchFamily="18" charset="0"/>
              </a:rPr>
              <a:t>] = </a:t>
            </a:r>
            <a:r>
              <a:rPr lang="en-US" sz="2000" dirty="0" err="1">
                <a:solidFill>
                  <a:srgbClr val="6A3E3E"/>
                </a:solidFill>
                <a:latin typeface="Times New Roman" panose="02020603050405020304" pitchFamily="18" charset="0"/>
                <a:cs typeface="Times New Roman" panose="02020603050405020304" pitchFamily="18" charset="0"/>
              </a:rPr>
              <a:t>len</a:t>
            </a:r>
            <a:r>
              <a:rPr lang="en-US" sz="2000" dirty="0" err="1">
                <a:solidFill>
                  <a:srgbClr val="000000"/>
                </a:solidFill>
                <a:latin typeface="Times New Roman" panose="02020603050405020304" pitchFamily="18" charset="0"/>
                <a:cs typeface="Times New Roman" panose="02020603050405020304" pitchFamily="18" charset="0"/>
              </a:rPr>
              <a:t>;</a:t>
            </a:r>
            <a:r>
              <a:rPr lang="en-US" sz="2000" dirty="0" err="1">
                <a:solidFill>
                  <a:srgbClr val="6A3E3E"/>
                </a:solidFill>
                <a:latin typeface="Times New Roman" panose="02020603050405020304" pitchFamily="18" charset="0"/>
                <a:cs typeface="Times New Roman" panose="02020603050405020304" pitchFamily="18" charset="0"/>
              </a:rPr>
              <a:t>i</a:t>
            </a:r>
            <a:r>
              <a:rPr lang="en-US" sz="2000" dirty="0">
                <a:solidFill>
                  <a:srgbClr val="000000"/>
                </a:solidFill>
                <a:latin typeface="Times New Roman" panose="02020603050405020304" pitchFamily="18" charset="0"/>
                <a:cs typeface="Times New Roman" panose="02020603050405020304" pitchFamily="18" charset="0"/>
              </a:rPr>
              <a:t>++; }</a:t>
            </a:r>
          </a:p>
          <a:p>
            <a:pPr lvl="1"/>
            <a:r>
              <a:rPr lang="en-US" sz="2000" b="1" dirty="0">
                <a:solidFill>
                  <a:srgbClr val="7F0055"/>
                </a:solidFill>
                <a:latin typeface="Times New Roman" panose="02020603050405020304" pitchFamily="18" charset="0"/>
                <a:cs typeface="Times New Roman" panose="02020603050405020304" pitchFamily="18" charset="0"/>
              </a:rPr>
              <a:t>      else</a:t>
            </a:r>
            <a:r>
              <a:rPr lang="en-US" sz="2000" dirty="0">
                <a:solidFill>
                  <a:srgbClr val="000000"/>
                </a:solidFill>
                <a:latin typeface="Times New Roman" panose="02020603050405020304" pitchFamily="18" charset="0"/>
                <a:cs typeface="Times New Roman" panose="02020603050405020304" pitchFamily="18" charset="0"/>
              </a:rPr>
              <a:t> </a:t>
            </a:r>
          </a:p>
          <a:p>
            <a:pPr lvl="2"/>
            <a:r>
              <a:rPr lang="en-US" sz="2000" dirty="0">
                <a:solidFill>
                  <a:srgbClr val="000000"/>
                </a:solidFill>
                <a:latin typeface="Times New Roman" panose="02020603050405020304" pitchFamily="18" charset="0"/>
                <a:cs typeface="Times New Roman" panose="02020603050405020304" pitchFamily="18" charset="0"/>
              </a:rPr>
              <a:t>{</a:t>
            </a:r>
          </a:p>
          <a:p>
            <a:pPr lvl="3"/>
            <a:r>
              <a:rPr lang="en-US" sz="2000" b="1" dirty="0">
                <a:solidFill>
                  <a:srgbClr val="7F0055"/>
                </a:solidFill>
                <a:latin typeface="Times New Roman" panose="02020603050405020304" pitchFamily="18" charset="0"/>
                <a:cs typeface="Times New Roman" panose="02020603050405020304" pitchFamily="18" charset="0"/>
              </a:rPr>
              <a:t>if</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err="1">
                <a:solidFill>
                  <a:srgbClr val="6A3E3E"/>
                </a:solidFill>
                <a:latin typeface="Times New Roman" panose="02020603050405020304" pitchFamily="18" charset="0"/>
                <a:cs typeface="Times New Roman" panose="02020603050405020304" pitchFamily="18" charset="0"/>
              </a:rPr>
              <a:t>len</a:t>
            </a:r>
            <a:r>
              <a:rPr lang="en-US" sz="2000" dirty="0">
                <a:solidFill>
                  <a:srgbClr val="000000"/>
                </a:solidFill>
                <a:latin typeface="Times New Roman" panose="02020603050405020304" pitchFamily="18" charset="0"/>
                <a:cs typeface="Times New Roman" panose="02020603050405020304" pitchFamily="18" charset="0"/>
              </a:rPr>
              <a:t> != 0) </a:t>
            </a:r>
          </a:p>
          <a:p>
            <a:pPr lvl="3"/>
            <a:r>
              <a:rPr lang="en-US" sz="2000" dirty="0">
                <a:solidFill>
                  <a:srgbClr val="6A3E3E"/>
                </a:solidFill>
                <a:latin typeface="Times New Roman" panose="02020603050405020304" pitchFamily="18" charset="0"/>
                <a:cs typeface="Times New Roman" panose="02020603050405020304" pitchFamily="18" charset="0"/>
              </a:rPr>
              <a:t>	</a:t>
            </a:r>
            <a:r>
              <a:rPr lang="en-US" sz="2000" dirty="0" err="1">
                <a:solidFill>
                  <a:srgbClr val="6A3E3E"/>
                </a:solidFill>
                <a:latin typeface="Times New Roman" panose="02020603050405020304" pitchFamily="18" charset="0"/>
                <a:cs typeface="Times New Roman" panose="02020603050405020304" pitchFamily="18" charset="0"/>
              </a:rPr>
              <a:t>len</a:t>
            </a:r>
            <a:r>
              <a:rPr lang="en-US" sz="2000" dirty="0">
                <a:solidFill>
                  <a:srgbClr val="000000"/>
                </a:solidFill>
                <a:latin typeface="Times New Roman" panose="02020603050405020304" pitchFamily="18" charset="0"/>
                <a:cs typeface="Times New Roman" panose="02020603050405020304" pitchFamily="18" charset="0"/>
              </a:rPr>
              <a:t> = </a:t>
            </a:r>
            <a:r>
              <a:rPr lang="en-US" sz="2000" dirty="0" err="1">
                <a:solidFill>
                  <a:srgbClr val="6A3E3E"/>
                </a:solidFill>
                <a:latin typeface="Times New Roman" panose="02020603050405020304" pitchFamily="18" charset="0"/>
                <a:cs typeface="Times New Roman" panose="02020603050405020304" pitchFamily="18" charset="0"/>
              </a:rPr>
              <a:t>lps</a:t>
            </a:r>
            <a:r>
              <a:rPr lang="en-US" sz="2000" dirty="0">
                <a:solidFill>
                  <a:srgbClr val="000000"/>
                </a:solidFill>
                <a:latin typeface="Times New Roman" panose="02020603050405020304" pitchFamily="18" charset="0"/>
                <a:cs typeface="Times New Roman" panose="02020603050405020304" pitchFamily="18" charset="0"/>
              </a:rPr>
              <a:t>[</a:t>
            </a:r>
            <a:r>
              <a:rPr lang="en-US" sz="2000" dirty="0" err="1">
                <a:solidFill>
                  <a:srgbClr val="6A3E3E"/>
                </a:solidFill>
                <a:latin typeface="Times New Roman" panose="02020603050405020304" pitchFamily="18" charset="0"/>
                <a:cs typeface="Times New Roman" panose="02020603050405020304" pitchFamily="18" charset="0"/>
              </a:rPr>
              <a:t>len</a:t>
            </a:r>
            <a:r>
              <a:rPr lang="en-US" sz="2000" dirty="0">
                <a:solidFill>
                  <a:srgbClr val="000000"/>
                </a:solidFill>
                <a:latin typeface="Times New Roman" panose="02020603050405020304" pitchFamily="18" charset="0"/>
                <a:cs typeface="Times New Roman" panose="02020603050405020304" pitchFamily="18" charset="0"/>
              </a:rPr>
              <a:t> - 1];</a:t>
            </a:r>
          </a:p>
          <a:p>
            <a:pPr lvl="3"/>
            <a:r>
              <a:rPr lang="en-US" sz="2000" b="1" dirty="0">
                <a:solidFill>
                  <a:srgbClr val="7F0055"/>
                </a:solidFill>
                <a:latin typeface="Times New Roman" panose="02020603050405020304" pitchFamily="18" charset="0"/>
                <a:cs typeface="Times New Roman" panose="02020603050405020304" pitchFamily="18" charset="0"/>
              </a:rPr>
              <a:t>else</a:t>
            </a:r>
            <a:r>
              <a:rPr lang="en-US" sz="2000" dirty="0">
                <a:solidFill>
                  <a:srgbClr val="000000"/>
                </a:solidFill>
                <a:latin typeface="Times New Roman" panose="02020603050405020304" pitchFamily="18" charset="0"/>
                <a:cs typeface="Times New Roman" panose="02020603050405020304" pitchFamily="18" charset="0"/>
              </a:rPr>
              <a:t> </a:t>
            </a:r>
          </a:p>
          <a:p>
            <a:pPr lvl="3"/>
            <a:r>
              <a:rPr lang="en-US" sz="2000" dirty="0">
                <a:solidFill>
                  <a:srgbClr val="000000"/>
                </a:solidFill>
                <a:latin typeface="Times New Roman" panose="02020603050405020304" pitchFamily="18" charset="0"/>
                <a:cs typeface="Times New Roman" panose="02020603050405020304" pitchFamily="18" charset="0"/>
              </a:rPr>
              <a:t>{</a:t>
            </a:r>
          </a:p>
          <a:p>
            <a:pPr lvl="4"/>
            <a:r>
              <a:rPr lang="en-US" sz="2000" dirty="0" err="1">
                <a:solidFill>
                  <a:srgbClr val="6A3E3E"/>
                </a:solidFill>
                <a:latin typeface="Times New Roman" panose="02020603050405020304" pitchFamily="18" charset="0"/>
                <a:cs typeface="Times New Roman" panose="02020603050405020304" pitchFamily="18" charset="0"/>
              </a:rPr>
              <a:t>lps</a:t>
            </a:r>
            <a:r>
              <a:rPr lang="en-US" sz="2000" dirty="0">
                <a:solidFill>
                  <a:srgbClr val="000000"/>
                </a:solidFill>
                <a:latin typeface="Times New Roman" panose="02020603050405020304" pitchFamily="18" charset="0"/>
                <a:cs typeface="Times New Roman" panose="02020603050405020304" pitchFamily="18" charset="0"/>
              </a:rPr>
              <a:t>[</a:t>
            </a:r>
            <a:r>
              <a:rPr lang="en-US" sz="2000" dirty="0" err="1">
                <a:solidFill>
                  <a:srgbClr val="6A3E3E"/>
                </a:solidFill>
                <a:latin typeface="Times New Roman" panose="02020603050405020304" pitchFamily="18" charset="0"/>
                <a:cs typeface="Times New Roman" panose="02020603050405020304" pitchFamily="18" charset="0"/>
              </a:rPr>
              <a:t>i</a:t>
            </a:r>
            <a:r>
              <a:rPr lang="en-US" sz="2000" dirty="0">
                <a:solidFill>
                  <a:srgbClr val="000000"/>
                </a:solidFill>
                <a:latin typeface="Times New Roman" panose="02020603050405020304" pitchFamily="18" charset="0"/>
                <a:cs typeface="Times New Roman" panose="02020603050405020304" pitchFamily="18" charset="0"/>
              </a:rPr>
              <a:t>] = </a:t>
            </a:r>
            <a:r>
              <a:rPr lang="en-US" sz="2000" dirty="0" err="1">
                <a:solidFill>
                  <a:srgbClr val="6A3E3E"/>
                </a:solidFill>
                <a:latin typeface="Times New Roman" panose="02020603050405020304" pitchFamily="18" charset="0"/>
                <a:cs typeface="Times New Roman" panose="02020603050405020304" pitchFamily="18" charset="0"/>
              </a:rPr>
              <a:t>len</a:t>
            </a:r>
            <a:r>
              <a:rPr lang="en-US" sz="2000" dirty="0">
                <a:solidFill>
                  <a:srgbClr val="000000"/>
                </a:solidFill>
                <a:latin typeface="Times New Roman" panose="02020603050405020304" pitchFamily="18" charset="0"/>
                <a:cs typeface="Times New Roman" panose="02020603050405020304" pitchFamily="18" charset="0"/>
              </a:rPr>
              <a:t>;</a:t>
            </a:r>
          </a:p>
          <a:p>
            <a:pPr lvl="4"/>
            <a:r>
              <a:rPr lang="en-US" sz="2000" dirty="0" err="1">
                <a:solidFill>
                  <a:srgbClr val="6A3E3E"/>
                </a:solidFill>
                <a:latin typeface="Times New Roman" panose="02020603050405020304" pitchFamily="18" charset="0"/>
                <a:cs typeface="Times New Roman" panose="02020603050405020304" pitchFamily="18" charset="0"/>
              </a:rPr>
              <a:t>i</a:t>
            </a:r>
            <a:r>
              <a:rPr lang="en-US" sz="2000" dirty="0">
                <a:solidFill>
                  <a:srgbClr val="000000"/>
                </a:solidFill>
                <a:latin typeface="Times New Roman" panose="02020603050405020304" pitchFamily="18" charset="0"/>
                <a:cs typeface="Times New Roman" panose="02020603050405020304" pitchFamily="18" charset="0"/>
              </a:rPr>
              <a:t>++;</a:t>
            </a:r>
          </a:p>
          <a:p>
            <a:pPr lvl="3"/>
            <a:r>
              <a:rPr lang="en-US" sz="2000" dirty="0">
                <a:solidFill>
                  <a:srgbClr val="000000"/>
                </a:solidFill>
                <a:latin typeface="Times New Roman" panose="02020603050405020304" pitchFamily="18" charset="0"/>
                <a:cs typeface="Times New Roman" panose="02020603050405020304" pitchFamily="18" charset="0"/>
              </a:rPr>
              <a:t>}</a:t>
            </a:r>
          </a:p>
          <a:p>
            <a:pPr lvl="1"/>
            <a:r>
              <a:rPr lang="en-US" sz="2000" dirty="0">
                <a:solidFill>
                  <a:srgbClr val="000000"/>
                </a:solidFill>
                <a:latin typeface="Times New Roman" panose="02020603050405020304" pitchFamily="18" charset="0"/>
                <a:cs typeface="Times New Roman" panose="02020603050405020304" pitchFamily="18" charset="0"/>
              </a:rPr>
              <a:t>          }</a:t>
            </a:r>
          </a:p>
          <a:p>
            <a:pPr lvl="1"/>
            <a:r>
              <a:rPr lang="en-US" sz="2000" dirty="0">
                <a:solidFill>
                  <a:srgbClr val="000000"/>
                </a:solidFill>
                <a:latin typeface="Times New Roman" panose="02020603050405020304" pitchFamily="18" charset="0"/>
                <a:cs typeface="Times New Roman" panose="02020603050405020304" pitchFamily="18" charset="0"/>
              </a:rPr>
              <a:t>       }</a:t>
            </a:r>
          </a:p>
          <a:p>
            <a:pPr lvl="1"/>
            <a:r>
              <a:rPr lang="en-US" sz="2000" dirty="0">
                <a:solidFill>
                  <a:srgbClr val="000000"/>
                </a:solidFill>
                <a:latin typeface="Times New Roman" panose="02020603050405020304" pitchFamily="18" charset="0"/>
                <a:cs typeface="Times New Roman" panose="02020603050405020304" pitchFamily="18" charset="0"/>
              </a:rPr>
              <a:t>}</a:t>
            </a:r>
          </a:p>
        </p:txBody>
      </p:sp>
      <p:sp>
        <p:nvSpPr>
          <p:cNvPr id="5" name="Rectangle 4"/>
          <p:cNvSpPr/>
          <p:nvPr/>
        </p:nvSpPr>
        <p:spPr>
          <a:xfrm>
            <a:off x="6744510" y="1001038"/>
            <a:ext cx="5152418" cy="2031325"/>
          </a:xfrm>
          <a:prstGeom prst="rect">
            <a:avLst/>
          </a:prstGeom>
        </p:spPr>
        <p:txBody>
          <a:bodyPr wrap="square">
            <a:spAutoFit/>
          </a:bodyPr>
          <a:lstStyle/>
          <a:p>
            <a:r>
              <a:rPr lang="en-US" b="1" dirty="0">
                <a:solidFill>
                  <a:srgbClr val="7F0055"/>
                </a:solidFill>
                <a:latin typeface="Times New Roman" panose="02020603050405020304" pitchFamily="18" charset="0"/>
                <a:cs typeface="Times New Roman" panose="02020603050405020304" pitchFamily="18" charset="0"/>
              </a:rPr>
              <a:t>public</a:t>
            </a:r>
            <a:r>
              <a:rPr lang="en-US" dirty="0">
                <a:solidFill>
                  <a:srgbClr val="000000"/>
                </a:solidFill>
                <a:latin typeface="Times New Roman" panose="02020603050405020304" pitchFamily="18" charset="0"/>
                <a:cs typeface="Times New Roman" panose="02020603050405020304" pitchFamily="18" charset="0"/>
              </a:rPr>
              <a:t> </a:t>
            </a:r>
            <a:r>
              <a:rPr lang="en-US" b="1" dirty="0">
                <a:solidFill>
                  <a:srgbClr val="7F0055"/>
                </a:solidFill>
                <a:latin typeface="Times New Roman" panose="02020603050405020304" pitchFamily="18" charset="0"/>
                <a:cs typeface="Times New Roman" panose="02020603050405020304" pitchFamily="18" charset="0"/>
              </a:rPr>
              <a:t>static</a:t>
            </a:r>
            <a:r>
              <a:rPr lang="en-US" dirty="0">
                <a:solidFill>
                  <a:srgbClr val="000000"/>
                </a:solidFill>
                <a:latin typeface="Times New Roman" panose="02020603050405020304" pitchFamily="18" charset="0"/>
                <a:cs typeface="Times New Roman" panose="02020603050405020304" pitchFamily="18" charset="0"/>
              </a:rPr>
              <a:t> </a:t>
            </a:r>
            <a:r>
              <a:rPr lang="en-US" b="1" dirty="0">
                <a:solidFill>
                  <a:srgbClr val="7F0055"/>
                </a:solidFill>
                <a:latin typeface="Times New Roman" panose="02020603050405020304" pitchFamily="18" charset="0"/>
                <a:cs typeface="Times New Roman" panose="02020603050405020304" pitchFamily="18" charset="0"/>
              </a:rPr>
              <a:t>void</a:t>
            </a:r>
            <a:r>
              <a:rPr lang="en-US" dirty="0">
                <a:solidFill>
                  <a:srgbClr val="000000"/>
                </a:solidFill>
                <a:latin typeface="Times New Roman" panose="02020603050405020304" pitchFamily="18" charset="0"/>
                <a:cs typeface="Times New Roman" panose="02020603050405020304" pitchFamily="18" charset="0"/>
              </a:rPr>
              <a:t> main(String </a:t>
            </a:r>
            <a:r>
              <a:rPr lang="en-US" dirty="0">
                <a:solidFill>
                  <a:srgbClr val="6A3E3E"/>
                </a:solidFill>
                <a:latin typeface="Times New Roman" panose="02020603050405020304" pitchFamily="18" charset="0"/>
                <a:cs typeface="Times New Roman" panose="02020603050405020304" pitchFamily="18" charset="0"/>
              </a:rPr>
              <a:t>args</a:t>
            </a:r>
            <a:r>
              <a:rPr lang="en-US" dirty="0">
                <a:solidFill>
                  <a:srgbClr val="000000"/>
                </a:solidFill>
                <a:latin typeface="Times New Roman" panose="02020603050405020304" pitchFamily="18" charset="0"/>
                <a:cs typeface="Times New Roman" panose="02020603050405020304" pitchFamily="18" charset="0"/>
              </a:rPr>
              <a:t>[])</a:t>
            </a:r>
          </a:p>
          <a:p>
            <a:r>
              <a:rPr lang="en-US" dirty="0">
                <a:solidFill>
                  <a:srgbClr val="000000"/>
                </a:solidFill>
                <a:latin typeface="Times New Roman" panose="02020603050405020304" pitchFamily="18" charset="0"/>
                <a:cs typeface="Times New Roman" panose="02020603050405020304" pitchFamily="18" charset="0"/>
              </a:rPr>
              <a:t>{</a:t>
            </a:r>
          </a:p>
          <a:p>
            <a:pPr lvl="1"/>
            <a:r>
              <a:rPr lang="en-US" dirty="0">
                <a:solidFill>
                  <a:srgbClr val="000000"/>
                </a:solidFill>
                <a:latin typeface="Times New Roman" panose="02020603050405020304" pitchFamily="18" charset="0"/>
                <a:cs typeface="Times New Roman" panose="02020603050405020304" pitchFamily="18" charset="0"/>
              </a:rPr>
              <a:t>String </a:t>
            </a:r>
            <a:r>
              <a:rPr lang="en-US" dirty="0">
                <a:solidFill>
                  <a:srgbClr val="6A3E3E"/>
                </a:solidFill>
                <a:latin typeface="Times New Roman" panose="02020603050405020304" pitchFamily="18" charset="0"/>
                <a:cs typeface="Times New Roman" panose="02020603050405020304" pitchFamily="18" charset="0"/>
              </a:rPr>
              <a:t>txt</a:t>
            </a:r>
            <a:r>
              <a:rPr lang="en-US" dirty="0">
                <a:solidFill>
                  <a:srgbClr val="000000"/>
                </a:solidFill>
                <a:latin typeface="Times New Roman" panose="02020603050405020304" pitchFamily="18" charset="0"/>
                <a:cs typeface="Times New Roman" panose="02020603050405020304" pitchFamily="18" charset="0"/>
              </a:rPr>
              <a:t> = </a:t>
            </a:r>
            <a:r>
              <a:rPr lang="en-US" dirty="0">
                <a:solidFill>
                  <a:srgbClr val="2A00FF"/>
                </a:solidFill>
                <a:latin typeface="Times New Roman" panose="02020603050405020304" pitchFamily="18" charset="0"/>
                <a:cs typeface="Times New Roman" panose="02020603050405020304" pitchFamily="18" charset="0"/>
              </a:rPr>
              <a:t>"ABABDABACDABABCABAB"</a:t>
            </a:r>
            <a:r>
              <a:rPr lang="en-US" dirty="0">
                <a:solidFill>
                  <a:srgbClr val="000000"/>
                </a:solidFill>
                <a:latin typeface="Times New Roman" panose="02020603050405020304" pitchFamily="18" charset="0"/>
                <a:cs typeface="Times New Roman" panose="02020603050405020304" pitchFamily="18" charset="0"/>
              </a:rPr>
              <a:t>;</a:t>
            </a:r>
          </a:p>
          <a:p>
            <a:pPr lvl="1"/>
            <a:r>
              <a:rPr lang="en-US" dirty="0">
                <a:solidFill>
                  <a:srgbClr val="000000"/>
                </a:solidFill>
                <a:latin typeface="Times New Roman" panose="02020603050405020304" pitchFamily="18" charset="0"/>
                <a:cs typeface="Times New Roman" panose="02020603050405020304" pitchFamily="18" charset="0"/>
              </a:rPr>
              <a:t>String </a:t>
            </a:r>
            <a:r>
              <a:rPr lang="en-US" dirty="0">
                <a:solidFill>
                  <a:srgbClr val="6A3E3E"/>
                </a:solidFill>
                <a:latin typeface="Times New Roman" panose="02020603050405020304" pitchFamily="18" charset="0"/>
                <a:cs typeface="Times New Roman" panose="02020603050405020304" pitchFamily="18" charset="0"/>
              </a:rPr>
              <a:t>pat</a:t>
            </a:r>
            <a:r>
              <a:rPr lang="en-US" dirty="0">
                <a:solidFill>
                  <a:srgbClr val="000000"/>
                </a:solidFill>
                <a:latin typeface="Times New Roman" panose="02020603050405020304" pitchFamily="18" charset="0"/>
                <a:cs typeface="Times New Roman" panose="02020603050405020304" pitchFamily="18" charset="0"/>
              </a:rPr>
              <a:t> =</a:t>
            </a:r>
            <a:r>
              <a:rPr lang="en-US" dirty="0">
                <a:solidFill>
                  <a:srgbClr val="2A00FF"/>
                </a:solidFill>
                <a:latin typeface="Times New Roman" panose="02020603050405020304" pitchFamily="18" charset="0"/>
                <a:cs typeface="Times New Roman" panose="02020603050405020304" pitchFamily="18" charset="0"/>
              </a:rPr>
              <a:t>"ABA"</a:t>
            </a:r>
            <a:r>
              <a:rPr lang="en-US" dirty="0">
                <a:solidFill>
                  <a:srgbClr val="000000"/>
                </a:solidFill>
                <a:latin typeface="Times New Roman" panose="02020603050405020304" pitchFamily="18" charset="0"/>
                <a:cs typeface="Times New Roman" panose="02020603050405020304" pitchFamily="18" charset="0"/>
              </a:rPr>
              <a:t>;</a:t>
            </a:r>
          </a:p>
          <a:p>
            <a:pPr lvl="1"/>
            <a:r>
              <a:rPr lang="en-US" b="1" dirty="0">
                <a:solidFill>
                  <a:srgbClr val="7F0055"/>
                </a:solidFill>
                <a:latin typeface="Times New Roman" panose="02020603050405020304" pitchFamily="18" charset="0"/>
                <a:cs typeface="Times New Roman" panose="02020603050405020304" pitchFamily="18" charset="0"/>
              </a:rPr>
              <a:t>new</a:t>
            </a: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KMPString</a:t>
            </a:r>
            <a:r>
              <a:rPr lang="en-US" dirty="0">
                <a:solidFill>
                  <a:srgbClr val="000000"/>
                </a:solidFill>
                <a:latin typeface="Times New Roman" panose="02020603050405020304" pitchFamily="18" charset="0"/>
                <a:cs typeface="Times New Roman" panose="02020603050405020304" pitchFamily="18" charset="0"/>
              </a:rPr>
              <a:t>().</a:t>
            </a:r>
            <a:r>
              <a:rPr lang="en-US" dirty="0" err="1">
                <a:solidFill>
                  <a:srgbClr val="000000"/>
                </a:solidFill>
                <a:latin typeface="Times New Roman" panose="02020603050405020304" pitchFamily="18" charset="0"/>
                <a:cs typeface="Times New Roman" panose="02020603050405020304" pitchFamily="18" charset="0"/>
              </a:rPr>
              <a:t>KMPSearch</a:t>
            </a:r>
            <a:r>
              <a:rPr lang="en-US" dirty="0">
                <a:solidFill>
                  <a:srgbClr val="000000"/>
                </a:solidFill>
                <a:latin typeface="Times New Roman" panose="02020603050405020304" pitchFamily="18" charset="0"/>
                <a:cs typeface="Times New Roman" panose="02020603050405020304" pitchFamily="18" charset="0"/>
              </a:rPr>
              <a:t>(</a:t>
            </a:r>
            <a:r>
              <a:rPr lang="en-US" dirty="0">
                <a:solidFill>
                  <a:srgbClr val="6A3E3E"/>
                </a:solidFill>
                <a:latin typeface="Times New Roman" panose="02020603050405020304" pitchFamily="18" charset="0"/>
                <a:cs typeface="Times New Roman" panose="02020603050405020304" pitchFamily="18" charset="0"/>
              </a:rPr>
              <a:t>pat</a:t>
            </a:r>
            <a:r>
              <a:rPr lang="en-US" dirty="0">
                <a:solidFill>
                  <a:srgbClr val="000000"/>
                </a:solidFill>
                <a:latin typeface="Times New Roman" panose="02020603050405020304" pitchFamily="18" charset="0"/>
                <a:cs typeface="Times New Roman" panose="02020603050405020304" pitchFamily="18" charset="0"/>
              </a:rPr>
              <a:t>, </a:t>
            </a:r>
            <a:r>
              <a:rPr lang="en-US" dirty="0">
                <a:solidFill>
                  <a:srgbClr val="6A3E3E"/>
                </a:solidFill>
                <a:latin typeface="Times New Roman" panose="02020603050405020304" pitchFamily="18" charset="0"/>
                <a:cs typeface="Times New Roman" panose="02020603050405020304" pitchFamily="18" charset="0"/>
              </a:rPr>
              <a:t>txt</a:t>
            </a:r>
            <a:r>
              <a:rPr lang="en-US" dirty="0">
                <a:solidFill>
                  <a:srgbClr val="000000"/>
                </a:solidFill>
                <a:latin typeface="Times New Roman" panose="02020603050405020304" pitchFamily="18" charset="0"/>
                <a:cs typeface="Times New Roman" panose="02020603050405020304" pitchFamily="18" charset="0"/>
              </a:rPr>
              <a:t>);</a:t>
            </a:r>
          </a:p>
          <a:p>
            <a:r>
              <a:rPr lang="en-US" dirty="0">
                <a:solidFill>
                  <a:srgbClr val="000000"/>
                </a:solidFill>
                <a:latin typeface="Times New Roman" panose="02020603050405020304" pitchFamily="18" charset="0"/>
                <a:cs typeface="Times New Roman" panose="02020603050405020304" pitchFamily="18" charset="0"/>
              </a:rPr>
              <a:t>  }</a:t>
            </a:r>
          </a:p>
          <a:p>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KMPSgtring</a:t>
            </a:r>
            <a:r>
              <a:rPr lang="en-US" dirty="0">
                <a:solidFill>
                  <a:srgbClr val="000000"/>
                </a:solidFill>
                <a:latin typeface="Times New Roman" panose="02020603050405020304" pitchFamily="18" charset="0"/>
                <a:cs typeface="Times New Roman" panose="02020603050405020304" pitchFamily="18" charset="0"/>
              </a:rPr>
              <a:t> class close</a:t>
            </a:r>
          </a:p>
        </p:txBody>
      </p:sp>
      <p:sp>
        <p:nvSpPr>
          <p:cNvPr id="6" name="Rectangle 5"/>
          <p:cNvSpPr/>
          <p:nvPr/>
        </p:nvSpPr>
        <p:spPr>
          <a:xfrm>
            <a:off x="7081736" y="3373585"/>
            <a:ext cx="3829455" cy="1600438"/>
          </a:xfrm>
          <a:prstGeom prst="rect">
            <a:avLst/>
          </a:prstGeom>
        </p:spPr>
        <p:txBody>
          <a:bodyPr wrap="square">
            <a:spAutoFit/>
          </a:bodyPr>
          <a:lstStyle/>
          <a:p>
            <a:r>
              <a:rPr lang="en-US" b="1" u="sng" dirty="0">
                <a:solidFill>
                  <a:srgbClr val="000000"/>
                </a:solidFill>
                <a:latin typeface="Consolas" panose="020B0609020204030204" pitchFamily="49" charset="0"/>
              </a:rPr>
              <a:t>Output</a:t>
            </a:r>
            <a:r>
              <a:rPr lang="en-US" b="1" dirty="0">
                <a:solidFill>
                  <a:srgbClr val="000000"/>
                </a:solidFill>
                <a:latin typeface="Consolas" panose="020B0609020204030204" pitchFamily="49" charset="0"/>
              </a:rPr>
              <a:t>:</a:t>
            </a:r>
          </a:p>
          <a:p>
            <a:r>
              <a:rPr lang="en-US" sz="2000" b="1" dirty="0">
                <a:solidFill>
                  <a:srgbClr val="000000"/>
                </a:solidFill>
                <a:latin typeface="Consolas" panose="020B0609020204030204" pitchFamily="49" charset="0"/>
              </a:rPr>
              <a:t>Found pattern at index 0</a:t>
            </a:r>
          </a:p>
          <a:p>
            <a:r>
              <a:rPr lang="en-US" sz="2000" b="1" dirty="0">
                <a:solidFill>
                  <a:srgbClr val="000000"/>
                </a:solidFill>
                <a:latin typeface="Consolas" panose="020B0609020204030204" pitchFamily="49" charset="0"/>
              </a:rPr>
              <a:t>Found pattern at index 5</a:t>
            </a:r>
          </a:p>
          <a:p>
            <a:r>
              <a:rPr lang="en-US" sz="2000" b="1" dirty="0">
                <a:solidFill>
                  <a:srgbClr val="000000"/>
                </a:solidFill>
                <a:latin typeface="Consolas" panose="020B0609020204030204" pitchFamily="49" charset="0"/>
              </a:rPr>
              <a:t>Found pattern at index 10</a:t>
            </a:r>
          </a:p>
          <a:p>
            <a:r>
              <a:rPr lang="en-US" sz="2000" b="1" dirty="0">
                <a:solidFill>
                  <a:srgbClr val="000000"/>
                </a:solidFill>
                <a:latin typeface="Consolas" panose="020B0609020204030204" pitchFamily="49" charset="0"/>
              </a:rPr>
              <a:t>Found pattern at index 15</a:t>
            </a:r>
          </a:p>
        </p:txBody>
      </p:sp>
    </p:spTree>
    <p:extLst>
      <p:ext uri="{BB962C8B-B14F-4D97-AF65-F5344CB8AC3E}">
        <p14:creationId xmlns:p14="http://schemas.microsoft.com/office/powerpoint/2010/main" val="31276301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48</a:t>
            </a:fld>
            <a:endParaRPr lang="en-AU"/>
          </a:p>
        </p:txBody>
      </p:sp>
      <p:graphicFrame>
        <p:nvGraphicFramePr>
          <p:cNvPr id="4" name="Table 3"/>
          <p:cNvGraphicFramePr>
            <a:graphicFrameLocks noGrp="1"/>
          </p:cNvGraphicFramePr>
          <p:nvPr>
            <p:extLst>
              <p:ext uri="{D42A27DB-BD31-4B8C-83A1-F6EECF244321}">
                <p14:modId xmlns:p14="http://schemas.microsoft.com/office/powerpoint/2010/main" val="825599060"/>
              </p:ext>
            </p:extLst>
          </p:nvPr>
        </p:nvGraphicFramePr>
        <p:xfrm>
          <a:off x="1368419" y="1108531"/>
          <a:ext cx="9485508" cy="4496739"/>
        </p:xfrm>
        <a:graphic>
          <a:graphicData uri="http://schemas.openxmlformats.org/drawingml/2006/table">
            <a:tbl>
              <a:tblPr/>
              <a:tblGrid>
                <a:gridCol w="3161836">
                  <a:extLst>
                    <a:ext uri="{9D8B030D-6E8A-4147-A177-3AD203B41FA5}">
                      <a16:colId xmlns:a16="http://schemas.microsoft.com/office/drawing/2014/main" val="1319287199"/>
                    </a:ext>
                  </a:extLst>
                </a:gridCol>
                <a:gridCol w="3161836">
                  <a:extLst>
                    <a:ext uri="{9D8B030D-6E8A-4147-A177-3AD203B41FA5}">
                      <a16:colId xmlns:a16="http://schemas.microsoft.com/office/drawing/2014/main" val="368358663"/>
                    </a:ext>
                  </a:extLst>
                </a:gridCol>
                <a:gridCol w="3161836">
                  <a:extLst>
                    <a:ext uri="{9D8B030D-6E8A-4147-A177-3AD203B41FA5}">
                      <a16:colId xmlns:a16="http://schemas.microsoft.com/office/drawing/2014/main" val="229679794"/>
                    </a:ext>
                  </a:extLst>
                </a:gridCol>
              </a:tblGrid>
              <a:tr h="512151">
                <a:tc>
                  <a:txBody>
                    <a:bodyPr/>
                    <a:lstStyle/>
                    <a:p>
                      <a:pPr algn="ctr"/>
                      <a:r>
                        <a:rPr lang="en-US" sz="2200" b="1" dirty="0">
                          <a:latin typeface="Times New Roman" panose="02020603050405020304" pitchFamily="18" charset="0"/>
                          <a:cs typeface="Times New Roman" panose="02020603050405020304" pitchFamily="18" charset="0"/>
                        </a:rPr>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b="1" dirty="0">
                          <a:latin typeface="Times New Roman" panose="02020603050405020304" pitchFamily="18" charset="0"/>
                          <a:cs typeface="Times New Roman" panose="02020603050405020304" pitchFamily="18" charset="0"/>
                        </a:rPr>
                        <a:t>Naïve Pattern Matching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b="1" dirty="0">
                          <a:latin typeface="Times New Roman" panose="02020603050405020304" pitchFamily="18" charset="0"/>
                          <a:cs typeface="Times New Roman" panose="02020603050405020304" pitchFamily="18" charset="0"/>
                        </a:rPr>
                        <a:t>KMP Algorithm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7916366"/>
                  </a:ext>
                </a:extLst>
              </a:tr>
              <a:tr h="512151">
                <a:tc>
                  <a:txBody>
                    <a:bodyPr/>
                    <a:lstStyle/>
                    <a:p>
                      <a:r>
                        <a:rPr lang="en-US" sz="2200">
                          <a:latin typeface="Times New Roman" panose="02020603050405020304" pitchFamily="18" charset="0"/>
                          <a:cs typeface="Times New Roman" panose="02020603050405020304" pitchFamily="18" charset="0"/>
                        </a:rPr>
                        <a:t>Pattern Preprocessing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200" dirty="0">
                          <a:latin typeface="Times New Roman" panose="02020603050405020304" pitchFamily="18" charset="0"/>
                          <a:cs typeface="Times New Roman" panose="02020603050405020304" pitchFamily="18" charset="0"/>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200">
                          <a:latin typeface="Times New Roman" panose="02020603050405020304" pitchFamily="18" charset="0"/>
                          <a:cs typeface="Times New Roman" panose="02020603050405020304" pitchFamily="18" charset="0"/>
                        </a:rPr>
                        <a:t>Yes (LPS array)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5271468"/>
                  </a:ext>
                </a:extLst>
              </a:tr>
              <a:tr h="512151">
                <a:tc>
                  <a:txBody>
                    <a:bodyPr/>
                    <a:lstStyle/>
                    <a:p>
                      <a:r>
                        <a:rPr lang="en-US" sz="2200" dirty="0">
                          <a:latin typeface="Times New Roman" panose="02020603050405020304" pitchFamily="18" charset="0"/>
                          <a:cs typeface="Times New Roman" panose="02020603050405020304" pitchFamily="18" charset="0"/>
                        </a:rPr>
                        <a:t>Uses Failure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200">
                          <a:latin typeface="Times New Roman" panose="02020603050405020304" pitchFamily="18" charset="0"/>
                          <a:cs typeface="Times New Roman" panose="02020603050405020304" pitchFamily="18" charset="0"/>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200" dirty="0">
                          <a:latin typeface="Times New Roman" panose="02020603050405020304" pitchFamily="18" charset="0"/>
                          <a:cs typeface="Times New Roman" panose="02020603050405020304" pitchFamily="18" charset="0"/>
                        </a:rPr>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59373868"/>
                  </a:ext>
                </a:extLst>
              </a:tr>
              <a:tr h="512151">
                <a:tc>
                  <a:txBody>
                    <a:bodyPr/>
                    <a:lstStyle/>
                    <a:p>
                      <a:r>
                        <a:rPr lang="en-US" sz="2200" dirty="0">
                          <a:latin typeface="Times New Roman" panose="02020603050405020304" pitchFamily="18" charset="0"/>
                          <a:cs typeface="Times New Roman" panose="02020603050405020304" pitchFamily="18" charset="0"/>
                        </a:rPr>
                        <a:t>Repeated Comparisons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200">
                          <a:latin typeface="Times New Roman" panose="02020603050405020304" pitchFamily="18" charset="0"/>
                          <a:cs typeface="Times New Roman" panose="02020603050405020304" pitchFamily="18" charset="0"/>
                        </a:rPr>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200">
                          <a:latin typeface="Times New Roman" panose="02020603050405020304" pitchFamily="18" charset="0"/>
                          <a:cs typeface="Times New Roman" panose="02020603050405020304" pitchFamily="18" charset="0"/>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1547499"/>
                  </a:ext>
                </a:extLst>
              </a:tr>
              <a:tr h="512151">
                <a:tc>
                  <a:txBody>
                    <a:bodyPr/>
                    <a:lstStyle/>
                    <a:p>
                      <a:r>
                        <a:rPr lang="en-US" sz="2200">
                          <a:latin typeface="Times New Roman" panose="02020603050405020304" pitchFamily="18" charset="0"/>
                          <a:cs typeface="Times New Roman" panose="02020603050405020304" pitchFamily="18" charset="0"/>
                        </a:rPr>
                        <a:t>Restart After Mismatch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200">
                          <a:latin typeface="Times New Roman" panose="02020603050405020304" pitchFamily="18" charset="0"/>
                          <a:cs typeface="Times New Roman" panose="02020603050405020304" pitchFamily="18" charset="0"/>
                        </a:rPr>
                        <a:t>From beginning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200">
                          <a:latin typeface="Times New Roman" panose="02020603050405020304" pitchFamily="18" charset="0"/>
                          <a:cs typeface="Times New Roman" panose="02020603050405020304" pitchFamily="18" charset="0"/>
                        </a:rPr>
                        <a:t>From LPS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68666162"/>
                  </a:ext>
                </a:extLst>
              </a:tr>
              <a:tr h="512151">
                <a:tc>
                  <a:txBody>
                    <a:bodyPr/>
                    <a:lstStyle/>
                    <a:p>
                      <a:r>
                        <a:rPr lang="en-US" sz="2200">
                          <a:latin typeface="Times New Roman" panose="02020603050405020304" pitchFamily="18" charset="0"/>
                          <a:cs typeface="Times New Roman" panose="02020603050405020304" pitchFamily="18" charset="0"/>
                        </a:rPr>
                        <a:t>Worst-Case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200" b="1">
                          <a:latin typeface="Times New Roman" panose="02020603050405020304" pitchFamily="18" charset="0"/>
                          <a:cs typeface="Times New Roman" panose="02020603050405020304" pitchFamily="18" charset="0"/>
                        </a:rPr>
                        <a:t>O(n × m)</a:t>
                      </a:r>
                      <a:endParaRPr lang="en-US" sz="2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200" b="1">
                          <a:latin typeface="Times New Roman" panose="02020603050405020304" pitchFamily="18" charset="0"/>
                          <a:cs typeface="Times New Roman" panose="02020603050405020304" pitchFamily="18" charset="0"/>
                        </a:rPr>
                        <a:t>O(n + m)</a:t>
                      </a:r>
                      <a:endParaRPr lang="en-US" sz="2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6949626"/>
                  </a:ext>
                </a:extLst>
              </a:tr>
              <a:tr h="512151">
                <a:tc>
                  <a:txBody>
                    <a:bodyPr/>
                    <a:lstStyle/>
                    <a:p>
                      <a:r>
                        <a:rPr lang="en-US" sz="2200">
                          <a:latin typeface="Times New Roman" panose="02020603050405020304" pitchFamily="18" charset="0"/>
                          <a:cs typeface="Times New Roman" panose="02020603050405020304" pitchFamily="18" charset="0"/>
                        </a:rPr>
                        <a:t>Extra Space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200" b="1">
                          <a:latin typeface="Times New Roman" panose="02020603050405020304" pitchFamily="18" charset="0"/>
                          <a:cs typeface="Times New Roman" panose="02020603050405020304" pitchFamily="18" charset="0"/>
                        </a:rPr>
                        <a:t>O(1)</a:t>
                      </a:r>
                      <a:endParaRPr lang="en-US" sz="2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200" b="1">
                          <a:latin typeface="Times New Roman" panose="02020603050405020304" pitchFamily="18" charset="0"/>
                          <a:cs typeface="Times New Roman" panose="02020603050405020304" pitchFamily="18" charset="0"/>
                        </a:rPr>
                        <a:t>O(m)</a:t>
                      </a:r>
                      <a:endParaRPr lang="en-US" sz="2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6788154"/>
                  </a:ext>
                </a:extLst>
              </a:tr>
              <a:tr h="911682">
                <a:tc>
                  <a:txBody>
                    <a:bodyPr/>
                    <a:lstStyle/>
                    <a:p>
                      <a:r>
                        <a:rPr lang="en-US" sz="2200">
                          <a:latin typeface="Times New Roman" panose="02020603050405020304" pitchFamily="18" charset="0"/>
                          <a:cs typeface="Times New Roman" panose="02020603050405020304" pitchFamily="18" charset="0"/>
                        </a:rPr>
                        <a:t>Suitable For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200">
                          <a:latin typeface="Times New Roman" panose="02020603050405020304" pitchFamily="18" charset="0"/>
                          <a:cs typeface="Times New Roman" panose="02020603050405020304" pitchFamily="18" charset="0"/>
                        </a:rPr>
                        <a:t>Small texts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200" dirty="0">
                          <a:latin typeface="Times New Roman" panose="02020603050405020304" pitchFamily="18" charset="0"/>
                          <a:cs typeface="Times New Roman" panose="02020603050405020304" pitchFamily="18" charset="0"/>
                        </a:rPr>
                        <a:t>Large texts and repeated searches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6017632"/>
                  </a:ext>
                </a:extLst>
              </a:tr>
            </a:tbl>
          </a:graphicData>
        </a:graphic>
      </p:graphicFrame>
      <p:sp>
        <p:nvSpPr>
          <p:cNvPr id="5" name="Rectangle 1"/>
          <p:cNvSpPr>
            <a:spLocks noChangeArrowheads="1"/>
          </p:cNvSpPr>
          <p:nvPr/>
        </p:nvSpPr>
        <p:spPr bwMode="auto">
          <a:xfrm>
            <a:off x="3171217" y="167541"/>
            <a:ext cx="59241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latin typeface="Arial" panose="020B0604020202020204" pitchFamily="34" charset="0"/>
              </a:rPr>
              <a:t>Comparison Between Naïve and KMP</a:t>
            </a:r>
            <a:endParaRPr kumimoji="0" lang="en-US" altLang="en-US" sz="2800" b="0" i="0" u="sng"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367311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49</a:t>
            </a:fld>
            <a:endParaRPr lang="en-AU"/>
          </a:p>
        </p:txBody>
      </p:sp>
      <p:sp>
        <p:nvSpPr>
          <p:cNvPr id="4" name="Rectangle 3"/>
          <p:cNvSpPr/>
          <p:nvPr/>
        </p:nvSpPr>
        <p:spPr>
          <a:xfrm>
            <a:off x="2590800" y="781298"/>
            <a:ext cx="6786664" cy="5632311"/>
          </a:xfrm>
          <a:prstGeom prst="rect">
            <a:avLst/>
          </a:prstGeom>
        </p:spPr>
        <p:txBody>
          <a:bodyPr wrap="square">
            <a:spAutoFit/>
          </a:bodyPr>
          <a:lstStyle/>
          <a:p>
            <a:pPr marL="342900" indent="-342900">
              <a:lnSpc>
                <a:spcPct val="150000"/>
              </a:lnSpc>
              <a:buFont typeface="Wingdings" panose="05000000000000000000" pitchFamily="2" charset="2"/>
              <a:buChar char="ü"/>
            </a:pPr>
            <a:r>
              <a:rPr lang="en-US" sz="2400" dirty="0"/>
              <a:t>Search engines </a:t>
            </a:r>
          </a:p>
          <a:p>
            <a:pPr marL="342900" indent="-342900">
              <a:lnSpc>
                <a:spcPct val="150000"/>
              </a:lnSpc>
              <a:buFont typeface="Wingdings" panose="05000000000000000000" pitchFamily="2" charset="2"/>
              <a:buChar char="ü"/>
            </a:pPr>
            <a:r>
              <a:rPr lang="en-US" sz="2400" dirty="0"/>
              <a:t>Text editors (Find and Replace) </a:t>
            </a:r>
          </a:p>
          <a:p>
            <a:pPr marL="342900" indent="-342900">
              <a:lnSpc>
                <a:spcPct val="150000"/>
              </a:lnSpc>
              <a:buFont typeface="Wingdings" panose="05000000000000000000" pitchFamily="2" charset="2"/>
              <a:buChar char="ü"/>
            </a:pPr>
            <a:r>
              <a:rPr lang="en-US" sz="2400" dirty="0"/>
              <a:t>DNA sequence analysis </a:t>
            </a:r>
          </a:p>
          <a:p>
            <a:pPr marL="342900" indent="-342900">
              <a:lnSpc>
                <a:spcPct val="150000"/>
              </a:lnSpc>
              <a:buFont typeface="Wingdings" panose="05000000000000000000" pitchFamily="2" charset="2"/>
              <a:buChar char="ü"/>
            </a:pPr>
            <a:r>
              <a:rPr lang="en-US" sz="2400" dirty="0"/>
              <a:t>Bioinformatics </a:t>
            </a:r>
          </a:p>
          <a:p>
            <a:pPr marL="342900" indent="-342900">
              <a:lnSpc>
                <a:spcPct val="150000"/>
              </a:lnSpc>
              <a:buFont typeface="Wingdings" panose="05000000000000000000" pitchFamily="2" charset="2"/>
              <a:buChar char="ü"/>
            </a:pPr>
            <a:r>
              <a:rPr lang="en-US" sz="2400" dirty="0"/>
              <a:t>Plagiarism detection </a:t>
            </a:r>
          </a:p>
          <a:p>
            <a:pPr marL="342900" indent="-342900">
              <a:lnSpc>
                <a:spcPct val="150000"/>
              </a:lnSpc>
              <a:buFont typeface="Wingdings" panose="05000000000000000000" pitchFamily="2" charset="2"/>
              <a:buChar char="ü"/>
            </a:pPr>
            <a:r>
              <a:rPr lang="en-US" sz="2400" dirty="0"/>
              <a:t>Antivirus signature matching </a:t>
            </a:r>
          </a:p>
          <a:p>
            <a:pPr marL="342900" indent="-342900">
              <a:lnSpc>
                <a:spcPct val="150000"/>
              </a:lnSpc>
              <a:buFont typeface="Wingdings" panose="05000000000000000000" pitchFamily="2" charset="2"/>
              <a:buChar char="ü"/>
            </a:pPr>
            <a:r>
              <a:rPr lang="en-US" sz="2400" dirty="0"/>
              <a:t>Log file analysis </a:t>
            </a:r>
          </a:p>
          <a:p>
            <a:pPr marL="342900" indent="-342900">
              <a:lnSpc>
                <a:spcPct val="150000"/>
              </a:lnSpc>
              <a:buFont typeface="Wingdings" panose="05000000000000000000" pitchFamily="2" charset="2"/>
              <a:buChar char="ü"/>
            </a:pPr>
            <a:r>
              <a:rPr lang="en-US" sz="2400" dirty="0"/>
              <a:t>Network intrusion detection </a:t>
            </a:r>
          </a:p>
          <a:p>
            <a:pPr marL="342900" indent="-342900">
              <a:lnSpc>
                <a:spcPct val="150000"/>
              </a:lnSpc>
              <a:buFont typeface="Wingdings" panose="05000000000000000000" pitchFamily="2" charset="2"/>
              <a:buChar char="ü"/>
            </a:pPr>
            <a:r>
              <a:rPr lang="en-US" sz="2400" dirty="0"/>
              <a:t>Digital libraries </a:t>
            </a:r>
          </a:p>
          <a:p>
            <a:pPr marL="342900" indent="-342900">
              <a:lnSpc>
                <a:spcPct val="150000"/>
              </a:lnSpc>
              <a:buFont typeface="Wingdings" panose="05000000000000000000" pitchFamily="2" charset="2"/>
              <a:buChar char="ü"/>
            </a:pPr>
            <a:r>
              <a:rPr lang="en-US" sz="2400" dirty="0"/>
              <a:t>Information retrieval systems</a:t>
            </a:r>
          </a:p>
        </p:txBody>
      </p:sp>
      <p:sp>
        <p:nvSpPr>
          <p:cNvPr id="5" name="Rectangle 4"/>
          <p:cNvSpPr/>
          <p:nvPr/>
        </p:nvSpPr>
        <p:spPr>
          <a:xfrm>
            <a:off x="4360281" y="224652"/>
            <a:ext cx="3199274" cy="523220"/>
          </a:xfrm>
          <a:prstGeom prst="rect">
            <a:avLst/>
          </a:prstGeom>
        </p:spPr>
        <p:txBody>
          <a:bodyPr wrap="none">
            <a:spAutoFit/>
          </a:bodyPr>
          <a:lstStyle/>
          <a:p>
            <a:r>
              <a:rPr lang="en-US" sz="2800" b="1" dirty="0"/>
              <a:t>Applications of KMP</a:t>
            </a:r>
          </a:p>
        </p:txBody>
      </p:sp>
    </p:spTree>
    <p:extLst>
      <p:ext uri="{BB962C8B-B14F-4D97-AF65-F5344CB8AC3E}">
        <p14:creationId xmlns:p14="http://schemas.microsoft.com/office/powerpoint/2010/main" val="33021834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9442F12-5CBA-C50B-B05A-80C4980771F2}"/>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076DB176-BB66-56A7-91A0-EC6AB5081C60}"/>
              </a:ext>
            </a:extLst>
          </p:cNvPr>
          <p:cNvSpPr>
            <a:spLocks noGrp="1"/>
          </p:cNvSpPr>
          <p:nvPr>
            <p:ph type="sldNum" sz="quarter" idx="12"/>
          </p:nvPr>
        </p:nvSpPr>
        <p:spPr/>
        <p:txBody>
          <a:bodyPr/>
          <a:lstStyle/>
          <a:p>
            <a:fld id="{68187FF5-4BF9-4B21-B0D2-9B7FF2B27D7F}" type="slidenum">
              <a:rPr lang="en-AU" smtClean="0"/>
              <a:pPr/>
              <a:t>50</a:t>
            </a:fld>
            <a:endParaRPr lang="en-AU"/>
          </a:p>
        </p:txBody>
      </p:sp>
      <p:sp>
        <p:nvSpPr>
          <p:cNvPr id="5" name="TextBox 4">
            <a:extLst>
              <a:ext uri="{FF2B5EF4-FFF2-40B4-BE49-F238E27FC236}">
                <a16:creationId xmlns:a16="http://schemas.microsoft.com/office/drawing/2014/main" id="{85E8C84C-E480-7FF6-4DCE-E3CC0997CBB5}"/>
              </a:ext>
            </a:extLst>
          </p:cNvPr>
          <p:cNvSpPr txBox="1"/>
          <p:nvPr/>
        </p:nvSpPr>
        <p:spPr>
          <a:xfrm>
            <a:off x="826718" y="1215025"/>
            <a:ext cx="10527081" cy="5089121"/>
          </a:xfrm>
          <a:prstGeom prst="rect">
            <a:avLst/>
          </a:prstGeom>
          <a:noFill/>
        </p:spPr>
        <p:txBody>
          <a:bodyPr wrap="square">
            <a:spAutoFit/>
          </a:bodyPr>
          <a:lstStyle/>
          <a:p>
            <a:pPr marL="0" marR="0" indent="0" algn="just" rtl="0" fontAlgn="base">
              <a:spcAft>
                <a:spcPts val="750"/>
              </a:spcAft>
              <a:buNone/>
            </a:pPr>
            <a:r>
              <a:rPr lang="en-IN" sz="2800" b="0" spc="12" dirty="0">
                <a:solidFill>
                  <a:srgbClr val="273239"/>
                </a:solidFill>
                <a:effectLst/>
                <a:latin typeface="Times New Roman" panose="02020603050405020304" pitchFamily="18" charset="0"/>
                <a:cs typeface="Times New Roman" panose="02020603050405020304" pitchFamily="18" charset="0"/>
              </a:rPr>
              <a:t>Like the Naive Algorithm, the </a:t>
            </a:r>
            <a:r>
              <a:rPr lang="en-IN" sz="2800" b="1" spc="10" dirty="0">
                <a:solidFill>
                  <a:srgbClr val="273239"/>
                </a:solidFill>
                <a:effectLst/>
                <a:latin typeface="Times New Roman" panose="02020603050405020304" pitchFamily="18" charset="0"/>
                <a:cs typeface="Times New Roman" panose="02020603050405020304" pitchFamily="18" charset="0"/>
              </a:rPr>
              <a:t>Rabin-Karp algorithm </a:t>
            </a:r>
            <a:r>
              <a:rPr lang="en-IN" sz="2800" b="0" spc="12" dirty="0">
                <a:solidFill>
                  <a:srgbClr val="273239"/>
                </a:solidFill>
                <a:effectLst/>
                <a:latin typeface="Times New Roman" panose="02020603050405020304" pitchFamily="18" charset="0"/>
                <a:cs typeface="Times New Roman" panose="02020603050405020304" pitchFamily="18" charset="0"/>
              </a:rPr>
              <a:t>also check every substring. But unlike the Naive algorithm, the Rabin Karp algorithm matches the hash value of the pattern with the hash value of the current substring of text. So Rabin Karp algorithm has the following step</a:t>
            </a:r>
            <a:endParaRPr lang="en-IN" sz="2800" b="0" spc="10" dirty="0">
              <a:solidFill>
                <a:srgbClr val="273239"/>
              </a:solidFill>
              <a:effectLst/>
              <a:latin typeface="Times New Roman" panose="02020603050405020304" pitchFamily="18" charset="0"/>
              <a:cs typeface="Times New Roman" panose="02020603050405020304" pitchFamily="18" charset="0"/>
            </a:endParaRPr>
          </a:p>
          <a:p>
            <a:pPr marL="457200" indent="-457200">
              <a:buFont typeface="Arial" pitchFamily="34" charset="0"/>
              <a:buChar char="•"/>
              <a:defRPr/>
            </a:pPr>
            <a:r>
              <a:rPr lang="en-IN" sz="2800" b="0" spc="12" dirty="0">
                <a:solidFill>
                  <a:srgbClr val="273239"/>
                </a:solidFill>
                <a:effectLst/>
                <a:latin typeface="Times New Roman" panose="02020603050405020304" pitchFamily="18" charset="0"/>
                <a:cs typeface="Times New Roman" panose="02020603050405020304" pitchFamily="18" charset="0"/>
              </a:rPr>
              <a:t>Compute the </a:t>
            </a:r>
            <a:r>
              <a:rPr lang="en-IN" sz="2800" b="1" spc="12" dirty="0">
                <a:solidFill>
                  <a:srgbClr val="273239"/>
                </a:solidFill>
                <a:effectLst/>
                <a:latin typeface="Times New Roman" panose="02020603050405020304" pitchFamily="18" charset="0"/>
                <a:cs typeface="Times New Roman" panose="02020603050405020304" pitchFamily="18" charset="0"/>
              </a:rPr>
              <a:t>hash of the pattern </a:t>
            </a:r>
            <a:r>
              <a:rPr lang="en-US" sz="2800" b="1" dirty="0">
                <a:latin typeface="Times New Roman" pitchFamily="18" charset="0"/>
                <a:cs typeface="Times New Roman" pitchFamily="18" charset="0"/>
              </a:rPr>
              <a:t>and All the substrings of the text of length m, where m is the length of the pattern.</a:t>
            </a:r>
            <a:endParaRPr lang="en-IN" sz="2800" b="1" dirty="0">
              <a:latin typeface="Times New Roman" pitchFamily="18" charset="0"/>
              <a:cs typeface="Times New Roman" pitchFamily="18" charset="0"/>
            </a:endParaRPr>
          </a:p>
          <a:p>
            <a:pPr marL="342900" marR="0" lvl="0" indent="-342900" algn="just" fontAlgn="base">
              <a:spcAft>
                <a:spcPts val="1800"/>
              </a:spcAft>
              <a:buFont typeface="Arial" panose="020B0604020202020204" pitchFamily="34" charset="0"/>
              <a:buChar char="•"/>
            </a:pPr>
            <a:r>
              <a:rPr lang="en-IN" sz="2800" b="0" spc="12" dirty="0">
                <a:solidFill>
                  <a:srgbClr val="273239"/>
                </a:solidFill>
                <a:effectLst/>
                <a:latin typeface="Times New Roman" panose="02020603050405020304" pitchFamily="18" charset="0"/>
                <a:cs typeface="Times New Roman" panose="02020603050405020304" pitchFamily="18" charset="0"/>
              </a:rPr>
              <a:t>Compare pattern's hash with the hashes of all substrings (of same length as pattern) of the text. If the hashes match, we do a character-by-character check to confirm (to avoid errors due to hash collisions).</a:t>
            </a:r>
            <a:endParaRPr lang="en-IN" sz="2800" b="0" spc="10" dirty="0">
              <a:solidFill>
                <a:srgbClr val="273239"/>
              </a:solidFill>
              <a:effectLst/>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F1DD16BC-987F-9C85-E435-8FBA36D4E753}"/>
              </a:ext>
            </a:extLst>
          </p:cNvPr>
          <p:cNvSpPr/>
          <p:nvPr/>
        </p:nvSpPr>
        <p:spPr>
          <a:xfrm>
            <a:off x="4360281" y="224652"/>
            <a:ext cx="4794582" cy="707886"/>
          </a:xfrm>
          <a:prstGeom prst="rect">
            <a:avLst/>
          </a:prstGeom>
        </p:spPr>
        <p:txBody>
          <a:bodyPr wrap="none">
            <a:spAutoFit/>
          </a:bodyPr>
          <a:lstStyle/>
          <a:p>
            <a:r>
              <a:rPr lang="en-US" sz="4000" b="1" dirty="0">
                <a:solidFill>
                  <a:srgbClr val="1E03BD"/>
                </a:solidFill>
              </a:rPr>
              <a:t>Rabin-Karp Algorithm</a:t>
            </a:r>
          </a:p>
        </p:txBody>
      </p:sp>
    </p:spTree>
    <p:extLst>
      <p:ext uri="{BB962C8B-B14F-4D97-AF65-F5344CB8AC3E}">
        <p14:creationId xmlns:p14="http://schemas.microsoft.com/office/powerpoint/2010/main" val="15481482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51</a:t>
            </a:fld>
            <a:endParaRPr lang="en-AU"/>
          </a:p>
        </p:txBody>
      </p:sp>
      <p:sp>
        <p:nvSpPr>
          <p:cNvPr id="5" name="Rectangle 4"/>
          <p:cNvSpPr/>
          <p:nvPr/>
        </p:nvSpPr>
        <p:spPr>
          <a:xfrm>
            <a:off x="233464" y="964147"/>
            <a:ext cx="11595369" cy="4154984"/>
          </a:xfrm>
          <a:prstGeom prst="rect">
            <a:avLst/>
          </a:prstGeom>
        </p:spPr>
        <p:txBody>
          <a:bodyPr wrap="square">
            <a:spAutoFit/>
          </a:bodyPr>
          <a:lstStyle/>
          <a:p>
            <a:pPr>
              <a:lnSpc>
                <a:spcPct val="150000"/>
              </a:lnSpc>
            </a:pPr>
            <a:r>
              <a:rPr lang="en-US" sz="2200" b="1" dirty="0">
                <a:latin typeface="Times New Roman" panose="02020603050405020304" pitchFamily="18" charset="0"/>
                <a:cs typeface="Times New Roman" panose="02020603050405020304" pitchFamily="18" charset="0"/>
              </a:rPr>
              <a:t>1) Simple Additive Hash:- </a:t>
            </a:r>
            <a:r>
              <a:rPr lang="en-US" sz="2200" dirty="0">
                <a:latin typeface="Times New Roman" panose="02020603050405020304" pitchFamily="18" charset="0"/>
                <a:cs typeface="Times New Roman" panose="02020603050405020304" pitchFamily="18" charset="0"/>
              </a:rPr>
              <a:t>The simplest hashing method computes the sum of the ASCII values of all characters. Instead of ASCII values, we may also consider values like a=1, b=2, c=3, and so on </a:t>
            </a:r>
          </a:p>
          <a:p>
            <a:pPr>
              <a:lnSpc>
                <a:spcPct val="150000"/>
              </a:lnSpc>
            </a:pPr>
            <a:endParaRPr lang="en-US" sz="2200" dirty="0">
              <a:latin typeface="Times New Roman" panose="02020603050405020304" pitchFamily="18" charset="0"/>
              <a:cs typeface="Times New Roman" panose="02020603050405020304" pitchFamily="18" charset="0"/>
            </a:endParaRPr>
          </a:p>
          <a:p>
            <a:pPr>
              <a:lnSpc>
                <a:spcPct val="150000"/>
              </a:lnSpc>
            </a:pPr>
            <a:endParaRPr lang="en-US" sz="2200" dirty="0">
              <a:latin typeface="Times New Roman" panose="02020603050405020304" pitchFamily="18" charset="0"/>
              <a:cs typeface="Times New Roman" panose="02020603050405020304" pitchFamily="18" charset="0"/>
            </a:endParaRPr>
          </a:p>
          <a:p>
            <a:pPr>
              <a:lnSpc>
                <a:spcPct val="150000"/>
              </a:lnSpc>
            </a:pPr>
            <a:endParaRPr lang="en-US" sz="2200" dirty="0">
              <a:latin typeface="Times New Roman" panose="02020603050405020304" pitchFamily="18" charset="0"/>
              <a:cs typeface="Times New Roman" panose="02020603050405020304" pitchFamily="18" charset="0"/>
            </a:endParaRPr>
          </a:p>
          <a:p>
            <a:pPr>
              <a:lnSpc>
                <a:spcPct val="150000"/>
              </a:lnSpc>
            </a:pPr>
            <a:endParaRPr lang="en-US" sz="2200" dirty="0">
              <a:latin typeface="Times New Roman" panose="02020603050405020304" pitchFamily="18" charset="0"/>
              <a:cs typeface="Times New Roman" panose="02020603050405020304" pitchFamily="18" charset="0"/>
            </a:endParaRPr>
          </a:p>
          <a:p>
            <a:pPr>
              <a:lnSpc>
                <a:spcPct val="150000"/>
              </a:lnSpc>
            </a:pPr>
            <a:r>
              <a:rPr lang="en-US" sz="2200" dirty="0">
                <a:latin typeface="Times New Roman" panose="02020603050405020304" pitchFamily="18" charset="0"/>
                <a:cs typeface="Times New Roman" panose="02020603050405020304" pitchFamily="18" charset="0"/>
              </a:rPr>
              <a:t>where S is the String and m is the length of the String</a:t>
            </a:r>
          </a:p>
          <a:p>
            <a:pPr>
              <a:lnSpc>
                <a:spcPct val="150000"/>
              </a:lnSpc>
            </a:pPr>
            <a:r>
              <a:rPr lang="en-US" sz="2200" b="1" dirty="0">
                <a:latin typeface="Times New Roman" panose="02020603050405020304" pitchFamily="18" charset="0"/>
                <a:cs typeface="Times New Roman" panose="02020603050405020304" pitchFamily="18" charset="0"/>
              </a:rPr>
              <a:t>Example:</a:t>
            </a:r>
            <a:r>
              <a:rPr lang="en-US" sz="2200" dirty="0">
                <a:latin typeface="Times New Roman" panose="02020603050405020304" pitchFamily="18" charset="0"/>
                <a:cs typeface="Times New Roman" panose="02020603050405020304" pitchFamily="18" charset="0"/>
              </a:rPr>
              <a:t> Hash (</a:t>
            </a:r>
            <a:r>
              <a:rPr lang="en-US" sz="2200" dirty="0" err="1">
                <a:latin typeface="Times New Roman" panose="02020603050405020304" pitchFamily="18" charset="0"/>
                <a:cs typeface="Times New Roman" panose="02020603050405020304" pitchFamily="18" charset="0"/>
              </a:rPr>
              <a:t>ababc</a:t>
            </a:r>
            <a:r>
              <a:rPr lang="en-US" sz="2200" dirty="0">
                <a:latin typeface="Times New Roman" panose="02020603050405020304" pitchFamily="18" charset="0"/>
                <a:cs typeface="Times New Roman" panose="02020603050405020304" pitchFamily="18" charset="0"/>
              </a:rPr>
              <a:t>) = 1 + 2 + 1 + 2 + 3 = 9</a:t>
            </a:r>
          </a:p>
        </p:txBody>
      </p:sp>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2679" y="2152438"/>
            <a:ext cx="6237963" cy="1778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67415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399CF5-944A-2CD1-2D56-7B2572A64617}"/>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13B8F0B2-1C46-27A6-AF40-59FF3C4B6B68}"/>
              </a:ext>
            </a:extLst>
          </p:cNvPr>
          <p:cNvSpPr>
            <a:spLocks noGrp="1"/>
          </p:cNvSpPr>
          <p:nvPr>
            <p:ph type="sldNum" sz="quarter" idx="12"/>
          </p:nvPr>
        </p:nvSpPr>
        <p:spPr/>
        <p:txBody>
          <a:bodyPr/>
          <a:lstStyle/>
          <a:p>
            <a:fld id="{68187FF5-4BF9-4B21-B0D2-9B7FF2B27D7F}" type="slidenum">
              <a:rPr lang="en-AU" smtClean="0"/>
              <a:pPr/>
              <a:t>52</a:t>
            </a:fld>
            <a:endParaRPr lang="en-AU"/>
          </a:p>
        </p:txBody>
      </p:sp>
      <p:pic>
        <p:nvPicPr>
          <p:cNvPr id="9" name="Picture 8">
            <a:extLst>
              <a:ext uri="{FF2B5EF4-FFF2-40B4-BE49-F238E27FC236}">
                <a16:creationId xmlns:a16="http://schemas.microsoft.com/office/drawing/2014/main" id="{F1201F46-2165-8C03-B545-75AA479AE5BD}"/>
              </a:ext>
            </a:extLst>
          </p:cNvPr>
          <p:cNvPicPr>
            <a:picLocks noChangeAspect="1"/>
          </p:cNvPicPr>
          <p:nvPr/>
        </p:nvPicPr>
        <p:blipFill>
          <a:blip r:embed="rId2"/>
          <a:stretch>
            <a:fillRect/>
          </a:stretch>
        </p:blipFill>
        <p:spPr>
          <a:xfrm>
            <a:off x="8129188" y="3687169"/>
            <a:ext cx="3962604" cy="1759040"/>
          </a:xfrm>
          <a:prstGeom prst="rect">
            <a:avLst/>
          </a:prstGeom>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133" y="761914"/>
            <a:ext cx="8033263" cy="5625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68174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53</a:t>
            </a:fld>
            <a:endParaRPr lang="en-AU"/>
          </a:p>
        </p:txBody>
      </p:sp>
      <p:sp>
        <p:nvSpPr>
          <p:cNvPr id="5" name="Rectangle 4"/>
          <p:cNvSpPr/>
          <p:nvPr/>
        </p:nvSpPr>
        <p:spPr>
          <a:xfrm>
            <a:off x="233463" y="1941177"/>
            <a:ext cx="11595369" cy="4154984"/>
          </a:xfrm>
          <a:prstGeom prst="rect">
            <a:avLst/>
          </a:prstGeom>
        </p:spPr>
        <p:txBody>
          <a:bodyPr wrap="square">
            <a:spAutoFit/>
          </a:bodyPr>
          <a:lstStyle/>
          <a:p>
            <a:pPr>
              <a:lnSpc>
                <a:spcPct val="150000"/>
              </a:lnSpc>
            </a:pPr>
            <a:r>
              <a:rPr lang="en-US" sz="2200" b="1" dirty="0">
                <a:latin typeface="Times New Roman" panose="02020603050405020304" pitchFamily="18" charset="0"/>
                <a:cs typeface="Times New Roman" panose="02020603050405020304" pitchFamily="18" charset="0"/>
              </a:rPr>
              <a:t>1) Simple Additive Hash:- </a:t>
            </a:r>
            <a:r>
              <a:rPr lang="en-US" sz="2200" dirty="0">
                <a:latin typeface="Times New Roman" panose="02020603050405020304" pitchFamily="18" charset="0"/>
                <a:cs typeface="Times New Roman" panose="02020603050405020304" pitchFamily="18" charset="0"/>
              </a:rPr>
              <a:t>The simplest hashing method computes the sum of the ASCII values of all characters. Instead of ASCII values we can also consider values like a=1, b=2, c=3, and so on </a:t>
            </a:r>
          </a:p>
          <a:p>
            <a:pPr>
              <a:lnSpc>
                <a:spcPct val="150000"/>
              </a:lnSpc>
            </a:pPr>
            <a:endParaRPr lang="en-US" sz="2200" dirty="0">
              <a:latin typeface="Times New Roman" panose="02020603050405020304" pitchFamily="18" charset="0"/>
              <a:cs typeface="Times New Roman" panose="02020603050405020304" pitchFamily="18" charset="0"/>
            </a:endParaRPr>
          </a:p>
          <a:p>
            <a:pPr>
              <a:lnSpc>
                <a:spcPct val="150000"/>
              </a:lnSpc>
            </a:pPr>
            <a:endParaRPr lang="en-US" sz="2200" dirty="0">
              <a:latin typeface="Times New Roman" panose="02020603050405020304" pitchFamily="18" charset="0"/>
              <a:cs typeface="Times New Roman" panose="02020603050405020304" pitchFamily="18" charset="0"/>
            </a:endParaRPr>
          </a:p>
          <a:p>
            <a:pPr>
              <a:lnSpc>
                <a:spcPct val="150000"/>
              </a:lnSpc>
            </a:pPr>
            <a:endParaRPr lang="en-US" sz="2200" dirty="0">
              <a:latin typeface="Times New Roman" panose="02020603050405020304" pitchFamily="18" charset="0"/>
              <a:cs typeface="Times New Roman" panose="02020603050405020304" pitchFamily="18" charset="0"/>
            </a:endParaRPr>
          </a:p>
          <a:p>
            <a:pPr>
              <a:lnSpc>
                <a:spcPct val="150000"/>
              </a:lnSpc>
            </a:pPr>
            <a:endParaRPr lang="en-US" sz="2200" dirty="0">
              <a:latin typeface="Times New Roman" panose="02020603050405020304" pitchFamily="18" charset="0"/>
              <a:cs typeface="Times New Roman" panose="02020603050405020304" pitchFamily="18" charset="0"/>
            </a:endParaRPr>
          </a:p>
          <a:p>
            <a:pPr>
              <a:lnSpc>
                <a:spcPct val="150000"/>
              </a:lnSpc>
            </a:pPr>
            <a:r>
              <a:rPr lang="en-US" sz="2200" dirty="0">
                <a:latin typeface="Times New Roman" panose="02020603050405020304" pitchFamily="18" charset="0"/>
                <a:cs typeface="Times New Roman" panose="02020603050405020304" pitchFamily="18" charset="0"/>
              </a:rPr>
              <a:t>where S is the String and m is the length of the String</a:t>
            </a:r>
          </a:p>
          <a:p>
            <a:pPr>
              <a:lnSpc>
                <a:spcPct val="150000"/>
              </a:lnSpc>
            </a:pPr>
            <a:r>
              <a:rPr lang="en-US" sz="2200" b="1" dirty="0">
                <a:latin typeface="Times New Roman" panose="02020603050405020304" pitchFamily="18" charset="0"/>
                <a:cs typeface="Times New Roman" panose="02020603050405020304" pitchFamily="18" charset="0"/>
              </a:rPr>
              <a:t>Example:</a:t>
            </a:r>
            <a:r>
              <a:rPr lang="en-US" sz="2200" dirty="0">
                <a:latin typeface="Times New Roman" panose="02020603050405020304" pitchFamily="18" charset="0"/>
                <a:cs typeface="Times New Roman" panose="02020603050405020304" pitchFamily="18" charset="0"/>
              </a:rPr>
              <a:t> h(</a:t>
            </a:r>
            <a:r>
              <a:rPr lang="en-US" sz="2200" dirty="0" err="1">
                <a:latin typeface="Times New Roman" panose="02020603050405020304" pitchFamily="18" charset="0"/>
                <a:cs typeface="Times New Roman" panose="02020603050405020304" pitchFamily="18" charset="0"/>
              </a:rPr>
              <a:t>ababc</a:t>
            </a:r>
            <a:r>
              <a:rPr lang="en-US" sz="2200" dirty="0">
                <a:latin typeface="Times New Roman" panose="02020603050405020304" pitchFamily="18" charset="0"/>
                <a:cs typeface="Times New Roman" panose="02020603050405020304" pitchFamily="18" charset="0"/>
              </a:rPr>
              <a:t>) = 1 + 2 + 1 + 2 + 3 = 9</a:t>
            </a:r>
          </a:p>
        </p:txBody>
      </p:sp>
      <p:sp>
        <p:nvSpPr>
          <p:cNvPr id="6" name="Rectangle 5"/>
          <p:cNvSpPr/>
          <p:nvPr/>
        </p:nvSpPr>
        <p:spPr>
          <a:xfrm>
            <a:off x="1976892" y="326535"/>
            <a:ext cx="8933278" cy="1754326"/>
          </a:xfrm>
          <a:prstGeom prst="rect">
            <a:avLst/>
          </a:prstGeom>
        </p:spPr>
        <p:txBody>
          <a:bodyPr wrap="square">
            <a:spAutoFit/>
          </a:bodyPr>
          <a:lstStyle/>
          <a:p>
            <a:pPr>
              <a:lnSpc>
                <a:spcPct val="150000"/>
              </a:lnSpc>
            </a:pPr>
            <a:r>
              <a:rPr lang="en-US" sz="2400" b="1" dirty="0">
                <a:solidFill>
                  <a:srgbClr val="C00000"/>
                </a:solidFill>
                <a:latin typeface="Times New Roman" panose="02020603050405020304" pitchFamily="18" charset="0"/>
                <a:cs typeface="Times New Roman" panose="02020603050405020304" pitchFamily="18" charset="0"/>
              </a:rPr>
              <a:t>Text: </a:t>
            </a:r>
            <a:r>
              <a:rPr lang="en-US" sz="2400" b="1" dirty="0">
                <a:latin typeface="Times New Roman" panose="02020603050405020304" pitchFamily="18" charset="0"/>
                <a:cs typeface="Times New Roman" panose="02020603050405020304" pitchFamily="18" charset="0"/>
              </a:rPr>
              <a:t>a b c d a b a b c d      </a:t>
            </a:r>
            <a:r>
              <a:rPr lang="en-US" sz="2400" b="1" dirty="0">
                <a:solidFill>
                  <a:srgbClr val="C00000"/>
                </a:solidFill>
                <a:latin typeface="Times New Roman" panose="02020603050405020304" pitchFamily="18" charset="0"/>
                <a:cs typeface="Times New Roman" panose="02020603050405020304" pitchFamily="18" charset="0"/>
              </a:rPr>
              <a:t>Size of text (m)</a:t>
            </a:r>
            <a:r>
              <a:rPr lang="en-US" sz="2400" b="1" dirty="0">
                <a:latin typeface="Times New Roman" panose="02020603050405020304" pitchFamily="18" charset="0"/>
                <a:cs typeface="Times New Roman" panose="02020603050405020304" pitchFamily="18" charset="0"/>
              </a:rPr>
              <a:t>=10</a:t>
            </a:r>
          </a:p>
          <a:p>
            <a:pPr>
              <a:lnSpc>
                <a:spcPct val="150000"/>
              </a:lnSpc>
            </a:pPr>
            <a:r>
              <a:rPr lang="en-US" sz="2400" b="1" dirty="0">
                <a:solidFill>
                  <a:srgbClr val="C00000"/>
                </a:solidFill>
                <a:latin typeface="Times New Roman" panose="02020603050405020304" pitchFamily="18" charset="0"/>
                <a:cs typeface="Times New Roman" panose="02020603050405020304" pitchFamily="18" charset="0"/>
              </a:rPr>
              <a:t>Pattern:</a:t>
            </a:r>
            <a:r>
              <a:rPr lang="en-US" sz="2400" b="1" dirty="0">
                <a:latin typeface="Times New Roman" panose="02020603050405020304" pitchFamily="18" charset="0"/>
                <a:cs typeface="Times New Roman" panose="02020603050405020304" pitchFamily="18" charset="0"/>
              </a:rPr>
              <a:t> d a b a                  </a:t>
            </a:r>
            <a:r>
              <a:rPr lang="en-US" sz="2400" b="1" dirty="0">
                <a:solidFill>
                  <a:srgbClr val="C00000"/>
                </a:solidFill>
                <a:latin typeface="Times New Roman" panose="02020603050405020304" pitchFamily="18" charset="0"/>
                <a:cs typeface="Times New Roman" panose="02020603050405020304" pitchFamily="18" charset="0"/>
              </a:rPr>
              <a:t>Size of Pattern (m) </a:t>
            </a:r>
            <a:r>
              <a:rPr lang="en-US" sz="2400" b="1" dirty="0">
                <a:latin typeface="Times New Roman" panose="02020603050405020304" pitchFamily="18" charset="0"/>
                <a:cs typeface="Times New Roman" panose="02020603050405020304" pitchFamily="18" charset="0"/>
              </a:rPr>
              <a:t>=4 </a:t>
            </a:r>
          </a:p>
          <a:p>
            <a:pPr>
              <a:lnSpc>
                <a:spcPct val="150000"/>
              </a:lnSpc>
            </a:pPr>
            <a:r>
              <a:rPr lang="en-US" sz="2400" b="1" dirty="0">
                <a:latin typeface="Times New Roman" panose="02020603050405020304" pitchFamily="18" charset="0"/>
                <a:cs typeface="Times New Roman" panose="02020603050405020304" pitchFamily="18" charset="0"/>
              </a:rPr>
              <a:t>consider values like a=1, b=2, c=3, d=4</a:t>
            </a:r>
          </a:p>
        </p:txBody>
      </p:sp>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1403" y="3231715"/>
            <a:ext cx="5649239" cy="1252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85898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54</a:t>
            </a:fld>
            <a:endParaRPr lang="en-AU"/>
          </a:p>
        </p:txBody>
      </p:sp>
      <p:sp>
        <p:nvSpPr>
          <p:cNvPr id="5" name="Rectangle 1"/>
          <p:cNvSpPr>
            <a:spLocks noChangeArrowheads="1"/>
          </p:cNvSpPr>
          <p:nvPr/>
        </p:nvSpPr>
        <p:spPr bwMode="auto">
          <a:xfrm>
            <a:off x="1742674" y="458867"/>
            <a:ext cx="882592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4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Example : </a:t>
            </a:r>
            <a:r>
              <a:rPr lang="en-US" sz="2400" b="1" dirty="0">
                <a:solidFill>
                  <a:srgbClr val="C00000"/>
                </a:solidFill>
                <a:latin typeface="Times New Roman" panose="02020603050405020304" pitchFamily="18" charset="0"/>
                <a:cs typeface="Times New Roman" panose="02020603050405020304" pitchFamily="18" charset="0"/>
              </a:rPr>
              <a:t>Additive Hash</a:t>
            </a:r>
            <a:endParaRPr kumimoji="0" lang="en-US" altLang="en-US" sz="24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r>
              <a:rPr kumimoji="0" lang="en-US" altLang="en-US" sz="24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Text T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err="1">
                <a:ln>
                  <a:noFill/>
                </a:ln>
                <a:solidFill>
                  <a:srgbClr val="1E03BD"/>
                </a:solidFill>
                <a:effectLst/>
                <a:latin typeface="Times New Roman" panose="02020603050405020304" pitchFamily="18" charset="0"/>
                <a:cs typeface="Times New Roman" panose="02020603050405020304" pitchFamily="18" charset="0"/>
              </a:rPr>
              <a:t>abcdababcd</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n = 10) </a:t>
            </a:r>
          </a:p>
          <a:p>
            <a:pPr lvl="1" eaLnBrk="0" fontAlgn="base" hangingPunct="0">
              <a:spcBef>
                <a:spcPct val="0"/>
              </a:spcBef>
              <a:spcAft>
                <a:spcPct val="0"/>
              </a:spcAft>
            </a:pPr>
            <a:r>
              <a:rPr kumimoji="0" lang="en-US" altLang="en-US" sz="24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Pattern P</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400" b="1" i="0" u="none" strike="noStrike" cap="none" normalizeH="0" baseline="0" dirty="0" err="1">
                <a:ln>
                  <a:noFill/>
                </a:ln>
                <a:solidFill>
                  <a:srgbClr val="1E03BD"/>
                </a:solidFill>
                <a:effectLst/>
                <a:latin typeface="Times New Roman" panose="02020603050405020304" pitchFamily="18" charset="0"/>
                <a:cs typeface="Times New Roman" panose="02020603050405020304" pitchFamily="18" charset="0"/>
              </a:rPr>
              <a:t>daba</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m = 4) </a:t>
            </a:r>
          </a:p>
          <a:p>
            <a:pPr lvl="1" eaLnBrk="0" fontAlgn="base" hangingPunct="0">
              <a:spcBef>
                <a:spcPct val="0"/>
              </a:spcBef>
              <a:spcAft>
                <a:spcPct val="0"/>
              </a:spcAft>
            </a:pPr>
            <a:r>
              <a:rPr kumimoji="0" lang="en-US" altLang="en-US" sz="24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Letter values: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a=1, b=2, c=3, d=4 </a:t>
            </a:r>
          </a:p>
          <a:p>
            <a:pPr lvl="1" eaLnBrk="0" fontAlgn="base" hangingPunct="0">
              <a:spcBef>
                <a:spcPct val="0"/>
              </a:spcBef>
              <a:spcAft>
                <a:spcPct val="0"/>
              </a:spcAft>
            </a:pPr>
            <a:r>
              <a:rPr kumimoji="0" lang="en-US" altLang="en-US" sz="24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Windows to test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(positions 0–6):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bcda</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cdab</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daba</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abab</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babc</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t>
            </a: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altLang="en-US" sz="2400" b="1" dirty="0">
                <a:solidFill>
                  <a:srgbClr val="1E03BD"/>
                </a:solidFill>
                <a:latin typeface="Times New Roman" panose="02020603050405020304" pitchFamily="18" charset="0"/>
                <a:cs typeface="Times New Roman" panose="02020603050405020304" pitchFamily="18" charset="0"/>
              </a:rPr>
              <a:t>hash(pattern)= hash("</a:t>
            </a:r>
            <a:r>
              <a:rPr lang="en-US" altLang="en-US" sz="2400" b="1" dirty="0" err="1">
                <a:solidFill>
                  <a:srgbClr val="1E03BD"/>
                </a:solidFill>
                <a:latin typeface="Times New Roman" panose="02020603050405020304" pitchFamily="18" charset="0"/>
                <a:cs typeface="Times New Roman" panose="02020603050405020304" pitchFamily="18" charset="0"/>
              </a:rPr>
              <a:t>daba</a:t>
            </a:r>
            <a:r>
              <a:rPr lang="en-US" altLang="en-US" sz="2400" b="1" dirty="0">
                <a:solidFill>
                  <a:srgbClr val="1E03BD"/>
                </a:solidFill>
                <a:latin typeface="Times New Roman" panose="02020603050405020304" pitchFamily="18" charset="0"/>
                <a:cs typeface="Times New Roman" panose="02020603050405020304" pitchFamily="18" charset="0"/>
              </a:rPr>
              <a:t>") = 4+1+2+1 = 8</a:t>
            </a:r>
            <a:r>
              <a:rPr lang="en-US" altLang="en-US" sz="2400" dirty="0">
                <a:latin typeface="Times New Roman" panose="02020603050405020304" pitchFamily="18" charset="0"/>
                <a:cs typeface="Times New Roman" panose="02020603050405020304" pitchFamily="18" charset="0"/>
              </a:rPr>
              <a:t>. </a:t>
            </a:r>
          </a:p>
        </p:txBody>
      </p:sp>
      <p:graphicFrame>
        <p:nvGraphicFramePr>
          <p:cNvPr id="7" name="Table 6"/>
          <p:cNvGraphicFramePr>
            <a:graphicFrameLocks noGrp="1"/>
          </p:cNvGraphicFramePr>
          <p:nvPr>
            <p:extLst>
              <p:ext uri="{D42A27DB-BD31-4B8C-83A1-F6EECF244321}">
                <p14:modId xmlns:p14="http://schemas.microsoft.com/office/powerpoint/2010/main" val="1703936288"/>
              </p:ext>
            </p:extLst>
          </p:nvPr>
        </p:nvGraphicFramePr>
        <p:xfrm>
          <a:off x="847899" y="3215785"/>
          <a:ext cx="10840518" cy="3424690"/>
        </p:xfrm>
        <a:graphic>
          <a:graphicData uri="http://schemas.openxmlformats.org/drawingml/2006/table">
            <a:tbl>
              <a:tblPr/>
              <a:tblGrid>
                <a:gridCol w="920616">
                  <a:extLst>
                    <a:ext uri="{9D8B030D-6E8A-4147-A177-3AD203B41FA5}">
                      <a16:colId xmlns:a16="http://schemas.microsoft.com/office/drawing/2014/main" val="3014502314"/>
                    </a:ext>
                  </a:extLst>
                </a:gridCol>
                <a:gridCol w="1585657">
                  <a:extLst>
                    <a:ext uri="{9D8B030D-6E8A-4147-A177-3AD203B41FA5}">
                      <a16:colId xmlns:a16="http://schemas.microsoft.com/office/drawing/2014/main" val="3317897402"/>
                    </a:ext>
                  </a:extLst>
                </a:gridCol>
                <a:gridCol w="2212986">
                  <a:extLst>
                    <a:ext uri="{9D8B030D-6E8A-4147-A177-3AD203B41FA5}">
                      <a16:colId xmlns:a16="http://schemas.microsoft.com/office/drawing/2014/main" val="58647825"/>
                    </a:ext>
                  </a:extLst>
                </a:gridCol>
                <a:gridCol w="1126237">
                  <a:extLst>
                    <a:ext uri="{9D8B030D-6E8A-4147-A177-3AD203B41FA5}">
                      <a16:colId xmlns:a16="http://schemas.microsoft.com/office/drawing/2014/main" val="4043844278"/>
                    </a:ext>
                  </a:extLst>
                </a:gridCol>
                <a:gridCol w="4995022">
                  <a:extLst>
                    <a:ext uri="{9D8B030D-6E8A-4147-A177-3AD203B41FA5}">
                      <a16:colId xmlns:a16="http://schemas.microsoft.com/office/drawing/2014/main" val="3693225312"/>
                    </a:ext>
                  </a:extLst>
                </a:gridCol>
              </a:tblGrid>
              <a:tr h="354844">
                <a:tc>
                  <a:txBody>
                    <a:bodyPr/>
                    <a:lstStyle/>
                    <a:p>
                      <a:pPr algn="ctr">
                        <a:tabLst>
                          <a:tab pos="1371600" algn="l"/>
                        </a:tabLst>
                      </a:pPr>
                      <a:r>
                        <a:rPr lang="en-US" sz="2000" b="1" dirty="0" err="1">
                          <a:solidFill>
                            <a:schemeClr val="accent5"/>
                          </a:solidFill>
                        </a:rPr>
                        <a:t>Pos</a:t>
                      </a:r>
                      <a:endParaRPr lang="en-US" sz="2000" b="1" dirty="0">
                        <a:solidFill>
                          <a:schemeClr val="accent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solidFill>
                            <a:schemeClr val="accent5"/>
                          </a:solidFill>
                        </a:rPr>
                        <a:t>Window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solidFill>
                            <a:schemeClr val="accent5"/>
                          </a:solidFill>
                        </a:rPr>
                        <a:t>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solidFill>
                            <a:schemeClr val="accent5"/>
                          </a:solidFill>
                        </a:rPr>
                        <a:t>=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solidFill>
                            <a:schemeClr val="accent5"/>
                          </a:solidFill>
                        </a:rPr>
                        <a:t>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818744"/>
                  </a:ext>
                </a:extLst>
              </a:tr>
              <a:tr h="384414">
                <a:tc>
                  <a:txBody>
                    <a:bodyPr/>
                    <a:lstStyle/>
                    <a:p>
                      <a:pPr algn="ctr"/>
                      <a:r>
                        <a:rPr lang="en-US" sz="2000" b="1"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a b c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6105799"/>
                  </a:ext>
                </a:extLst>
              </a:tr>
              <a:tr h="384414">
                <a:tc>
                  <a:txBody>
                    <a:bodyPr/>
                    <a:lstStyle/>
                    <a:p>
                      <a:pPr algn="ctr"/>
                      <a:r>
                        <a:rPr lang="en-US" sz="2000" b="1"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a:t>b c d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0470682"/>
                  </a:ext>
                </a:extLst>
              </a:tr>
              <a:tr h="384414">
                <a:tc>
                  <a:txBody>
                    <a:bodyPr/>
                    <a:lstStyle/>
                    <a:p>
                      <a:pPr algn="ctr"/>
                      <a:r>
                        <a:rPr lang="en-US" sz="2000" b="1"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c d a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293083"/>
                  </a:ext>
                </a:extLst>
              </a:tr>
              <a:tr h="523625">
                <a:tc>
                  <a:txBody>
                    <a:bodyPr/>
                    <a:lstStyle/>
                    <a:p>
                      <a:pPr algn="ctr"/>
                      <a:r>
                        <a:rPr lang="en-US" sz="2000" b="1"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d a b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9970662"/>
                  </a:ext>
                </a:extLst>
              </a:tr>
              <a:tr h="384414">
                <a:tc>
                  <a:txBody>
                    <a:bodyPr/>
                    <a:lstStyle/>
                    <a:p>
                      <a:pPr algn="ctr"/>
                      <a:r>
                        <a:rPr lang="en-US" sz="2000" b="1"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a b a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3089454"/>
                  </a:ext>
                </a:extLst>
              </a:tr>
              <a:tr h="523625">
                <a:tc>
                  <a:txBody>
                    <a:bodyPr/>
                    <a:lstStyle/>
                    <a:p>
                      <a:pPr algn="ctr"/>
                      <a:r>
                        <a:rPr lang="en-US" sz="2000" b="1"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b a b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264224"/>
                  </a:ext>
                </a:extLst>
              </a:tr>
              <a:tr h="384414">
                <a:tc>
                  <a:txBody>
                    <a:bodyPr/>
                    <a:lstStyle/>
                    <a:p>
                      <a:pPr algn="ctr"/>
                      <a:r>
                        <a:rPr lang="en-US" sz="2000" b="1"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a b c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8883481"/>
                  </a:ext>
                </a:extLst>
              </a:tr>
            </a:tbl>
          </a:graphicData>
        </a:graphic>
      </p:graphicFrame>
    </p:spTree>
    <p:extLst>
      <p:ext uri="{BB962C8B-B14F-4D97-AF65-F5344CB8AC3E}">
        <p14:creationId xmlns:p14="http://schemas.microsoft.com/office/powerpoint/2010/main" val="27101873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55</a:t>
            </a:fld>
            <a:endParaRPr lang="en-AU"/>
          </a:p>
        </p:txBody>
      </p:sp>
      <p:sp>
        <p:nvSpPr>
          <p:cNvPr id="4" name="Rectangle 3"/>
          <p:cNvSpPr/>
          <p:nvPr/>
        </p:nvSpPr>
        <p:spPr>
          <a:xfrm>
            <a:off x="2436576" y="191581"/>
            <a:ext cx="9392258" cy="682238"/>
          </a:xfrm>
          <a:prstGeom prst="rect">
            <a:avLst/>
          </a:prstGeom>
        </p:spPr>
        <p:txBody>
          <a:bodyPr wrap="square">
            <a:spAutoFit/>
          </a:bodyPr>
          <a:lstStyle/>
          <a:p>
            <a:pPr algn="just">
              <a:lnSpc>
                <a:spcPts val="2250"/>
              </a:lnSpc>
              <a:spcBef>
                <a:spcPts val="0"/>
              </a:spcBef>
              <a:spcAft>
                <a:spcPts val="1200"/>
              </a:spcAft>
              <a:defRPr/>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When the hash value of the pattern matches with the hash value of a window of the text but the window is not the actual pattern then it is called a </a:t>
            </a:r>
            <a:r>
              <a:rPr lang="en-US" sz="2000" b="1" u="sng" kern="0" dirty="0">
                <a:latin typeface="Times New Roman" panose="02020603050405020304" pitchFamily="18" charset="0"/>
                <a:ea typeface="Times New Roman" panose="02020603050405020304" pitchFamily="18" charset="0"/>
                <a:cs typeface="Times New Roman" panose="02020603050405020304" pitchFamily="18" charset="0"/>
              </a:rPr>
              <a:t>spurious hit</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1"/>
          <p:cNvSpPr>
            <a:spLocks noChangeArrowheads="1"/>
          </p:cNvSpPr>
          <p:nvPr/>
        </p:nvSpPr>
        <p:spPr bwMode="auto">
          <a:xfrm>
            <a:off x="1273053" y="997867"/>
            <a:ext cx="882592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400" b="1" dirty="0">
                <a:latin typeface="Times New Roman" panose="02020603050405020304" pitchFamily="18" charset="0"/>
                <a:cs typeface="Times New Roman" panose="02020603050405020304" pitchFamily="18" charset="0"/>
              </a:rPr>
              <a:t>Additive Hash</a:t>
            </a: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T = "</a:t>
            </a:r>
            <a:r>
              <a:rPr kumimoji="0" lang="en-US" altLang="en-US" sz="2400" b="1" i="0" u="none" strike="noStrike" cap="none" normalizeH="0" baseline="0" dirty="0" err="1">
                <a:ln>
                  <a:noFill/>
                </a:ln>
                <a:solidFill>
                  <a:srgbClr val="1E03BD"/>
                </a:solidFill>
                <a:effectLst/>
                <a:latin typeface="Times New Roman" panose="02020603050405020304" pitchFamily="18" charset="0"/>
                <a:cs typeface="Times New Roman" panose="02020603050405020304" pitchFamily="18" charset="0"/>
              </a:rPr>
              <a:t>abcdababcd</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n = 10) </a:t>
            </a:r>
          </a:p>
          <a:p>
            <a:pPr lvl="1"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Pattern P = "</a:t>
            </a:r>
            <a:r>
              <a:rPr kumimoji="0" lang="en-US" altLang="en-US" sz="2400" b="1" i="0" u="none" strike="noStrike" cap="none" normalizeH="0" baseline="0" dirty="0" err="1">
                <a:ln>
                  <a:noFill/>
                </a:ln>
                <a:solidFill>
                  <a:srgbClr val="1E03BD"/>
                </a:solidFill>
                <a:effectLst/>
                <a:latin typeface="Times New Roman" panose="02020603050405020304" pitchFamily="18" charset="0"/>
                <a:cs typeface="Times New Roman" panose="02020603050405020304" pitchFamily="18" charset="0"/>
              </a:rPr>
              <a:t>daba</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m = 4) </a:t>
            </a:r>
          </a:p>
        </p:txBody>
      </p:sp>
      <p:graphicFrame>
        <p:nvGraphicFramePr>
          <p:cNvPr id="7" name="Table 6"/>
          <p:cNvGraphicFramePr>
            <a:graphicFrameLocks noGrp="1"/>
          </p:cNvGraphicFramePr>
          <p:nvPr>
            <p:extLst>
              <p:ext uri="{D42A27DB-BD31-4B8C-83A1-F6EECF244321}">
                <p14:modId xmlns:p14="http://schemas.microsoft.com/office/powerpoint/2010/main" val="2421695937"/>
              </p:ext>
            </p:extLst>
          </p:nvPr>
        </p:nvGraphicFramePr>
        <p:xfrm>
          <a:off x="546652" y="2149724"/>
          <a:ext cx="11429998" cy="4425122"/>
        </p:xfrm>
        <a:graphic>
          <a:graphicData uri="http://schemas.openxmlformats.org/drawingml/2006/table">
            <a:tbl>
              <a:tblPr/>
              <a:tblGrid>
                <a:gridCol w="1242391">
                  <a:extLst>
                    <a:ext uri="{9D8B030D-6E8A-4147-A177-3AD203B41FA5}">
                      <a16:colId xmlns:a16="http://schemas.microsoft.com/office/drawing/2014/main" val="3014502314"/>
                    </a:ext>
                  </a:extLst>
                </a:gridCol>
                <a:gridCol w="1497567">
                  <a:extLst>
                    <a:ext uri="{9D8B030D-6E8A-4147-A177-3AD203B41FA5}">
                      <a16:colId xmlns:a16="http://schemas.microsoft.com/office/drawing/2014/main" val="3317897402"/>
                    </a:ext>
                  </a:extLst>
                </a:gridCol>
                <a:gridCol w="2548881">
                  <a:extLst>
                    <a:ext uri="{9D8B030D-6E8A-4147-A177-3AD203B41FA5}">
                      <a16:colId xmlns:a16="http://schemas.microsoft.com/office/drawing/2014/main" val="58647825"/>
                    </a:ext>
                  </a:extLst>
                </a:gridCol>
                <a:gridCol w="1311027">
                  <a:extLst>
                    <a:ext uri="{9D8B030D-6E8A-4147-A177-3AD203B41FA5}">
                      <a16:colId xmlns:a16="http://schemas.microsoft.com/office/drawing/2014/main" val="4043844278"/>
                    </a:ext>
                  </a:extLst>
                </a:gridCol>
                <a:gridCol w="4830132">
                  <a:extLst>
                    <a:ext uri="{9D8B030D-6E8A-4147-A177-3AD203B41FA5}">
                      <a16:colId xmlns:a16="http://schemas.microsoft.com/office/drawing/2014/main" val="3693225312"/>
                    </a:ext>
                  </a:extLst>
                </a:gridCol>
              </a:tblGrid>
              <a:tr h="784345">
                <a:tc>
                  <a:txBody>
                    <a:bodyPr/>
                    <a:lstStyle/>
                    <a:p>
                      <a:pPr algn="ctr">
                        <a:tabLst>
                          <a:tab pos="1371600" algn="l"/>
                        </a:tabLst>
                      </a:pPr>
                      <a:r>
                        <a:rPr lang="en-US" sz="2400" b="1" dirty="0">
                          <a:solidFill>
                            <a:schemeClr val="accent5"/>
                          </a:solidFill>
                        </a:rPr>
                        <a:t>Position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Window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818744"/>
                  </a:ext>
                </a:extLst>
              </a:tr>
              <a:tr h="439233">
                <a:tc>
                  <a:txBody>
                    <a:bodyPr/>
                    <a:lstStyle/>
                    <a:p>
                      <a:pPr algn="ctr"/>
                      <a:r>
                        <a:rPr lang="en-US" sz="2400" b="1"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 b c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1+2+3+4 =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skip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6105799"/>
                  </a:ext>
                </a:extLst>
              </a:tr>
              <a:tr h="439233">
                <a:tc>
                  <a:txBody>
                    <a:bodyPr/>
                    <a:lstStyle/>
                    <a:p>
                      <a:pPr algn="ct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0470682"/>
                  </a:ext>
                </a:extLst>
              </a:tr>
              <a:tr h="508005">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293083"/>
                  </a:ext>
                </a:extLst>
              </a:tr>
              <a:tr h="555561">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9970662"/>
                  </a:ext>
                </a:extLst>
              </a:tr>
              <a:tr h="439233">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3089454"/>
                  </a:ext>
                </a:extLst>
              </a:tr>
              <a:tr h="784345">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264224"/>
                  </a:ext>
                </a:extLst>
              </a:tr>
              <a:tr h="439233">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8883481"/>
                  </a:ext>
                </a:extLst>
              </a:tr>
            </a:tbl>
          </a:graphicData>
        </a:graphic>
      </p:graphicFrame>
    </p:spTree>
    <p:extLst>
      <p:ext uri="{BB962C8B-B14F-4D97-AF65-F5344CB8AC3E}">
        <p14:creationId xmlns:p14="http://schemas.microsoft.com/office/powerpoint/2010/main" val="39041817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0C2A3-0AFC-DC9C-CA2E-77E890C54EF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1FA0A4D-5808-8CD5-EA5B-29B4E6DFFF9E}"/>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20B42902-6CAE-12C4-BAD7-517D13BA233B}"/>
              </a:ext>
            </a:extLst>
          </p:cNvPr>
          <p:cNvSpPr>
            <a:spLocks noGrp="1"/>
          </p:cNvSpPr>
          <p:nvPr>
            <p:ph type="sldNum" sz="quarter" idx="12"/>
          </p:nvPr>
        </p:nvSpPr>
        <p:spPr/>
        <p:txBody>
          <a:bodyPr/>
          <a:lstStyle/>
          <a:p>
            <a:fld id="{68187FF5-4BF9-4B21-B0D2-9B7FF2B27D7F}" type="slidenum">
              <a:rPr lang="en-AU" smtClean="0"/>
              <a:pPr/>
              <a:t>56</a:t>
            </a:fld>
            <a:endParaRPr lang="en-AU"/>
          </a:p>
        </p:txBody>
      </p:sp>
      <p:sp>
        <p:nvSpPr>
          <p:cNvPr id="4" name="Rectangle 3">
            <a:extLst>
              <a:ext uri="{FF2B5EF4-FFF2-40B4-BE49-F238E27FC236}">
                <a16:creationId xmlns:a16="http://schemas.microsoft.com/office/drawing/2014/main" id="{1E64FECA-AE37-F714-9A8F-71AF2035AF53}"/>
              </a:ext>
            </a:extLst>
          </p:cNvPr>
          <p:cNvSpPr/>
          <p:nvPr/>
        </p:nvSpPr>
        <p:spPr>
          <a:xfrm>
            <a:off x="2436576" y="191581"/>
            <a:ext cx="9392258" cy="682238"/>
          </a:xfrm>
          <a:prstGeom prst="rect">
            <a:avLst/>
          </a:prstGeom>
        </p:spPr>
        <p:txBody>
          <a:bodyPr wrap="square">
            <a:spAutoFit/>
          </a:bodyPr>
          <a:lstStyle/>
          <a:p>
            <a:pPr algn="just">
              <a:lnSpc>
                <a:spcPts val="2250"/>
              </a:lnSpc>
              <a:spcBef>
                <a:spcPts val="0"/>
              </a:spcBef>
              <a:spcAft>
                <a:spcPts val="1200"/>
              </a:spcAft>
              <a:defRPr/>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When the hash value of the pattern matches with the hash value of a window of the text but the window is not the actual pattern then it is called a </a:t>
            </a:r>
            <a:r>
              <a:rPr lang="en-US" sz="2000" b="1" u="sng" kern="0" dirty="0">
                <a:latin typeface="Times New Roman" panose="02020603050405020304" pitchFamily="18" charset="0"/>
                <a:ea typeface="Times New Roman" panose="02020603050405020304" pitchFamily="18" charset="0"/>
                <a:cs typeface="Times New Roman" panose="02020603050405020304" pitchFamily="18" charset="0"/>
              </a:rPr>
              <a:t>spurious hit</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1">
            <a:extLst>
              <a:ext uri="{FF2B5EF4-FFF2-40B4-BE49-F238E27FC236}">
                <a16:creationId xmlns:a16="http://schemas.microsoft.com/office/drawing/2014/main" id="{E2F12AC8-A0A5-5DAE-DBAE-E9004CB8BEBF}"/>
              </a:ext>
            </a:extLst>
          </p:cNvPr>
          <p:cNvSpPr>
            <a:spLocks noChangeArrowheads="1"/>
          </p:cNvSpPr>
          <p:nvPr/>
        </p:nvSpPr>
        <p:spPr bwMode="auto">
          <a:xfrm>
            <a:off x="1273053" y="997867"/>
            <a:ext cx="882592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400" b="1" dirty="0">
                <a:latin typeface="Times New Roman" panose="02020603050405020304" pitchFamily="18" charset="0"/>
                <a:cs typeface="Times New Roman" panose="02020603050405020304" pitchFamily="18" charset="0"/>
              </a:rPr>
              <a:t>Additive Hash</a:t>
            </a: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T = "</a:t>
            </a:r>
            <a:r>
              <a:rPr kumimoji="0" lang="en-US" altLang="en-US" sz="2400" b="1" i="0" u="none" strike="noStrike" cap="none" normalizeH="0" baseline="0" dirty="0" err="1">
                <a:ln>
                  <a:noFill/>
                </a:ln>
                <a:solidFill>
                  <a:srgbClr val="1E03BD"/>
                </a:solidFill>
                <a:effectLst/>
                <a:latin typeface="Times New Roman" panose="02020603050405020304" pitchFamily="18" charset="0"/>
                <a:cs typeface="Times New Roman" panose="02020603050405020304" pitchFamily="18" charset="0"/>
              </a:rPr>
              <a:t>abcdababcd</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n = 10) </a:t>
            </a:r>
          </a:p>
          <a:p>
            <a:pPr lvl="1"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Pattern P = "</a:t>
            </a:r>
            <a:r>
              <a:rPr kumimoji="0" lang="en-US" altLang="en-US" sz="2400" b="1" i="0" u="none" strike="noStrike" cap="none" normalizeH="0" baseline="0" dirty="0" err="1">
                <a:ln>
                  <a:noFill/>
                </a:ln>
                <a:solidFill>
                  <a:srgbClr val="1E03BD"/>
                </a:solidFill>
                <a:effectLst/>
                <a:latin typeface="Times New Roman" panose="02020603050405020304" pitchFamily="18" charset="0"/>
                <a:cs typeface="Times New Roman" panose="02020603050405020304" pitchFamily="18" charset="0"/>
              </a:rPr>
              <a:t>daba</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m = 4) </a:t>
            </a:r>
          </a:p>
        </p:txBody>
      </p:sp>
      <p:graphicFrame>
        <p:nvGraphicFramePr>
          <p:cNvPr id="7" name="Table 6">
            <a:extLst>
              <a:ext uri="{FF2B5EF4-FFF2-40B4-BE49-F238E27FC236}">
                <a16:creationId xmlns:a16="http://schemas.microsoft.com/office/drawing/2014/main" id="{29B4B72B-3376-89EC-2BF2-D8E0E72CC892}"/>
              </a:ext>
            </a:extLst>
          </p:cNvPr>
          <p:cNvGraphicFramePr>
            <a:graphicFrameLocks noGrp="1"/>
          </p:cNvGraphicFramePr>
          <p:nvPr>
            <p:extLst>
              <p:ext uri="{D42A27DB-BD31-4B8C-83A1-F6EECF244321}">
                <p14:modId xmlns:p14="http://schemas.microsoft.com/office/powerpoint/2010/main" val="4201146714"/>
              </p:ext>
            </p:extLst>
          </p:nvPr>
        </p:nvGraphicFramePr>
        <p:xfrm>
          <a:off x="546652" y="2149724"/>
          <a:ext cx="11429998" cy="4425122"/>
        </p:xfrm>
        <a:graphic>
          <a:graphicData uri="http://schemas.openxmlformats.org/drawingml/2006/table">
            <a:tbl>
              <a:tblPr/>
              <a:tblGrid>
                <a:gridCol w="1252331">
                  <a:extLst>
                    <a:ext uri="{9D8B030D-6E8A-4147-A177-3AD203B41FA5}">
                      <a16:colId xmlns:a16="http://schemas.microsoft.com/office/drawing/2014/main" val="3014502314"/>
                    </a:ext>
                  </a:extLst>
                </a:gridCol>
                <a:gridCol w="1487627">
                  <a:extLst>
                    <a:ext uri="{9D8B030D-6E8A-4147-A177-3AD203B41FA5}">
                      <a16:colId xmlns:a16="http://schemas.microsoft.com/office/drawing/2014/main" val="3317897402"/>
                    </a:ext>
                  </a:extLst>
                </a:gridCol>
                <a:gridCol w="2548881">
                  <a:extLst>
                    <a:ext uri="{9D8B030D-6E8A-4147-A177-3AD203B41FA5}">
                      <a16:colId xmlns:a16="http://schemas.microsoft.com/office/drawing/2014/main" val="58647825"/>
                    </a:ext>
                  </a:extLst>
                </a:gridCol>
                <a:gridCol w="1311027">
                  <a:extLst>
                    <a:ext uri="{9D8B030D-6E8A-4147-A177-3AD203B41FA5}">
                      <a16:colId xmlns:a16="http://schemas.microsoft.com/office/drawing/2014/main" val="4043844278"/>
                    </a:ext>
                  </a:extLst>
                </a:gridCol>
                <a:gridCol w="4830132">
                  <a:extLst>
                    <a:ext uri="{9D8B030D-6E8A-4147-A177-3AD203B41FA5}">
                      <a16:colId xmlns:a16="http://schemas.microsoft.com/office/drawing/2014/main" val="3693225312"/>
                    </a:ext>
                  </a:extLst>
                </a:gridCol>
              </a:tblGrid>
              <a:tr h="784345">
                <a:tc>
                  <a:txBody>
                    <a:bodyPr/>
                    <a:lstStyle/>
                    <a:p>
                      <a:pPr algn="ctr">
                        <a:tabLst>
                          <a:tab pos="1371600" algn="l"/>
                        </a:tabLst>
                      </a:pPr>
                      <a:r>
                        <a:rPr lang="en-US" sz="2400" b="1" dirty="0">
                          <a:solidFill>
                            <a:schemeClr val="accent5"/>
                          </a:solidFill>
                        </a:rPr>
                        <a:t>Position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Window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818744"/>
                  </a:ext>
                </a:extLst>
              </a:tr>
              <a:tr h="439233">
                <a:tc>
                  <a:txBody>
                    <a:bodyPr/>
                    <a:lstStyle/>
                    <a:p>
                      <a:pPr algn="ctr"/>
                      <a:r>
                        <a:rPr lang="en-US" sz="2400" b="1"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 b c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1+2+3+4 =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skip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6105799"/>
                  </a:ext>
                </a:extLst>
              </a:tr>
              <a:tr h="439233">
                <a:tc>
                  <a:txBody>
                    <a:bodyPr/>
                    <a:lstStyle/>
                    <a:p>
                      <a:pPr algn="ctr"/>
                      <a:r>
                        <a:rPr lang="en-US" sz="2400" b="1"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b c d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2+3+4+1 =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skip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0470682"/>
                  </a:ext>
                </a:extLst>
              </a:tr>
              <a:tr h="508005">
                <a:tc>
                  <a:txBody>
                    <a:bodyPr/>
                    <a:lstStyle/>
                    <a:p>
                      <a:pPr algn="ct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293083"/>
                  </a:ext>
                </a:extLst>
              </a:tr>
              <a:tr h="555561">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9970662"/>
                  </a:ext>
                </a:extLst>
              </a:tr>
              <a:tr h="439233">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3089454"/>
                  </a:ext>
                </a:extLst>
              </a:tr>
              <a:tr h="784345">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264224"/>
                  </a:ext>
                </a:extLst>
              </a:tr>
              <a:tr h="439233">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8883481"/>
                  </a:ext>
                </a:extLst>
              </a:tr>
            </a:tbl>
          </a:graphicData>
        </a:graphic>
      </p:graphicFrame>
    </p:spTree>
    <p:extLst>
      <p:ext uri="{BB962C8B-B14F-4D97-AF65-F5344CB8AC3E}">
        <p14:creationId xmlns:p14="http://schemas.microsoft.com/office/powerpoint/2010/main" val="36243262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6DADB-9EE4-F677-E499-5968F8027DC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1B42735-262B-47A7-388C-6487A22C6B88}"/>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C0BD436E-E2A2-769F-4D53-DCA31D2F11FE}"/>
              </a:ext>
            </a:extLst>
          </p:cNvPr>
          <p:cNvSpPr>
            <a:spLocks noGrp="1"/>
          </p:cNvSpPr>
          <p:nvPr>
            <p:ph type="sldNum" sz="quarter" idx="12"/>
          </p:nvPr>
        </p:nvSpPr>
        <p:spPr/>
        <p:txBody>
          <a:bodyPr/>
          <a:lstStyle/>
          <a:p>
            <a:fld id="{68187FF5-4BF9-4B21-B0D2-9B7FF2B27D7F}" type="slidenum">
              <a:rPr lang="en-AU" smtClean="0"/>
              <a:pPr/>
              <a:t>57</a:t>
            </a:fld>
            <a:endParaRPr lang="en-AU"/>
          </a:p>
        </p:txBody>
      </p:sp>
      <p:sp>
        <p:nvSpPr>
          <p:cNvPr id="4" name="Rectangle 3">
            <a:extLst>
              <a:ext uri="{FF2B5EF4-FFF2-40B4-BE49-F238E27FC236}">
                <a16:creationId xmlns:a16="http://schemas.microsoft.com/office/drawing/2014/main" id="{2B51AECB-4C3D-7F87-6372-993E903CD7C1}"/>
              </a:ext>
            </a:extLst>
          </p:cNvPr>
          <p:cNvSpPr/>
          <p:nvPr/>
        </p:nvSpPr>
        <p:spPr>
          <a:xfrm>
            <a:off x="2436576" y="191581"/>
            <a:ext cx="9392258" cy="682238"/>
          </a:xfrm>
          <a:prstGeom prst="rect">
            <a:avLst/>
          </a:prstGeom>
        </p:spPr>
        <p:txBody>
          <a:bodyPr wrap="square">
            <a:spAutoFit/>
          </a:bodyPr>
          <a:lstStyle/>
          <a:p>
            <a:pPr algn="just">
              <a:lnSpc>
                <a:spcPts val="2250"/>
              </a:lnSpc>
              <a:spcBef>
                <a:spcPts val="0"/>
              </a:spcBef>
              <a:spcAft>
                <a:spcPts val="1200"/>
              </a:spcAft>
              <a:defRPr/>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When the hash value of the pattern matches with the hash value of a window of the text but the window is not the actual pattern then it is called a </a:t>
            </a:r>
            <a:r>
              <a:rPr lang="en-US" sz="2000" b="1" u="sng" kern="0" dirty="0">
                <a:latin typeface="Times New Roman" panose="02020603050405020304" pitchFamily="18" charset="0"/>
                <a:ea typeface="Times New Roman" panose="02020603050405020304" pitchFamily="18" charset="0"/>
                <a:cs typeface="Times New Roman" panose="02020603050405020304" pitchFamily="18" charset="0"/>
              </a:rPr>
              <a:t>spurious hit</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1">
            <a:extLst>
              <a:ext uri="{FF2B5EF4-FFF2-40B4-BE49-F238E27FC236}">
                <a16:creationId xmlns:a16="http://schemas.microsoft.com/office/drawing/2014/main" id="{A1ABA6B4-1BF7-5CD1-9352-6542A47D0F3D}"/>
              </a:ext>
            </a:extLst>
          </p:cNvPr>
          <p:cNvSpPr>
            <a:spLocks noChangeArrowheads="1"/>
          </p:cNvSpPr>
          <p:nvPr/>
        </p:nvSpPr>
        <p:spPr bwMode="auto">
          <a:xfrm>
            <a:off x="1273053" y="997867"/>
            <a:ext cx="882592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400" b="1" dirty="0">
                <a:latin typeface="Times New Roman" panose="02020603050405020304" pitchFamily="18" charset="0"/>
                <a:cs typeface="Times New Roman" panose="02020603050405020304" pitchFamily="18" charset="0"/>
              </a:rPr>
              <a:t>Additive Hash</a:t>
            </a: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T = "</a:t>
            </a:r>
            <a:r>
              <a:rPr kumimoji="0" lang="en-US" altLang="en-US" sz="2400" b="1" i="0" u="none" strike="noStrike" cap="none" normalizeH="0" baseline="0" dirty="0" err="1">
                <a:ln>
                  <a:noFill/>
                </a:ln>
                <a:solidFill>
                  <a:srgbClr val="1E03BD"/>
                </a:solidFill>
                <a:effectLst/>
                <a:latin typeface="Times New Roman" panose="02020603050405020304" pitchFamily="18" charset="0"/>
                <a:cs typeface="Times New Roman" panose="02020603050405020304" pitchFamily="18" charset="0"/>
              </a:rPr>
              <a:t>abcdababcd</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n = 10) </a:t>
            </a:r>
          </a:p>
          <a:p>
            <a:pPr lvl="1"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Pattern P = "</a:t>
            </a:r>
            <a:r>
              <a:rPr kumimoji="0" lang="en-US" altLang="en-US" sz="2400" b="1" i="0" u="none" strike="noStrike" cap="none" normalizeH="0" baseline="0" dirty="0" err="1">
                <a:ln>
                  <a:noFill/>
                </a:ln>
                <a:solidFill>
                  <a:srgbClr val="1E03BD"/>
                </a:solidFill>
                <a:effectLst/>
                <a:latin typeface="Times New Roman" panose="02020603050405020304" pitchFamily="18" charset="0"/>
                <a:cs typeface="Times New Roman" panose="02020603050405020304" pitchFamily="18" charset="0"/>
              </a:rPr>
              <a:t>daba</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m = 4) </a:t>
            </a:r>
          </a:p>
        </p:txBody>
      </p:sp>
      <p:graphicFrame>
        <p:nvGraphicFramePr>
          <p:cNvPr id="7" name="Table 6">
            <a:extLst>
              <a:ext uri="{FF2B5EF4-FFF2-40B4-BE49-F238E27FC236}">
                <a16:creationId xmlns:a16="http://schemas.microsoft.com/office/drawing/2014/main" id="{E832410B-933C-A1E7-DA78-305886760F76}"/>
              </a:ext>
            </a:extLst>
          </p:cNvPr>
          <p:cNvGraphicFramePr>
            <a:graphicFrameLocks noGrp="1"/>
          </p:cNvGraphicFramePr>
          <p:nvPr>
            <p:extLst>
              <p:ext uri="{D42A27DB-BD31-4B8C-83A1-F6EECF244321}">
                <p14:modId xmlns:p14="http://schemas.microsoft.com/office/powerpoint/2010/main" val="787812987"/>
              </p:ext>
            </p:extLst>
          </p:nvPr>
        </p:nvGraphicFramePr>
        <p:xfrm>
          <a:off x="546652" y="2149724"/>
          <a:ext cx="11429998" cy="4425122"/>
        </p:xfrm>
        <a:graphic>
          <a:graphicData uri="http://schemas.openxmlformats.org/drawingml/2006/table">
            <a:tbl>
              <a:tblPr/>
              <a:tblGrid>
                <a:gridCol w="1292087">
                  <a:extLst>
                    <a:ext uri="{9D8B030D-6E8A-4147-A177-3AD203B41FA5}">
                      <a16:colId xmlns:a16="http://schemas.microsoft.com/office/drawing/2014/main" val="3014502314"/>
                    </a:ext>
                  </a:extLst>
                </a:gridCol>
                <a:gridCol w="1447871">
                  <a:extLst>
                    <a:ext uri="{9D8B030D-6E8A-4147-A177-3AD203B41FA5}">
                      <a16:colId xmlns:a16="http://schemas.microsoft.com/office/drawing/2014/main" val="3317897402"/>
                    </a:ext>
                  </a:extLst>
                </a:gridCol>
                <a:gridCol w="2548881">
                  <a:extLst>
                    <a:ext uri="{9D8B030D-6E8A-4147-A177-3AD203B41FA5}">
                      <a16:colId xmlns:a16="http://schemas.microsoft.com/office/drawing/2014/main" val="58647825"/>
                    </a:ext>
                  </a:extLst>
                </a:gridCol>
                <a:gridCol w="1311027">
                  <a:extLst>
                    <a:ext uri="{9D8B030D-6E8A-4147-A177-3AD203B41FA5}">
                      <a16:colId xmlns:a16="http://schemas.microsoft.com/office/drawing/2014/main" val="4043844278"/>
                    </a:ext>
                  </a:extLst>
                </a:gridCol>
                <a:gridCol w="4830132">
                  <a:extLst>
                    <a:ext uri="{9D8B030D-6E8A-4147-A177-3AD203B41FA5}">
                      <a16:colId xmlns:a16="http://schemas.microsoft.com/office/drawing/2014/main" val="3693225312"/>
                    </a:ext>
                  </a:extLst>
                </a:gridCol>
              </a:tblGrid>
              <a:tr h="784345">
                <a:tc>
                  <a:txBody>
                    <a:bodyPr/>
                    <a:lstStyle/>
                    <a:p>
                      <a:pPr algn="ctr">
                        <a:tabLst>
                          <a:tab pos="1371600" algn="l"/>
                        </a:tabLst>
                      </a:pPr>
                      <a:r>
                        <a:rPr lang="en-US" sz="2400" b="1" dirty="0">
                          <a:solidFill>
                            <a:schemeClr val="accent5"/>
                          </a:solidFill>
                        </a:rPr>
                        <a:t>Position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Window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818744"/>
                  </a:ext>
                </a:extLst>
              </a:tr>
              <a:tr h="439233">
                <a:tc>
                  <a:txBody>
                    <a:bodyPr/>
                    <a:lstStyle/>
                    <a:p>
                      <a:pPr algn="ctr"/>
                      <a:r>
                        <a:rPr lang="en-US" sz="2400" b="1"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 b c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1+2+3+4 =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skip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6105799"/>
                  </a:ext>
                </a:extLst>
              </a:tr>
              <a:tr h="439233">
                <a:tc>
                  <a:txBody>
                    <a:bodyPr/>
                    <a:lstStyle/>
                    <a:p>
                      <a:pPr algn="ctr"/>
                      <a:r>
                        <a:rPr lang="en-US" sz="2400" b="1"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b c d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2+3+4+1 =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skip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0470682"/>
                  </a:ext>
                </a:extLst>
              </a:tr>
              <a:tr h="508005">
                <a:tc>
                  <a:txBody>
                    <a:bodyPr/>
                    <a:lstStyle/>
                    <a:p>
                      <a:pPr algn="ctr"/>
                      <a:r>
                        <a:rPr lang="en-US" sz="2400" b="1"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c d a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3+4+1+2 =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skip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293083"/>
                  </a:ext>
                </a:extLst>
              </a:tr>
              <a:tr h="555561">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9970662"/>
                  </a:ext>
                </a:extLst>
              </a:tr>
              <a:tr h="439233">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3089454"/>
                  </a:ext>
                </a:extLst>
              </a:tr>
              <a:tr h="784345">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264224"/>
                  </a:ext>
                </a:extLst>
              </a:tr>
              <a:tr h="439233">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8883481"/>
                  </a:ext>
                </a:extLst>
              </a:tr>
            </a:tbl>
          </a:graphicData>
        </a:graphic>
      </p:graphicFrame>
    </p:spTree>
    <p:extLst>
      <p:ext uri="{BB962C8B-B14F-4D97-AF65-F5344CB8AC3E}">
        <p14:creationId xmlns:p14="http://schemas.microsoft.com/office/powerpoint/2010/main" val="5796583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52F14-EA89-1BF4-4AE0-ED8013858BF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2D87EE8-3CFC-E5A1-F576-31683DA43D32}"/>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521A8E0D-5095-2DD5-F4BC-FFB0D55B95D0}"/>
              </a:ext>
            </a:extLst>
          </p:cNvPr>
          <p:cNvSpPr>
            <a:spLocks noGrp="1"/>
          </p:cNvSpPr>
          <p:nvPr>
            <p:ph type="sldNum" sz="quarter" idx="12"/>
          </p:nvPr>
        </p:nvSpPr>
        <p:spPr/>
        <p:txBody>
          <a:bodyPr/>
          <a:lstStyle/>
          <a:p>
            <a:fld id="{68187FF5-4BF9-4B21-B0D2-9B7FF2B27D7F}" type="slidenum">
              <a:rPr lang="en-AU" smtClean="0"/>
              <a:pPr/>
              <a:t>58</a:t>
            </a:fld>
            <a:endParaRPr lang="en-AU"/>
          </a:p>
        </p:txBody>
      </p:sp>
      <p:sp>
        <p:nvSpPr>
          <p:cNvPr id="4" name="Rectangle 3">
            <a:extLst>
              <a:ext uri="{FF2B5EF4-FFF2-40B4-BE49-F238E27FC236}">
                <a16:creationId xmlns:a16="http://schemas.microsoft.com/office/drawing/2014/main" id="{8CF94E0B-9F86-B87F-C34C-B5ADB614E5FD}"/>
              </a:ext>
            </a:extLst>
          </p:cNvPr>
          <p:cNvSpPr/>
          <p:nvPr/>
        </p:nvSpPr>
        <p:spPr>
          <a:xfrm>
            <a:off x="2436576" y="191581"/>
            <a:ext cx="9392258" cy="682238"/>
          </a:xfrm>
          <a:prstGeom prst="rect">
            <a:avLst/>
          </a:prstGeom>
        </p:spPr>
        <p:txBody>
          <a:bodyPr wrap="square">
            <a:spAutoFit/>
          </a:bodyPr>
          <a:lstStyle/>
          <a:p>
            <a:pPr algn="just">
              <a:lnSpc>
                <a:spcPts val="2250"/>
              </a:lnSpc>
              <a:spcBef>
                <a:spcPts val="0"/>
              </a:spcBef>
              <a:spcAft>
                <a:spcPts val="1200"/>
              </a:spcAft>
              <a:defRPr/>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When the hash value of the pattern matches with the hash value of a window of the text but the window is not the actual pattern then it is called a </a:t>
            </a:r>
            <a:r>
              <a:rPr lang="en-US" sz="2000" b="1" u="sng" kern="0" dirty="0">
                <a:latin typeface="Times New Roman" panose="02020603050405020304" pitchFamily="18" charset="0"/>
                <a:ea typeface="Times New Roman" panose="02020603050405020304" pitchFamily="18" charset="0"/>
                <a:cs typeface="Times New Roman" panose="02020603050405020304" pitchFamily="18" charset="0"/>
              </a:rPr>
              <a:t>spurious hit</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1">
            <a:extLst>
              <a:ext uri="{FF2B5EF4-FFF2-40B4-BE49-F238E27FC236}">
                <a16:creationId xmlns:a16="http://schemas.microsoft.com/office/drawing/2014/main" id="{322F266D-1E04-B643-A3A8-11C4DD8A04EF}"/>
              </a:ext>
            </a:extLst>
          </p:cNvPr>
          <p:cNvSpPr>
            <a:spLocks noChangeArrowheads="1"/>
          </p:cNvSpPr>
          <p:nvPr/>
        </p:nvSpPr>
        <p:spPr bwMode="auto">
          <a:xfrm>
            <a:off x="1273053" y="997867"/>
            <a:ext cx="882592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400" b="1" dirty="0">
                <a:latin typeface="Times New Roman" panose="02020603050405020304" pitchFamily="18" charset="0"/>
                <a:cs typeface="Times New Roman" panose="02020603050405020304" pitchFamily="18" charset="0"/>
              </a:rPr>
              <a:t>Additive Hash</a:t>
            </a: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T = "</a:t>
            </a:r>
            <a:r>
              <a:rPr kumimoji="0" lang="en-US" altLang="en-US" sz="2400" b="1" i="0" u="none" strike="noStrike" cap="none" normalizeH="0" baseline="0" dirty="0" err="1">
                <a:ln>
                  <a:noFill/>
                </a:ln>
                <a:solidFill>
                  <a:srgbClr val="1E03BD"/>
                </a:solidFill>
                <a:effectLst/>
                <a:latin typeface="Times New Roman" panose="02020603050405020304" pitchFamily="18" charset="0"/>
                <a:cs typeface="Times New Roman" panose="02020603050405020304" pitchFamily="18" charset="0"/>
              </a:rPr>
              <a:t>abcdababcd</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n = 10) </a:t>
            </a:r>
          </a:p>
          <a:p>
            <a:pPr lvl="1"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Pattern P = "</a:t>
            </a:r>
            <a:r>
              <a:rPr kumimoji="0" lang="en-US" altLang="en-US" sz="2400" b="1" i="0" u="none" strike="noStrike" cap="none" normalizeH="0" baseline="0" dirty="0" err="1">
                <a:ln>
                  <a:noFill/>
                </a:ln>
                <a:solidFill>
                  <a:srgbClr val="1E03BD"/>
                </a:solidFill>
                <a:effectLst/>
                <a:latin typeface="Times New Roman" panose="02020603050405020304" pitchFamily="18" charset="0"/>
                <a:cs typeface="Times New Roman" panose="02020603050405020304" pitchFamily="18" charset="0"/>
              </a:rPr>
              <a:t>daba</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m = 4) </a:t>
            </a:r>
          </a:p>
        </p:txBody>
      </p:sp>
      <p:graphicFrame>
        <p:nvGraphicFramePr>
          <p:cNvPr id="7" name="Table 6">
            <a:extLst>
              <a:ext uri="{FF2B5EF4-FFF2-40B4-BE49-F238E27FC236}">
                <a16:creationId xmlns:a16="http://schemas.microsoft.com/office/drawing/2014/main" id="{D2E740FD-D5AF-BD64-D9CD-EF47D7AEEEB9}"/>
              </a:ext>
            </a:extLst>
          </p:cNvPr>
          <p:cNvGraphicFramePr>
            <a:graphicFrameLocks noGrp="1"/>
          </p:cNvGraphicFramePr>
          <p:nvPr>
            <p:extLst>
              <p:ext uri="{D42A27DB-BD31-4B8C-83A1-F6EECF244321}">
                <p14:modId xmlns:p14="http://schemas.microsoft.com/office/powerpoint/2010/main" val="917378376"/>
              </p:ext>
            </p:extLst>
          </p:nvPr>
        </p:nvGraphicFramePr>
        <p:xfrm>
          <a:off x="546652" y="2149724"/>
          <a:ext cx="11429998" cy="4425122"/>
        </p:xfrm>
        <a:graphic>
          <a:graphicData uri="http://schemas.openxmlformats.org/drawingml/2006/table">
            <a:tbl>
              <a:tblPr/>
              <a:tblGrid>
                <a:gridCol w="1381539">
                  <a:extLst>
                    <a:ext uri="{9D8B030D-6E8A-4147-A177-3AD203B41FA5}">
                      <a16:colId xmlns:a16="http://schemas.microsoft.com/office/drawing/2014/main" val="3014502314"/>
                    </a:ext>
                  </a:extLst>
                </a:gridCol>
                <a:gridCol w="1358419">
                  <a:extLst>
                    <a:ext uri="{9D8B030D-6E8A-4147-A177-3AD203B41FA5}">
                      <a16:colId xmlns:a16="http://schemas.microsoft.com/office/drawing/2014/main" val="3317897402"/>
                    </a:ext>
                  </a:extLst>
                </a:gridCol>
                <a:gridCol w="2548881">
                  <a:extLst>
                    <a:ext uri="{9D8B030D-6E8A-4147-A177-3AD203B41FA5}">
                      <a16:colId xmlns:a16="http://schemas.microsoft.com/office/drawing/2014/main" val="58647825"/>
                    </a:ext>
                  </a:extLst>
                </a:gridCol>
                <a:gridCol w="1311027">
                  <a:extLst>
                    <a:ext uri="{9D8B030D-6E8A-4147-A177-3AD203B41FA5}">
                      <a16:colId xmlns:a16="http://schemas.microsoft.com/office/drawing/2014/main" val="4043844278"/>
                    </a:ext>
                  </a:extLst>
                </a:gridCol>
                <a:gridCol w="4830132">
                  <a:extLst>
                    <a:ext uri="{9D8B030D-6E8A-4147-A177-3AD203B41FA5}">
                      <a16:colId xmlns:a16="http://schemas.microsoft.com/office/drawing/2014/main" val="3693225312"/>
                    </a:ext>
                  </a:extLst>
                </a:gridCol>
              </a:tblGrid>
              <a:tr h="784345">
                <a:tc>
                  <a:txBody>
                    <a:bodyPr/>
                    <a:lstStyle/>
                    <a:p>
                      <a:pPr algn="ctr">
                        <a:tabLst>
                          <a:tab pos="1371600" algn="l"/>
                        </a:tabLst>
                      </a:pPr>
                      <a:r>
                        <a:rPr lang="en-US" sz="2400" b="1" dirty="0">
                          <a:solidFill>
                            <a:schemeClr val="accent5"/>
                          </a:solidFill>
                        </a:rPr>
                        <a:t>Position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Window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818744"/>
                  </a:ext>
                </a:extLst>
              </a:tr>
              <a:tr h="439233">
                <a:tc>
                  <a:txBody>
                    <a:bodyPr/>
                    <a:lstStyle/>
                    <a:p>
                      <a:pPr algn="ctr"/>
                      <a:r>
                        <a:rPr lang="en-US" sz="2400" b="1"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 b c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1+2+3+4 =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skip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6105799"/>
                  </a:ext>
                </a:extLst>
              </a:tr>
              <a:tr h="439233">
                <a:tc>
                  <a:txBody>
                    <a:bodyPr/>
                    <a:lstStyle/>
                    <a:p>
                      <a:pPr algn="ctr"/>
                      <a:r>
                        <a:rPr lang="en-US" sz="2400" b="1"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b c d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2+3+4+1 =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skip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0470682"/>
                  </a:ext>
                </a:extLst>
              </a:tr>
              <a:tr h="508005">
                <a:tc>
                  <a:txBody>
                    <a:bodyPr/>
                    <a:lstStyle/>
                    <a:p>
                      <a:pPr algn="ctr"/>
                      <a:r>
                        <a:rPr lang="en-US" sz="2400" b="1"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c d a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3+4+1+2 =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skip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293083"/>
                  </a:ext>
                </a:extLst>
              </a:tr>
              <a:tr h="555561">
                <a:tc>
                  <a:txBody>
                    <a:bodyPr/>
                    <a:lstStyle/>
                    <a:p>
                      <a:pPr algn="ctr"/>
                      <a:r>
                        <a:rPr lang="en-US" sz="2400" b="1"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d a b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4+1+2+1 =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verify → "</a:t>
                      </a:r>
                      <a:r>
                        <a:rPr lang="en-US" sz="2400" b="1" dirty="0" err="1"/>
                        <a:t>daba</a:t>
                      </a:r>
                      <a:r>
                        <a:rPr lang="en-US" sz="2400" b="1" dirty="0"/>
                        <a:t>"="</a:t>
                      </a:r>
                      <a:r>
                        <a:rPr lang="en-US" sz="2400" b="1" dirty="0" err="1"/>
                        <a:t>daba</a:t>
                      </a:r>
                      <a:r>
                        <a:rPr lang="en-US" sz="2400" b="1" dirty="0"/>
                        <a:t>" →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9970662"/>
                  </a:ext>
                </a:extLst>
              </a:tr>
              <a:tr h="439233">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3089454"/>
                  </a:ext>
                </a:extLst>
              </a:tr>
              <a:tr h="784345">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264224"/>
                  </a:ext>
                </a:extLst>
              </a:tr>
              <a:tr h="439233">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8883481"/>
                  </a:ext>
                </a:extLst>
              </a:tr>
            </a:tbl>
          </a:graphicData>
        </a:graphic>
      </p:graphicFrame>
    </p:spTree>
    <p:extLst>
      <p:ext uri="{BB962C8B-B14F-4D97-AF65-F5344CB8AC3E}">
        <p14:creationId xmlns:p14="http://schemas.microsoft.com/office/powerpoint/2010/main" val="10952329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45F00-E58D-5446-AB66-7A29C40CD2B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410A2F8-AC28-746A-E6F8-F8B1492195C9}"/>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E1EE8335-96C0-FFD4-FAD2-F24BB38002AB}"/>
              </a:ext>
            </a:extLst>
          </p:cNvPr>
          <p:cNvSpPr>
            <a:spLocks noGrp="1"/>
          </p:cNvSpPr>
          <p:nvPr>
            <p:ph type="sldNum" sz="quarter" idx="12"/>
          </p:nvPr>
        </p:nvSpPr>
        <p:spPr/>
        <p:txBody>
          <a:bodyPr/>
          <a:lstStyle/>
          <a:p>
            <a:fld id="{68187FF5-4BF9-4B21-B0D2-9B7FF2B27D7F}" type="slidenum">
              <a:rPr lang="en-AU" smtClean="0"/>
              <a:pPr/>
              <a:t>59</a:t>
            </a:fld>
            <a:endParaRPr lang="en-AU"/>
          </a:p>
        </p:txBody>
      </p:sp>
      <p:sp>
        <p:nvSpPr>
          <p:cNvPr id="4" name="Rectangle 3">
            <a:extLst>
              <a:ext uri="{FF2B5EF4-FFF2-40B4-BE49-F238E27FC236}">
                <a16:creationId xmlns:a16="http://schemas.microsoft.com/office/drawing/2014/main" id="{4055B004-BD01-818D-D2F9-B7F6B22D1A8E}"/>
              </a:ext>
            </a:extLst>
          </p:cNvPr>
          <p:cNvSpPr/>
          <p:nvPr/>
        </p:nvSpPr>
        <p:spPr>
          <a:xfrm>
            <a:off x="2436576" y="191581"/>
            <a:ext cx="9392258" cy="682238"/>
          </a:xfrm>
          <a:prstGeom prst="rect">
            <a:avLst/>
          </a:prstGeom>
        </p:spPr>
        <p:txBody>
          <a:bodyPr wrap="square">
            <a:spAutoFit/>
          </a:bodyPr>
          <a:lstStyle/>
          <a:p>
            <a:pPr algn="just">
              <a:lnSpc>
                <a:spcPts val="2250"/>
              </a:lnSpc>
              <a:spcBef>
                <a:spcPts val="0"/>
              </a:spcBef>
              <a:spcAft>
                <a:spcPts val="1200"/>
              </a:spcAft>
              <a:defRPr/>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When the hash value of the pattern matches with the hash value of a window of the text but the window is not the actual pattern then it is called a </a:t>
            </a:r>
            <a:r>
              <a:rPr lang="en-US" sz="2000" b="1" u="sng" kern="0" dirty="0">
                <a:latin typeface="Times New Roman" panose="02020603050405020304" pitchFamily="18" charset="0"/>
                <a:ea typeface="Times New Roman" panose="02020603050405020304" pitchFamily="18" charset="0"/>
                <a:cs typeface="Times New Roman" panose="02020603050405020304" pitchFamily="18" charset="0"/>
              </a:rPr>
              <a:t>spurious hit</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1">
            <a:extLst>
              <a:ext uri="{FF2B5EF4-FFF2-40B4-BE49-F238E27FC236}">
                <a16:creationId xmlns:a16="http://schemas.microsoft.com/office/drawing/2014/main" id="{4B382FC6-4C2A-E4EF-1494-9FFF98548525}"/>
              </a:ext>
            </a:extLst>
          </p:cNvPr>
          <p:cNvSpPr>
            <a:spLocks noChangeArrowheads="1"/>
          </p:cNvSpPr>
          <p:nvPr/>
        </p:nvSpPr>
        <p:spPr bwMode="auto">
          <a:xfrm>
            <a:off x="1273053" y="997867"/>
            <a:ext cx="882592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400" b="1" dirty="0">
                <a:latin typeface="Times New Roman" panose="02020603050405020304" pitchFamily="18" charset="0"/>
                <a:cs typeface="Times New Roman" panose="02020603050405020304" pitchFamily="18" charset="0"/>
              </a:rPr>
              <a:t>Additive Hash</a:t>
            </a: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T = "</a:t>
            </a:r>
            <a:r>
              <a:rPr kumimoji="0" lang="en-US" altLang="en-US" sz="2400" b="1" i="0" u="none" strike="noStrike" cap="none" normalizeH="0" baseline="0" dirty="0" err="1">
                <a:ln>
                  <a:noFill/>
                </a:ln>
                <a:solidFill>
                  <a:srgbClr val="1E03BD"/>
                </a:solidFill>
                <a:effectLst/>
                <a:latin typeface="Times New Roman" panose="02020603050405020304" pitchFamily="18" charset="0"/>
                <a:cs typeface="Times New Roman" panose="02020603050405020304" pitchFamily="18" charset="0"/>
              </a:rPr>
              <a:t>abcdababcd</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n = 10) </a:t>
            </a:r>
          </a:p>
          <a:p>
            <a:pPr lvl="1"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Pattern P = "</a:t>
            </a:r>
            <a:r>
              <a:rPr kumimoji="0" lang="en-US" altLang="en-US" sz="2400" b="1" i="0" u="none" strike="noStrike" cap="none" normalizeH="0" baseline="0" dirty="0" err="1">
                <a:ln>
                  <a:noFill/>
                </a:ln>
                <a:solidFill>
                  <a:srgbClr val="1E03BD"/>
                </a:solidFill>
                <a:effectLst/>
                <a:latin typeface="Times New Roman" panose="02020603050405020304" pitchFamily="18" charset="0"/>
                <a:cs typeface="Times New Roman" panose="02020603050405020304" pitchFamily="18" charset="0"/>
              </a:rPr>
              <a:t>daba</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m = 4) </a:t>
            </a:r>
          </a:p>
        </p:txBody>
      </p:sp>
      <p:graphicFrame>
        <p:nvGraphicFramePr>
          <p:cNvPr id="7" name="Table 6">
            <a:extLst>
              <a:ext uri="{FF2B5EF4-FFF2-40B4-BE49-F238E27FC236}">
                <a16:creationId xmlns:a16="http://schemas.microsoft.com/office/drawing/2014/main" id="{3256C1F5-B07A-A751-5696-B26DEB279C70}"/>
              </a:ext>
            </a:extLst>
          </p:cNvPr>
          <p:cNvGraphicFramePr>
            <a:graphicFrameLocks noGrp="1"/>
          </p:cNvGraphicFramePr>
          <p:nvPr>
            <p:extLst>
              <p:ext uri="{D42A27DB-BD31-4B8C-83A1-F6EECF244321}">
                <p14:modId xmlns:p14="http://schemas.microsoft.com/office/powerpoint/2010/main" val="630332840"/>
              </p:ext>
            </p:extLst>
          </p:nvPr>
        </p:nvGraphicFramePr>
        <p:xfrm>
          <a:off x="546652" y="2149724"/>
          <a:ext cx="11429998" cy="4443089"/>
        </p:xfrm>
        <a:graphic>
          <a:graphicData uri="http://schemas.openxmlformats.org/drawingml/2006/table">
            <a:tbl>
              <a:tblPr/>
              <a:tblGrid>
                <a:gridCol w="1242391">
                  <a:extLst>
                    <a:ext uri="{9D8B030D-6E8A-4147-A177-3AD203B41FA5}">
                      <a16:colId xmlns:a16="http://schemas.microsoft.com/office/drawing/2014/main" val="3014502314"/>
                    </a:ext>
                  </a:extLst>
                </a:gridCol>
                <a:gridCol w="1497567">
                  <a:extLst>
                    <a:ext uri="{9D8B030D-6E8A-4147-A177-3AD203B41FA5}">
                      <a16:colId xmlns:a16="http://schemas.microsoft.com/office/drawing/2014/main" val="3317897402"/>
                    </a:ext>
                  </a:extLst>
                </a:gridCol>
                <a:gridCol w="2548881">
                  <a:extLst>
                    <a:ext uri="{9D8B030D-6E8A-4147-A177-3AD203B41FA5}">
                      <a16:colId xmlns:a16="http://schemas.microsoft.com/office/drawing/2014/main" val="58647825"/>
                    </a:ext>
                  </a:extLst>
                </a:gridCol>
                <a:gridCol w="1311027">
                  <a:extLst>
                    <a:ext uri="{9D8B030D-6E8A-4147-A177-3AD203B41FA5}">
                      <a16:colId xmlns:a16="http://schemas.microsoft.com/office/drawing/2014/main" val="4043844278"/>
                    </a:ext>
                  </a:extLst>
                </a:gridCol>
                <a:gridCol w="4830132">
                  <a:extLst>
                    <a:ext uri="{9D8B030D-6E8A-4147-A177-3AD203B41FA5}">
                      <a16:colId xmlns:a16="http://schemas.microsoft.com/office/drawing/2014/main" val="3693225312"/>
                    </a:ext>
                  </a:extLst>
                </a:gridCol>
              </a:tblGrid>
              <a:tr h="784345">
                <a:tc>
                  <a:txBody>
                    <a:bodyPr/>
                    <a:lstStyle/>
                    <a:p>
                      <a:pPr algn="ctr">
                        <a:tabLst>
                          <a:tab pos="1371600" algn="l"/>
                        </a:tabLst>
                      </a:pPr>
                      <a:r>
                        <a:rPr lang="en-US" sz="2400" b="1" dirty="0">
                          <a:solidFill>
                            <a:schemeClr val="accent5"/>
                          </a:solidFill>
                        </a:rPr>
                        <a:t>Position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Window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818744"/>
                  </a:ext>
                </a:extLst>
              </a:tr>
              <a:tr h="439233">
                <a:tc>
                  <a:txBody>
                    <a:bodyPr/>
                    <a:lstStyle/>
                    <a:p>
                      <a:pPr algn="ctr"/>
                      <a:r>
                        <a:rPr lang="en-US" sz="2400" b="1"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 b c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1+2+3+4 =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skip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6105799"/>
                  </a:ext>
                </a:extLst>
              </a:tr>
              <a:tr h="439233">
                <a:tc>
                  <a:txBody>
                    <a:bodyPr/>
                    <a:lstStyle/>
                    <a:p>
                      <a:pPr algn="ctr"/>
                      <a:r>
                        <a:rPr lang="en-US" sz="2400" b="1"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b c d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2+3+4+1 =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skip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0470682"/>
                  </a:ext>
                </a:extLst>
              </a:tr>
              <a:tr h="508005">
                <a:tc>
                  <a:txBody>
                    <a:bodyPr/>
                    <a:lstStyle/>
                    <a:p>
                      <a:pPr algn="ctr"/>
                      <a:r>
                        <a:rPr lang="en-US" sz="2400" b="1"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c d a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3+4+1+2 =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skip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293083"/>
                  </a:ext>
                </a:extLst>
              </a:tr>
              <a:tr h="555561">
                <a:tc>
                  <a:txBody>
                    <a:bodyPr/>
                    <a:lstStyle/>
                    <a:p>
                      <a:pPr algn="ctr"/>
                      <a:r>
                        <a:rPr lang="en-US" sz="2400" b="1"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d a b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4+1+2+1 =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verify → "</a:t>
                      </a:r>
                      <a:r>
                        <a:rPr lang="en-US" sz="2400" b="1" dirty="0" err="1"/>
                        <a:t>daba</a:t>
                      </a:r>
                      <a:r>
                        <a:rPr lang="en-US" sz="2400" b="1" dirty="0"/>
                        <a:t>"="</a:t>
                      </a:r>
                      <a:r>
                        <a:rPr lang="en-US" sz="2400" b="1" dirty="0" err="1"/>
                        <a:t>daba</a:t>
                      </a:r>
                      <a:r>
                        <a:rPr lang="en-US" sz="2400" b="1" dirty="0"/>
                        <a:t>" →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9970662"/>
                  </a:ext>
                </a:extLst>
              </a:tr>
              <a:tr h="439233">
                <a:tc>
                  <a:txBody>
                    <a:bodyPr/>
                    <a:lstStyle/>
                    <a:p>
                      <a:pPr algn="ctr"/>
                      <a:r>
                        <a:rPr lang="en-US" sz="2400" b="1"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 b a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1+2+1+2 =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skip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3089454"/>
                  </a:ext>
                </a:extLst>
              </a:tr>
              <a:tr h="784345">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264224"/>
                  </a:ext>
                </a:extLst>
              </a:tr>
              <a:tr h="439233">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8883481"/>
                  </a:ext>
                </a:extLst>
              </a:tr>
            </a:tbl>
          </a:graphicData>
        </a:graphic>
      </p:graphicFrame>
    </p:spTree>
    <p:extLst>
      <p:ext uri="{BB962C8B-B14F-4D97-AF65-F5344CB8AC3E}">
        <p14:creationId xmlns:p14="http://schemas.microsoft.com/office/powerpoint/2010/main" val="39120024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F61F9-E312-8642-C9A0-0FFCB7944C8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BEF890C-9C4F-7341-2AD6-5683CCC771A9}"/>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D90FE772-FEF6-6A43-F780-973C72DD9399}"/>
              </a:ext>
            </a:extLst>
          </p:cNvPr>
          <p:cNvSpPr>
            <a:spLocks noGrp="1"/>
          </p:cNvSpPr>
          <p:nvPr>
            <p:ph type="sldNum" sz="quarter" idx="12"/>
          </p:nvPr>
        </p:nvSpPr>
        <p:spPr/>
        <p:txBody>
          <a:bodyPr/>
          <a:lstStyle/>
          <a:p>
            <a:fld id="{68187FF5-4BF9-4B21-B0D2-9B7FF2B27D7F}" type="slidenum">
              <a:rPr lang="en-AU" smtClean="0"/>
              <a:pPr/>
              <a:t>60</a:t>
            </a:fld>
            <a:endParaRPr lang="en-AU"/>
          </a:p>
        </p:txBody>
      </p:sp>
      <p:sp>
        <p:nvSpPr>
          <p:cNvPr id="4" name="Rectangle 3">
            <a:extLst>
              <a:ext uri="{FF2B5EF4-FFF2-40B4-BE49-F238E27FC236}">
                <a16:creationId xmlns:a16="http://schemas.microsoft.com/office/drawing/2014/main" id="{B35CEEBE-7418-1FC3-B257-DD7CA882AA44}"/>
              </a:ext>
            </a:extLst>
          </p:cNvPr>
          <p:cNvSpPr/>
          <p:nvPr/>
        </p:nvSpPr>
        <p:spPr>
          <a:xfrm>
            <a:off x="2436576" y="191581"/>
            <a:ext cx="9392258" cy="682238"/>
          </a:xfrm>
          <a:prstGeom prst="rect">
            <a:avLst/>
          </a:prstGeom>
        </p:spPr>
        <p:txBody>
          <a:bodyPr wrap="square">
            <a:spAutoFit/>
          </a:bodyPr>
          <a:lstStyle/>
          <a:p>
            <a:pPr algn="just">
              <a:lnSpc>
                <a:spcPts val="2250"/>
              </a:lnSpc>
              <a:spcBef>
                <a:spcPts val="0"/>
              </a:spcBef>
              <a:spcAft>
                <a:spcPts val="1200"/>
              </a:spcAft>
              <a:defRPr/>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When the hash value of the pattern matches with the hash value of a window of the text but the window is not the actual pattern then it is called a </a:t>
            </a:r>
            <a:r>
              <a:rPr lang="en-US" sz="2000" b="1" u="sng" kern="0" dirty="0">
                <a:latin typeface="Times New Roman" panose="02020603050405020304" pitchFamily="18" charset="0"/>
                <a:ea typeface="Times New Roman" panose="02020603050405020304" pitchFamily="18" charset="0"/>
                <a:cs typeface="Times New Roman" panose="02020603050405020304" pitchFamily="18" charset="0"/>
              </a:rPr>
              <a:t>spurious hit</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1">
            <a:extLst>
              <a:ext uri="{FF2B5EF4-FFF2-40B4-BE49-F238E27FC236}">
                <a16:creationId xmlns:a16="http://schemas.microsoft.com/office/drawing/2014/main" id="{505A911B-519E-BDA2-EB76-8EB87DF7CD2F}"/>
              </a:ext>
            </a:extLst>
          </p:cNvPr>
          <p:cNvSpPr>
            <a:spLocks noChangeArrowheads="1"/>
          </p:cNvSpPr>
          <p:nvPr/>
        </p:nvSpPr>
        <p:spPr bwMode="auto">
          <a:xfrm>
            <a:off x="1273053" y="997867"/>
            <a:ext cx="882592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400" b="1" dirty="0">
                <a:latin typeface="Times New Roman" panose="02020603050405020304" pitchFamily="18" charset="0"/>
                <a:cs typeface="Times New Roman" panose="02020603050405020304" pitchFamily="18" charset="0"/>
              </a:rPr>
              <a:t>Additive Hash</a:t>
            </a: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T = "</a:t>
            </a:r>
            <a:r>
              <a:rPr kumimoji="0" lang="en-US" altLang="en-US" sz="2400" b="1" i="0" u="none" strike="noStrike" cap="none" normalizeH="0" baseline="0" dirty="0" err="1">
                <a:ln>
                  <a:noFill/>
                </a:ln>
                <a:solidFill>
                  <a:srgbClr val="1E03BD"/>
                </a:solidFill>
                <a:effectLst/>
                <a:latin typeface="Times New Roman" panose="02020603050405020304" pitchFamily="18" charset="0"/>
                <a:cs typeface="Times New Roman" panose="02020603050405020304" pitchFamily="18" charset="0"/>
              </a:rPr>
              <a:t>abcdababcd</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n = 10) </a:t>
            </a:r>
          </a:p>
          <a:p>
            <a:pPr lvl="1"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Pattern P = "</a:t>
            </a:r>
            <a:r>
              <a:rPr kumimoji="0" lang="en-US" altLang="en-US" sz="2400" b="1" i="0" u="none" strike="noStrike" cap="none" normalizeH="0" baseline="0" dirty="0" err="1">
                <a:ln>
                  <a:noFill/>
                </a:ln>
                <a:solidFill>
                  <a:srgbClr val="1E03BD"/>
                </a:solidFill>
                <a:effectLst/>
                <a:latin typeface="Times New Roman" panose="02020603050405020304" pitchFamily="18" charset="0"/>
                <a:cs typeface="Times New Roman" panose="02020603050405020304" pitchFamily="18" charset="0"/>
              </a:rPr>
              <a:t>daba</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m = 4) </a:t>
            </a:r>
          </a:p>
        </p:txBody>
      </p:sp>
      <p:graphicFrame>
        <p:nvGraphicFramePr>
          <p:cNvPr id="7" name="Table 6">
            <a:extLst>
              <a:ext uri="{FF2B5EF4-FFF2-40B4-BE49-F238E27FC236}">
                <a16:creationId xmlns:a16="http://schemas.microsoft.com/office/drawing/2014/main" id="{18C857F9-ED68-5D98-500F-B58105260E9E}"/>
              </a:ext>
            </a:extLst>
          </p:cNvPr>
          <p:cNvGraphicFramePr>
            <a:graphicFrameLocks noGrp="1"/>
          </p:cNvGraphicFramePr>
          <p:nvPr>
            <p:extLst>
              <p:ext uri="{D42A27DB-BD31-4B8C-83A1-F6EECF244321}">
                <p14:modId xmlns:p14="http://schemas.microsoft.com/office/powerpoint/2010/main" val="2128529975"/>
              </p:ext>
            </p:extLst>
          </p:nvPr>
        </p:nvGraphicFramePr>
        <p:xfrm>
          <a:off x="546652" y="2149724"/>
          <a:ext cx="11429998" cy="4481704"/>
        </p:xfrm>
        <a:graphic>
          <a:graphicData uri="http://schemas.openxmlformats.org/drawingml/2006/table">
            <a:tbl>
              <a:tblPr/>
              <a:tblGrid>
                <a:gridCol w="1292087">
                  <a:extLst>
                    <a:ext uri="{9D8B030D-6E8A-4147-A177-3AD203B41FA5}">
                      <a16:colId xmlns:a16="http://schemas.microsoft.com/office/drawing/2014/main" val="3014502314"/>
                    </a:ext>
                  </a:extLst>
                </a:gridCol>
                <a:gridCol w="1447871">
                  <a:extLst>
                    <a:ext uri="{9D8B030D-6E8A-4147-A177-3AD203B41FA5}">
                      <a16:colId xmlns:a16="http://schemas.microsoft.com/office/drawing/2014/main" val="3317897402"/>
                    </a:ext>
                  </a:extLst>
                </a:gridCol>
                <a:gridCol w="2548881">
                  <a:extLst>
                    <a:ext uri="{9D8B030D-6E8A-4147-A177-3AD203B41FA5}">
                      <a16:colId xmlns:a16="http://schemas.microsoft.com/office/drawing/2014/main" val="58647825"/>
                    </a:ext>
                  </a:extLst>
                </a:gridCol>
                <a:gridCol w="1311027">
                  <a:extLst>
                    <a:ext uri="{9D8B030D-6E8A-4147-A177-3AD203B41FA5}">
                      <a16:colId xmlns:a16="http://schemas.microsoft.com/office/drawing/2014/main" val="4043844278"/>
                    </a:ext>
                  </a:extLst>
                </a:gridCol>
                <a:gridCol w="4830132">
                  <a:extLst>
                    <a:ext uri="{9D8B030D-6E8A-4147-A177-3AD203B41FA5}">
                      <a16:colId xmlns:a16="http://schemas.microsoft.com/office/drawing/2014/main" val="3693225312"/>
                    </a:ext>
                  </a:extLst>
                </a:gridCol>
              </a:tblGrid>
              <a:tr h="784345">
                <a:tc>
                  <a:txBody>
                    <a:bodyPr/>
                    <a:lstStyle/>
                    <a:p>
                      <a:pPr algn="ctr">
                        <a:tabLst>
                          <a:tab pos="1371600" algn="l"/>
                        </a:tabLst>
                      </a:pPr>
                      <a:r>
                        <a:rPr lang="en-US" sz="2400" b="1" dirty="0">
                          <a:solidFill>
                            <a:schemeClr val="accent5"/>
                          </a:solidFill>
                        </a:rPr>
                        <a:t>Position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Window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818744"/>
                  </a:ext>
                </a:extLst>
              </a:tr>
              <a:tr h="439233">
                <a:tc>
                  <a:txBody>
                    <a:bodyPr/>
                    <a:lstStyle/>
                    <a:p>
                      <a:pPr algn="ctr"/>
                      <a:r>
                        <a:rPr lang="en-US" sz="2400" b="1"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 b c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1+2+3+4 =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skip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6105799"/>
                  </a:ext>
                </a:extLst>
              </a:tr>
              <a:tr h="439233">
                <a:tc>
                  <a:txBody>
                    <a:bodyPr/>
                    <a:lstStyle/>
                    <a:p>
                      <a:pPr algn="ctr"/>
                      <a:r>
                        <a:rPr lang="en-US" sz="2400" b="1"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b c d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2+3+4+1 =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skip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0470682"/>
                  </a:ext>
                </a:extLst>
              </a:tr>
              <a:tr h="508005">
                <a:tc>
                  <a:txBody>
                    <a:bodyPr/>
                    <a:lstStyle/>
                    <a:p>
                      <a:pPr algn="ctr"/>
                      <a:r>
                        <a:rPr lang="en-US" sz="2400" b="1"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c d a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3+4+1+2 =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skip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293083"/>
                  </a:ext>
                </a:extLst>
              </a:tr>
              <a:tr h="555561">
                <a:tc>
                  <a:txBody>
                    <a:bodyPr/>
                    <a:lstStyle/>
                    <a:p>
                      <a:pPr algn="ctr"/>
                      <a:r>
                        <a:rPr lang="en-US" sz="2400" b="1"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d a b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4+1+2+1 =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verify → "</a:t>
                      </a:r>
                      <a:r>
                        <a:rPr lang="en-US" sz="2400" b="1" dirty="0" err="1"/>
                        <a:t>daba</a:t>
                      </a:r>
                      <a:r>
                        <a:rPr lang="en-US" sz="2400" b="1" dirty="0"/>
                        <a:t>"="</a:t>
                      </a:r>
                      <a:r>
                        <a:rPr lang="en-US" sz="2400" b="1" dirty="0" err="1"/>
                        <a:t>daba</a:t>
                      </a:r>
                      <a:r>
                        <a:rPr lang="en-US" sz="2400" b="1" dirty="0"/>
                        <a:t>" →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9970662"/>
                  </a:ext>
                </a:extLst>
              </a:tr>
              <a:tr h="439233">
                <a:tc>
                  <a:txBody>
                    <a:bodyPr/>
                    <a:lstStyle/>
                    <a:p>
                      <a:pPr algn="ctr"/>
                      <a:r>
                        <a:rPr lang="en-US" sz="2400" b="1"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 b a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1+2+1+2 =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skip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3089454"/>
                  </a:ext>
                </a:extLst>
              </a:tr>
              <a:tr h="784345">
                <a:tc>
                  <a:txBody>
                    <a:bodyPr/>
                    <a:lstStyle/>
                    <a:p>
                      <a:pPr algn="ctr"/>
                      <a:r>
                        <a:rPr lang="en-US" sz="2400" b="1"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b a b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2+1+2+3 =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solidFill>
                            <a:srgbClr val="FF0000"/>
                          </a:solidFill>
                        </a:rPr>
                        <a:t>verify → "</a:t>
                      </a:r>
                      <a:r>
                        <a:rPr lang="en-US" sz="2400" b="1" dirty="0" err="1">
                          <a:solidFill>
                            <a:srgbClr val="FF0000"/>
                          </a:solidFill>
                        </a:rPr>
                        <a:t>babc</a:t>
                      </a:r>
                      <a:r>
                        <a:rPr lang="en-US" sz="2400" b="1" dirty="0">
                          <a:solidFill>
                            <a:srgbClr val="FF0000"/>
                          </a:solidFill>
                        </a:rPr>
                        <a:t>"≠"</a:t>
                      </a:r>
                      <a:r>
                        <a:rPr lang="en-US" sz="2400" b="1" dirty="0" err="1">
                          <a:solidFill>
                            <a:srgbClr val="FF0000"/>
                          </a:solidFill>
                        </a:rPr>
                        <a:t>daba</a:t>
                      </a:r>
                      <a:r>
                        <a:rPr lang="en-US" sz="2400" b="1" dirty="0">
                          <a:solidFill>
                            <a:srgbClr val="FF0000"/>
                          </a:solidFill>
                        </a:rPr>
                        <a:t>" → false alarm (</a:t>
                      </a:r>
                      <a:r>
                        <a:rPr lang="en-US" sz="2400" b="1" u="sng" kern="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spurious hit</a:t>
                      </a:r>
                      <a:r>
                        <a:rPr lang="en-US" sz="2400" b="1" kern="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24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264224"/>
                  </a:ext>
                </a:extLst>
              </a:tr>
              <a:tr h="439233">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8883481"/>
                  </a:ext>
                </a:extLst>
              </a:tr>
            </a:tbl>
          </a:graphicData>
        </a:graphic>
      </p:graphicFrame>
    </p:spTree>
    <p:extLst>
      <p:ext uri="{BB962C8B-B14F-4D97-AF65-F5344CB8AC3E}">
        <p14:creationId xmlns:p14="http://schemas.microsoft.com/office/powerpoint/2010/main" val="41392052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58B03-DE35-6CF6-7B19-BFC7E4DCF42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61EBD16-DE54-2DEF-C62D-B4285DB7E0F4}"/>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DF7DC788-F099-9BE1-9B03-FA474FBF5244}"/>
              </a:ext>
            </a:extLst>
          </p:cNvPr>
          <p:cNvSpPr>
            <a:spLocks noGrp="1"/>
          </p:cNvSpPr>
          <p:nvPr>
            <p:ph type="sldNum" sz="quarter" idx="12"/>
          </p:nvPr>
        </p:nvSpPr>
        <p:spPr/>
        <p:txBody>
          <a:bodyPr/>
          <a:lstStyle/>
          <a:p>
            <a:fld id="{68187FF5-4BF9-4B21-B0D2-9B7FF2B27D7F}" type="slidenum">
              <a:rPr lang="en-AU" smtClean="0"/>
              <a:pPr/>
              <a:t>61</a:t>
            </a:fld>
            <a:endParaRPr lang="en-AU"/>
          </a:p>
        </p:txBody>
      </p:sp>
      <p:sp>
        <p:nvSpPr>
          <p:cNvPr id="4" name="Rectangle 3">
            <a:extLst>
              <a:ext uri="{FF2B5EF4-FFF2-40B4-BE49-F238E27FC236}">
                <a16:creationId xmlns:a16="http://schemas.microsoft.com/office/drawing/2014/main" id="{0BD7100C-A2EB-7D59-3C5D-DFDB4483369D}"/>
              </a:ext>
            </a:extLst>
          </p:cNvPr>
          <p:cNvSpPr/>
          <p:nvPr/>
        </p:nvSpPr>
        <p:spPr>
          <a:xfrm>
            <a:off x="2436576" y="191581"/>
            <a:ext cx="9392258" cy="682238"/>
          </a:xfrm>
          <a:prstGeom prst="rect">
            <a:avLst/>
          </a:prstGeom>
        </p:spPr>
        <p:txBody>
          <a:bodyPr wrap="square">
            <a:spAutoFit/>
          </a:bodyPr>
          <a:lstStyle/>
          <a:p>
            <a:pPr algn="just">
              <a:lnSpc>
                <a:spcPts val="2250"/>
              </a:lnSpc>
              <a:spcBef>
                <a:spcPts val="0"/>
              </a:spcBef>
              <a:spcAft>
                <a:spcPts val="1200"/>
              </a:spcAft>
              <a:defRPr/>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When the hash value of the pattern matches with the hash value of a window of the text but the window is not the actual pattern then it is called a </a:t>
            </a:r>
            <a:r>
              <a:rPr lang="en-US" sz="2000" b="1" u="sng" kern="0" dirty="0">
                <a:latin typeface="Times New Roman" panose="02020603050405020304" pitchFamily="18" charset="0"/>
                <a:ea typeface="Times New Roman" panose="02020603050405020304" pitchFamily="18" charset="0"/>
                <a:cs typeface="Times New Roman" panose="02020603050405020304" pitchFamily="18" charset="0"/>
              </a:rPr>
              <a:t>spurious hit</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1">
            <a:extLst>
              <a:ext uri="{FF2B5EF4-FFF2-40B4-BE49-F238E27FC236}">
                <a16:creationId xmlns:a16="http://schemas.microsoft.com/office/drawing/2014/main" id="{5DEF91C2-71E5-9744-160C-8C4A19036EBD}"/>
              </a:ext>
            </a:extLst>
          </p:cNvPr>
          <p:cNvSpPr>
            <a:spLocks noChangeArrowheads="1"/>
          </p:cNvSpPr>
          <p:nvPr/>
        </p:nvSpPr>
        <p:spPr bwMode="auto">
          <a:xfrm>
            <a:off x="1273053" y="818965"/>
            <a:ext cx="882592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400" b="1" dirty="0">
                <a:latin typeface="Times New Roman" panose="02020603050405020304" pitchFamily="18" charset="0"/>
                <a:cs typeface="Times New Roman" panose="02020603050405020304" pitchFamily="18" charset="0"/>
              </a:rPr>
              <a:t>Additive Hash</a:t>
            </a: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T = "</a:t>
            </a:r>
            <a:r>
              <a:rPr kumimoji="0" lang="en-US" altLang="en-US" sz="2400" b="1" i="0" u="none" strike="noStrike" cap="none" normalizeH="0" baseline="0" dirty="0" err="1">
                <a:ln>
                  <a:noFill/>
                </a:ln>
                <a:solidFill>
                  <a:srgbClr val="1E03BD"/>
                </a:solidFill>
                <a:effectLst/>
                <a:latin typeface="Times New Roman" panose="02020603050405020304" pitchFamily="18" charset="0"/>
                <a:cs typeface="Times New Roman" panose="02020603050405020304" pitchFamily="18" charset="0"/>
              </a:rPr>
              <a:t>abcdababcd</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n = 10) </a:t>
            </a:r>
          </a:p>
          <a:p>
            <a:pPr lvl="1"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Pattern P = "</a:t>
            </a:r>
            <a:r>
              <a:rPr kumimoji="0" lang="en-US" altLang="en-US" sz="2400" b="1" i="0" u="none" strike="noStrike" cap="none" normalizeH="0" baseline="0" dirty="0" err="1">
                <a:ln>
                  <a:noFill/>
                </a:ln>
                <a:solidFill>
                  <a:srgbClr val="1E03BD"/>
                </a:solidFill>
                <a:effectLst/>
                <a:latin typeface="Times New Roman" panose="02020603050405020304" pitchFamily="18" charset="0"/>
                <a:cs typeface="Times New Roman" panose="02020603050405020304" pitchFamily="18" charset="0"/>
              </a:rPr>
              <a:t>daba</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m = 4) </a:t>
            </a:r>
          </a:p>
        </p:txBody>
      </p:sp>
      <p:graphicFrame>
        <p:nvGraphicFramePr>
          <p:cNvPr id="7" name="Table 6">
            <a:extLst>
              <a:ext uri="{FF2B5EF4-FFF2-40B4-BE49-F238E27FC236}">
                <a16:creationId xmlns:a16="http://schemas.microsoft.com/office/drawing/2014/main" id="{123129E2-6D84-1707-954C-BC476A81F378}"/>
              </a:ext>
            </a:extLst>
          </p:cNvPr>
          <p:cNvGraphicFramePr>
            <a:graphicFrameLocks noGrp="1"/>
          </p:cNvGraphicFramePr>
          <p:nvPr>
            <p:extLst>
              <p:ext uri="{D42A27DB-BD31-4B8C-83A1-F6EECF244321}">
                <p14:modId xmlns:p14="http://schemas.microsoft.com/office/powerpoint/2010/main" val="3819267628"/>
              </p:ext>
            </p:extLst>
          </p:nvPr>
        </p:nvGraphicFramePr>
        <p:xfrm>
          <a:off x="586409" y="1937987"/>
          <a:ext cx="11429998" cy="4499671"/>
        </p:xfrm>
        <a:graphic>
          <a:graphicData uri="http://schemas.openxmlformats.org/drawingml/2006/table">
            <a:tbl>
              <a:tblPr/>
              <a:tblGrid>
                <a:gridCol w="1282148">
                  <a:extLst>
                    <a:ext uri="{9D8B030D-6E8A-4147-A177-3AD203B41FA5}">
                      <a16:colId xmlns:a16="http://schemas.microsoft.com/office/drawing/2014/main" val="3014502314"/>
                    </a:ext>
                  </a:extLst>
                </a:gridCol>
                <a:gridCol w="1457810">
                  <a:extLst>
                    <a:ext uri="{9D8B030D-6E8A-4147-A177-3AD203B41FA5}">
                      <a16:colId xmlns:a16="http://schemas.microsoft.com/office/drawing/2014/main" val="3317897402"/>
                    </a:ext>
                  </a:extLst>
                </a:gridCol>
                <a:gridCol w="2548881">
                  <a:extLst>
                    <a:ext uri="{9D8B030D-6E8A-4147-A177-3AD203B41FA5}">
                      <a16:colId xmlns:a16="http://schemas.microsoft.com/office/drawing/2014/main" val="58647825"/>
                    </a:ext>
                  </a:extLst>
                </a:gridCol>
                <a:gridCol w="1311027">
                  <a:extLst>
                    <a:ext uri="{9D8B030D-6E8A-4147-A177-3AD203B41FA5}">
                      <a16:colId xmlns:a16="http://schemas.microsoft.com/office/drawing/2014/main" val="4043844278"/>
                    </a:ext>
                  </a:extLst>
                </a:gridCol>
                <a:gridCol w="4830132">
                  <a:extLst>
                    <a:ext uri="{9D8B030D-6E8A-4147-A177-3AD203B41FA5}">
                      <a16:colId xmlns:a16="http://schemas.microsoft.com/office/drawing/2014/main" val="3693225312"/>
                    </a:ext>
                  </a:extLst>
                </a:gridCol>
              </a:tblGrid>
              <a:tr h="784345">
                <a:tc>
                  <a:txBody>
                    <a:bodyPr/>
                    <a:lstStyle/>
                    <a:p>
                      <a:pPr algn="ctr">
                        <a:tabLst>
                          <a:tab pos="1371600" algn="l"/>
                        </a:tabLst>
                      </a:pPr>
                      <a:r>
                        <a:rPr lang="en-US" sz="2400" b="1" dirty="0">
                          <a:solidFill>
                            <a:schemeClr val="accent5"/>
                          </a:solidFill>
                        </a:rPr>
                        <a:t>Position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Window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chemeClr val="accent5"/>
                          </a:solidFill>
                        </a:rPr>
                        <a:t>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818744"/>
                  </a:ext>
                </a:extLst>
              </a:tr>
              <a:tr h="439233">
                <a:tc>
                  <a:txBody>
                    <a:bodyPr/>
                    <a:lstStyle/>
                    <a:p>
                      <a:pPr algn="ctr"/>
                      <a:r>
                        <a:rPr lang="en-US" sz="2400" b="1"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 b c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1+2+3+4 =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skip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6105799"/>
                  </a:ext>
                </a:extLst>
              </a:tr>
              <a:tr h="439233">
                <a:tc>
                  <a:txBody>
                    <a:bodyPr/>
                    <a:lstStyle/>
                    <a:p>
                      <a:pPr algn="ctr"/>
                      <a:r>
                        <a:rPr lang="en-US" sz="2400" b="1"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b c d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2+3+4+1 =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skip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0470682"/>
                  </a:ext>
                </a:extLst>
              </a:tr>
              <a:tr h="508005">
                <a:tc>
                  <a:txBody>
                    <a:bodyPr/>
                    <a:lstStyle/>
                    <a:p>
                      <a:pPr algn="ctr"/>
                      <a:r>
                        <a:rPr lang="en-US" sz="2400" b="1"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c d a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3+4+1+2 =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skip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293083"/>
                  </a:ext>
                </a:extLst>
              </a:tr>
              <a:tr h="555561">
                <a:tc>
                  <a:txBody>
                    <a:bodyPr/>
                    <a:lstStyle/>
                    <a:p>
                      <a:pPr algn="ctr"/>
                      <a:r>
                        <a:rPr lang="en-US" sz="2400" b="1"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d a b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4+1+2+1 =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verify → "</a:t>
                      </a:r>
                      <a:r>
                        <a:rPr lang="en-US" sz="2400" b="1" dirty="0" err="1"/>
                        <a:t>daba</a:t>
                      </a:r>
                      <a:r>
                        <a:rPr lang="en-US" sz="2400" b="1" dirty="0"/>
                        <a:t>"="</a:t>
                      </a:r>
                      <a:r>
                        <a:rPr lang="en-US" sz="2400" b="1" dirty="0" err="1"/>
                        <a:t>daba</a:t>
                      </a:r>
                      <a:r>
                        <a:rPr lang="en-US" sz="2400" b="1" dirty="0"/>
                        <a:t>" →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9970662"/>
                  </a:ext>
                </a:extLst>
              </a:tr>
              <a:tr h="439233">
                <a:tc>
                  <a:txBody>
                    <a:bodyPr/>
                    <a:lstStyle/>
                    <a:p>
                      <a:pPr algn="ctr"/>
                      <a:r>
                        <a:rPr lang="en-US" sz="2400" b="1"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 b a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1+2+1+2 =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skip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3089454"/>
                  </a:ext>
                </a:extLst>
              </a:tr>
              <a:tr h="784345">
                <a:tc>
                  <a:txBody>
                    <a:bodyPr/>
                    <a:lstStyle/>
                    <a:p>
                      <a:pPr algn="ctr"/>
                      <a:r>
                        <a:rPr lang="en-US" sz="2400" b="1"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t>b a b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2+1+2+3 =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solidFill>
                            <a:srgbClr val="FF0000"/>
                          </a:solidFill>
                        </a:rPr>
                        <a:t>verify → "</a:t>
                      </a:r>
                      <a:r>
                        <a:rPr lang="en-US" sz="2400" b="1" dirty="0" err="1">
                          <a:solidFill>
                            <a:srgbClr val="FF0000"/>
                          </a:solidFill>
                        </a:rPr>
                        <a:t>babc</a:t>
                      </a:r>
                      <a:r>
                        <a:rPr lang="en-US" sz="2400" b="1" dirty="0">
                          <a:solidFill>
                            <a:srgbClr val="FF0000"/>
                          </a:solidFill>
                        </a:rPr>
                        <a:t>"≠"</a:t>
                      </a:r>
                      <a:r>
                        <a:rPr lang="en-US" sz="2400" b="1" dirty="0" err="1">
                          <a:solidFill>
                            <a:srgbClr val="FF0000"/>
                          </a:solidFill>
                        </a:rPr>
                        <a:t>daba</a:t>
                      </a:r>
                      <a:r>
                        <a:rPr lang="en-US" sz="2400" b="1" dirty="0">
                          <a:solidFill>
                            <a:srgbClr val="FF0000"/>
                          </a:solidFill>
                        </a:rPr>
                        <a:t>" → false alarm (</a:t>
                      </a:r>
                      <a:r>
                        <a:rPr lang="en-US" sz="2400" b="1" u="sng" kern="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spurious hit</a:t>
                      </a:r>
                      <a:r>
                        <a:rPr lang="en-US" sz="2400" b="1" kern="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24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264224"/>
                  </a:ext>
                </a:extLst>
              </a:tr>
              <a:tr h="439233">
                <a:tc>
                  <a:txBody>
                    <a:bodyPr/>
                    <a:lstStyle/>
                    <a:p>
                      <a:pPr algn="ctr"/>
                      <a:r>
                        <a:rPr lang="en-US" sz="2400" b="1"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a b c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1+2+3+4 =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skip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8883481"/>
                  </a:ext>
                </a:extLst>
              </a:tr>
            </a:tbl>
          </a:graphicData>
        </a:graphic>
      </p:graphicFrame>
    </p:spTree>
    <p:extLst>
      <p:ext uri="{BB962C8B-B14F-4D97-AF65-F5344CB8AC3E}">
        <p14:creationId xmlns:p14="http://schemas.microsoft.com/office/powerpoint/2010/main" val="27822901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E0CAA-57FA-0A89-1212-16F864F9BA4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0C3C644-A9B9-7377-AE81-C845F8B0E811}"/>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0B357403-177A-0603-8FCB-CE01714F4C5D}"/>
              </a:ext>
            </a:extLst>
          </p:cNvPr>
          <p:cNvSpPr>
            <a:spLocks noGrp="1"/>
          </p:cNvSpPr>
          <p:nvPr>
            <p:ph type="sldNum" sz="quarter" idx="12"/>
          </p:nvPr>
        </p:nvSpPr>
        <p:spPr/>
        <p:txBody>
          <a:bodyPr/>
          <a:lstStyle/>
          <a:p>
            <a:fld id="{68187FF5-4BF9-4B21-B0D2-9B7FF2B27D7F}" type="slidenum">
              <a:rPr lang="en-AU" smtClean="0"/>
              <a:pPr/>
              <a:t>62</a:t>
            </a:fld>
            <a:endParaRPr lang="en-AU"/>
          </a:p>
        </p:txBody>
      </p:sp>
      <p:sp>
        <p:nvSpPr>
          <p:cNvPr id="5" name="TextBox 4">
            <a:extLst>
              <a:ext uri="{FF2B5EF4-FFF2-40B4-BE49-F238E27FC236}">
                <a16:creationId xmlns:a16="http://schemas.microsoft.com/office/drawing/2014/main" id="{D5562780-2AA0-78BD-53D9-89E619DDDC5F}"/>
              </a:ext>
            </a:extLst>
          </p:cNvPr>
          <p:cNvSpPr txBox="1"/>
          <p:nvPr/>
        </p:nvSpPr>
        <p:spPr>
          <a:xfrm>
            <a:off x="561719" y="1369461"/>
            <a:ext cx="10340167" cy="4134465"/>
          </a:xfrm>
          <a:prstGeom prst="rect">
            <a:avLst/>
          </a:prstGeom>
          <a:noFill/>
        </p:spPr>
        <p:txBody>
          <a:bodyPr wrap="square">
            <a:spAutoFit/>
          </a:bodyPr>
          <a:lstStyle/>
          <a:p>
            <a:pPr marL="457200" indent="-457200" algn="just" fontAlgn="base">
              <a:spcAft>
                <a:spcPts val="750"/>
              </a:spcAft>
              <a:buFont typeface="Arial" panose="020B0604020202020204" pitchFamily="34" charset="0"/>
              <a:buChar char="•"/>
            </a:pPr>
            <a:r>
              <a:rPr lang="en-IN" sz="3200" dirty="0"/>
              <a:t>The hash value is calculated using a </a:t>
            </a:r>
            <a:r>
              <a:rPr lang="en-IN" sz="3200" b="1" dirty="0"/>
              <a:t>rolling hash function</a:t>
            </a:r>
            <a:r>
              <a:rPr lang="en-IN" sz="3200" dirty="0"/>
              <a:t>, which allows you to update the hash value for a new substring by efficiently removing the contribution of the old character and adding the contribution of the new character. </a:t>
            </a:r>
          </a:p>
          <a:p>
            <a:pPr marL="457200" indent="-457200" algn="just" fontAlgn="base">
              <a:spcAft>
                <a:spcPts val="750"/>
              </a:spcAft>
              <a:buFont typeface="Arial" panose="020B0604020202020204" pitchFamily="34" charset="0"/>
              <a:buChar char="•"/>
            </a:pPr>
            <a:r>
              <a:rPr lang="en-IN" sz="3200" dirty="0"/>
              <a:t>This makes it possible to slide the pattern over the </a:t>
            </a:r>
            <a:r>
              <a:rPr lang="en-IN" sz="3200" b="1" dirty="0"/>
              <a:t>text</a:t>
            </a:r>
            <a:r>
              <a:rPr lang="en-IN" sz="3200" dirty="0"/>
              <a:t> and calculate the hash value for each substring without recalculating the entire hash from scratch.</a:t>
            </a:r>
            <a:endParaRPr lang="en-IN" sz="3200" b="0" spc="10" dirty="0">
              <a:solidFill>
                <a:srgbClr val="273239"/>
              </a:solidFill>
              <a:effectLst/>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84456E57-CB22-084C-B2E3-33A51FF327A4}"/>
              </a:ext>
            </a:extLst>
          </p:cNvPr>
          <p:cNvSpPr/>
          <p:nvPr/>
        </p:nvSpPr>
        <p:spPr>
          <a:xfrm>
            <a:off x="2238873" y="273836"/>
            <a:ext cx="8663013" cy="646331"/>
          </a:xfrm>
          <a:prstGeom prst="rect">
            <a:avLst/>
          </a:prstGeom>
        </p:spPr>
        <p:txBody>
          <a:bodyPr wrap="none">
            <a:spAutoFit/>
          </a:bodyPr>
          <a:lstStyle/>
          <a:p>
            <a:pPr fontAlgn="base"/>
            <a:r>
              <a:rPr lang="en-IN" sz="3600" b="1" dirty="0">
                <a:solidFill>
                  <a:srgbClr val="1E03BD"/>
                </a:solidFill>
              </a:rPr>
              <a:t>How is Hash Value calculated in Rabin-Karp?</a:t>
            </a:r>
          </a:p>
        </p:txBody>
      </p:sp>
    </p:spTree>
    <p:extLst>
      <p:ext uri="{BB962C8B-B14F-4D97-AF65-F5344CB8AC3E}">
        <p14:creationId xmlns:p14="http://schemas.microsoft.com/office/powerpoint/2010/main" val="24147207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847898" y="6356350"/>
            <a:ext cx="1107362" cy="365125"/>
          </a:xfrm>
        </p:spPr>
        <p:txBody>
          <a:bodyPr/>
          <a:lstStyle/>
          <a:p>
            <a:r>
              <a:rPr lang="en-AU" dirty="0">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63</a:t>
            </a:fld>
            <a:endParaRPr lang="en-AU"/>
          </a:p>
        </p:txBody>
      </p:sp>
      <p:sp>
        <p:nvSpPr>
          <p:cNvPr id="5" name="Rectangle 4"/>
          <p:cNvSpPr/>
          <p:nvPr/>
        </p:nvSpPr>
        <p:spPr>
          <a:xfrm>
            <a:off x="2307047" y="136585"/>
            <a:ext cx="9142409" cy="769441"/>
          </a:xfrm>
          <a:prstGeom prst="rect">
            <a:avLst/>
          </a:prstGeom>
        </p:spPr>
        <p:txBody>
          <a:bodyPr wrap="square">
            <a:spAutoFit/>
          </a:bodyPr>
          <a:lstStyle/>
          <a:p>
            <a:r>
              <a:rPr lang="en-US" sz="2200" b="1" dirty="0">
                <a:latin typeface="Times New Roman" panose="02020603050405020304" pitchFamily="18" charset="0"/>
                <a:cs typeface="Times New Roman" panose="02020603050405020304" pitchFamily="18" charset="0"/>
              </a:rPr>
              <a:t>2) Polynomial Rolling Hash : </a:t>
            </a:r>
            <a:r>
              <a:rPr lang="en-US" sz="2200" dirty="0">
                <a:latin typeface="Times New Roman" panose="02020603050405020304" pitchFamily="18" charset="0"/>
                <a:cs typeface="Times New Roman" panose="02020603050405020304" pitchFamily="18" charset="0"/>
              </a:rPr>
              <a:t>This is the standard hash function used in the Rabin–Karp algorithm.</a:t>
            </a:r>
          </a:p>
        </p:txBody>
      </p:sp>
      <p:sp>
        <p:nvSpPr>
          <p:cNvPr id="7" name="Rectangle 6"/>
          <p:cNvSpPr/>
          <p:nvPr/>
        </p:nvSpPr>
        <p:spPr>
          <a:xfrm>
            <a:off x="422797" y="1939054"/>
            <a:ext cx="11468910" cy="3770263"/>
          </a:xfrm>
          <a:prstGeom prst="rect">
            <a:avLst/>
          </a:prstGeom>
        </p:spPr>
        <p:txBody>
          <a:bodyPr wrap="square">
            <a:spAutoFit/>
          </a:bodyPr>
          <a:lstStyle/>
          <a:p>
            <a:pPr fontAlgn="base">
              <a:lnSpc>
                <a:spcPct val="150000"/>
              </a:lnSpc>
            </a:pPr>
            <a:r>
              <a:rPr lang="en-US" sz="2200" dirty="0">
                <a:latin typeface="Times New Roman" panose="02020603050405020304" pitchFamily="18" charset="0"/>
                <a:cs typeface="Times New Roman" panose="02020603050405020304" pitchFamily="18" charset="0"/>
              </a:rPr>
              <a:t>Here,  C1 represents the ASCII value of the character ('a' = 97, 'b' = 98, ..., 'z' = 122)</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b is the base,  p is a prime number used as modulus (commonly 101, 1000000007, etc.), </a:t>
            </a:r>
          </a:p>
          <a:p>
            <a:pPr fontAlgn="base">
              <a:lnSpc>
                <a:spcPct val="150000"/>
              </a:lnSpc>
            </a:pPr>
            <a:r>
              <a:rPr lang="en-US" sz="2200" dirty="0">
                <a:latin typeface="Times New Roman" panose="02020603050405020304" pitchFamily="18" charset="0"/>
                <a:cs typeface="Times New Roman" panose="02020603050405020304" pitchFamily="18" charset="0"/>
              </a:rPr>
              <a:t>modulo helps prevent integer overflow and reduces hash collisions.</a:t>
            </a:r>
          </a:p>
          <a:p>
            <a:pPr fontAlgn="base">
              <a:lnSpc>
                <a:spcPct val="150000"/>
              </a:lnSpc>
            </a:pPr>
            <a:endParaRPr lang="en-US" sz="2200" dirty="0">
              <a:latin typeface="Times New Roman" panose="02020603050405020304" pitchFamily="18" charset="0"/>
              <a:cs typeface="Times New Roman" panose="02020603050405020304" pitchFamily="18" charset="0"/>
            </a:endParaRPr>
          </a:p>
          <a:p>
            <a:pPr fontAlgn="base">
              <a:lnSpc>
                <a:spcPct val="150000"/>
              </a:lnSpc>
            </a:pPr>
            <a:r>
              <a:rPr lang="en-US" sz="2200" dirty="0">
                <a:latin typeface="Times New Roman" panose="02020603050405020304" pitchFamily="18" charset="0"/>
                <a:cs typeface="Times New Roman" panose="02020603050405020304" pitchFamily="18" charset="0"/>
              </a:rPr>
              <a:t>Example:  </a:t>
            </a:r>
            <a:r>
              <a:rPr lang="en-US" sz="2200" b="1" dirty="0">
                <a:latin typeface="Times New Roman" panose="02020603050405020304" pitchFamily="18" charset="0"/>
                <a:cs typeface="Times New Roman" panose="02020603050405020304" pitchFamily="18" charset="0"/>
              </a:rPr>
              <a:t>CAT    :  </a:t>
            </a:r>
            <a:r>
              <a:rPr lang="en-US" sz="2800" b="1" dirty="0">
                <a:solidFill>
                  <a:srgbClr val="1E03BD"/>
                </a:solidFill>
                <a:latin typeface="Times New Roman" panose="02020603050405020304" pitchFamily="18" charset="0"/>
                <a:cs typeface="Times New Roman" panose="02020603050405020304" pitchFamily="18" charset="0"/>
              </a:rPr>
              <a:t> C = 67 ,  A = 65 ,   T = 84 ,  Base b=256 , Prime p=101 </a:t>
            </a:r>
          </a:p>
          <a:p>
            <a:pPr>
              <a:lnSpc>
                <a:spcPct val="150000"/>
              </a:lnSpc>
            </a:pPr>
            <a:r>
              <a:rPr lang="en-US" sz="2200" dirty="0">
                <a:latin typeface="Times New Roman" panose="02020603050405020304" pitchFamily="18" charset="0"/>
                <a:cs typeface="Times New Roman" panose="02020603050405020304" pitchFamily="18" charset="0"/>
              </a:rPr>
              <a:t>The polynomial formula is</a:t>
            </a:r>
          </a:p>
          <a:p>
            <a:r>
              <a:rPr lang="en-US" sz="3200" b="1" dirty="0">
                <a:solidFill>
                  <a:srgbClr val="1E03BD"/>
                </a:solidFill>
                <a:latin typeface="Times New Roman" panose="02020603050405020304" pitchFamily="18" charset="0"/>
                <a:cs typeface="Times New Roman" panose="02020603050405020304" pitchFamily="18" charset="0"/>
              </a:rPr>
              <a:t>H=(67×256</a:t>
            </a:r>
            <a:r>
              <a:rPr lang="en-US" sz="3200" b="1" baseline="30000" dirty="0">
                <a:solidFill>
                  <a:srgbClr val="1E03BD"/>
                </a:solidFill>
                <a:latin typeface="Times New Roman" panose="02020603050405020304" pitchFamily="18" charset="0"/>
                <a:cs typeface="Times New Roman" panose="02020603050405020304" pitchFamily="18" charset="0"/>
              </a:rPr>
              <a:t>2</a:t>
            </a:r>
            <a:r>
              <a:rPr lang="en-US" sz="3200" b="1" dirty="0">
                <a:solidFill>
                  <a:srgbClr val="1E03BD"/>
                </a:solidFill>
                <a:latin typeface="Times New Roman" panose="02020603050405020304" pitchFamily="18" charset="0"/>
                <a:cs typeface="Times New Roman" panose="02020603050405020304" pitchFamily="18" charset="0"/>
              </a:rPr>
              <a:t> +65×256</a:t>
            </a:r>
            <a:r>
              <a:rPr lang="en-US" sz="3200" b="1" baseline="30000" dirty="0">
                <a:solidFill>
                  <a:srgbClr val="1E03BD"/>
                </a:solidFill>
                <a:latin typeface="Times New Roman" panose="02020603050405020304" pitchFamily="18" charset="0"/>
                <a:cs typeface="Times New Roman" panose="02020603050405020304" pitchFamily="18" charset="0"/>
              </a:rPr>
              <a:t>1</a:t>
            </a:r>
            <a:r>
              <a:rPr lang="en-US" sz="3200" b="1" dirty="0">
                <a:solidFill>
                  <a:srgbClr val="1E03BD"/>
                </a:solidFill>
                <a:latin typeface="Times New Roman" panose="02020603050405020304" pitchFamily="18" charset="0"/>
                <a:cs typeface="Times New Roman" panose="02020603050405020304" pitchFamily="18" charset="0"/>
              </a:rPr>
              <a:t> +84×256</a:t>
            </a:r>
            <a:r>
              <a:rPr lang="en-US" sz="3200" b="1" baseline="30000" dirty="0">
                <a:solidFill>
                  <a:srgbClr val="1E03BD"/>
                </a:solidFill>
                <a:latin typeface="Times New Roman" panose="02020603050405020304" pitchFamily="18" charset="0"/>
                <a:cs typeface="Times New Roman" panose="02020603050405020304" pitchFamily="18" charset="0"/>
              </a:rPr>
              <a:t>0</a:t>
            </a:r>
            <a:r>
              <a:rPr lang="en-US" sz="3200" b="1" dirty="0">
                <a:solidFill>
                  <a:srgbClr val="1E03BD"/>
                </a:solidFill>
                <a:latin typeface="Times New Roman" panose="02020603050405020304" pitchFamily="18" charset="0"/>
                <a:cs typeface="Times New Roman" panose="02020603050405020304" pitchFamily="18" charset="0"/>
              </a:rPr>
              <a:t> ) mod 101   =  97</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8030" y="928699"/>
            <a:ext cx="9753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AutoShape 4" descr="Selected image presented in a lightbo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7184051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64</a:t>
            </a:fld>
            <a:endParaRPr lang="en-AU"/>
          </a:p>
        </p:txBody>
      </p:sp>
      <p:sp>
        <p:nvSpPr>
          <p:cNvPr id="4" name="AutoShape 2" descr="Selected image presented in a lightbo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Selected image presented in a lightbox."/>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6" descr="Selected image presented in a lightbox."/>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8" descr="Selected image presented in a lightbox."/>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10" descr="Selected image presented in a lightbox."/>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12" descr="Selected image presented in a lightbox."/>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61"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9102" y="617538"/>
            <a:ext cx="8497888" cy="710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2233808" y="128072"/>
            <a:ext cx="6096000" cy="369332"/>
          </a:xfrm>
          <a:prstGeom prst="rect">
            <a:avLst/>
          </a:prstGeom>
        </p:spPr>
        <p:txBody>
          <a:bodyPr>
            <a:spAutoFit/>
          </a:bodyPr>
          <a:lstStyle/>
          <a:p>
            <a:r>
              <a:rPr lang="en-US" b="1" dirty="0">
                <a:latin typeface="Times New Roman" panose="02020603050405020304" pitchFamily="18" charset="0"/>
                <a:cs typeface="Times New Roman" panose="02020603050405020304" pitchFamily="18" charset="0"/>
              </a:rPr>
              <a:t>Hash Update Formula</a:t>
            </a:r>
            <a:endParaRPr lang="en-US" dirty="0">
              <a:latin typeface="Times New Roman" panose="02020603050405020304" pitchFamily="18" charset="0"/>
              <a:cs typeface="Times New Roman" panose="02020603050405020304" pitchFamily="18" charset="0"/>
            </a:endParaRPr>
          </a:p>
        </p:txBody>
      </p:sp>
      <p:sp>
        <p:nvSpPr>
          <p:cNvPr id="11" name="Rectangle 10"/>
          <p:cNvSpPr/>
          <p:nvPr/>
        </p:nvSpPr>
        <p:spPr>
          <a:xfrm>
            <a:off x="460374" y="1327760"/>
            <a:ext cx="11602190" cy="5755422"/>
          </a:xfrm>
          <a:prstGeom prst="rect">
            <a:avLst/>
          </a:prstGeom>
        </p:spPr>
        <p:txBody>
          <a:bodyPr wrap="square">
            <a:spAutoFit/>
          </a:bodyPr>
          <a:lstStyle/>
          <a:p>
            <a:pPr fontAlgn="base">
              <a:lnSpc>
                <a:spcPct val="150000"/>
              </a:lnSpc>
            </a:pPr>
            <a:r>
              <a:rPr lang="en-US" sz="2400" dirty="0">
                <a:latin typeface="Times New Roman" panose="02020603050405020304" pitchFamily="18" charset="0"/>
                <a:cs typeface="Times New Roman" panose="02020603050405020304" pitchFamily="18" charset="0"/>
              </a:rPr>
              <a:t>Assuming Text as </a:t>
            </a:r>
            <a:r>
              <a:rPr lang="en-US" sz="2400" b="1" dirty="0">
                <a:latin typeface="Times New Roman" panose="02020603050405020304" pitchFamily="18" charset="0"/>
                <a:cs typeface="Times New Roman" panose="02020603050405020304" pitchFamily="18" charset="0"/>
              </a:rPr>
              <a:t>C A T D C D window of size -3 (size of pattern)</a:t>
            </a:r>
          </a:p>
          <a:p>
            <a:pPr fontAlgn="base">
              <a:lnSpc>
                <a:spcPct val="150000"/>
              </a:lnSpc>
            </a:pPr>
            <a:r>
              <a:rPr lang="en-US" sz="2400" dirty="0">
                <a:latin typeface="Times New Roman" panose="02020603050405020304" pitchFamily="18" charset="0"/>
                <a:cs typeface="Times New Roman" panose="02020603050405020304" pitchFamily="18" charset="0"/>
              </a:rPr>
              <a:t>For:  </a:t>
            </a:r>
            <a:r>
              <a:rPr lang="en-US" sz="2400" b="1" dirty="0">
                <a:latin typeface="Times New Roman" panose="02020603050405020304" pitchFamily="18" charset="0"/>
                <a:cs typeface="Times New Roman" panose="02020603050405020304" pitchFamily="18" charset="0"/>
              </a:rPr>
              <a:t>CAT    </a:t>
            </a:r>
            <a:r>
              <a:rPr lang="en-US" sz="2400" b="1" i="1" dirty="0">
                <a:latin typeface="Times New Roman" panose="02020603050405020304" pitchFamily="18" charset="0"/>
                <a:cs typeface="Times New Roman" panose="02020603050405020304" pitchFamily="18" charset="0"/>
              </a:rPr>
              <a:t>:  </a:t>
            </a:r>
            <a:r>
              <a:rPr lang="en-US" sz="2400" b="1" i="1" dirty="0">
                <a:solidFill>
                  <a:srgbClr val="1E03BD"/>
                </a:solidFill>
                <a:latin typeface="Times New Roman" panose="02020603050405020304" pitchFamily="18" charset="0"/>
                <a:cs typeface="Times New Roman" panose="02020603050405020304" pitchFamily="18" charset="0"/>
              </a:rPr>
              <a:t> C = 67 ,  A = 65 ,   T = 84 ,  Base b=256 , Prime p=101 </a:t>
            </a:r>
          </a:p>
          <a:p>
            <a:pPr>
              <a:lnSpc>
                <a:spcPct val="150000"/>
              </a:lnSpc>
            </a:pPr>
            <a:r>
              <a:rPr lang="en-US" sz="2400" dirty="0">
                <a:latin typeface="Times New Roman" panose="02020603050405020304" pitchFamily="18" charset="0"/>
                <a:cs typeface="Times New Roman" panose="02020603050405020304" pitchFamily="18" charset="0"/>
              </a:rPr>
              <a:t>The Hash function H is</a:t>
            </a:r>
          </a:p>
          <a:p>
            <a:r>
              <a:rPr lang="en-US" sz="2400" b="1" dirty="0">
                <a:latin typeface="Times New Roman" panose="02020603050405020304" pitchFamily="18" charset="0"/>
                <a:cs typeface="Times New Roman" panose="02020603050405020304" pitchFamily="18" charset="0"/>
              </a:rPr>
              <a:t>H=(</a:t>
            </a:r>
            <a:r>
              <a:rPr lang="en-US" sz="2400" b="1" u="sng" dirty="0">
                <a:latin typeface="Times New Roman" panose="02020603050405020304" pitchFamily="18" charset="0"/>
                <a:cs typeface="Times New Roman" panose="02020603050405020304" pitchFamily="18" charset="0"/>
              </a:rPr>
              <a:t>67×256</a:t>
            </a:r>
            <a:r>
              <a:rPr lang="en-US" sz="2400" b="1" u="sng" baseline="30000" dirty="0">
                <a:latin typeface="Times New Roman" panose="02020603050405020304" pitchFamily="18" charset="0"/>
                <a:cs typeface="Times New Roman" panose="02020603050405020304" pitchFamily="18" charset="0"/>
              </a:rPr>
              <a:t>2</a:t>
            </a:r>
            <a:r>
              <a:rPr lang="en-US" sz="2400" b="1" dirty="0">
                <a:latin typeface="Times New Roman" panose="02020603050405020304" pitchFamily="18" charset="0"/>
                <a:cs typeface="Times New Roman" panose="02020603050405020304" pitchFamily="18" charset="0"/>
              </a:rPr>
              <a:t> +65×256</a:t>
            </a:r>
            <a:r>
              <a:rPr lang="en-US" sz="2400" b="1" baseline="30000" dirty="0">
                <a:latin typeface="Times New Roman" panose="02020603050405020304" pitchFamily="18" charset="0"/>
                <a:cs typeface="Times New Roman" panose="02020603050405020304" pitchFamily="18" charset="0"/>
              </a:rPr>
              <a:t>1</a:t>
            </a:r>
            <a:r>
              <a:rPr lang="en-US" sz="2400" b="1" dirty="0">
                <a:latin typeface="Times New Roman" panose="02020603050405020304" pitchFamily="18" charset="0"/>
                <a:cs typeface="Times New Roman" panose="02020603050405020304" pitchFamily="18" charset="0"/>
              </a:rPr>
              <a:t> +84×256</a:t>
            </a:r>
            <a:r>
              <a:rPr lang="en-US" sz="2400" b="1" baseline="30000" dirty="0">
                <a:latin typeface="Times New Roman" panose="02020603050405020304" pitchFamily="18" charset="0"/>
                <a:cs typeface="Times New Roman" panose="02020603050405020304" pitchFamily="18" charset="0"/>
              </a:rPr>
              <a:t>0</a:t>
            </a:r>
            <a:r>
              <a:rPr lang="en-US" sz="2400" b="1" dirty="0">
                <a:latin typeface="Times New Roman" panose="02020603050405020304" pitchFamily="18" charset="0"/>
                <a:cs typeface="Times New Roman" panose="02020603050405020304" pitchFamily="18" charset="0"/>
              </a:rPr>
              <a:t> ) mod 101   =  97</a:t>
            </a:r>
          </a:p>
          <a:p>
            <a:endParaRPr lang="en-US" sz="2400" b="1" dirty="0">
              <a:solidFill>
                <a:srgbClr val="1E03BD"/>
              </a:solidFill>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For: ATD </a:t>
            </a:r>
            <a:r>
              <a:rPr lang="en-US" sz="2400" b="1" i="1" dirty="0">
                <a:solidFill>
                  <a:srgbClr val="1E03BD"/>
                </a:solidFill>
                <a:latin typeface="Times New Roman" panose="02020603050405020304" pitchFamily="18" charset="0"/>
                <a:cs typeface="Times New Roman" panose="02020603050405020304" pitchFamily="18" charset="0"/>
              </a:rPr>
              <a:t>: A = 65 ,   T = 84 , D=68 Base b=256 , Prime p=101 </a:t>
            </a:r>
          </a:p>
          <a:p>
            <a:r>
              <a:rPr lang="en-US" sz="2400" b="1" dirty="0">
                <a:solidFill>
                  <a:srgbClr val="FF0000"/>
                </a:solidFill>
                <a:latin typeface="Times New Roman" panose="02020603050405020304" pitchFamily="18" charset="0"/>
                <a:cs typeface="Times New Roman" panose="02020603050405020304" pitchFamily="18" charset="0"/>
              </a:rPr>
              <a:t>Without rolling hash -Applied regular hash function</a:t>
            </a:r>
          </a:p>
          <a:p>
            <a:r>
              <a:rPr lang="en-US" sz="2400" b="1" dirty="0">
                <a:latin typeface="Times New Roman" panose="02020603050405020304" pitchFamily="18" charset="0"/>
                <a:cs typeface="Times New Roman" panose="02020603050405020304" pitchFamily="18" charset="0"/>
              </a:rPr>
              <a:t>H = (65×256</a:t>
            </a:r>
            <a:r>
              <a:rPr lang="en-US" sz="2400" b="1" baseline="30000" dirty="0">
                <a:latin typeface="Times New Roman" panose="02020603050405020304" pitchFamily="18" charset="0"/>
                <a:cs typeface="Times New Roman" panose="02020603050405020304" pitchFamily="18" charset="0"/>
              </a:rPr>
              <a:t>2</a:t>
            </a:r>
            <a:r>
              <a:rPr lang="en-US" sz="2400" b="1" dirty="0">
                <a:latin typeface="Times New Roman" panose="02020603050405020304" pitchFamily="18" charset="0"/>
                <a:cs typeface="Times New Roman" panose="02020603050405020304" pitchFamily="18" charset="0"/>
              </a:rPr>
              <a:t> +84×256</a:t>
            </a:r>
            <a:r>
              <a:rPr lang="en-US" sz="2400" b="1" baseline="30000" dirty="0">
                <a:latin typeface="Times New Roman" panose="02020603050405020304" pitchFamily="18" charset="0"/>
                <a:cs typeface="Times New Roman" panose="02020603050405020304" pitchFamily="18" charset="0"/>
              </a:rPr>
              <a:t>1</a:t>
            </a:r>
            <a:r>
              <a:rPr lang="en-US" sz="2400" b="1" dirty="0">
                <a:latin typeface="Times New Roman" panose="02020603050405020304" pitchFamily="18" charset="0"/>
                <a:cs typeface="Times New Roman" panose="02020603050405020304" pitchFamily="18" charset="0"/>
              </a:rPr>
              <a:t> +68×256</a:t>
            </a:r>
            <a:r>
              <a:rPr lang="en-US" sz="2400" b="1" baseline="30000" dirty="0">
                <a:latin typeface="Times New Roman" panose="02020603050405020304" pitchFamily="18" charset="0"/>
                <a:cs typeface="Times New Roman" panose="02020603050405020304" pitchFamily="18" charset="0"/>
              </a:rPr>
              <a:t>0</a:t>
            </a:r>
            <a:r>
              <a:rPr lang="en-US" sz="2400" b="1" dirty="0">
                <a:latin typeface="Times New Roman" panose="02020603050405020304" pitchFamily="18" charset="0"/>
                <a:cs typeface="Times New Roman" panose="02020603050405020304" pitchFamily="18" charset="0"/>
              </a:rPr>
              <a:t> ) mod 101  = 4259840+21504+68 mod 101   </a:t>
            </a:r>
          </a:p>
          <a:p>
            <a:r>
              <a:rPr lang="en-US" sz="2400" b="1" dirty="0">
                <a:latin typeface="Times New Roman" panose="02020603050405020304" pitchFamily="18" charset="0"/>
                <a:cs typeface="Times New Roman" panose="02020603050405020304" pitchFamily="18" charset="0"/>
              </a:rPr>
              <a:t>                                                                            =4281412 mod 101 = 22</a:t>
            </a:r>
          </a:p>
          <a:p>
            <a:endParaRPr lang="en-US" sz="2400" b="1" dirty="0">
              <a:solidFill>
                <a:srgbClr val="1E03BD"/>
              </a:solidFill>
              <a:latin typeface="Times New Roman" panose="02020603050405020304" pitchFamily="18" charset="0"/>
              <a:cs typeface="Times New Roman" panose="02020603050405020304" pitchFamily="18" charset="0"/>
            </a:endParaRPr>
          </a:p>
          <a:p>
            <a:r>
              <a:rPr lang="en-US" sz="2400" b="1" dirty="0">
                <a:solidFill>
                  <a:srgbClr val="FF0000"/>
                </a:solidFill>
                <a:latin typeface="Times New Roman" panose="02020603050405020304" pitchFamily="18" charset="0"/>
                <a:cs typeface="Times New Roman" panose="02020603050405020304" pitchFamily="18" charset="0"/>
              </a:rPr>
              <a:t>With rolling hash function</a:t>
            </a:r>
          </a:p>
          <a:p>
            <a:r>
              <a:rPr lang="en-US" sz="2400" b="1" dirty="0">
                <a:latin typeface="Times New Roman" panose="02020603050405020304" pitchFamily="18" charset="0"/>
                <a:cs typeface="Times New Roman" panose="02020603050405020304" pitchFamily="18" charset="0"/>
              </a:rPr>
              <a:t>H1 = (256 x (97 – (67×256</a:t>
            </a:r>
            <a:r>
              <a:rPr lang="en-US" sz="2400" b="1" baseline="30000" dirty="0">
                <a:latin typeface="Times New Roman" panose="02020603050405020304" pitchFamily="18" charset="0"/>
                <a:cs typeface="Times New Roman" panose="02020603050405020304" pitchFamily="18" charset="0"/>
              </a:rPr>
              <a:t>2</a:t>
            </a:r>
            <a:r>
              <a:rPr lang="en-US" sz="2400" b="1" dirty="0">
                <a:latin typeface="Times New Roman" panose="02020603050405020304" pitchFamily="18" charset="0"/>
                <a:cs typeface="Times New Roman" panose="02020603050405020304" pitchFamily="18" charset="0"/>
              </a:rPr>
              <a:t> )) + 68) mod 101  = (256 x (97 -4390912))+68) mod 101 </a:t>
            </a:r>
          </a:p>
          <a:p>
            <a:r>
              <a:rPr lang="en-US" sz="2400" b="1" dirty="0">
                <a:latin typeface="Times New Roman" panose="02020603050405020304" pitchFamily="18" charset="0"/>
                <a:cs typeface="Times New Roman" panose="02020603050405020304" pitchFamily="18" charset="0"/>
              </a:rPr>
              <a:t>                                                                            =1124048708 mod 101 = 22</a:t>
            </a:r>
          </a:p>
          <a:p>
            <a:endParaRPr lang="en-US" sz="2000" b="1" dirty="0">
              <a:solidFill>
                <a:srgbClr val="1E03BD"/>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05816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65</a:t>
            </a:fld>
            <a:endParaRPr lang="en-AU"/>
          </a:p>
        </p:txBody>
      </p:sp>
      <p:sp>
        <p:nvSpPr>
          <p:cNvPr id="4" name="Rectangle 1"/>
          <p:cNvSpPr>
            <a:spLocks noChangeArrowheads="1"/>
          </p:cNvSpPr>
          <p:nvPr/>
        </p:nvSpPr>
        <p:spPr bwMode="auto">
          <a:xfrm>
            <a:off x="2208179" y="168812"/>
            <a:ext cx="945528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400" b="1" dirty="0">
                <a:solidFill>
                  <a:srgbClr val="C00000"/>
                </a:solidFill>
                <a:latin typeface="Times New Roman" panose="02020603050405020304" pitchFamily="18" charset="0"/>
                <a:cs typeface="Times New Roman" panose="02020603050405020304" pitchFamily="18" charset="0"/>
              </a:rPr>
              <a:t>Example 2: Polynomial Rolling Hash</a:t>
            </a:r>
            <a:endParaRPr kumimoji="0" lang="en-US" altLang="en-US" sz="24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T =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abcdababcd</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n = 10) ,     Pattern P =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daba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m = 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Letter values: a=1, b=2, c=3, d=4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Windows to test (positions 0–6):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bcda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cdab</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daba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abab</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babc</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5" name="Rectangle 2"/>
          <p:cNvSpPr>
            <a:spLocks noChangeArrowheads="1"/>
          </p:cNvSpPr>
          <p:nvPr/>
        </p:nvSpPr>
        <p:spPr bwMode="auto">
          <a:xfrm>
            <a:off x="441796" y="1410127"/>
            <a:ext cx="1130840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1E03BD"/>
                </a:solidFill>
                <a:effectLst/>
                <a:latin typeface="Times New Roman" panose="02020603050405020304" pitchFamily="18" charset="0"/>
                <a:cs typeface="Times New Roman" panose="02020603050405020304" pitchFamily="18" charset="0"/>
              </a:rPr>
              <a:t>Base b = 10,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hash(s) = s₀·10³ + s₁·10² + s₂·10¹ + s₃.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Pattern: Hash</a:t>
            </a:r>
            <a:r>
              <a:rPr kumimoji="0" lang="en-US" altLang="en-US" sz="2000" b="1"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value for “</a:t>
            </a:r>
            <a:r>
              <a:rPr kumimoji="0" lang="en-US" altLang="en-US" sz="2000" b="1" i="0" u="none" strike="noStrike" cap="none" normalizeH="0" dirty="0" err="1">
                <a:ln>
                  <a:noFill/>
                </a:ln>
                <a:solidFill>
                  <a:schemeClr val="tx1"/>
                </a:solidFill>
                <a:effectLst/>
                <a:latin typeface="Times New Roman" panose="02020603050405020304" pitchFamily="18" charset="0"/>
                <a:cs typeface="Times New Roman" panose="02020603050405020304" pitchFamily="18" charset="0"/>
              </a:rPr>
              <a:t>daba</a:t>
            </a:r>
            <a:r>
              <a:rPr kumimoji="0" lang="en-US" altLang="en-US" sz="2000" b="1"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taking </a:t>
            </a:r>
            <a:r>
              <a:rPr kumimoji="0" lang="en-US" altLang="en-US" sz="2000" b="1" i="0" u="none" strike="noStrike" cap="none" normalizeH="0" baseline="0" dirty="0">
                <a:ln>
                  <a:noFill/>
                </a:ln>
                <a:solidFill>
                  <a:srgbClr val="1E03BD"/>
                </a:solidFill>
                <a:effectLst/>
                <a:latin typeface="Times New Roman" panose="02020603050405020304" pitchFamily="18" charset="0"/>
                <a:cs typeface="Times New Roman" panose="02020603050405020304" pitchFamily="18" charset="0"/>
              </a:rPr>
              <a:t>a=1, b=2, c=4, d=4</a:t>
            </a:r>
            <a:r>
              <a:rPr kumimoji="0" lang="en-US" altLang="en-US" sz="2000" b="1" i="0" u="none" strike="noStrike" cap="none" normalizeH="0" dirty="0">
                <a:ln>
                  <a:noFill/>
                </a:ln>
                <a:solidFill>
                  <a:srgbClr val="1E03BD"/>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so on  and </a:t>
            </a:r>
            <a:r>
              <a:rPr kumimoji="0" lang="en-US" altLang="en-US" sz="2000" b="1" i="0" u="none" strike="noStrike" cap="none" normalizeH="0" baseline="0" dirty="0">
                <a:ln>
                  <a:noFill/>
                </a:ln>
                <a:solidFill>
                  <a:srgbClr val="1E03BD"/>
                </a:solidFill>
                <a:effectLst/>
                <a:latin typeface="Times New Roman" panose="02020603050405020304" pitchFamily="18" charset="0"/>
                <a:cs typeface="Times New Roman" panose="02020603050405020304" pitchFamily="18" charset="0"/>
              </a:rPr>
              <a:t>13 as prime number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solidFill>
                  <a:srgbClr val="1E03BD"/>
                </a:solidFill>
                <a:latin typeface="Times New Roman" panose="02020603050405020304" pitchFamily="18" charset="0"/>
                <a:cs typeface="Times New Roman" panose="02020603050405020304" pitchFamily="18" charset="0"/>
              </a:rPr>
              <a:t>hash("</a:t>
            </a:r>
            <a:r>
              <a:rPr lang="en-US" altLang="en-US" sz="2000" b="1" dirty="0" err="1">
                <a:solidFill>
                  <a:srgbClr val="1E03BD"/>
                </a:solidFill>
                <a:latin typeface="Times New Roman" panose="02020603050405020304" pitchFamily="18" charset="0"/>
                <a:cs typeface="Times New Roman" panose="02020603050405020304" pitchFamily="18" charset="0"/>
              </a:rPr>
              <a:t>daba</a:t>
            </a:r>
            <a:r>
              <a:rPr lang="en-US" altLang="en-US" sz="2000" b="1" dirty="0">
                <a:solidFill>
                  <a:srgbClr val="1E03BD"/>
                </a:solidFill>
                <a:latin typeface="Times New Roman" panose="02020603050405020304" pitchFamily="18" charset="0"/>
                <a:cs typeface="Times New Roman" panose="02020603050405020304" pitchFamily="18" charset="0"/>
              </a:rPr>
              <a:t>") = (4·1000 + 1·100 + 2·10 + 1)%13 = 4121%13  = 0   </a:t>
            </a:r>
            <a:r>
              <a:rPr lang="en-US" altLang="en-US" sz="2000" b="1" dirty="0">
                <a:latin typeface="Times New Roman" panose="02020603050405020304" pitchFamily="18" charset="0"/>
                <a:cs typeface="Times New Roman" panose="02020603050405020304" pitchFamily="18" charset="0"/>
              </a:rPr>
              <a:t>hash value for the pattern is 0 </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275958425"/>
              </p:ext>
            </p:extLst>
          </p:nvPr>
        </p:nvGraphicFramePr>
        <p:xfrm>
          <a:off x="207065" y="2425790"/>
          <a:ext cx="11777869" cy="3621015"/>
        </p:xfrm>
        <a:graphic>
          <a:graphicData uri="http://schemas.openxmlformats.org/drawingml/2006/table">
            <a:tbl>
              <a:tblPr/>
              <a:tblGrid>
                <a:gridCol w="935935">
                  <a:extLst>
                    <a:ext uri="{9D8B030D-6E8A-4147-A177-3AD203B41FA5}">
                      <a16:colId xmlns:a16="http://schemas.microsoft.com/office/drawing/2014/main" val="854502527"/>
                    </a:ext>
                  </a:extLst>
                </a:gridCol>
                <a:gridCol w="1600200">
                  <a:extLst>
                    <a:ext uri="{9D8B030D-6E8A-4147-A177-3AD203B41FA5}">
                      <a16:colId xmlns:a16="http://schemas.microsoft.com/office/drawing/2014/main" val="4279050502"/>
                    </a:ext>
                  </a:extLst>
                </a:gridCol>
                <a:gridCol w="4253948">
                  <a:extLst>
                    <a:ext uri="{9D8B030D-6E8A-4147-A177-3AD203B41FA5}">
                      <a16:colId xmlns:a16="http://schemas.microsoft.com/office/drawing/2014/main" val="3512120487"/>
                    </a:ext>
                  </a:extLst>
                </a:gridCol>
                <a:gridCol w="2042823">
                  <a:extLst>
                    <a:ext uri="{9D8B030D-6E8A-4147-A177-3AD203B41FA5}">
                      <a16:colId xmlns:a16="http://schemas.microsoft.com/office/drawing/2014/main" val="3391158392"/>
                    </a:ext>
                  </a:extLst>
                </a:gridCol>
                <a:gridCol w="2944963">
                  <a:extLst>
                    <a:ext uri="{9D8B030D-6E8A-4147-A177-3AD203B41FA5}">
                      <a16:colId xmlns:a16="http://schemas.microsoft.com/office/drawing/2014/main" val="1646311189"/>
                    </a:ext>
                  </a:extLst>
                </a:gridCol>
              </a:tblGrid>
              <a:tr h="328403">
                <a:tc>
                  <a:txBody>
                    <a:bodyPr/>
                    <a:lstStyle/>
                    <a:p>
                      <a:pPr algn="ctr"/>
                      <a:r>
                        <a:rPr lang="en-US" sz="2400" b="1" dirty="0" err="1">
                          <a:solidFill>
                            <a:srgbClr val="0070C0"/>
                          </a:solidFill>
                          <a:latin typeface="Times New Roman" panose="02020603050405020304" pitchFamily="18" charset="0"/>
                          <a:cs typeface="Times New Roman" panose="02020603050405020304" pitchFamily="18" charset="0"/>
                        </a:rPr>
                        <a:t>Pos</a:t>
                      </a:r>
                      <a:endParaRPr lang="en-US" sz="2400" b="1" dirty="0">
                        <a:solidFill>
                          <a:srgbClr val="0070C0"/>
                        </a:solidFill>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Window</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Computation</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Hash Value</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Is</a:t>
                      </a:r>
                      <a:r>
                        <a:rPr lang="en-US" sz="2400" b="1" baseline="0" dirty="0">
                          <a:solidFill>
                            <a:srgbClr val="0070C0"/>
                          </a:solidFill>
                          <a:latin typeface="Times New Roman" panose="02020603050405020304" pitchFamily="18" charset="0"/>
                          <a:cs typeface="Times New Roman" panose="02020603050405020304" pitchFamily="18" charset="0"/>
                        </a:rPr>
                        <a:t> Hash Value=0?</a:t>
                      </a:r>
                      <a:endParaRPr lang="en-US" sz="2400" b="1" dirty="0">
                        <a:solidFill>
                          <a:srgbClr val="0070C0"/>
                        </a:solidFill>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6623805"/>
                  </a:ext>
                </a:extLst>
              </a:tr>
              <a:tr h="390330">
                <a:tc>
                  <a:txBody>
                    <a:bodyPr/>
                    <a:lstStyle/>
                    <a:p>
                      <a:pPr algn="ctr"/>
                      <a:r>
                        <a:rPr lang="en-US" sz="2400" b="1" dirty="0">
                          <a:latin typeface="Times New Roman" panose="02020603050405020304" pitchFamily="18" charset="0"/>
                          <a:cs typeface="Times New Roman" panose="02020603050405020304" pitchFamily="18" charset="0"/>
                        </a:rPr>
                        <a:t>0</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 b c d</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(1·1000+2·100+3·10+4)%13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12</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064324"/>
                  </a:ext>
                </a:extLst>
              </a:tr>
              <a:tr h="457200">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4976229"/>
                  </a:ext>
                </a:extLst>
              </a:tr>
              <a:tr h="476655">
                <a:tc>
                  <a:txBody>
                    <a:bodyPr/>
                    <a:lstStyle/>
                    <a:p>
                      <a:pPr algn="ctr"/>
                      <a:endParaRPr lang="en-US" sz="2400" b="1">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753128"/>
                  </a:ext>
                </a:extLst>
              </a:tr>
              <a:tr h="340468">
                <a:tc>
                  <a:txBody>
                    <a:bodyPr/>
                    <a:lstStyle/>
                    <a:p>
                      <a:pPr algn="ctr"/>
                      <a:endParaRPr lang="en-US" sz="2400" b="1">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8729511"/>
                  </a:ext>
                </a:extLst>
              </a:tr>
              <a:tr h="379379">
                <a:tc>
                  <a:txBody>
                    <a:bodyPr/>
                    <a:lstStyle/>
                    <a:p>
                      <a:pPr algn="ctr"/>
                      <a:endParaRPr lang="en-US" sz="2400" b="1">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8897957"/>
                  </a:ext>
                </a:extLst>
              </a:tr>
              <a:tr h="369651">
                <a:tc>
                  <a:txBody>
                    <a:bodyPr/>
                    <a:lstStyle/>
                    <a:p>
                      <a:pPr algn="ctr"/>
                      <a:endParaRPr lang="en-US" sz="2400" b="1">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907402"/>
                  </a:ext>
                </a:extLst>
              </a:tr>
              <a:tr h="379379">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5240058"/>
                  </a:ext>
                </a:extLst>
              </a:tr>
            </a:tbl>
          </a:graphicData>
        </a:graphic>
      </p:graphicFrame>
    </p:spTree>
    <p:extLst>
      <p:ext uri="{BB962C8B-B14F-4D97-AF65-F5344CB8AC3E}">
        <p14:creationId xmlns:p14="http://schemas.microsoft.com/office/powerpoint/2010/main" val="20863881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800A6-AD01-9EB8-C2B4-3383418F036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AAB19DA-2E80-7E61-2648-4CC603ADD119}"/>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E772A648-8057-552A-0969-92C10808C8E3}"/>
              </a:ext>
            </a:extLst>
          </p:cNvPr>
          <p:cNvSpPr>
            <a:spLocks noGrp="1"/>
          </p:cNvSpPr>
          <p:nvPr>
            <p:ph type="sldNum" sz="quarter" idx="12"/>
          </p:nvPr>
        </p:nvSpPr>
        <p:spPr/>
        <p:txBody>
          <a:bodyPr/>
          <a:lstStyle/>
          <a:p>
            <a:fld id="{68187FF5-4BF9-4B21-B0D2-9B7FF2B27D7F}" type="slidenum">
              <a:rPr lang="en-AU" smtClean="0"/>
              <a:pPr/>
              <a:t>66</a:t>
            </a:fld>
            <a:endParaRPr lang="en-AU"/>
          </a:p>
        </p:txBody>
      </p:sp>
      <p:sp>
        <p:nvSpPr>
          <p:cNvPr id="4" name="Rectangle 1">
            <a:extLst>
              <a:ext uri="{FF2B5EF4-FFF2-40B4-BE49-F238E27FC236}">
                <a16:creationId xmlns:a16="http://schemas.microsoft.com/office/drawing/2014/main" id="{DD602B53-FB06-0CCA-9AB6-5F2779DCC163}"/>
              </a:ext>
            </a:extLst>
          </p:cNvPr>
          <p:cNvSpPr>
            <a:spLocks noChangeArrowheads="1"/>
          </p:cNvSpPr>
          <p:nvPr/>
        </p:nvSpPr>
        <p:spPr bwMode="auto">
          <a:xfrm>
            <a:off x="2208179" y="168812"/>
            <a:ext cx="945528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400" b="1" dirty="0">
                <a:solidFill>
                  <a:srgbClr val="C00000"/>
                </a:solidFill>
                <a:latin typeface="Times New Roman" panose="02020603050405020304" pitchFamily="18" charset="0"/>
                <a:cs typeface="Times New Roman" panose="02020603050405020304" pitchFamily="18" charset="0"/>
              </a:rPr>
              <a:t>Example 2: Polynomial Rolling Hash</a:t>
            </a:r>
            <a:endParaRPr kumimoji="0" lang="en-US" altLang="en-US" sz="24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T =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abcdababcd</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n = 10) ,     Pattern P =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daba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m = 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Letter values: a=1, b=2, c=3, d=4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Windows to test (positions 0–6):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bcda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cdab</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daba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abab</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babc</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5" name="Rectangle 2">
            <a:extLst>
              <a:ext uri="{FF2B5EF4-FFF2-40B4-BE49-F238E27FC236}">
                <a16:creationId xmlns:a16="http://schemas.microsoft.com/office/drawing/2014/main" id="{7EE64944-CF54-F041-8700-9EE625487220}"/>
              </a:ext>
            </a:extLst>
          </p:cNvPr>
          <p:cNvSpPr>
            <a:spLocks noChangeArrowheads="1"/>
          </p:cNvSpPr>
          <p:nvPr/>
        </p:nvSpPr>
        <p:spPr bwMode="auto">
          <a:xfrm>
            <a:off x="441796" y="1410127"/>
            <a:ext cx="1130840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 b = 10,   hash(s) = s₀·10³ + s₁·10² + s₂·10¹ + s₃.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Pattern: Hash</a:t>
            </a:r>
            <a:r>
              <a:rPr kumimoji="0" lang="en-US" altLang="en-US" sz="2000" b="1"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value for “</a:t>
            </a:r>
            <a:r>
              <a:rPr kumimoji="0" lang="en-US" altLang="en-US" sz="2000" b="1" i="0" u="none" strike="noStrike" cap="none" normalizeH="0" dirty="0" err="1">
                <a:ln>
                  <a:noFill/>
                </a:ln>
                <a:solidFill>
                  <a:schemeClr val="tx1"/>
                </a:solidFill>
                <a:effectLst/>
                <a:latin typeface="Times New Roman" panose="02020603050405020304" pitchFamily="18" charset="0"/>
                <a:cs typeface="Times New Roman" panose="02020603050405020304" pitchFamily="18" charset="0"/>
              </a:rPr>
              <a:t>daba</a:t>
            </a:r>
            <a:r>
              <a:rPr kumimoji="0" lang="en-US" altLang="en-US" sz="2000" b="1"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taking a=1, b=2, c=4, d=4</a:t>
            </a:r>
            <a:r>
              <a:rPr kumimoji="0" lang="en-US" altLang="en-US" sz="2000" b="1"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so on  and 13 as prime number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latin typeface="Times New Roman" panose="02020603050405020304" pitchFamily="18" charset="0"/>
                <a:cs typeface="Times New Roman" panose="02020603050405020304" pitchFamily="18" charset="0"/>
              </a:rPr>
              <a:t>hash("</a:t>
            </a:r>
            <a:r>
              <a:rPr lang="en-US" altLang="en-US" sz="2000" b="1" dirty="0" err="1">
                <a:latin typeface="Times New Roman" panose="02020603050405020304" pitchFamily="18" charset="0"/>
                <a:cs typeface="Times New Roman" panose="02020603050405020304" pitchFamily="18" charset="0"/>
              </a:rPr>
              <a:t>daba</a:t>
            </a:r>
            <a:r>
              <a:rPr lang="en-US" altLang="en-US" sz="2000" b="1" dirty="0">
                <a:latin typeface="Times New Roman" panose="02020603050405020304" pitchFamily="18" charset="0"/>
                <a:cs typeface="Times New Roman" panose="02020603050405020304" pitchFamily="18" charset="0"/>
              </a:rPr>
              <a:t>") = (4·1000 + 1·100 + 2·10 + 1)%13 = 4121%13  = 0   hash value for the pattern is 0 </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BD515F93-7BD7-B0B1-93D1-F57ACB36B2EC}"/>
              </a:ext>
            </a:extLst>
          </p:cNvPr>
          <p:cNvGraphicFramePr>
            <a:graphicFrameLocks noGrp="1"/>
          </p:cNvGraphicFramePr>
          <p:nvPr>
            <p:extLst>
              <p:ext uri="{D42A27DB-BD31-4B8C-83A1-F6EECF244321}">
                <p14:modId xmlns:p14="http://schemas.microsoft.com/office/powerpoint/2010/main" val="1833987482"/>
              </p:ext>
            </p:extLst>
          </p:nvPr>
        </p:nvGraphicFramePr>
        <p:xfrm>
          <a:off x="207065" y="2425790"/>
          <a:ext cx="11777869" cy="3621015"/>
        </p:xfrm>
        <a:graphic>
          <a:graphicData uri="http://schemas.openxmlformats.org/drawingml/2006/table">
            <a:tbl>
              <a:tblPr/>
              <a:tblGrid>
                <a:gridCol w="935935">
                  <a:extLst>
                    <a:ext uri="{9D8B030D-6E8A-4147-A177-3AD203B41FA5}">
                      <a16:colId xmlns:a16="http://schemas.microsoft.com/office/drawing/2014/main" val="854502527"/>
                    </a:ext>
                  </a:extLst>
                </a:gridCol>
                <a:gridCol w="1600200">
                  <a:extLst>
                    <a:ext uri="{9D8B030D-6E8A-4147-A177-3AD203B41FA5}">
                      <a16:colId xmlns:a16="http://schemas.microsoft.com/office/drawing/2014/main" val="4279050502"/>
                    </a:ext>
                  </a:extLst>
                </a:gridCol>
                <a:gridCol w="4253948">
                  <a:extLst>
                    <a:ext uri="{9D8B030D-6E8A-4147-A177-3AD203B41FA5}">
                      <a16:colId xmlns:a16="http://schemas.microsoft.com/office/drawing/2014/main" val="3512120487"/>
                    </a:ext>
                  </a:extLst>
                </a:gridCol>
                <a:gridCol w="2042823">
                  <a:extLst>
                    <a:ext uri="{9D8B030D-6E8A-4147-A177-3AD203B41FA5}">
                      <a16:colId xmlns:a16="http://schemas.microsoft.com/office/drawing/2014/main" val="3391158392"/>
                    </a:ext>
                  </a:extLst>
                </a:gridCol>
                <a:gridCol w="2944963">
                  <a:extLst>
                    <a:ext uri="{9D8B030D-6E8A-4147-A177-3AD203B41FA5}">
                      <a16:colId xmlns:a16="http://schemas.microsoft.com/office/drawing/2014/main" val="1646311189"/>
                    </a:ext>
                  </a:extLst>
                </a:gridCol>
              </a:tblGrid>
              <a:tr h="328403">
                <a:tc>
                  <a:txBody>
                    <a:bodyPr/>
                    <a:lstStyle/>
                    <a:p>
                      <a:pPr algn="ctr"/>
                      <a:r>
                        <a:rPr lang="en-US" sz="2400" b="1" dirty="0" err="1">
                          <a:solidFill>
                            <a:srgbClr val="0070C0"/>
                          </a:solidFill>
                          <a:latin typeface="Times New Roman" panose="02020603050405020304" pitchFamily="18" charset="0"/>
                          <a:cs typeface="Times New Roman" panose="02020603050405020304" pitchFamily="18" charset="0"/>
                        </a:rPr>
                        <a:t>Pos</a:t>
                      </a:r>
                      <a:endParaRPr lang="en-US" sz="2400" b="1" dirty="0">
                        <a:solidFill>
                          <a:srgbClr val="0070C0"/>
                        </a:solidFill>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Window</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Computation</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Hash Value</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Is</a:t>
                      </a:r>
                      <a:r>
                        <a:rPr lang="en-US" sz="2400" b="1" baseline="0" dirty="0">
                          <a:solidFill>
                            <a:srgbClr val="0070C0"/>
                          </a:solidFill>
                          <a:latin typeface="Times New Roman" panose="02020603050405020304" pitchFamily="18" charset="0"/>
                          <a:cs typeface="Times New Roman" panose="02020603050405020304" pitchFamily="18" charset="0"/>
                        </a:rPr>
                        <a:t> Hash Value=0?</a:t>
                      </a:r>
                      <a:endParaRPr lang="en-US" sz="2400" b="1" dirty="0">
                        <a:solidFill>
                          <a:srgbClr val="0070C0"/>
                        </a:solidFill>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6623805"/>
                  </a:ext>
                </a:extLst>
              </a:tr>
              <a:tr h="390330">
                <a:tc>
                  <a:txBody>
                    <a:bodyPr/>
                    <a:lstStyle/>
                    <a:p>
                      <a:pPr algn="ctr"/>
                      <a:r>
                        <a:rPr lang="en-US" sz="2400" b="1" dirty="0">
                          <a:latin typeface="Times New Roman" panose="02020603050405020304" pitchFamily="18" charset="0"/>
                          <a:cs typeface="Times New Roman" panose="02020603050405020304" pitchFamily="18" charset="0"/>
                        </a:rPr>
                        <a:t>0</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 b c d</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(1·1000+2·100+3·10+4)%13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12</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064324"/>
                  </a:ext>
                </a:extLst>
              </a:tr>
              <a:tr h="457200">
                <a:tc>
                  <a:txBody>
                    <a:bodyPr/>
                    <a:lstStyle/>
                    <a:p>
                      <a:pPr algn="ctr"/>
                      <a:r>
                        <a:rPr lang="en-US" sz="2400" b="1" dirty="0">
                          <a:latin typeface="Times New Roman" panose="02020603050405020304" pitchFamily="18" charset="0"/>
                          <a:cs typeface="Times New Roman" panose="02020603050405020304" pitchFamily="18" charset="0"/>
                        </a:rPr>
                        <a:t>1</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b c d a</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(2·1000+3·100+4·10+1)%13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1</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4976229"/>
                  </a:ext>
                </a:extLst>
              </a:tr>
              <a:tr h="476655">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753128"/>
                  </a:ext>
                </a:extLst>
              </a:tr>
              <a:tr h="340468">
                <a:tc>
                  <a:txBody>
                    <a:bodyPr/>
                    <a:lstStyle/>
                    <a:p>
                      <a:pPr algn="ctr"/>
                      <a:endParaRPr lang="en-US" sz="2400" b="1">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8729511"/>
                  </a:ext>
                </a:extLst>
              </a:tr>
              <a:tr h="379379">
                <a:tc>
                  <a:txBody>
                    <a:bodyPr/>
                    <a:lstStyle/>
                    <a:p>
                      <a:pPr algn="ctr"/>
                      <a:endParaRPr lang="en-US" sz="2400" b="1">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8897957"/>
                  </a:ext>
                </a:extLst>
              </a:tr>
              <a:tr h="369651">
                <a:tc>
                  <a:txBody>
                    <a:bodyPr/>
                    <a:lstStyle/>
                    <a:p>
                      <a:pPr algn="ctr"/>
                      <a:endParaRPr lang="en-US" sz="2400" b="1">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907402"/>
                  </a:ext>
                </a:extLst>
              </a:tr>
              <a:tr h="379379">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5240058"/>
                  </a:ext>
                </a:extLst>
              </a:tr>
            </a:tbl>
          </a:graphicData>
        </a:graphic>
      </p:graphicFrame>
    </p:spTree>
    <p:extLst>
      <p:ext uri="{BB962C8B-B14F-4D97-AF65-F5344CB8AC3E}">
        <p14:creationId xmlns:p14="http://schemas.microsoft.com/office/powerpoint/2010/main" val="30296117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20D6A-1ECF-1F7F-7498-E47914D7F12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6CDFA23-FFA8-3E4D-E9AF-753B5C9954DF}"/>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E70027EC-16A2-409C-071F-636EB35AA7ED}"/>
              </a:ext>
            </a:extLst>
          </p:cNvPr>
          <p:cNvSpPr>
            <a:spLocks noGrp="1"/>
          </p:cNvSpPr>
          <p:nvPr>
            <p:ph type="sldNum" sz="quarter" idx="12"/>
          </p:nvPr>
        </p:nvSpPr>
        <p:spPr/>
        <p:txBody>
          <a:bodyPr/>
          <a:lstStyle/>
          <a:p>
            <a:fld id="{68187FF5-4BF9-4B21-B0D2-9B7FF2B27D7F}" type="slidenum">
              <a:rPr lang="en-AU" smtClean="0"/>
              <a:pPr/>
              <a:t>67</a:t>
            </a:fld>
            <a:endParaRPr lang="en-AU"/>
          </a:p>
        </p:txBody>
      </p:sp>
      <p:sp>
        <p:nvSpPr>
          <p:cNvPr id="4" name="Rectangle 1">
            <a:extLst>
              <a:ext uri="{FF2B5EF4-FFF2-40B4-BE49-F238E27FC236}">
                <a16:creationId xmlns:a16="http://schemas.microsoft.com/office/drawing/2014/main" id="{50F4CCD9-C2C8-627D-3324-DD13C095ED52}"/>
              </a:ext>
            </a:extLst>
          </p:cNvPr>
          <p:cNvSpPr>
            <a:spLocks noChangeArrowheads="1"/>
          </p:cNvSpPr>
          <p:nvPr/>
        </p:nvSpPr>
        <p:spPr bwMode="auto">
          <a:xfrm>
            <a:off x="2208179" y="168812"/>
            <a:ext cx="945528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400" b="1" dirty="0">
                <a:solidFill>
                  <a:srgbClr val="C00000"/>
                </a:solidFill>
                <a:latin typeface="Times New Roman" panose="02020603050405020304" pitchFamily="18" charset="0"/>
                <a:cs typeface="Times New Roman" panose="02020603050405020304" pitchFamily="18" charset="0"/>
              </a:rPr>
              <a:t>Example 2: Polynomial Rolling Hash</a:t>
            </a:r>
            <a:endParaRPr kumimoji="0" lang="en-US" altLang="en-US" sz="24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T =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abcdababcd</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n = 10) ,     Pattern P =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daba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m = 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Letter values: a=1, b=2, c=3, d=4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Windows to test (positions 0–6):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bcda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cdab</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daba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abab</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babc</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5" name="Rectangle 2">
            <a:extLst>
              <a:ext uri="{FF2B5EF4-FFF2-40B4-BE49-F238E27FC236}">
                <a16:creationId xmlns:a16="http://schemas.microsoft.com/office/drawing/2014/main" id="{D897D135-D8FD-48C4-E69A-E5223097828A}"/>
              </a:ext>
            </a:extLst>
          </p:cNvPr>
          <p:cNvSpPr>
            <a:spLocks noChangeArrowheads="1"/>
          </p:cNvSpPr>
          <p:nvPr/>
        </p:nvSpPr>
        <p:spPr bwMode="auto">
          <a:xfrm>
            <a:off x="441796" y="1410127"/>
            <a:ext cx="1130840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 b = 10,   hash(s) = s₀·10³ + s₁·10² + s₂·10¹ + s₃.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Pattern: Hash</a:t>
            </a:r>
            <a:r>
              <a:rPr kumimoji="0" lang="en-US" altLang="en-US" sz="2000" b="1"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value for “</a:t>
            </a:r>
            <a:r>
              <a:rPr kumimoji="0" lang="en-US" altLang="en-US" sz="2000" b="1" i="0" u="none" strike="noStrike" cap="none" normalizeH="0" dirty="0" err="1">
                <a:ln>
                  <a:noFill/>
                </a:ln>
                <a:solidFill>
                  <a:schemeClr val="tx1"/>
                </a:solidFill>
                <a:effectLst/>
                <a:latin typeface="Times New Roman" panose="02020603050405020304" pitchFamily="18" charset="0"/>
                <a:cs typeface="Times New Roman" panose="02020603050405020304" pitchFamily="18" charset="0"/>
              </a:rPr>
              <a:t>daba</a:t>
            </a:r>
            <a:r>
              <a:rPr kumimoji="0" lang="en-US" altLang="en-US" sz="2000" b="1"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taking a=1, b=2, c=4, d=4</a:t>
            </a:r>
            <a:r>
              <a:rPr kumimoji="0" lang="en-US" altLang="en-US" sz="2000" b="1"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so on  and 13 as prime number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latin typeface="Times New Roman" panose="02020603050405020304" pitchFamily="18" charset="0"/>
                <a:cs typeface="Times New Roman" panose="02020603050405020304" pitchFamily="18" charset="0"/>
              </a:rPr>
              <a:t>hash("</a:t>
            </a:r>
            <a:r>
              <a:rPr lang="en-US" altLang="en-US" sz="2000" b="1" dirty="0" err="1">
                <a:latin typeface="Times New Roman" panose="02020603050405020304" pitchFamily="18" charset="0"/>
                <a:cs typeface="Times New Roman" panose="02020603050405020304" pitchFamily="18" charset="0"/>
              </a:rPr>
              <a:t>daba</a:t>
            </a:r>
            <a:r>
              <a:rPr lang="en-US" altLang="en-US" sz="2000" b="1" dirty="0">
                <a:latin typeface="Times New Roman" panose="02020603050405020304" pitchFamily="18" charset="0"/>
                <a:cs typeface="Times New Roman" panose="02020603050405020304" pitchFamily="18" charset="0"/>
              </a:rPr>
              <a:t>") = (4·1000 + 1·100 + 2·10 + 1)%13 = 4121%13  = 0   hash value for the pattern is 0 </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E5BE9B5D-792F-C248-5436-C76C32D7B03E}"/>
              </a:ext>
            </a:extLst>
          </p:cNvPr>
          <p:cNvGraphicFramePr>
            <a:graphicFrameLocks noGrp="1"/>
          </p:cNvGraphicFramePr>
          <p:nvPr>
            <p:extLst>
              <p:ext uri="{D42A27DB-BD31-4B8C-83A1-F6EECF244321}">
                <p14:modId xmlns:p14="http://schemas.microsoft.com/office/powerpoint/2010/main" val="1023220246"/>
              </p:ext>
            </p:extLst>
          </p:nvPr>
        </p:nvGraphicFramePr>
        <p:xfrm>
          <a:off x="207065" y="2425790"/>
          <a:ext cx="11777869" cy="3621015"/>
        </p:xfrm>
        <a:graphic>
          <a:graphicData uri="http://schemas.openxmlformats.org/drawingml/2006/table">
            <a:tbl>
              <a:tblPr/>
              <a:tblGrid>
                <a:gridCol w="935935">
                  <a:extLst>
                    <a:ext uri="{9D8B030D-6E8A-4147-A177-3AD203B41FA5}">
                      <a16:colId xmlns:a16="http://schemas.microsoft.com/office/drawing/2014/main" val="854502527"/>
                    </a:ext>
                  </a:extLst>
                </a:gridCol>
                <a:gridCol w="1600200">
                  <a:extLst>
                    <a:ext uri="{9D8B030D-6E8A-4147-A177-3AD203B41FA5}">
                      <a16:colId xmlns:a16="http://schemas.microsoft.com/office/drawing/2014/main" val="4279050502"/>
                    </a:ext>
                  </a:extLst>
                </a:gridCol>
                <a:gridCol w="4253948">
                  <a:extLst>
                    <a:ext uri="{9D8B030D-6E8A-4147-A177-3AD203B41FA5}">
                      <a16:colId xmlns:a16="http://schemas.microsoft.com/office/drawing/2014/main" val="3512120487"/>
                    </a:ext>
                  </a:extLst>
                </a:gridCol>
                <a:gridCol w="2042823">
                  <a:extLst>
                    <a:ext uri="{9D8B030D-6E8A-4147-A177-3AD203B41FA5}">
                      <a16:colId xmlns:a16="http://schemas.microsoft.com/office/drawing/2014/main" val="3391158392"/>
                    </a:ext>
                  </a:extLst>
                </a:gridCol>
                <a:gridCol w="2944963">
                  <a:extLst>
                    <a:ext uri="{9D8B030D-6E8A-4147-A177-3AD203B41FA5}">
                      <a16:colId xmlns:a16="http://schemas.microsoft.com/office/drawing/2014/main" val="1646311189"/>
                    </a:ext>
                  </a:extLst>
                </a:gridCol>
              </a:tblGrid>
              <a:tr h="328403">
                <a:tc>
                  <a:txBody>
                    <a:bodyPr/>
                    <a:lstStyle/>
                    <a:p>
                      <a:pPr algn="ctr"/>
                      <a:r>
                        <a:rPr lang="en-US" sz="2400" b="1" dirty="0" err="1">
                          <a:solidFill>
                            <a:srgbClr val="0070C0"/>
                          </a:solidFill>
                          <a:latin typeface="Times New Roman" panose="02020603050405020304" pitchFamily="18" charset="0"/>
                          <a:cs typeface="Times New Roman" panose="02020603050405020304" pitchFamily="18" charset="0"/>
                        </a:rPr>
                        <a:t>Pos</a:t>
                      </a:r>
                      <a:endParaRPr lang="en-US" sz="2400" b="1" dirty="0">
                        <a:solidFill>
                          <a:srgbClr val="0070C0"/>
                        </a:solidFill>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Window</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Computation</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Hash Value</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Is</a:t>
                      </a:r>
                      <a:r>
                        <a:rPr lang="en-US" sz="2400" b="1" baseline="0" dirty="0">
                          <a:solidFill>
                            <a:srgbClr val="0070C0"/>
                          </a:solidFill>
                          <a:latin typeface="Times New Roman" panose="02020603050405020304" pitchFamily="18" charset="0"/>
                          <a:cs typeface="Times New Roman" panose="02020603050405020304" pitchFamily="18" charset="0"/>
                        </a:rPr>
                        <a:t> Hash Value=0?</a:t>
                      </a:r>
                      <a:endParaRPr lang="en-US" sz="2400" b="1" dirty="0">
                        <a:solidFill>
                          <a:srgbClr val="0070C0"/>
                        </a:solidFill>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6623805"/>
                  </a:ext>
                </a:extLst>
              </a:tr>
              <a:tr h="390330">
                <a:tc>
                  <a:txBody>
                    <a:bodyPr/>
                    <a:lstStyle/>
                    <a:p>
                      <a:pPr algn="ctr"/>
                      <a:r>
                        <a:rPr lang="en-US" sz="2400" b="1" dirty="0">
                          <a:latin typeface="Times New Roman" panose="02020603050405020304" pitchFamily="18" charset="0"/>
                          <a:cs typeface="Times New Roman" panose="02020603050405020304" pitchFamily="18" charset="0"/>
                        </a:rPr>
                        <a:t>0</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 b c d</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(1·1000+2·100+3·10+4)%13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12</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064324"/>
                  </a:ext>
                </a:extLst>
              </a:tr>
              <a:tr h="457200">
                <a:tc>
                  <a:txBody>
                    <a:bodyPr/>
                    <a:lstStyle/>
                    <a:p>
                      <a:pPr algn="ctr"/>
                      <a:r>
                        <a:rPr lang="en-US" sz="2400" b="1" dirty="0">
                          <a:latin typeface="Times New Roman" panose="02020603050405020304" pitchFamily="18" charset="0"/>
                          <a:cs typeface="Times New Roman" panose="02020603050405020304" pitchFamily="18" charset="0"/>
                        </a:rPr>
                        <a:t>1</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b c d a</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(2·1000+3·100+4·10+1)%13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1</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4976229"/>
                  </a:ext>
                </a:extLst>
              </a:tr>
              <a:tr h="476655">
                <a:tc>
                  <a:txBody>
                    <a:bodyPr/>
                    <a:lstStyle/>
                    <a:p>
                      <a:pPr algn="ctr"/>
                      <a:r>
                        <a:rPr lang="en-US" sz="2400" b="1">
                          <a:latin typeface="Times New Roman" panose="02020603050405020304" pitchFamily="18" charset="0"/>
                          <a:cs typeface="Times New Roman" panose="02020603050405020304" pitchFamily="18" charset="0"/>
                        </a:rPr>
                        <a:t>2</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c d a b</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(3·1000+4·100+1·10+2)%13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6</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753128"/>
                  </a:ext>
                </a:extLst>
              </a:tr>
              <a:tr h="340468">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8729511"/>
                  </a:ext>
                </a:extLst>
              </a:tr>
              <a:tr h="379379">
                <a:tc>
                  <a:txBody>
                    <a:bodyPr/>
                    <a:lstStyle/>
                    <a:p>
                      <a:pPr algn="ctr"/>
                      <a:endParaRPr lang="en-US" sz="2400" b="1">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8897957"/>
                  </a:ext>
                </a:extLst>
              </a:tr>
              <a:tr h="369651">
                <a:tc>
                  <a:txBody>
                    <a:bodyPr/>
                    <a:lstStyle/>
                    <a:p>
                      <a:pPr algn="ctr"/>
                      <a:endParaRPr lang="en-US" sz="2400" b="1">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907402"/>
                  </a:ext>
                </a:extLst>
              </a:tr>
              <a:tr h="379379">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5240058"/>
                  </a:ext>
                </a:extLst>
              </a:tr>
            </a:tbl>
          </a:graphicData>
        </a:graphic>
      </p:graphicFrame>
    </p:spTree>
    <p:extLst>
      <p:ext uri="{BB962C8B-B14F-4D97-AF65-F5344CB8AC3E}">
        <p14:creationId xmlns:p14="http://schemas.microsoft.com/office/powerpoint/2010/main" val="29826249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22922-523D-4AF8-674C-081AEF32170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0D8C611-EB59-75C1-8EEC-1C58FD143BFF}"/>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223EF2EB-2892-5449-A086-71BA71FA4D8E}"/>
              </a:ext>
            </a:extLst>
          </p:cNvPr>
          <p:cNvSpPr>
            <a:spLocks noGrp="1"/>
          </p:cNvSpPr>
          <p:nvPr>
            <p:ph type="sldNum" sz="quarter" idx="12"/>
          </p:nvPr>
        </p:nvSpPr>
        <p:spPr/>
        <p:txBody>
          <a:bodyPr/>
          <a:lstStyle/>
          <a:p>
            <a:fld id="{68187FF5-4BF9-4B21-B0D2-9B7FF2B27D7F}" type="slidenum">
              <a:rPr lang="en-AU" smtClean="0"/>
              <a:pPr/>
              <a:t>68</a:t>
            </a:fld>
            <a:endParaRPr lang="en-AU"/>
          </a:p>
        </p:txBody>
      </p:sp>
      <p:sp>
        <p:nvSpPr>
          <p:cNvPr id="4" name="Rectangle 1">
            <a:extLst>
              <a:ext uri="{FF2B5EF4-FFF2-40B4-BE49-F238E27FC236}">
                <a16:creationId xmlns:a16="http://schemas.microsoft.com/office/drawing/2014/main" id="{05D00620-C38C-87D9-FE83-99D866E5B0CF}"/>
              </a:ext>
            </a:extLst>
          </p:cNvPr>
          <p:cNvSpPr>
            <a:spLocks noChangeArrowheads="1"/>
          </p:cNvSpPr>
          <p:nvPr/>
        </p:nvSpPr>
        <p:spPr bwMode="auto">
          <a:xfrm>
            <a:off x="2208179" y="168812"/>
            <a:ext cx="945528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400" b="1" dirty="0">
                <a:solidFill>
                  <a:srgbClr val="C00000"/>
                </a:solidFill>
                <a:latin typeface="Times New Roman" panose="02020603050405020304" pitchFamily="18" charset="0"/>
                <a:cs typeface="Times New Roman" panose="02020603050405020304" pitchFamily="18" charset="0"/>
              </a:rPr>
              <a:t>Example 2: Polynomial Rolling Hash</a:t>
            </a:r>
            <a:endParaRPr kumimoji="0" lang="en-US" altLang="en-US" sz="24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T =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abcdababcd</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n = 10) ,     Pattern P =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daba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m = 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Letter values: a=1, b=2, c=3, d=4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Windows to test (positions 0–6):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bcda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cdab</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daba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abab</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babc</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5" name="Rectangle 2">
            <a:extLst>
              <a:ext uri="{FF2B5EF4-FFF2-40B4-BE49-F238E27FC236}">
                <a16:creationId xmlns:a16="http://schemas.microsoft.com/office/drawing/2014/main" id="{856261BF-3F04-9912-F7B8-84E1E4E41940}"/>
              </a:ext>
            </a:extLst>
          </p:cNvPr>
          <p:cNvSpPr>
            <a:spLocks noChangeArrowheads="1"/>
          </p:cNvSpPr>
          <p:nvPr/>
        </p:nvSpPr>
        <p:spPr bwMode="auto">
          <a:xfrm>
            <a:off x="441796" y="1410127"/>
            <a:ext cx="1130840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 b = 10,   hash(s) = s₀·10³ + s₁·10² + s₂·10¹ + s₃.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Pattern: Hash</a:t>
            </a:r>
            <a:r>
              <a:rPr kumimoji="0" lang="en-US" altLang="en-US" sz="2000" b="1"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value for “</a:t>
            </a:r>
            <a:r>
              <a:rPr kumimoji="0" lang="en-US" altLang="en-US" sz="2000" b="1" i="0" u="none" strike="noStrike" cap="none" normalizeH="0" dirty="0" err="1">
                <a:ln>
                  <a:noFill/>
                </a:ln>
                <a:solidFill>
                  <a:schemeClr val="tx1"/>
                </a:solidFill>
                <a:effectLst/>
                <a:latin typeface="Times New Roman" panose="02020603050405020304" pitchFamily="18" charset="0"/>
                <a:cs typeface="Times New Roman" panose="02020603050405020304" pitchFamily="18" charset="0"/>
              </a:rPr>
              <a:t>daba</a:t>
            </a:r>
            <a:r>
              <a:rPr kumimoji="0" lang="en-US" altLang="en-US" sz="2000" b="1"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taking a=1, b=2, c=4, d=4</a:t>
            </a:r>
            <a:r>
              <a:rPr kumimoji="0" lang="en-US" altLang="en-US" sz="2000" b="1"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so on  and 13 as prime number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latin typeface="Times New Roman" panose="02020603050405020304" pitchFamily="18" charset="0"/>
                <a:cs typeface="Times New Roman" panose="02020603050405020304" pitchFamily="18" charset="0"/>
              </a:rPr>
              <a:t>hash("</a:t>
            </a:r>
            <a:r>
              <a:rPr lang="en-US" altLang="en-US" sz="2000" b="1" dirty="0" err="1">
                <a:latin typeface="Times New Roman" panose="02020603050405020304" pitchFamily="18" charset="0"/>
                <a:cs typeface="Times New Roman" panose="02020603050405020304" pitchFamily="18" charset="0"/>
              </a:rPr>
              <a:t>daba</a:t>
            </a:r>
            <a:r>
              <a:rPr lang="en-US" altLang="en-US" sz="2000" b="1" dirty="0">
                <a:latin typeface="Times New Roman" panose="02020603050405020304" pitchFamily="18" charset="0"/>
                <a:cs typeface="Times New Roman" panose="02020603050405020304" pitchFamily="18" charset="0"/>
              </a:rPr>
              <a:t>") = (4·1000 + 1·100 + 2·10 + 1)%13 = 4121%13  = 0   hash value for the pattern is 0 </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FBFEDD48-713D-DC3B-49FD-72B54944CFEB}"/>
              </a:ext>
            </a:extLst>
          </p:cNvPr>
          <p:cNvGraphicFramePr>
            <a:graphicFrameLocks noGrp="1"/>
          </p:cNvGraphicFramePr>
          <p:nvPr>
            <p:extLst>
              <p:ext uri="{D42A27DB-BD31-4B8C-83A1-F6EECF244321}">
                <p14:modId xmlns:p14="http://schemas.microsoft.com/office/powerpoint/2010/main" val="3450449480"/>
              </p:ext>
            </p:extLst>
          </p:nvPr>
        </p:nvGraphicFramePr>
        <p:xfrm>
          <a:off x="207065" y="2425790"/>
          <a:ext cx="11777869" cy="3986775"/>
        </p:xfrm>
        <a:graphic>
          <a:graphicData uri="http://schemas.openxmlformats.org/drawingml/2006/table">
            <a:tbl>
              <a:tblPr/>
              <a:tblGrid>
                <a:gridCol w="935935">
                  <a:extLst>
                    <a:ext uri="{9D8B030D-6E8A-4147-A177-3AD203B41FA5}">
                      <a16:colId xmlns:a16="http://schemas.microsoft.com/office/drawing/2014/main" val="854502527"/>
                    </a:ext>
                  </a:extLst>
                </a:gridCol>
                <a:gridCol w="1600200">
                  <a:extLst>
                    <a:ext uri="{9D8B030D-6E8A-4147-A177-3AD203B41FA5}">
                      <a16:colId xmlns:a16="http://schemas.microsoft.com/office/drawing/2014/main" val="4279050502"/>
                    </a:ext>
                  </a:extLst>
                </a:gridCol>
                <a:gridCol w="4253948">
                  <a:extLst>
                    <a:ext uri="{9D8B030D-6E8A-4147-A177-3AD203B41FA5}">
                      <a16:colId xmlns:a16="http://schemas.microsoft.com/office/drawing/2014/main" val="3512120487"/>
                    </a:ext>
                  </a:extLst>
                </a:gridCol>
                <a:gridCol w="2042823">
                  <a:extLst>
                    <a:ext uri="{9D8B030D-6E8A-4147-A177-3AD203B41FA5}">
                      <a16:colId xmlns:a16="http://schemas.microsoft.com/office/drawing/2014/main" val="3391158392"/>
                    </a:ext>
                  </a:extLst>
                </a:gridCol>
                <a:gridCol w="2944963">
                  <a:extLst>
                    <a:ext uri="{9D8B030D-6E8A-4147-A177-3AD203B41FA5}">
                      <a16:colId xmlns:a16="http://schemas.microsoft.com/office/drawing/2014/main" val="1646311189"/>
                    </a:ext>
                  </a:extLst>
                </a:gridCol>
              </a:tblGrid>
              <a:tr h="328403">
                <a:tc>
                  <a:txBody>
                    <a:bodyPr/>
                    <a:lstStyle/>
                    <a:p>
                      <a:pPr algn="ctr"/>
                      <a:r>
                        <a:rPr lang="en-US" sz="2400" b="1" dirty="0" err="1">
                          <a:solidFill>
                            <a:srgbClr val="0070C0"/>
                          </a:solidFill>
                          <a:latin typeface="Times New Roman" panose="02020603050405020304" pitchFamily="18" charset="0"/>
                          <a:cs typeface="Times New Roman" panose="02020603050405020304" pitchFamily="18" charset="0"/>
                        </a:rPr>
                        <a:t>Pos</a:t>
                      </a:r>
                      <a:endParaRPr lang="en-US" sz="2400" b="1" dirty="0">
                        <a:solidFill>
                          <a:srgbClr val="0070C0"/>
                        </a:solidFill>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Window</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Computation</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Hash Value</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Is</a:t>
                      </a:r>
                      <a:r>
                        <a:rPr lang="en-US" sz="2400" b="1" baseline="0" dirty="0">
                          <a:solidFill>
                            <a:srgbClr val="0070C0"/>
                          </a:solidFill>
                          <a:latin typeface="Times New Roman" panose="02020603050405020304" pitchFamily="18" charset="0"/>
                          <a:cs typeface="Times New Roman" panose="02020603050405020304" pitchFamily="18" charset="0"/>
                        </a:rPr>
                        <a:t> Hash Value=0?</a:t>
                      </a:r>
                      <a:endParaRPr lang="en-US" sz="2400" b="1" dirty="0">
                        <a:solidFill>
                          <a:srgbClr val="0070C0"/>
                        </a:solidFill>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6623805"/>
                  </a:ext>
                </a:extLst>
              </a:tr>
              <a:tr h="390330">
                <a:tc>
                  <a:txBody>
                    <a:bodyPr/>
                    <a:lstStyle/>
                    <a:p>
                      <a:pPr algn="ctr"/>
                      <a:r>
                        <a:rPr lang="en-US" sz="2400" b="1" dirty="0">
                          <a:latin typeface="Times New Roman" panose="02020603050405020304" pitchFamily="18" charset="0"/>
                          <a:cs typeface="Times New Roman" panose="02020603050405020304" pitchFamily="18" charset="0"/>
                        </a:rPr>
                        <a:t>0</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 b c d</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(1·1000+2·100+3·10+4)%13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12</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064324"/>
                  </a:ext>
                </a:extLst>
              </a:tr>
              <a:tr h="457200">
                <a:tc>
                  <a:txBody>
                    <a:bodyPr/>
                    <a:lstStyle/>
                    <a:p>
                      <a:pPr algn="ctr"/>
                      <a:r>
                        <a:rPr lang="en-US" sz="2400" b="1" dirty="0">
                          <a:latin typeface="Times New Roman" panose="02020603050405020304" pitchFamily="18" charset="0"/>
                          <a:cs typeface="Times New Roman" panose="02020603050405020304" pitchFamily="18" charset="0"/>
                        </a:rPr>
                        <a:t>1</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b c d a</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(2·1000+3·100+4·10+1)%13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1</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4976229"/>
                  </a:ext>
                </a:extLst>
              </a:tr>
              <a:tr h="476655">
                <a:tc>
                  <a:txBody>
                    <a:bodyPr/>
                    <a:lstStyle/>
                    <a:p>
                      <a:pPr algn="ctr"/>
                      <a:r>
                        <a:rPr lang="en-US" sz="2400" b="1">
                          <a:latin typeface="Times New Roman" panose="02020603050405020304" pitchFamily="18" charset="0"/>
                          <a:cs typeface="Times New Roman" panose="02020603050405020304" pitchFamily="18" charset="0"/>
                        </a:rPr>
                        <a:t>2</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c d a b</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(3·1000+4·100+1·10+2)%13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6</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753128"/>
                  </a:ext>
                </a:extLst>
              </a:tr>
              <a:tr h="340468">
                <a:tc>
                  <a:txBody>
                    <a:bodyPr/>
                    <a:lstStyle/>
                    <a:p>
                      <a:pPr algn="ctr"/>
                      <a:r>
                        <a:rPr lang="en-US" sz="2400" b="1">
                          <a:latin typeface="Times New Roman" panose="02020603050405020304" pitchFamily="18" charset="0"/>
                          <a:cs typeface="Times New Roman" panose="02020603050405020304" pitchFamily="18" charset="0"/>
                        </a:rPr>
                        <a:t>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latin typeface="Times New Roman" panose="02020603050405020304" pitchFamily="18" charset="0"/>
                          <a:cs typeface="Times New Roman" panose="02020603050405020304" pitchFamily="18" charset="0"/>
                        </a:rPr>
                        <a:t>d a b a</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(4·1000+1·100+2·10+1)%13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0</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 → verify → MATCH</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8729511"/>
                  </a:ext>
                </a:extLst>
              </a:tr>
              <a:tr h="379379">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8897957"/>
                  </a:ext>
                </a:extLst>
              </a:tr>
              <a:tr h="369651">
                <a:tc>
                  <a:txBody>
                    <a:bodyPr/>
                    <a:lstStyle/>
                    <a:p>
                      <a:pPr algn="ctr"/>
                      <a:endParaRPr lang="en-US" sz="2400" b="1">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907402"/>
                  </a:ext>
                </a:extLst>
              </a:tr>
              <a:tr h="379379">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5240058"/>
                  </a:ext>
                </a:extLst>
              </a:tr>
            </a:tbl>
          </a:graphicData>
        </a:graphic>
      </p:graphicFrame>
    </p:spTree>
    <p:extLst>
      <p:ext uri="{BB962C8B-B14F-4D97-AF65-F5344CB8AC3E}">
        <p14:creationId xmlns:p14="http://schemas.microsoft.com/office/powerpoint/2010/main" val="343670717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C55BF-18CF-C7E6-2BBE-BBA3C3ABDC8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42A7C69-1A63-4FE2-BC45-2123E5614DDC}"/>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82F25BFC-8E5A-3798-AE97-4962AA2B44C4}"/>
              </a:ext>
            </a:extLst>
          </p:cNvPr>
          <p:cNvSpPr>
            <a:spLocks noGrp="1"/>
          </p:cNvSpPr>
          <p:nvPr>
            <p:ph type="sldNum" sz="quarter" idx="12"/>
          </p:nvPr>
        </p:nvSpPr>
        <p:spPr/>
        <p:txBody>
          <a:bodyPr/>
          <a:lstStyle/>
          <a:p>
            <a:fld id="{68187FF5-4BF9-4B21-B0D2-9B7FF2B27D7F}" type="slidenum">
              <a:rPr lang="en-AU" smtClean="0"/>
              <a:pPr/>
              <a:t>69</a:t>
            </a:fld>
            <a:endParaRPr lang="en-AU"/>
          </a:p>
        </p:txBody>
      </p:sp>
      <p:sp>
        <p:nvSpPr>
          <p:cNvPr id="4" name="Rectangle 1">
            <a:extLst>
              <a:ext uri="{FF2B5EF4-FFF2-40B4-BE49-F238E27FC236}">
                <a16:creationId xmlns:a16="http://schemas.microsoft.com/office/drawing/2014/main" id="{6AF72FC4-4483-DFFD-72E7-A83F82568343}"/>
              </a:ext>
            </a:extLst>
          </p:cNvPr>
          <p:cNvSpPr>
            <a:spLocks noChangeArrowheads="1"/>
          </p:cNvSpPr>
          <p:nvPr/>
        </p:nvSpPr>
        <p:spPr bwMode="auto">
          <a:xfrm>
            <a:off x="2208179" y="168812"/>
            <a:ext cx="945528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400" b="1" dirty="0">
                <a:solidFill>
                  <a:srgbClr val="C00000"/>
                </a:solidFill>
                <a:latin typeface="Times New Roman" panose="02020603050405020304" pitchFamily="18" charset="0"/>
                <a:cs typeface="Times New Roman" panose="02020603050405020304" pitchFamily="18" charset="0"/>
              </a:rPr>
              <a:t>Example 2: Polynomial Rolling Hash</a:t>
            </a:r>
            <a:endParaRPr kumimoji="0" lang="en-US" altLang="en-US" sz="24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T =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abcdababcd</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n = 10) ,     Pattern P =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daba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m = 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Letter values: a=1, b=2, c=3, d=4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Windows to test (positions 0–6):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bcda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cdab</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daba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abab</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babc</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5" name="Rectangle 2">
            <a:extLst>
              <a:ext uri="{FF2B5EF4-FFF2-40B4-BE49-F238E27FC236}">
                <a16:creationId xmlns:a16="http://schemas.microsoft.com/office/drawing/2014/main" id="{5EB2FF5C-9497-37F7-3ECF-97619061C37C}"/>
              </a:ext>
            </a:extLst>
          </p:cNvPr>
          <p:cNvSpPr>
            <a:spLocks noChangeArrowheads="1"/>
          </p:cNvSpPr>
          <p:nvPr/>
        </p:nvSpPr>
        <p:spPr bwMode="auto">
          <a:xfrm>
            <a:off x="441796" y="1410127"/>
            <a:ext cx="1130840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 b = 10,   hash(s) = s₀·10³ + s₁·10² + s₂·10¹ + s₃.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Pattern: Hash</a:t>
            </a:r>
            <a:r>
              <a:rPr kumimoji="0" lang="en-US" altLang="en-US" sz="2000" b="1"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value for “</a:t>
            </a:r>
            <a:r>
              <a:rPr kumimoji="0" lang="en-US" altLang="en-US" sz="2000" b="1" i="0" u="none" strike="noStrike" cap="none" normalizeH="0" dirty="0" err="1">
                <a:ln>
                  <a:noFill/>
                </a:ln>
                <a:solidFill>
                  <a:schemeClr val="tx1"/>
                </a:solidFill>
                <a:effectLst/>
                <a:latin typeface="Times New Roman" panose="02020603050405020304" pitchFamily="18" charset="0"/>
                <a:cs typeface="Times New Roman" panose="02020603050405020304" pitchFamily="18" charset="0"/>
              </a:rPr>
              <a:t>daba</a:t>
            </a:r>
            <a:r>
              <a:rPr kumimoji="0" lang="en-US" altLang="en-US" sz="2000" b="1"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taking a=1, b=2, c=4, d=4</a:t>
            </a:r>
            <a:r>
              <a:rPr kumimoji="0" lang="en-US" altLang="en-US" sz="2000" b="1"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so on  and 13 as prime number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latin typeface="Times New Roman" panose="02020603050405020304" pitchFamily="18" charset="0"/>
                <a:cs typeface="Times New Roman" panose="02020603050405020304" pitchFamily="18" charset="0"/>
              </a:rPr>
              <a:t>hash("</a:t>
            </a:r>
            <a:r>
              <a:rPr lang="en-US" altLang="en-US" sz="2000" b="1" dirty="0" err="1">
                <a:latin typeface="Times New Roman" panose="02020603050405020304" pitchFamily="18" charset="0"/>
                <a:cs typeface="Times New Roman" panose="02020603050405020304" pitchFamily="18" charset="0"/>
              </a:rPr>
              <a:t>daba</a:t>
            </a:r>
            <a:r>
              <a:rPr lang="en-US" altLang="en-US" sz="2000" b="1" dirty="0">
                <a:latin typeface="Times New Roman" panose="02020603050405020304" pitchFamily="18" charset="0"/>
                <a:cs typeface="Times New Roman" panose="02020603050405020304" pitchFamily="18" charset="0"/>
              </a:rPr>
              <a:t>") = (4·1000 + 1·100 + 2·10 + 1)%13 = 4121%13  = 0   hash value for the pattern is 0 </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189348AF-0CC6-BAFC-C7DF-5C6DB3CDC54E}"/>
              </a:ext>
            </a:extLst>
          </p:cNvPr>
          <p:cNvGraphicFramePr>
            <a:graphicFrameLocks noGrp="1"/>
          </p:cNvGraphicFramePr>
          <p:nvPr>
            <p:extLst>
              <p:ext uri="{D42A27DB-BD31-4B8C-83A1-F6EECF244321}">
                <p14:modId xmlns:p14="http://schemas.microsoft.com/office/powerpoint/2010/main" val="3161645896"/>
              </p:ext>
            </p:extLst>
          </p:nvPr>
        </p:nvGraphicFramePr>
        <p:xfrm>
          <a:off x="207065" y="2425790"/>
          <a:ext cx="11777869" cy="3986775"/>
        </p:xfrm>
        <a:graphic>
          <a:graphicData uri="http://schemas.openxmlformats.org/drawingml/2006/table">
            <a:tbl>
              <a:tblPr/>
              <a:tblGrid>
                <a:gridCol w="935935">
                  <a:extLst>
                    <a:ext uri="{9D8B030D-6E8A-4147-A177-3AD203B41FA5}">
                      <a16:colId xmlns:a16="http://schemas.microsoft.com/office/drawing/2014/main" val="854502527"/>
                    </a:ext>
                  </a:extLst>
                </a:gridCol>
                <a:gridCol w="1600200">
                  <a:extLst>
                    <a:ext uri="{9D8B030D-6E8A-4147-A177-3AD203B41FA5}">
                      <a16:colId xmlns:a16="http://schemas.microsoft.com/office/drawing/2014/main" val="4279050502"/>
                    </a:ext>
                  </a:extLst>
                </a:gridCol>
                <a:gridCol w="4253948">
                  <a:extLst>
                    <a:ext uri="{9D8B030D-6E8A-4147-A177-3AD203B41FA5}">
                      <a16:colId xmlns:a16="http://schemas.microsoft.com/office/drawing/2014/main" val="3512120487"/>
                    </a:ext>
                  </a:extLst>
                </a:gridCol>
                <a:gridCol w="2042823">
                  <a:extLst>
                    <a:ext uri="{9D8B030D-6E8A-4147-A177-3AD203B41FA5}">
                      <a16:colId xmlns:a16="http://schemas.microsoft.com/office/drawing/2014/main" val="3391158392"/>
                    </a:ext>
                  </a:extLst>
                </a:gridCol>
                <a:gridCol w="2944963">
                  <a:extLst>
                    <a:ext uri="{9D8B030D-6E8A-4147-A177-3AD203B41FA5}">
                      <a16:colId xmlns:a16="http://schemas.microsoft.com/office/drawing/2014/main" val="1646311189"/>
                    </a:ext>
                  </a:extLst>
                </a:gridCol>
              </a:tblGrid>
              <a:tr h="328403">
                <a:tc>
                  <a:txBody>
                    <a:bodyPr/>
                    <a:lstStyle/>
                    <a:p>
                      <a:pPr algn="ctr"/>
                      <a:r>
                        <a:rPr lang="en-US" sz="2400" b="1" dirty="0" err="1">
                          <a:solidFill>
                            <a:srgbClr val="0070C0"/>
                          </a:solidFill>
                          <a:latin typeface="Times New Roman" panose="02020603050405020304" pitchFamily="18" charset="0"/>
                          <a:cs typeface="Times New Roman" panose="02020603050405020304" pitchFamily="18" charset="0"/>
                        </a:rPr>
                        <a:t>Pos</a:t>
                      </a:r>
                      <a:endParaRPr lang="en-US" sz="2400" b="1" dirty="0">
                        <a:solidFill>
                          <a:srgbClr val="0070C0"/>
                        </a:solidFill>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Window</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Computation</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Hash Value</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Is</a:t>
                      </a:r>
                      <a:r>
                        <a:rPr lang="en-US" sz="2400" b="1" baseline="0" dirty="0">
                          <a:solidFill>
                            <a:srgbClr val="0070C0"/>
                          </a:solidFill>
                          <a:latin typeface="Times New Roman" panose="02020603050405020304" pitchFamily="18" charset="0"/>
                          <a:cs typeface="Times New Roman" panose="02020603050405020304" pitchFamily="18" charset="0"/>
                        </a:rPr>
                        <a:t> Hash Value=0?</a:t>
                      </a:r>
                      <a:endParaRPr lang="en-US" sz="2400" b="1" dirty="0">
                        <a:solidFill>
                          <a:srgbClr val="0070C0"/>
                        </a:solidFill>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6623805"/>
                  </a:ext>
                </a:extLst>
              </a:tr>
              <a:tr h="390330">
                <a:tc>
                  <a:txBody>
                    <a:bodyPr/>
                    <a:lstStyle/>
                    <a:p>
                      <a:pPr algn="ctr"/>
                      <a:r>
                        <a:rPr lang="en-US" sz="2400" b="1" dirty="0">
                          <a:latin typeface="Times New Roman" panose="02020603050405020304" pitchFamily="18" charset="0"/>
                          <a:cs typeface="Times New Roman" panose="02020603050405020304" pitchFamily="18" charset="0"/>
                        </a:rPr>
                        <a:t>0</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 b c d</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(1·1000+2·100+3·10+4)%13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12</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064324"/>
                  </a:ext>
                </a:extLst>
              </a:tr>
              <a:tr h="457200">
                <a:tc>
                  <a:txBody>
                    <a:bodyPr/>
                    <a:lstStyle/>
                    <a:p>
                      <a:pPr algn="ctr"/>
                      <a:r>
                        <a:rPr lang="en-US" sz="2400" b="1" dirty="0">
                          <a:latin typeface="Times New Roman" panose="02020603050405020304" pitchFamily="18" charset="0"/>
                          <a:cs typeface="Times New Roman" panose="02020603050405020304" pitchFamily="18" charset="0"/>
                        </a:rPr>
                        <a:t>1</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b c d a</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(2·1000+3·100+4·10+1)%13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1</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4976229"/>
                  </a:ext>
                </a:extLst>
              </a:tr>
              <a:tr h="476655">
                <a:tc>
                  <a:txBody>
                    <a:bodyPr/>
                    <a:lstStyle/>
                    <a:p>
                      <a:pPr algn="ctr"/>
                      <a:r>
                        <a:rPr lang="en-US" sz="2400" b="1">
                          <a:latin typeface="Times New Roman" panose="02020603050405020304" pitchFamily="18" charset="0"/>
                          <a:cs typeface="Times New Roman" panose="02020603050405020304" pitchFamily="18" charset="0"/>
                        </a:rPr>
                        <a:t>2</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c d a b</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(3·1000+4·100+1·10+2)%13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6</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753128"/>
                  </a:ext>
                </a:extLst>
              </a:tr>
              <a:tr h="340468">
                <a:tc>
                  <a:txBody>
                    <a:bodyPr/>
                    <a:lstStyle/>
                    <a:p>
                      <a:pPr algn="ctr"/>
                      <a:r>
                        <a:rPr lang="en-US" sz="2400" b="1">
                          <a:latin typeface="Times New Roman" panose="02020603050405020304" pitchFamily="18" charset="0"/>
                          <a:cs typeface="Times New Roman" panose="02020603050405020304" pitchFamily="18" charset="0"/>
                        </a:rPr>
                        <a:t>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latin typeface="Times New Roman" panose="02020603050405020304" pitchFamily="18" charset="0"/>
                          <a:cs typeface="Times New Roman" panose="02020603050405020304" pitchFamily="18" charset="0"/>
                        </a:rPr>
                        <a:t>d a b a</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(4·1000+1·100+2·10+1)%13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0</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 → verify → MATCH</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8729511"/>
                  </a:ext>
                </a:extLst>
              </a:tr>
              <a:tr h="379379">
                <a:tc>
                  <a:txBody>
                    <a:bodyPr/>
                    <a:lstStyle/>
                    <a:p>
                      <a:pPr algn="ctr"/>
                      <a:r>
                        <a:rPr lang="en-US" sz="2400" b="1">
                          <a:latin typeface="Times New Roman" panose="02020603050405020304" pitchFamily="18" charset="0"/>
                          <a:cs typeface="Times New Roman" panose="02020603050405020304" pitchFamily="18" charset="0"/>
                        </a:rPr>
                        <a:t>4</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latin typeface="Times New Roman" panose="02020603050405020304" pitchFamily="18" charset="0"/>
                          <a:cs typeface="Times New Roman" panose="02020603050405020304" pitchFamily="18" charset="0"/>
                        </a:rPr>
                        <a:t>a b a b</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(1·1000+2·100+1·10+2)%13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8897957"/>
                  </a:ext>
                </a:extLst>
              </a:tr>
              <a:tr h="369651">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907402"/>
                  </a:ext>
                </a:extLst>
              </a:tr>
              <a:tr h="379379">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5240058"/>
                  </a:ext>
                </a:extLst>
              </a:tr>
            </a:tbl>
          </a:graphicData>
        </a:graphic>
      </p:graphicFrame>
    </p:spTree>
    <p:extLst>
      <p:ext uri="{BB962C8B-B14F-4D97-AF65-F5344CB8AC3E}">
        <p14:creationId xmlns:p14="http://schemas.microsoft.com/office/powerpoint/2010/main" val="33693919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22790-3B40-3BE2-8A14-BD35D756CEC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AE80B2D-BF52-A482-63D4-E9FA60AF8CBE}"/>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E4D7F842-87FA-1A2D-0EA0-478F4A272BDA}"/>
              </a:ext>
            </a:extLst>
          </p:cNvPr>
          <p:cNvSpPr>
            <a:spLocks noGrp="1"/>
          </p:cNvSpPr>
          <p:nvPr>
            <p:ph type="sldNum" sz="quarter" idx="12"/>
          </p:nvPr>
        </p:nvSpPr>
        <p:spPr/>
        <p:txBody>
          <a:bodyPr/>
          <a:lstStyle/>
          <a:p>
            <a:fld id="{68187FF5-4BF9-4B21-B0D2-9B7FF2B27D7F}" type="slidenum">
              <a:rPr lang="en-AU" smtClean="0"/>
              <a:pPr/>
              <a:t>70</a:t>
            </a:fld>
            <a:endParaRPr lang="en-AU"/>
          </a:p>
        </p:txBody>
      </p:sp>
      <p:sp>
        <p:nvSpPr>
          <p:cNvPr id="4" name="Rectangle 1">
            <a:extLst>
              <a:ext uri="{FF2B5EF4-FFF2-40B4-BE49-F238E27FC236}">
                <a16:creationId xmlns:a16="http://schemas.microsoft.com/office/drawing/2014/main" id="{A6D2F34A-28A7-7889-4D9B-1F3B0971854C}"/>
              </a:ext>
            </a:extLst>
          </p:cNvPr>
          <p:cNvSpPr>
            <a:spLocks noChangeArrowheads="1"/>
          </p:cNvSpPr>
          <p:nvPr/>
        </p:nvSpPr>
        <p:spPr bwMode="auto">
          <a:xfrm>
            <a:off x="2208179" y="168812"/>
            <a:ext cx="945528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400" b="1" dirty="0">
                <a:solidFill>
                  <a:srgbClr val="C00000"/>
                </a:solidFill>
                <a:latin typeface="Times New Roman" panose="02020603050405020304" pitchFamily="18" charset="0"/>
                <a:cs typeface="Times New Roman" panose="02020603050405020304" pitchFamily="18" charset="0"/>
              </a:rPr>
              <a:t>Example 2: Polynomial Rolling Hash</a:t>
            </a:r>
            <a:endParaRPr kumimoji="0" lang="en-US" altLang="en-US" sz="24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T =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abcdababcd</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n = 10) ,     Pattern P =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daba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m = 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Letter values: a=1, b=2, c=3, d=4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Windows to test (positions 0–6):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bcda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cdab</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daba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abab</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babc</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5" name="Rectangle 2">
            <a:extLst>
              <a:ext uri="{FF2B5EF4-FFF2-40B4-BE49-F238E27FC236}">
                <a16:creationId xmlns:a16="http://schemas.microsoft.com/office/drawing/2014/main" id="{E0778B3B-8F27-DA23-C622-247A9A861648}"/>
              </a:ext>
            </a:extLst>
          </p:cNvPr>
          <p:cNvSpPr>
            <a:spLocks noChangeArrowheads="1"/>
          </p:cNvSpPr>
          <p:nvPr/>
        </p:nvSpPr>
        <p:spPr bwMode="auto">
          <a:xfrm>
            <a:off x="441796" y="1410127"/>
            <a:ext cx="1130840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 b = 10,   hash(s) = s₀·10³ + s₁·10² + s₂·10¹ + s₃.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Pattern: Hash</a:t>
            </a:r>
            <a:r>
              <a:rPr kumimoji="0" lang="en-US" altLang="en-US" sz="2000" b="1"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value for “</a:t>
            </a:r>
            <a:r>
              <a:rPr kumimoji="0" lang="en-US" altLang="en-US" sz="2000" b="1" i="0" u="none" strike="noStrike" cap="none" normalizeH="0" dirty="0" err="1">
                <a:ln>
                  <a:noFill/>
                </a:ln>
                <a:solidFill>
                  <a:schemeClr val="tx1"/>
                </a:solidFill>
                <a:effectLst/>
                <a:latin typeface="Times New Roman" panose="02020603050405020304" pitchFamily="18" charset="0"/>
                <a:cs typeface="Times New Roman" panose="02020603050405020304" pitchFamily="18" charset="0"/>
              </a:rPr>
              <a:t>daba</a:t>
            </a:r>
            <a:r>
              <a:rPr kumimoji="0" lang="en-US" altLang="en-US" sz="2000" b="1"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taking a=1, b=2, c=4, d=4</a:t>
            </a:r>
            <a:r>
              <a:rPr kumimoji="0" lang="en-US" altLang="en-US" sz="2000" b="1"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so on  and 13 as prime number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latin typeface="Times New Roman" panose="02020603050405020304" pitchFamily="18" charset="0"/>
                <a:cs typeface="Times New Roman" panose="02020603050405020304" pitchFamily="18" charset="0"/>
              </a:rPr>
              <a:t>hash("</a:t>
            </a:r>
            <a:r>
              <a:rPr lang="en-US" altLang="en-US" sz="2000" b="1" dirty="0" err="1">
                <a:latin typeface="Times New Roman" panose="02020603050405020304" pitchFamily="18" charset="0"/>
                <a:cs typeface="Times New Roman" panose="02020603050405020304" pitchFamily="18" charset="0"/>
              </a:rPr>
              <a:t>daba</a:t>
            </a:r>
            <a:r>
              <a:rPr lang="en-US" altLang="en-US" sz="2000" b="1" dirty="0">
                <a:latin typeface="Times New Roman" panose="02020603050405020304" pitchFamily="18" charset="0"/>
                <a:cs typeface="Times New Roman" panose="02020603050405020304" pitchFamily="18" charset="0"/>
              </a:rPr>
              <a:t>") = (4·1000 + 1·100 + 2·10 + 1)%13 = 4121%13  = 0   hash value for the pattern is 0 </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AA168858-FD37-C2E7-4BF8-88826B4DE308}"/>
              </a:ext>
            </a:extLst>
          </p:cNvPr>
          <p:cNvGraphicFramePr>
            <a:graphicFrameLocks noGrp="1"/>
          </p:cNvGraphicFramePr>
          <p:nvPr>
            <p:extLst>
              <p:ext uri="{D42A27DB-BD31-4B8C-83A1-F6EECF244321}">
                <p14:modId xmlns:p14="http://schemas.microsoft.com/office/powerpoint/2010/main" val="153674216"/>
              </p:ext>
            </p:extLst>
          </p:nvPr>
        </p:nvGraphicFramePr>
        <p:xfrm>
          <a:off x="207065" y="2425790"/>
          <a:ext cx="11777869" cy="3986775"/>
        </p:xfrm>
        <a:graphic>
          <a:graphicData uri="http://schemas.openxmlformats.org/drawingml/2006/table">
            <a:tbl>
              <a:tblPr/>
              <a:tblGrid>
                <a:gridCol w="935935">
                  <a:extLst>
                    <a:ext uri="{9D8B030D-6E8A-4147-A177-3AD203B41FA5}">
                      <a16:colId xmlns:a16="http://schemas.microsoft.com/office/drawing/2014/main" val="854502527"/>
                    </a:ext>
                  </a:extLst>
                </a:gridCol>
                <a:gridCol w="1600200">
                  <a:extLst>
                    <a:ext uri="{9D8B030D-6E8A-4147-A177-3AD203B41FA5}">
                      <a16:colId xmlns:a16="http://schemas.microsoft.com/office/drawing/2014/main" val="4279050502"/>
                    </a:ext>
                  </a:extLst>
                </a:gridCol>
                <a:gridCol w="4253948">
                  <a:extLst>
                    <a:ext uri="{9D8B030D-6E8A-4147-A177-3AD203B41FA5}">
                      <a16:colId xmlns:a16="http://schemas.microsoft.com/office/drawing/2014/main" val="3512120487"/>
                    </a:ext>
                  </a:extLst>
                </a:gridCol>
                <a:gridCol w="2042823">
                  <a:extLst>
                    <a:ext uri="{9D8B030D-6E8A-4147-A177-3AD203B41FA5}">
                      <a16:colId xmlns:a16="http://schemas.microsoft.com/office/drawing/2014/main" val="3391158392"/>
                    </a:ext>
                  </a:extLst>
                </a:gridCol>
                <a:gridCol w="2944963">
                  <a:extLst>
                    <a:ext uri="{9D8B030D-6E8A-4147-A177-3AD203B41FA5}">
                      <a16:colId xmlns:a16="http://schemas.microsoft.com/office/drawing/2014/main" val="1646311189"/>
                    </a:ext>
                  </a:extLst>
                </a:gridCol>
              </a:tblGrid>
              <a:tr h="328403">
                <a:tc>
                  <a:txBody>
                    <a:bodyPr/>
                    <a:lstStyle/>
                    <a:p>
                      <a:pPr algn="ctr"/>
                      <a:r>
                        <a:rPr lang="en-US" sz="2400" b="1" dirty="0" err="1">
                          <a:solidFill>
                            <a:srgbClr val="0070C0"/>
                          </a:solidFill>
                          <a:latin typeface="Times New Roman" panose="02020603050405020304" pitchFamily="18" charset="0"/>
                          <a:cs typeface="Times New Roman" panose="02020603050405020304" pitchFamily="18" charset="0"/>
                        </a:rPr>
                        <a:t>Pos</a:t>
                      </a:r>
                      <a:endParaRPr lang="en-US" sz="2400" b="1" dirty="0">
                        <a:solidFill>
                          <a:srgbClr val="0070C0"/>
                        </a:solidFill>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Window</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Computation</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Hash Value</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Is</a:t>
                      </a:r>
                      <a:r>
                        <a:rPr lang="en-US" sz="2400" b="1" baseline="0" dirty="0">
                          <a:solidFill>
                            <a:srgbClr val="0070C0"/>
                          </a:solidFill>
                          <a:latin typeface="Times New Roman" panose="02020603050405020304" pitchFamily="18" charset="0"/>
                          <a:cs typeface="Times New Roman" panose="02020603050405020304" pitchFamily="18" charset="0"/>
                        </a:rPr>
                        <a:t> Hash Value=0?</a:t>
                      </a:r>
                      <a:endParaRPr lang="en-US" sz="2400" b="1" dirty="0">
                        <a:solidFill>
                          <a:srgbClr val="0070C0"/>
                        </a:solidFill>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6623805"/>
                  </a:ext>
                </a:extLst>
              </a:tr>
              <a:tr h="390330">
                <a:tc>
                  <a:txBody>
                    <a:bodyPr/>
                    <a:lstStyle/>
                    <a:p>
                      <a:pPr algn="ctr"/>
                      <a:r>
                        <a:rPr lang="en-US" sz="2400" b="1" dirty="0">
                          <a:latin typeface="Times New Roman" panose="02020603050405020304" pitchFamily="18" charset="0"/>
                          <a:cs typeface="Times New Roman" panose="02020603050405020304" pitchFamily="18" charset="0"/>
                        </a:rPr>
                        <a:t>0</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 b c d</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(1·1000+2·100+3·10+4)%13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12</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064324"/>
                  </a:ext>
                </a:extLst>
              </a:tr>
              <a:tr h="457200">
                <a:tc>
                  <a:txBody>
                    <a:bodyPr/>
                    <a:lstStyle/>
                    <a:p>
                      <a:pPr algn="ctr"/>
                      <a:r>
                        <a:rPr lang="en-US" sz="2400" b="1" dirty="0">
                          <a:latin typeface="Times New Roman" panose="02020603050405020304" pitchFamily="18" charset="0"/>
                          <a:cs typeface="Times New Roman" panose="02020603050405020304" pitchFamily="18" charset="0"/>
                        </a:rPr>
                        <a:t>1</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b c d a</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(2·1000+3·100+4·10+1)%13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1</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4976229"/>
                  </a:ext>
                </a:extLst>
              </a:tr>
              <a:tr h="476655">
                <a:tc>
                  <a:txBody>
                    <a:bodyPr/>
                    <a:lstStyle/>
                    <a:p>
                      <a:pPr algn="ctr"/>
                      <a:r>
                        <a:rPr lang="en-US" sz="2400" b="1">
                          <a:latin typeface="Times New Roman" panose="02020603050405020304" pitchFamily="18" charset="0"/>
                          <a:cs typeface="Times New Roman" panose="02020603050405020304" pitchFamily="18" charset="0"/>
                        </a:rPr>
                        <a:t>2</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c d a b</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(3·1000+4·100+1·10+2)%13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6</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753128"/>
                  </a:ext>
                </a:extLst>
              </a:tr>
              <a:tr h="340468">
                <a:tc>
                  <a:txBody>
                    <a:bodyPr/>
                    <a:lstStyle/>
                    <a:p>
                      <a:pPr algn="ctr"/>
                      <a:r>
                        <a:rPr lang="en-US" sz="2400" b="1">
                          <a:latin typeface="Times New Roman" panose="02020603050405020304" pitchFamily="18" charset="0"/>
                          <a:cs typeface="Times New Roman" panose="02020603050405020304" pitchFamily="18" charset="0"/>
                        </a:rPr>
                        <a:t>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latin typeface="Times New Roman" panose="02020603050405020304" pitchFamily="18" charset="0"/>
                          <a:cs typeface="Times New Roman" panose="02020603050405020304" pitchFamily="18" charset="0"/>
                        </a:rPr>
                        <a:t>d a b a</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(4·1000+1·100+2·10+1)%13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0</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 → verify → MATCH</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8729511"/>
                  </a:ext>
                </a:extLst>
              </a:tr>
              <a:tr h="379379">
                <a:tc>
                  <a:txBody>
                    <a:bodyPr/>
                    <a:lstStyle/>
                    <a:p>
                      <a:pPr algn="ctr"/>
                      <a:r>
                        <a:rPr lang="en-US" sz="2400" b="1">
                          <a:latin typeface="Times New Roman" panose="02020603050405020304" pitchFamily="18" charset="0"/>
                          <a:cs typeface="Times New Roman" panose="02020603050405020304" pitchFamily="18" charset="0"/>
                        </a:rPr>
                        <a:t>4</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latin typeface="Times New Roman" panose="02020603050405020304" pitchFamily="18" charset="0"/>
                          <a:cs typeface="Times New Roman" panose="02020603050405020304" pitchFamily="18" charset="0"/>
                        </a:rPr>
                        <a:t>a b a b</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(1·1000+2·100+1·10+2)%13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8897957"/>
                  </a:ext>
                </a:extLst>
              </a:tr>
              <a:tr h="369651">
                <a:tc>
                  <a:txBody>
                    <a:bodyPr/>
                    <a:lstStyle/>
                    <a:p>
                      <a:pPr algn="ctr"/>
                      <a:r>
                        <a:rPr lang="en-US" sz="2400" b="1">
                          <a:latin typeface="Times New Roman" panose="02020603050405020304" pitchFamily="18" charset="0"/>
                          <a:cs typeface="Times New Roman" panose="02020603050405020304" pitchFamily="18" charset="0"/>
                        </a:rPr>
                        <a:t>5</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latin typeface="Times New Roman" panose="02020603050405020304" pitchFamily="18" charset="0"/>
                          <a:cs typeface="Times New Roman" panose="02020603050405020304" pitchFamily="18" charset="0"/>
                        </a:rPr>
                        <a:t>b a b c</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(2·1000+1·100+2·10+3)%13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4</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907402"/>
                  </a:ext>
                </a:extLst>
              </a:tr>
              <a:tr h="379379">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5240058"/>
                  </a:ext>
                </a:extLst>
              </a:tr>
            </a:tbl>
          </a:graphicData>
        </a:graphic>
      </p:graphicFrame>
    </p:spTree>
    <p:extLst>
      <p:ext uri="{BB962C8B-B14F-4D97-AF65-F5344CB8AC3E}">
        <p14:creationId xmlns:p14="http://schemas.microsoft.com/office/powerpoint/2010/main" val="185044789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51ED3-7BAE-1FDC-AC0B-0884FD9D6B2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EA72E85-4179-27FA-53B9-E0994EC9B632}"/>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5CD98750-CA59-E810-4F42-855A126FAC29}"/>
              </a:ext>
            </a:extLst>
          </p:cNvPr>
          <p:cNvSpPr>
            <a:spLocks noGrp="1"/>
          </p:cNvSpPr>
          <p:nvPr>
            <p:ph type="sldNum" sz="quarter" idx="12"/>
          </p:nvPr>
        </p:nvSpPr>
        <p:spPr/>
        <p:txBody>
          <a:bodyPr/>
          <a:lstStyle/>
          <a:p>
            <a:fld id="{68187FF5-4BF9-4B21-B0D2-9B7FF2B27D7F}" type="slidenum">
              <a:rPr lang="en-AU" smtClean="0"/>
              <a:pPr/>
              <a:t>71</a:t>
            </a:fld>
            <a:endParaRPr lang="en-AU"/>
          </a:p>
        </p:txBody>
      </p:sp>
      <p:sp>
        <p:nvSpPr>
          <p:cNvPr id="4" name="Rectangle 1">
            <a:extLst>
              <a:ext uri="{FF2B5EF4-FFF2-40B4-BE49-F238E27FC236}">
                <a16:creationId xmlns:a16="http://schemas.microsoft.com/office/drawing/2014/main" id="{FA3160B2-4D8C-B82F-E716-8D31B469EC73}"/>
              </a:ext>
            </a:extLst>
          </p:cNvPr>
          <p:cNvSpPr>
            <a:spLocks noChangeArrowheads="1"/>
          </p:cNvSpPr>
          <p:nvPr/>
        </p:nvSpPr>
        <p:spPr bwMode="auto">
          <a:xfrm>
            <a:off x="2208179" y="168812"/>
            <a:ext cx="945528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400" b="1" dirty="0">
                <a:solidFill>
                  <a:srgbClr val="C00000"/>
                </a:solidFill>
                <a:latin typeface="Times New Roman" panose="02020603050405020304" pitchFamily="18" charset="0"/>
                <a:cs typeface="Times New Roman" panose="02020603050405020304" pitchFamily="18" charset="0"/>
              </a:rPr>
              <a:t>Example 2: Polynomial Rolling Hash</a:t>
            </a:r>
            <a:endParaRPr kumimoji="0" lang="en-US" altLang="en-US" sz="24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T =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abcdababcd</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n = 10) ,     Pattern P =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daba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(length m = 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Letter values: a=1, b=2, c=3, d=4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Windows to test (positions 0–6):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bcda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cdab</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daba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abab</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babc</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abcd</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5" name="Rectangle 2">
            <a:extLst>
              <a:ext uri="{FF2B5EF4-FFF2-40B4-BE49-F238E27FC236}">
                <a16:creationId xmlns:a16="http://schemas.microsoft.com/office/drawing/2014/main" id="{B37EC09F-7286-07DC-88DF-8E1358278662}"/>
              </a:ext>
            </a:extLst>
          </p:cNvPr>
          <p:cNvSpPr>
            <a:spLocks noChangeArrowheads="1"/>
          </p:cNvSpPr>
          <p:nvPr/>
        </p:nvSpPr>
        <p:spPr bwMode="auto">
          <a:xfrm>
            <a:off x="441796" y="1410127"/>
            <a:ext cx="1130840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 b = 10,   hash(s) = s₀·10³ + s₁·10² + s₂·10¹ + s₃.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Pattern: Hash</a:t>
            </a:r>
            <a:r>
              <a:rPr kumimoji="0" lang="en-US" altLang="en-US" sz="2000" b="1"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value for “</a:t>
            </a:r>
            <a:r>
              <a:rPr kumimoji="0" lang="en-US" altLang="en-US" sz="2000" b="1" i="0" u="none" strike="noStrike" cap="none" normalizeH="0" dirty="0" err="1">
                <a:ln>
                  <a:noFill/>
                </a:ln>
                <a:solidFill>
                  <a:schemeClr val="tx1"/>
                </a:solidFill>
                <a:effectLst/>
                <a:latin typeface="Times New Roman" panose="02020603050405020304" pitchFamily="18" charset="0"/>
                <a:cs typeface="Times New Roman" panose="02020603050405020304" pitchFamily="18" charset="0"/>
              </a:rPr>
              <a:t>daba</a:t>
            </a:r>
            <a:r>
              <a:rPr kumimoji="0" lang="en-US" altLang="en-US" sz="2000" b="1"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taking a=1, b=2, c=4, d=4</a:t>
            </a:r>
            <a:r>
              <a:rPr kumimoji="0" lang="en-US" altLang="en-US" sz="2000" b="1"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so on  and 13 as prime number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latin typeface="Times New Roman" panose="02020603050405020304" pitchFamily="18" charset="0"/>
                <a:cs typeface="Times New Roman" panose="02020603050405020304" pitchFamily="18" charset="0"/>
              </a:rPr>
              <a:t>hash("</a:t>
            </a:r>
            <a:r>
              <a:rPr lang="en-US" altLang="en-US" sz="2000" b="1" dirty="0" err="1">
                <a:latin typeface="Times New Roman" panose="02020603050405020304" pitchFamily="18" charset="0"/>
                <a:cs typeface="Times New Roman" panose="02020603050405020304" pitchFamily="18" charset="0"/>
              </a:rPr>
              <a:t>daba</a:t>
            </a:r>
            <a:r>
              <a:rPr lang="en-US" altLang="en-US" sz="2000" b="1" dirty="0">
                <a:latin typeface="Times New Roman" panose="02020603050405020304" pitchFamily="18" charset="0"/>
                <a:cs typeface="Times New Roman" panose="02020603050405020304" pitchFamily="18" charset="0"/>
              </a:rPr>
              <a:t>") = (4·1000 + 1·100 + 2·10 + 1)%13 = 4121%13  = 0   hash value for the pattern is 0 </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E751DC44-73F2-2F7E-89F9-E860319B163E}"/>
              </a:ext>
            </a:extLst>
          </p:cNvPr>
          <p:cNvGraphicFramePr>
            <a:graphicFrameLocks noGrp="1"/>
          </p:cNvGraphicFramePr>
          <p:nvPr/>
        </p:nvGraphicFramePr>
        <p:xfrm>
          <a:off x="207065" y="2425790"/>
          <a:ext cx="11777869" cy="3986775"/>
        </p:xfrm>
        <a:graphic>
          <a:graphicData uri="http://schemas.openxmlformats.org/drawingml/2006/table">
            <a:tbl>
              <a:tblPr/>
              <a:tblGrid>
                <a:gridCol w="935935">
                  <a:extLst>
                    <a:ext uri="{9D8B030D-6E8A-4147-A177-3AD203B41FA5}">
                      <a16:colId xmlns:a16="http://schemas.microsoft.com/office/drawing/2014/main" val="854502527"/>
                    </a:ext>
                  </a:extLst>
                </a:gridCol>
                <a:gridCol w="1600200">
                  <a:extLst>
                    <a:ext uri="{9D8B030D-6E8A-4147-A177-3AD203B41FA5}">
                      <a16:colId xmlns:a16="http://schemas.microsoft.com/office/drawing/2014/main" val="4279050502"/>
                    </a:ext>
                  </a:extLst>
                </a:gridCol>
                <a:gridCol w="4253948">
                  <a:extLst>
                    <a:ext uri="{9D8B030D-6E8A-4147-A177-3AD203B41FA5}">
                      <a16:colId xmlns:a16="http://schemas.microsoft.com/office/drawing/2014/main" val="3512120487"/>
                    </a:ext>
                  </a:extLst>
                </a:gridCol>
                <a:gridCol w="2042823">
                  <a:extLst>
                    <a:ext uri="{9D8B030D-6E8A-4147-A177-3AD203B41FA5}">
                      <a16:colId xmlns:a16="http://schemas.microsoft.com/office/drawing/2014/main" val="3391158392"/>
                    </a:ext>
                  </a:extLst>
                </a:gridCol>
                <a:gridCol w="2944963">
                  <a:extLst>
                    <a:ext uri="{9D8B030D-6E8A-4147-A177-3AD203B41FA5}">
                      <a16:colId xmlns:a16="http://schemas.microsoft.com/office/drawing/2014/main" val="1646311189"/>
                    </a:ext>
                  </a:extLst>
                </a:gridCol>
              </a:tblGrid>
              <a:tr h="328403">
                <a:tc>
                  <a:txBody>
                    <a:bodyPr/>
                    <a:lstStyle/>
                    <a:p>
                      <a:pPr algn="ctr"/>
                      <a:r>
                        <a:rPr lang="en-US" sz="2400" b="1" dirty="0" err="1">
                          <a:solidFill>
                            <a:srgbClr val="0070C0"/>
                          </a:solidFill>
                          <a:latin typeface="Times New Roman" panose="02020603050405020304" pitchFamily="18" charset="0"/>
                          <a:cs typeface="Times New Roman" panose="02020603050405020304" pitchFamily="18" charset="0"/>
                        </a:rPr>
                        <a:t>Pos</a:t>
                      </a:r>
                      <a:endParaRPr lang="en-US" sz="2400" b="1" dirty="0">
                        <a:solidFill>
                          <a:srgbClr val="0070C0"/>
                        </a:solidFill>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Window</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Computation</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Hash Value</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0070C0"/>
                          </a:solidFill>
                          <a:latin typeface="Times New Roman" panose="02020603050405020304" pitchFamily="18" charset="0"/>
                          <a:cs typeface="Times New Roman" panose="02020603050405020304" pitchFamily="18" charset="0"/>
                        </a:rPr>
                        <a:t>Is</a:t>
                      </a:r>
                      <a:r>
                        <a:rPr lang="en-US" sz="2400" b="1" baseline="0" dirty="0">
                          <a:solidFill>
                            <a:srgbClr val="0070C0"/>
                          </a:solidFill>
                          <a:latin typeface="Times New Roman" panose="02020603050405020304" pitchFamily="18" charset="0"/>
                          <a:cs typeface="Times New Roman" panose="02020603050405020304" pitchFamily="18" charset="0"/>
                        </a:rPr>
                        <a:t> Hash Value=0?</a:t>
                      </a:r>
                      <a:endParaRPr lang="en-US" sz="2400" b="1" dirty="0">
                        <a:solidFill>
                          <a:srgbClr val="0070C0"/>
                        </a:solidFill>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6623805"/>
                  </a:ext>
                </a:extLst>
              </a:tr>
              <a:tr h="390330">
                <a:tc>
                  <a:txBody>
                    <a:bodyPr/>
                    <a:lstStyle/>
                    <a:p>
                      <a:pPr algn="ctr"/>
                      <a:r>
                        <a:rPr lang="en-US" sz="2400" b="1" dirty="0">
                          <a:latin typeface="Times New Roman" panose="02020603050405020304" pitchFamily="18" charset="0"/>
                          <a:cs typeface="Times New Roman" panose="02020603050405020304" pitchFamily="18" charset="0"/>
                        </a:rPr>
                        <a:t>0</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 b c d</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(1·1000+2·100+3·10+4)%13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12</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064324"/>
                  </a:ext>
                </a:extLst>
              </a:tr>
              <a:tr h="457200">
                <a:tc>
                  <a:txBody>
                    <a:bodyPr/>
                    <a:lstStyle/>
                    <a:p>
                      <a:pPr algn="ctr"/>
                      <a:r>
                        <a:rPr lang="en-US" sz="2400" b="1" dirty="0">
                          <a:latin typeface="Times New Roman" panose="02020603050405020304" pitchFamily="18" charset="0"/>
                          <a:cs typeface="Times New Roman" panose="02020603050405020304" pitchFamily="18" charset="0"/>
                        </a:rPr>
                        <a:t>1</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b c d a</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(2·1000+3·100+4·10+1)%13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1</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4976229"/>
                  </a:ext>
                </a:extLst>
              </a:tr>
              <a:tr h="476655">
                <a:tc>
                  <a:txBody>
                    <a:bodyPr/>
                    <a:lstStyle/>
                    <a:p>
                      <a:pPr algn="ctr"/>
                      <a:r>
                        <a:rPr lang="en-US" sz="2400" b="1">
                          <a:latin typeface="Times New Roman" panose="02020603050405020304" pitchFamily="18" charset="0"/>
                          <a:cs typeface="Times New Roman" panose="02020603050405020304" pitchFamily="18" charset="0"/>
                        </a:rPr>
                        <a:t>2</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c d a b</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(3·1000+4·100+1·10+2)%13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6</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753128"/>
                  </a:ext>
                </a:extLst>
              </a:tr>
              <a:tr h="340468">
                <a:tc>
                  <a:txBody>
                    <a:bodyPr/>
                    <a:lstStyle/>
                    <a:p>
                      <a:pPr algn="ctr"/>
                      <a:r>
                        <a:rPr lang="en-US" sz="2400" b="1">
                          <a:latin typeface="Times New Roman" panose="02020603050405020304" pitchFamily="18" charset="0"/>
                          <a:cs typeface="Times New Roman" panose="02020603050405020304" pitchFamily="18" charset="0"/>
                        </a:rPr>
                        <a:t>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latin typeface="Times New Roman" panose="02020603050405020304" pitchFamily="18" charset="0"/>
                          <a:cs typeface="Times New Roman" panose="02020603050405020304" pitchFamily="18" charset="0"/>
                        </a:rPr>
                        <a:t>d a b a</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(4·1000+1·100+2·10+1)%13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0</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 → verify → MATCH</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8729511"/>
                  </a:ext>
                </a:extLst>
              </a:tr>
              <a:tr h="379379">
                <a:tc>
                  <a:txBody>
                    <a:bodyPr/>
                    <a:lstStyle/>
                    <a:p>
                      <a:pPr algn="ctr"/>
                      <a:r>
                        <a:rPr lang="en-US" sz="2400" b="1">
                          <a:latin typeface="Times New Roman" panose="02020603050405020304" pitchFamily="18" charset="0"/>
                          <a:cs typeface="Times New Roman" panose="02020603050405020304" pitchFamily="18" charset="0"/>
                        </a:rPr>
                        <a:t>4</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latin typeface="Times New Roman" panose="02020603050405020304" pitchFamily="18" charset="0"/>
                          <a:cs typeface="Times New Roman" panose="02020603050405020304" pitchFamily="18" charset="0"/>
                        </a:rPr>
                        <a:t>a b a b</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(1·1000+2·100+1·10+2)%13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8897957"/>
                  </a:ext>
                </a:extLst>
              </a:tr>
              <a:tr h="369651">
                <a:tc>
                  <a:txBody>
                    <a:bodyPr/>
                    <a:lstStyle/>
                    <a:p>
                      <a:pPr algn="ctr"/>
                      <a:r>
                        <a:rPr lang="en-US" sz="2400" b="1">
                          <a:latin typeface="Times New Roman" panose="02020603050405020304" pitchFamily="18" charset="0"/>
                          <a:cs typeface="Times New Roman" panose="02020603050405020304" pitchFamily="18" charset="0"/>
                        </a:rPr>
                        <a:t>5</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latin typeface="Times New Roman" panose="02020603050405020304" pitchFamily="18" charset="0"/>
                          <a:cs typeface="Times New Roman" panose="02020603050405020304" pitchFamily="18" charset="0"/>
                        </a:rPr>
                        <a:t>b a b c</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(2·1000+1·100+2·10+3)%13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4</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907402"/>
                  </a:ext>
                </a:extLst>
              </a:tr>
              <a:tr h="379379">
                <a:tc>
                  <a:txBody>
                    <a:bodyPr/>
                    <a:lstStyle/>
                    <a:p>
                      <a:pPr algn="ctr"/>
                      <a:r>
                        <a:rPr lang="en-US" sz="2400" b="1" dirty="0">
                          <a:latin typeface="Times New Roman" panose="02020603050405020304" pitchFamily="18" charset="0"/>
                          <a:cs typeface="Times New Roman" panose="02020603050405020304" pitchFamily="18" charset="0"/>
                        </a:rPr>
                        <a:t>6</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 b c d</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(1·1000+2·100+3·10+4)%13</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12</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latin typeface="Times New Roman" panose="02020603050405020304" pitchFamily="18" charset="0"/>
                          <a:cs typeface="Times New Roman" panose="02020603050405020304" pitchFamily="18" charset="0"/>
                        </a:rPr>
                        <a:t>✗</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5240058"/>
                  </a:ext>
                </a:extLst>
              </a:tr>
            </a:tbl>
          </a:graphicData>
        </a:graphic>
      </p:graphicFrame>
    </p:spTree>
    <p:extLst>
      <p:ext uri="{BB962C8B-B14F-4D97-AF65-F5344CB8AC3E}">
        <p14:creationId xmlns:p14="http://schemas.microsoft.com/office/powerpoint/2010/main" val="31047674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7EB380F-49A2-9557-471A-5CCA9902BCF6}"/>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91043D02-1332-B67E-C0B7-0AA99313B53F}"/>
              </a:ext>
            </a:extLst>
          </p:cNvPr>
          <p:cNvSpPr>
            <a:spLocks noGrp="1"/>
          </p:cNvSpPr>
          <p:nvPr>
            <p:ph type="sldNum" sz="quarter" idx="12"/>
          </p:nvPr>
        </p:nvSpPr>
        <p:spPr/>
        <p:txBody>
          <a:bodyPr/>
          <a:lstStyle/>
          <a:p>
            <a:fld id="{68187FF5-4BF9-4B21-B0D2-9B7FF2B27D7F}" type="slidenum">
              <a:rPr lang="en-AU" smtClean="0"/>
              <a:pPr/>
              <a:t>72</a:t>
            </a:fld>
            <a:endParaRPr lang="en-AU"/>
          </a:p>
        </p:txBody>
      </p:sp>
      <p:sp>
        <p:nvSpPr>
          <p:cNvPr id="4" name="TextBox 3">
            <a:extLst>
              <a:ext uri="{FF2B5EF4-FFF2-40B4-BE49-F238E27FC236}">
                <a16:creationId xmlns:a16="http://schemas.microsoft.com/office/drawing/2014/main" id="{4C8C48DA-E27C-AECA-CB90-72E7A437E3E2}"/>
              </a:ext>
            </a:extLst>
          </p:cNvPr>
          <p:cNvSpPr txBox="1"/>
          <p:nvPr/>
        </p:nvSpPr>
        <p:spPr>
          <a:xfrm>
            <a:off x="7156174" y="2981739"/>
            <a:ext cx="184731" cy="369332"/>
          </a:xfrm>
          <a:prstGeom prst="rect">
            <a:avLst/>
          </a:prstGeom>
          <a:noFill/>
        </p:spPr>
        <p:txBody>
          <a:bodyPr wrap="none" rtlCol="0">
            <a:spAutoFit/>
          </a:bodyPr>
          <a:lstStyle/>
          <a:p>
            <a:endParaRPr lang="en-IN" dirty="0"/>
          </a:p>
        </p:txBody>
      </p:sp>
      <p:sp>
        <p:nvSpPr>
          <p:cNvPr id="5" name="TextBox 4">
            <a:extLst>
              <a:ext uri="{FF2B5EF4-FFF2-40B4-BE49-F238E27FC236}">
                <a16:creationId xmlns:a16="http://schemas.microsoft.com/office/drawing/2014/main" id="{B82C1695-2D16-80A1-DF8A-08218E78D4A1}"/>
              </a:ext>
            </a:extLst>
          </p:cNvPr>
          <p:cNvSpPr txBox="1"/>
          <p:nvPr/>
        </p:nvSpPr>
        <p:spPr>
          <a:xfrm>
            <a:off x="1182756" y="1441174"/>
            <a:ext cx="9465847" cy="4401205"/>
          </a:xfrm>
          <a:prstGeom prst="rect">
            <a:avLst/>
          </a:prstGeom>
          <a:noFill/>
        </p:spPr>
        <p:txBody>
          <a:bodyPr wrap="square" rtlCol="0">
            <a:spAutoFit/>
          </a:bodyPr>
          <a:lstStyle/>
          <a:p>
            <a:r>
              <a:rPr lang="en-US" sz="4000" b="1" dirty="0"/>
              <a:t>text= “</a:t>
            </a:r>
            <a:r>
              <a:rPr lang="en-US" sz="4000" b="1" dirty="0" err="1"/>
              <a:t>ababcdd</a:t>
            </a:r>
            <a:r>
              <a:rPr lang="en-US" sz="4000" b="1" dirty="0"/>
              <a:t>”</a:t>
            </a:r>
          </a:p>
          <a:p>
            <a:endParaRPr lang="en-IN" sz="4000" b="1" dirty="0"/>
          </a:p>
          <a:p>
            <a:r>
              <a:rPr lang="en-IN" sz="4000" b="1" dirty="0"/>
              <a:t>First Substring “aba”</a:t>
            </a:r>
          </a:p>
          <a:p>
            <a:r>
              <a:rPr lang="en-IN" sz="4000" b="1" dirty="0"/>
              <a:t>Second Substring “</a:t>
            </a:r>
            <a:r>
              <a:rPr lang="en-IN" sz="4000" b="1" dirty="0" err="1"/>
              <a:t>bab</a:t>
            </a:r>
            <a:r>
              <a:rPr lang="en-IN" sz="4000" b="1" dirty="0"/>
              <a:t>”</a:t>
            </a:r>
          </a:p>
          <a:p>
            <a:endParaRPr lang="en-IN" sz="4000" b="1" dirty="0"/>
          </a:p>
          <a:p>
            <a:r>
              <a:rPr lang="en-IN" sz="4000" b="1" dirty="0" err="1"/>
              <a:t>bab</a:t>
            </a:r>
            <a:r>
              <a:rPr lang="en-IN" sz="4000" b="1" dirty="0"/>
              <a:t> ...old is ‘a’…new character is ‘b’</a:t>
            </a:r>
          </a:p>
          <a:p>
            <a:r>
              <a:rPr lang="en-IN" sz="4000" b="1" dirty="0" err="1"/>
              <a:t>abc</a:t>
            </a:r>
            <a:r>
              <a:rPr lang="en-IN" sz="4000" b="1" dirty="0"/>
              <a:t> ...old is ‘b’…new character is ‘c’</a:t>
            </a:r>
          </a:p>
        </p:txBody>
      </p:sp>
    </p:spTree>
    <p:extLst>
      <p:ext uri="{BB962C8B-B14F-4D97-AF65-F5344CB8AC3E}">
        <p14:creationId xmlns:p14="http://schemas.microsoft.com/office/powerpoint/2010/main" val="15005757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5E719-43B7-F260-521D-99647FAAC5E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BED07D5-AAED-B1B1-CC30-09A87E014709}"/>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0ABF1FFA-0A8A-338A-6544-6A0685B4AF41}"/>
              </a:ext>
            </a:extLst>
          </p:cNvPr>
          <p:cNvSpPr>
            <a:spLocks noGrp="1"/>
          </p:cNvSpPr>
          <p:nvPr>
            <p:ph type="sldNum" sz="quarter" idx="12"/>
          </p:nvPr>
        </p:nvSpPr>
        <p:spPr/>
        <p:txBody>
          <a:bodyPr/>
          <a:lstStyle/>
          <a:p>
            <a:fld id="{68187FF5-4BF9-4B21-B0D2-9B7FF2B27D7F}" type="slidenum">
              <a:rPr lang="en-AU" smtClean="0"/>
              <a:pPr/>
              <a:t>73</a:t>
            </a:fld>
            <a:endParaRPr lang="en-AU"/>
          </a:p>
        </p:txBody>
      </p:sp>
      <p:graphicFrame>
        <p:nvGraphicFramePr>
          <p:cNvPr id="4" name="Table 3">
            <a:extLst>
              <a:ext uri="{FF2B5EF4-FFF2-40B4-BE49-F238E27FC236}">
                <a16:creationId xmlns:a16="http://schemas.microsoft.com/office/drawing/2014/main" id="{67CF082E-2B49-5F09-12CC-0DCA3DF2170C}"/>
              </a:ext>
            </a:extLst>
          </p:cNvPr>
          <p:cNvGraphicFramePr>
            <a:graphicFrameLocks noGrp="1"/>
          </p:cNvGraphicFramePr>
          <p:nvPr>
            <p:extLst>
              <p:ext uri="{D42A27DB-BD31-4B8C-83A1-F6EECF244321}">
                <p14:modId xmlns:p14="http://schemas.microsoft.com/office/powerpoint/2010/main" val="3242464682"/>
              </p:ext>
            </p:extLst>
          </p:nvPr>
        </p:nvGraphicFramePr>
        <p:xfrm>
          <a:off x="159026" y="1717883"/>
          <a:ext cx="11907078" cy="4777765"/>
        </p:xfrm>
        <a:graphic>
          <a:graphicData uri="http://schemas.openxmlformats.org/drawingml/2006/table">
            <a:tbl>
              <a:tblPr/>
              <a:tblGrid>
                <a:gridCol w="689519">
                  <a:extLst>
                    <a:ext uri="{9D8B030D-6E8A-4147-A177-3AD203B41FA5}">
                      <a16:colId xmlns:a16="http://schemas.microsoft.com/office/drawing/2014/main" val="4170927850"/>
                    </a:ext>
                  </a:extLst>
                </a:gridCol>
                <a:gridCol w="1039425">
                  <a:extLst>
                    <a:ext uri="{9D8B030D-6E8A-4147-A177-3AD203B41FA5}">
                      <a16:colId xmlns:a16="http://schemas.microsoft.com/office/drawing/2014/main" val="4186477354"/>
                    </a:ext>
                  </a:extLst>
                </a:gridCol>
                <a:gridCol w="1060009">
                  <a:extLst>
                    <a:ext uri="{9D8B030D-6E8A-4147-A177-3AD203B41FA5}">
                      <a16:colId xmlns:a16="http://schemas.microsoft.com/office/drawing/2014/main" val="4021892924"/>
                    </a:ext>
                  </a:extLst>
                </a:gridCol>
                <a:gridCol w="1029133">
                  <a:extLst>
                    <a:ext uri="{9D8B030D-6E8A-4147-A177-3AD203B41FA5}">
                      <a16:colId xmlns:a16="http://schemas.microsoft.com/office/drawing/2014/main" val="3129869539"/>
                    </a:ext>
                  </a:extLst>
                </a:gridCol>
                <a:gridCol w="5114795">
                  <a:extLst>
                    <a:ext uri="{9D8B030D-6E8A-4147-A177-3AD203B41FA5}">
                      <a16:colId xmlns:a16="http://schemas.microsoft.com/office/drawing/2014/main" val="2623215700"/>
                    </a:ext>
                  </a:extLst>
                </a:gridCol>
                <a:gridCol w="761560">
                  <a:extLst>
                    <a:ext uri="{9D8B030D-6E8A-4147-A177-3AD203B41FA5}">
                      <a16:colId xmlns:a16="http://schemas.microsoft.com/office/drawing/2014/main" val="1400893677"/>
                    </a:ext>
                  </a:extLst>
                </a:gridCol>
                <a:gridCol w="1080590">
                  <a:extLst>
                    <a:ext uri="{9D8B030D-6E8A-4147-A177-3AD203B41FA5}">
                      <a16:colId xmlns:a16="http://schemas.microsoft.com/office/drawing/2014/main" val="4109519383"/>
                    </a:ext>
                  </a:extLst>
                </a:gridCol>
                <a:gridCol w="1132047">
                  <a:extLst>
                    <a:ext uri="{9D8B030D-6E8A-4147-A177-3AD203B41FA5}">
                      <a16:colId xmlns:a16="http://schemas.microsoft.com/office/drawing/2014/main" val="3415483987"/>
                    </a:ext>
                  </a:extLst>
                </a:gridCol>
              </a:tblGrid>
              <a:tr h="496520">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Step</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Current Window</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Old Char Removed</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New Char Added</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Rolling Hash Calculation</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New Hash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Pattern Hash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Match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1968282"/>
                  </a:ext>
                </a:extLst>
              </a:tr>
              <a:tr h="385744">
                <a:tc>
                  <a:txBody>
                    <a:bodyPr/>
                    <a:lstStyle/>
                    <a:p>
                      <a:pPr algn="ctr"/>
                      <a:r>
                        <a:rPr lang="en-US" sz="1900" b="1" dirty="0">
                          <a:latin typeface="Times New Roman" panose="02020603050405020304" pitchFamily="18" charset="0"/>
                          <a:cs typeface="Times New Roman" panose="02020603050405020304" pitchFamily="18" charset="0"/>
                        </a:rPr>
                        <a:t>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cca</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Initial Hash = 3x100+3x10+1= 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4141085"/>
                  </a:ext>
                </a:extLst>
              </a:tr>
              <a:tr h="521020">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8585702"/>
                  </a:ext>
                </a:extLst>
              </a:tr>
              <a:tr h="443833">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5628687"/>
                  </a:ext>
                </a:extLst>
              </a:tr>
              <a:tr h="521020">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7058825"/>
                  </a:ext>
                </a:extLst>
              </a:tr>
              <a:tr h="463130">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8708137"/>
                  </a:ext>
                </a:extLst>
              </a:tr>
              <a:tr h="424536">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4988868"/>
                  </a:ext>
                </a:extLst>
              </a:tr>
              <a:tr h="540318">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213124"/>
                  </a:ext>
                </a:extLst>
              </a:tr>
              <a:tr h="424536">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6248407"/>
                  </a:ext>
                </a:extLst>
              </a:tr>
              <a:tr h="492076">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7469314"/>
                  </a:ext>
                </a:extLst>
              </a:tr>
            </a:tbl>
          </a:graphicData>
        </a:graphic>
      </p:graphicFrame>
      <p:sp>
        <p:nvSpPr>
          <p:cNvPr id="5" name="Rectangle 4">
            <a:extLst>
              <a:ext uri="{FF2B5EF4-FFF2-40B4-BE49-F238E27FC236}">
                <a16:creationId xmlns:a16="http://schemas.microsoft.com/office/drawing/2014/main" id="{B916D6D3-38F5-BFA0-A0B2-B8DC4606AB44}"/>
              </a:ext>
            </a:extLst>
          </p:cNvPr>
          <p:cNvSpPr/>
          <p:nvPr/>
        </p:nvSpPr>
        <p:spPr>
          <a:xfrm>
            <a:off x="1615859" y="121178"/>
            <a:ext cx="10576142" cy="1631216"/>
          </a:xfrm>
          <a:prstGeom prst="rect">
            <a:avLst/>
          </a:prstGeom>
        </p:spPr>
        <p:txBody>
          <a:bodyPr wrap="square">
            <a:spAutoFit/>
          </a:bodyPr>
          <a:lstStyle/>
          <a:p>
            <a:r>
              <a:rPr lang="en-US" sz="2000" b="1" dirty="0">
                <a:solidFill>
                  <a:srgbClr val="C00000"/>
                </a:solidFill>
                <a:latin typeface="Times New Roman" panose="02020603050405020304" pitchFamily="18" charset="0"/>
                <a:cs typeface="Times New Roman" panose="02020603050405020304" pitchFamily="18" charset="0"/>
              </a:rPr>
              <a:t>Example 3: Rolling hash function</a:t>
            </a:r>
            <a:endParaRPr lang="en-US" altLang="en-US" sz="2000" b="1" dirty="0">
              <a:solidFill>
                <a:srgbClr val="C00000"/>
              </a:solidFill>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Text (T):</a:t>
            </a: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F0000"/>
                </a:solidFill>
                <a:latin typeface="Times New Roman" panose="02020603050405020304" pitchFamily="18" charset="0"/>
                <a:cs typeface="Times New Roman" panose="02020603050405020304" pitchFamily="18" charset="0"/>
              </a:rPr>
              <a:t>c </a:t>
            </a:r>
            <a:r>
              <a:rPr lang="en-US" altLang="en-US" sz="2000" b="1" dirty="0" err="1">
                <a:solidFill>
                  <a:srgbClr val="FF0000"/>
                </a:solidFill>
                <a:latin typeface="Times New Roman" panose="02020603050405020304" pitchFamily="18" charset="0"/>
                <a:cs typeface="Times New Roman" panose="02020603050405020304" pitchFamily="18" charset="0"/>
              </a:rPr>
              <a:t>c</a:t>
            </a:r>
            <a:r>
              <a:rPr lang="en-US" altLang="en-US" sz="2000" b="1" dirty="0">
                <a:solidFill>
                  <a:srgbClr val="FF0000"/>
                </a:solidFill>
                <a:latin typeface="Times New Roman" panose="02020603050405020304" pitchFamily="18" charset="0"/>
                <a:cs typeface="Times New Roman" panose="02020603050405020304" pitchFamily="18" charset="0"/>
              </a:rPr>
              <a:t> a c </a:t>
            </a:r>
            <a:r>
              <a:rPr lang="en-US" altLang="en-US" sz="2000" b="1" dirty="0" err="1">
                <a:solidFill>
                  <a:srgbClr val="FF0000"/>
                </a:solidFill>
                <a:latin typeface="Times New Roman" panose="02020603050405020304" pitchFamily="18" charset="0"/>
                <a:cs typeface="Times New Roman" panose="02020603050405020304" pitchFamily="18" charset="0"/>
              </a:rPr>
              <a:t>c</a:t>
            </a:r>
            <a:r>
              <a:rPr lang="en-US" altLang="en-US" sz="2000" b="1" dirty="0">
                <a:solidFill>
                  <a:srgbClr val="FF0000"/>
                </a:solidFill>
                <a:latin typeface="Times New Roman" panose="02020603050405020304" pitchFamily="18" charset="0"/>
                <a:cs typeface="Times New Roman" panose="02020603050405020304" pitchFamily="18" charset="0"/>
              </a:rPr>
              <a:t> a </a:t>
            </a:r>
            <a:r>
              <a:rPr lang="en-US" altLang="en-US" sz="2000" b="1" dirty="0" err="1">
                <a:solidFill>
                  <a:srgbClr val="FF0000"/>
                </a:solidFill>
                <a:latin typeface="Times New Roman" panose="02020603050405020304" pitchFamily="18" charset="0"/>
                <a:cs typeface="Times New Roman" panose="02020603050405020304" pitchFamily="18" charset="0"/>
              </a:rPr>
              <a:t>a</a:t>
            </a:r>
            <a:r>
              <a:rPr lang="en-US" altLang="en-US" sz="2000" b="1" dirty="0">
                <a:solidFill>
                  <a:srgbClr val="FF0000"/>
                </a:solidFill>
                <a:latin typeface="Times New Roman" panose="02020603050405020304" pitchFamily="18" charset="0"/>
                <a:cs typeface="Times New Roman" panose="02020603050405020304" pitchFamily="18" charset="0"/>
              </a:rPr>
              <a:t> e d b a </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Pattern (P):</a:t>
            </a: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F0000"/>
                </a:solidFill>
                <a:latin typeface="Times New Roman" panose="02020603050405020304" pitchFamily="18" charset="0"/>
                <a:cs typeface="Times New Roman" panose="02020603050405020304" pitchFamily="18" charset="0"/>
              </a:rPr>
              <a:t>d b a  </a:t>
            </a:r>
            <a:r>
              <a:rPr lang="en-US" altLang="en-US" sz="2000" b="1" dirty="0" err="1">
                <a:solidFill>
                  <a:srgbClr val="1E03BD"/>
                </a:solidFill>
                <a:latin typeface="Times New Roman" panose="02020603050405020304" pitchFamily="18" charset="0"/>
                <a:cs typeface="Times New Roman" panose="02020603050405020304" pitchFamily="18" charset="0"/>
              </a:rPr>
              <a:t>H</a:t>
            </a:r>
            <a:r>
              <a:rPr lang="en-US" altLang="en-US" sz="2000" b="1" baseline="-25000" dirty="0" err="1">
                <a:solidFill>
                  <a:srgbClr val="1E03BD"/>
                </a:solidFill>
                <a:latin typeface="Times New Roman" panose="02020603050405020304" pitchFamily="18" charset="0"/>
                <a:cs typeface="Times New Roman" panose="02020603050405020304" pitchFamily="18" charset="0"/>
              </a:rPr>
              <a:t>new</a:t>
            </a:r>
            <a:r>
              <a:rPr lang="en-US" altLang="en-US" sz="2000" b="1" dirty="0">
                <a:solidFill>
                  <a:srgbClr val="1E03BD"/>
                </a:solidFill>
                <a:latin typeface="Times New Roman" panose="02020603050405020304" pitchFamily="18" charset="0"/>
                <a:cs typeface="Times New Roman" panose="02020603050405020304" pitchFamily="18" charset="0"/>
              </a:rPr>
              <a:t>=(H</a:t>
            </a:r>
            <a:r>
              <a:rPr lang="en-US" altLang="en-US" sz="2000" b="1" baseline="-25000" dirty="0">
                <a:solidFill>
                  <a:srgbClr val="1E03BD"/>
                </a:solidFill>
                <a:latin typeface="Times New Roman" panose="02020603050405020304" pitchFamily="18" charset="0"/>
                <a:cs typeface="Times New Roman" panose="02020603050405020304" pitchFamily="18" charset="0"/>
              </a:rPr>
              <a:t>old</a:t>
            </a:r>
            <a:r>
              <a:rPr lang="en-US" altLang="en-US" sz="2000" b="1" dirty="0">
                <a:solidFill>
                  <a:srgbClr val="1E03BD"/>
                </a:solidFill>
                <a:latin typeface="Times New Roman" panose="02020603050405020304" pitchFamily="18" charset="0"/>
                <a:cs typeface="Times New Roman" panose="02020603050405020304" pitchFamily="18" charset="0"/>
              </a:rPr>
              <a:t>−Old×10</a:t>
            </a:r>
            <a:r>
              <a:rPr lang="en-US" altLang="en-US" sz="2000" b="1" baseline="30000" dirty="0">
                <a:solidFill>
                  <a:srgbClr val="1E03BD"/>
                </a:solidFill>
                <a:latin typeface="Times New Roman" panose="02020603050405020304" pitchFamily="18" charset="0"/>
                <a:cs typeface="Times New Roman" panose="02020603050405020304" pitchFamily="18" charset="0"/>
              </a:rPr>
              <a:t>m−1</a:t>
            </a:r>
            <a:r>
              <a:rPr lang="en-US" altLang="en-US" sz="2000" b="1" dirty="0">
                <a:solidFill>
                  <a:srgbClr val="1E03BD"/>
                </a:solidFill>
                <a:latin typeface="Times New Roman" panose="02020603050405020304" pitchFamily="18" charset="0"/>
                <a:cs typeface="Times New Roman" panose="02020603050405020304" pitchFamily="18" charset="0"/>
              </a:rPr>
              <a:t>)×10+New</a:t>
            </a:r>
          </a:p>
          <a:p>
            <a:pPr lvl="0"/>
            <a:r>
              <a:rPr lang="en-US" sz="2000" dirty="0">
                <a:latin typeface="Times New Roman" panose="02020603050405020304" pitchFamily="18" charset="0"/>
                <a:cs typeface="Times New Roman" panose="02020603050405020304" pitchFamily="18" charset="0"/>
              </a:rPr>
              <a:t>Since m=3  10</a:t>
            </a:r>
            <a:r>
              <a:rPr lang="en-US" sz="2000" baseline="30000" dirty="0">
                <a:latin typeface="Times New Roman" panose="02020603050405020304" pitchFamily="18" charset="0"/>
                <a:cs typeface="Times New Roman" panose="02020603050405020304" pitchFamily="18" charset="0"/>
              </a:rPr>
              <a:t>m−1</a:t>
            </a:r>
            <a:r>
              <a:rPr lang="en-US" sz="2000" dirty="0">
                <a:latin typeface="Times New Roman" panose="02020603050405020304" pitchFamily="18" charset="0"/>
                <a:cs typeface="Times New Roman" panose="02020603050405020304" pitchFamily="18" charset="0"/>
              </a:rPr>
              <a:t>=10</a:t>
            </a:r>
            <a:r>
              <a:rPr lang="en-US" sz="2000" baseline="30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=100   </a:t>
            </a:r>
            <a:r>
              <a:rPr lang="en-US" sz="2000" dirty="0" err="1">
                <a:latin typeface="Times New Roman" panose="02020603050405020304" pitchFamily="18" charset="0"/>
                <a:cs typeface="Times New Roman" panose="02020603050405020304" pitchFamily="18" charset="0"/>
              </a:rPr>
              <a:t>H</a:t>
            </a:r>
            <a:r>
              <a:rPr lang="en-US" sz="2000" baseline="-25000" dirty="0" err="1">
                <a:latin typeface="Times New Roman" panose="02020603050405020304" pitchFamily="18" charset="0"/>
                <a:cs typeface="Times New Roman" panose="02020603050405020304" pitchFamily="18" charset="0"/>
              </a:rPr>
              <a:t>new</a:t>
            </a:r>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old</a:t>
            </a:r>
            <a:r>
              <a:rPr lang="en-US" sz="2000" dirty="0">
                <a:latin typeface="Times New Roman" panose="02020603050405020304" pitchFamily="18" charset="0"/>
                <a:cs typeface="Times New Roman" panose="02020603050405020304" pitchFamily="18" charset="0"/>
              </a:rPr>
              <a:t>​−Old×100)×10+New</a:t>
            </a:r>
          </a:p>
          <a:p>
            <a:r>
              <a:rPr lang="en-US" altLang="en-US" sz="2000" b="1" dirty="0">
                <a:latin typeface="Times New Roman" panose="02020603050405020304" pitchFamily="18" charset="0"/>
                <a:cs typeface="Times New Roman" panose="02020603050405020304" pitchFamily="18" charset="0"/>
              </a:rPr>
              <a:t>Character Codes:</a:t>
            </a:r>
            <a:r>
              <a:rPr lang="en-US" altLang="en-US" sz="2000" dirty="0">
                <a:latin typeface="Times New Roman" panose="02020603050405020304" pitchFamily="18" charset="0"/>
                <a:cs typeface="Times New Roman" panose="02020603050405020304" pitchFamily="18" charset="0"/>
              </a:rPr>
              <a:t> a = 1, b = 2, c = 3, d = 4, e = 5 ,   </a:t>
            </a:r>
            <a:r>
              <a:rPr lang="en-US" altLang="en-US" sz="2000" b="1" dirty="0">
                <a:solidFill>
                  <a:srgbClr val="1E03BD"/>
                </a:solidFill>
                <a:latin typeface="Times New Roman" panose="02020603050405020304" pitchFamily="18" charset="0"/>
                <a:cs typeface="Times New Roman" panose="02020603050405020304" pitchFamily="18" charset="0"/>
              </a:rPr>
              <a:t>Base (d):</a:t>
            </a:r>
            <a:r>
              <a:rPr lang="en-US" altLang="en-US" sz="2000" dirty="0">
                <a:solidFill>
                  <a:srgbClr val="1E03BD"/>
                </a:solidFill>
                <a:latin typeface="Times New Roman" panose="02020603050405020304" pitchFamily="18" charset="0"/>
                <a:cs typeface="Times New Roman" panose="02020603050405020304" pitchFamily="18" charset="0"/>
              </a:rPr>
              <a:t> 10 </a:t>
            </a:r>
          </a:p>
          <a:p>
            <a:r>
              <a:rPr lang="en-US" alt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Pattern = </a:t>
            </a:r>
            <a:r>
              <a:rPr lang="en-US" sz="2000" b="1" dirty="0">
                <a:latin typeface="Times New Roman" panose="02020603050405020304" pitchFamily="18" charset="0"/>
                <a:cs typeface="Times New Roman" panose="02020603050405020304" pitchFamily="18" charset="0"/>
              </a:rPr>
              <a:t>d b a    </a:t>
            </a:r>
            <a:r>
              <a:rPr lang="en-US" sz="2000" b="1" dirty="0">
                <a:solidFill>
                  <a:srgbClr val="1E03BD"/>
                </a:solidFill>
                <a:latin typeface="Times New Roman" panose="02020603050405020304" pitchFamily="18" charset="0"/>
                <a:cs typeface="Times New Roman" panose="02020603050405020304" pitchFamily="18" charset="0"/>
              </a:rPr>
              <a:t>Hash(pattern)=4*10</a:t>
            </a:r>
            <a:r>
              <a:rPr lang="en-US" sz="2000" b="1" baseline="30000" dirty="0">
                <a:solidFill>
                  <a:srgbClr val="1E03BD"/>
                </a:solidFill>
                <a:latin typeface="Times New Roman" panose="02020603050405020304" pitchFamily="18" charset="0"/>
                <a:cs typeface="Times New Roman" panose="02020603050405020304" pitchFamily="18" charset="0"/>
              </a:rPr>
              <a:t>2</a:t>
            </a:r>
            <a:r>
              <a:rPr lang="en-US" sz="2000" b="1" dirty="0">
                <a:solidFill>
                  <a:srgbClr val="1E03BD"/>
                </a:solidFill>
                <a:latin typeface="Times New Roman" panose="02020603050405020304" pitchFamily="18" charset="0"/>
                <a:cs typeface="Times New Roman" panose="02020603050405020304" pitchFamily="18" charset="0"/>
              </a:rPr>
              <a:t> +2*10</a:t>
            </a:r>
            <a:r>
              <a:rPr lang="en-US" sz="2000" b="1" baseline="30000" dirty="0">
                <a:solidFill>
                  <a:srgbClr val="1E03BD"/>
                </a:solidFill>
                <a:latin typeface="Times New Roman" panose="02020603050405020304" pitchFamily="18" charset="0"/>
                <a:cs typeface="Times New Roman" panose="02020603050405020304" pitchFamily="18" charset="0"/>
              </a:rPr>
              <a:t>1</a:t>
            </a:r>
            <a:r>
              <a:rPr lang="en-US" sz="2000" b="1" dirty="0">
                <a:solidFill>
                  <a:srgbClr val="1E03BD"/>
                </a:solidFill>
                <a:latin typeface="Times New Roman" panose="02020603050405020304" pitchFamily="18" charset="0"/>
                <a:cs typeface="Times New Roman" panose="02020603050405020304" pitchFamily="18" charset="0"/>
              </a:rPr>
              <a:t> + 1 * 10</a:t>
            </a:r>
            <a:r>
              <a:rPr lang="en-US" sz="2000" b="1" baseline="30000" dirty="0">
                <a:solidFill>
                  <a:srgbClr val="1E03BD"/>
                </a:solidFill>
                <a:latin typeface="Times New Roman" panose="02020603050405020304" pitchFamily="18" charset="0"/>
                <a:cs typeface="Times New Roman" panose="02020603050405020304" pitchFamily="18" charset="0"/>
              </a:rPr>
              <a:t>0</a:t>
            </a:r>
            <a:r>
              <a:rPr lang="en-US" sz="2000" b="1" dirty="0">
                <a:solidFill>
                  <a:srgbClr val="1E03BD"/>
                </a:solidFill>
                <a:latin typeface="Times New Roman" panose="02020603050405020304" pitchFamily="18" charset="0"/>
                <a:cs typeface="Times New Roman" panose="02020603050405020304" pitchFamily="18" charset="0"/>
              </a:rPr>
              <a:t> =4*100+2*10+1=400+20+1=421</a:t>
            </a:r>
          </a:p>
        </p:txBody>
      </p:sp>
    </p:spTree>
    <p:extLst>
      <p:ext uri="{BB962C8B-B14F-4D97-AF65-F5344CB8AC3E}">
        <p14:creationId xmlns:p14="http://schemas.microsoft.com/office/powerpoint/2010/main" val="259506191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7C67F-C562-7DC7-96CB-358A20A93E7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86711D9-C354-6080-D627-1599D99A548B}"/>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28A213BD-63FF-9B7B-9419-F1C33385F39E}"/>
              </a:ext>
            </a:extLst>
          </p:cNvPr>
          <p:cNvSpPr>
            <a:spLocks noGrp="1"/>
          </p:cNvSpPr>
          <p:nvPr>
            <p:ph type="sldNum" sz="quarter" idx="12"/>
          </p:nvPr>
        </p:nvSpPr>
        <p:spPr/>
        <p:txBody>
          <a:bodyPr/>
          <a:lstStyle/>
          <a:p>
            <a:fld id="{68187FF5-4BF9-4B21-B0D2-9B7FF2B27D7F}" type="slidenum">
              <a:rPr lang="en-AU" smtClean="0"/>
              <a:pPr/>
              <a:t>74</a:t>
            </a:fld>
            <a:endParaRPr lang="en-AU"/>
          </a:p>
        </p:txBody>
      </p:sp>
      <p:graphicFrame>
        <p:nvGraphicFramePr>
          <p:cNvPr id="4" name="Table 3">
            <a:extLst>
              <a:ext uri="{FF2B5EF4-FFF2-40B4-BE49-F238E27FC236}">
                <a16:creationId xmlns:a16="http://schemas.microsoft.com/office/drawing/2014/main" id="{5E8F32F8-2A75-46D4-8B0E-0BB56069109C}"/>
              </a:ext>
            </a:extLst>
          </p:cNvPr>
          <p:cNvGraphicFramePr>
            <a:graphicFrameLocks noGrp="1"/>
          </p:cNvGraphicFramePr>
          <p:nvPr>
            <p:extLst>
              <p:ext uri="{D42A27DB-BD31-4B8C-83A1-F6EECF244321}">
                <p14:modId xmlns:p14="http://schemas.microsoft.com/office/powerpoint/2010/main" val="4251669402"/>
              </p:ext>
            </p:extLst>
          </p:nvPr>
        </p:nvGraphicFramePr>
        <p:xfrm>
          <a:off x="159026" y="1717883"/>
          <a:ext cx="11907078" cy="4777765"/>
        </p:xfrm>
        <a:graphic>
          <a:graphicData uri="http://schemas.openxmlformats.org/drawingml/2006/table">
            <a:tbl>
              <a:tblPr/>
              <a:tblGrid>
                <a:gridCol w="689519">
                  <a:extLst>
                    <a:ext uri="{9D8B030D-6E8A-4147-A177-3AD203B41FA5}">
                      <a16:colId xmlns:a16="http://schemas.microsoft.com/office/drawing/2014/main" val="4170927850"/>
                    </a:ext>
                  </a:extLst>
                </a:gridCol>
                <a:gridCol w="1039425">
                  <a:extLst>
                    <a:ext uri="{9D8B030D-6E8A-4147-A177-3AD203B41FA5}">
                      <a16:colId xmlns:a16="http://schemas.microsoft.com/office/drawing/2014/main" val="4186477354"/>
                    </a:ext>
                  </a:extLst>
                </a:gridCol>
                <a:gridCol w="1060009">
                  <a:extLst>
                    <a:ext uri="{9D8B030D-6E8A-4147-A177-3AD203B41FA5}">
                      <a16:colId xmlns:a16="http://schemas.microsoft.com/office/drawing/2014/main" val="4021892924"/>
                    </a:ext>
                  </a:extLst>
                </a:gridCol>
                <a:gridCol w="1029133">
                  <a:extLst>
                    <a:ext uri="{9D8B030D-6E8A-4147-A177-3AD203B41FA5}">
                      <a16:colId xmlns:a16="http://schemas.microsoft.com/office/drawing/2014/main" val="3129869539"/>
                    </a:ext>
                  </a:extLst>
                </a:gridCol>
                <a:gridCol w="5114795">
                  <a:extLst>
                    <a:ext uri="{9D8B030D-6E8A-4147-A177-3AD203B41FA5}">
                      <a16:colId xmlns:a16="http://schemas.microsoft.com/office/drawing/2014/main" val="2623215700"/>
                    </a:ext>
                  </a:extLst>
                </a:gridCol>
                <a:gridCol w="761560">
                  <a:extLst>
                    <a:ext uri="{9D8B030D-6E8A-4147-A177-3AD203B41FA5}">
                      <a16:colId xmlns:a16="http://schemas.microsoft.com/office/drawing/2014/main" val="1400893677"/>
                    </a:ext>
                  </a:extLst>
                </a:gridCol>
                <a:gridCol w="1080590">
                  <a:extLst>
                    <a:ext uri="{9D8B030D-6E8A-4147-A177-3AD203B41FA5}">
                      <a16:colId xmlns:a16="http://schemas.microsoft.com/office/drawing/2014/main" val="4109519383"/>
                    </a:ext>
                  </a:extLst>
                </a:gridCol>
                <a:gridCol w="1132047">
                  <a:extLst>
                    <a:ext uri="{9D8B030D-6E8A-4147-A177-3AD203B41FA5}">
                      <a16:colId xmlns:a16="http://schemas.microsoft.com/office/drawing/2014/main" val="3415483987"/>
                    </a:ext>
                  </a:extLst>
                </a:gridCol>
              </a:tblGrid>
              <a:tr h="496520">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Step</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Current Window</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Old Char Removed</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New Char Added</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Rolling Hash Calculation</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New Hash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Pattern Hash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Match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1968282"/>
                  </a:ext>
                </a:extLst>
              </a:tr>
              <a:tr h="385744">
                <a:tc>
                  <a:txBody>
                    <a:bodyPr/>
                    <a:lstStyle/>
                    <a:p>
                      <a:pPr algn="ctr"/>
                      <a:r>
                        <a:rPr lang="en-US" sz="1900" b="1" dirty="0">
                          <a:latin typeface="Times New Roman" panose="02020603050405020304" pitchFamily="18" charset="0"/>
                          <a:cs typeface="Times New Roman" panose="02020603050405020304" pitchFamily="18" charset="0"/>
                        </a:rPr>
                        <a:t>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cca</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Initial Hash = 3x100+3x10+1= 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4141085"/>
                  </a:ext>
                </a:extLst>
              </a:tr>
              <a:tr h="521020">
                <a:tc>
                  <a:txBody>
                    <a:bodyPr/>
                    <a:lstStyle/>
                    <a:p>
                      <a:pPr algn="ctr"/>
                      <a:r>
                        <a:rPr lang="en-US" sz="1900" b="1">
                          <a:latin typeface="Times New Roman" panose="02020603050405020304" pitchFamily="18" charset="0"/>
                          <a:cs typeface="Times New Roman" panose="02020603050405020304" pitchFamily="18" charset="0"/>
                        </a:rPr>
                        <a:t>2</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cac</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(331−3×100)×10+3=(331−300)×10+3=31×10+3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313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8585702"/>
                  </a:ext>
                </a:extLst>
              </a:tr>
              <a:tr h="443833">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5628687"/>
                  </a:ext>
                </a:extLst>
              </a:tr>
              <a:tr h="521020">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7058825"/>
                  </a:ext>
                </a:extLst>
              </a:tr>
              <a:tr h="463130">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8708137"/>
                  </a:ext>
                </a:extLst>
              </a:tr>
              <a:tr h="424536">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4988868"/>
                  </a:ext>
                </a:extLst>
              </a:tr>
              <a:tr h="540318">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213124"/>
                  </a:ext>
                </a:extLst>
              </a:tr>
              <a:tr h="424536">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6248407"/>
                  </a:ext>
                </a:extLst>
              </a:tr>
              <a:tr h="492076">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7469314"/>
                  </a:ext>
                </a:extLst>
              </a:tr>
            </a:tbl>
          </a:graphicData>
        </a:graphic>
      </p:graphicFrame>
      <p:sp>
        <p:nvSpPr>
          <p:cNvPr id="5" name="Rectangle 4">
            <a:extLst>
              <a:ext uri="{FF2B5EF4-FFF2-40B4-BE49-F238E27FC236}">
                <a16:creationId xmlns:a16="http://schemas.microsoft.com/office/drawing/2014/main" id="{34E07598-8B2D-6B7F-E1D4-2852F1D5F87E}"/>
              </a:ext>
            </a:extLst>
          </p:cNvPr>
          <p:cNvSpPr/>
          <p:nvPr/>
        </p:nvSpPr>
        <p:spPr>
          <a:xfrm>
            <a:off x="1615859" y="121178"/>
            <a:ext cx="10576142" cy="1631216"/>
          </a:xfrm>
          <a:prstGeom prst="rect">
            <a:avLst/>
          </a:prstGeom>
        </p:spPr>
        <p:txBody>
          <a:bodyPr wrap="square">
            <a:spAutoFit/>
          </a:bodyPr>
          <a:lstStyle/>
          <a:p>
            <a:r>
              <a:rPr lang="en-US" sz="2000" b="1" dirty="0">
                <a:solidFill>
                  <a:srgbClr val="C00000"/>
                </a:solidFill>
                <a:latin typeface="Times New Roman" panose="02020603050405020304" pitchFamily="18" charset="0"/>
                <a:cs typeface="Times New Roman" panose="02020603050405020304" pitchFamily="18" charset="0"/>
              </a:rPr>
              <a:t>Example 3: Rolling hash function</a:t>
            </a:r>
            <a:endParaRPr lang="en-US" altLang="en-US" sz="2000" b="1" dirty="0">
              <a:solidFill>
                <a:srgbClr val="C00000"/>
              </a:solidFill>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Text (T):</a:t>
            </a: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F0000"/>
                </a:solidFill>
                <a:latin typeface="Times New Roman" panose="02020603050405020304" pitchFamily="18" charset="0"/>
                <a:cs typeface="Times New Roman" panose="02020603050405020304" pitchFamily="18" charset="0"/>
              </a:rPr>
              <a:t>c </a:t>
            </a:r>
            <a:r>
              <a:rPr lang="en-US" altLang="en-US" sz="2000" b="1" dirty="0" err="1">
                <a:solidFill>
                  <a:srgbClr val="FF0000"/>
                </a:solidFill>
                <a:latin typeface="Times New Roman" panose="02020603050405020304" pitchFamily="18" charset="0"/>
                <a:cs typeface="Times New Roman" panose="02020603050405020304" pitchFamily="18" charset="0"/>
              </a:rPr>
              <a:t>c</a:t>
            </a:r>
            <a:r>
              <a:rPr lang="en-US" altLang="en-US" sz="2000" b="1" dirty="0">
                <a:solidFill>
                  <a:srgbClr val="FF0000"/>
                </a:solidFill>
                <a:latin typeface="Times New Roman" panose="02020603050405020304" pitchFamily="18" charset="0"/>
                <a:cs typeface="Times New Roman" panose="02020603050405020304" pitchFamily="18" charset="0"/>
              </a:rPr>
              <a:t> a c </a:t>
            </a:r>
            <a:r>
              <a:rPr lang="en-US" altLang="en-US" sz="2000" b="1" dirty="0" err="1">
                <a:solidFill>
                  <a:srgbClr val="FF0000"/>
                </a:solidFill>
                <a:latin typeface="Times New Roman" panose="02020603050405020304" pitchFamily="18" charset="0"/>
                <a:cs typeface="Times New Roman" panose="02020603050405020304" pitchFamily="18" charset="0"/>
              </a:rPr>
              <a:t>c</a:t>
            </a:r>
            <a:r>
              <a:rPr lang="en-US" altLang="en-US" sz="2000" b="1" dirty="0">
                <a:solidFill>
                  <a:srgbClr val="FF0000"/>
                </a:solidFill>
                <a:latin typeface="Times New Roman" panose="02020603050405020304" pitchFamily="18" charset="0"/>
                <a:cs typeface="Times New Roman" panose="02020603050405020304" pitchFamily="18" charset="0"/>
              </a:rPr>
              <a:t> a </a:t>
            </a:r>
            <a:r>
              <a:rPr lang="en-US" altLang="en-US" sz="2000" b="1" dirty="0" err="1">
                <a:solidFill>
                  <a:srgbClr val="FF0000"/>
                </a:solidFill>
                <a:latin typeface="Times New Roman" panose="02020603050405020304" pitchFamily="18" charset="0"/>
                <a:cs typeface="Times New Roman" panose="02020603050405020304" pitchFamily="18" charset="0"/>
              </a:rPr>
              <a:t>a</a:t>
            </a:r>
            <a:r>
              <a:rPr lang="en-US" altLang="en-US" sz="2000" b="1" dirty="0">
                <a:solidFill>
                  <a:srgbClr val="FF0000"/>
                </a:solidFill>
                <a:latin typeface="Times New Roman" panose="02020603050405020304" pitchFamily="18" charset="0"/>
                <a:cs typeface="Times New Roman" panose="02020603050405020304" pitchFamily="18" charset="0"/>
              </a:rPr>
              <a:t> e d b a </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Pattern (P):</a:t>
            </a: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F0000"/>
                </a:solidFill>
                <a:latin typeface="Times New Roman" panose="02020603050405020304" pitchFamily="18" charset="0"/>
                <a:cs typeface="Times New Roman" panose="02020603050405020304" pitchFamily="18" charset="0"/>
              </a:rPr>
              <a:t>d b a  </a:t>
            </a:r>
            <a:r>
              <a:rPr lang="en-US" altLang="en-US" sz="2000" b="1" dirty="0" err="1">
                <a:solidFill>
                  <a:srgbClr val="1E03BD"/>
                </a:solidFill>
                <a:latin typeface="Times New Roman" panose="02020603050405020304" pitchFamily="18" charset="0"/>
                <a:cs typeface="Times New Roman" panose="02020603050405020304" pitchFamily="18" charset="0"/>
              </a:rPr>
              <a:t>H</a:t>
            </a:r>
            <a:r>
              <a:rPr lang="en-US" altLang="en-US" sz="2000" b="1" baseline="-25000" dirty="0" err="1">
                <a:solidFill>
                  <a:srgbClr val="1E03BD"/>
                </a:solidFill>
                <a:latin typeface="Times New Roman" panose="02020603050405020304" pitchFamily="18" charset="0"/>
                <a:cs typeface="Times New Roman" panose="02020603050405020304" pitchFamily="18" charset="0"/>
              </a:rPr>
              <a:t>new</a:t>
            </a:r>
            <a:r>
              <a:rPr lang="en-US" altLang="en-US" sz="2000" b="1" dirty="0">
                <a:solidFill>
                  <a:srgbClr val="1E03BD"/>
                </a:solidFill>
                <a:latin typeface="Times New Roman" panose="02020603050405020304" pitchFamily="18" charset="0"/>
                <a:cs typeface="Times New Roman" panose="02020603050405020304" pitchFamily="18" charset="0"/>
              </a:rPr>
              <a:t>=(H</a:t>
            </a:r>
            <a:r>
              <a:rPr lang="en-US" altLang="en-US" sz="2000" b="1" baseline="-25000" dirty="0">
                <a:solidFill>
                  <a:srgbClr val="1E03BD"/>
                </a:solidFill>
                <a:latin typeface="Times New Roman" panose="02020603050405020304" pitchFamily="18" charset="0"/>
                <a:cs typeface="Times New Roman" panose="02020603050405020304" pitchFamily="18" charset="0"/>
              </a:rPr>
              <a:t>old</a:t>
            </a:r>
            <a:r>
              <a:rPr lang="en-US" altLang="en-US" sz="2000" b="1" dirty="0">
                <a:solidFill>
                  <a:srgbClr val="1E03BD"/>
                </a:solidFill>
                <a:latin typeface="Times New Roman" panose="02020603050405020304" pitchFamily="18" charset="0"/>
                <a:cs typeface="Times New Roman" panose="02020603050405020304" pitchFamily="18" charset="0"/>
              </a:rPr>
              <a:t>−Old×10</a:t>
            </a:r>
            <a:r>
              <a:rPr lang="en-US" altLang="en-US" sz="2000" b="1" baseline="30000" dirty="0">
                <a:solidFill>
                  <a:srgbClr val="1E03BD"/>
                </a:solidFill>
                <a:latin typeface="Times New Roman" panose="02020603050405020304" pitchFamily="18" charset="0"/>
                <a:cs typeface="Times New Roman" panose="02020603050405020304" pitchFamily="18" charset="0"/>
              </a:rPr>
              <a:t>m−1</a:t>
            </a:r>
            <a:r>
              <a:rPr lang="en-US" altLang="en-US" sz="2000" b="1" dirty="0">
                <a:solidFill>
                  <a:srgbClr val="1E03BD"/>
                </a:solidFill>
                <a:latin typeface="Times New Roman" panose="02020603050405020304" pitchFamily="18" charset="0"/>
                <a:cs typeface="Times New Roman" panose="02020603050405020304" pitchFamily="18" charset="0"/>
              </a:rPr>
              <a:t>)×10+New</a:t>
            </a:r>
          </a:p>
          <a:p>
            <a:pPr lvl="0"/>
            <a:r>
              <a:rPr lang="en-US" sz="2000" dirty="0">
                <a:latin typeface="Times New Roman" panose="02020603050405020304" pitchFamily="18" charset="0"/>
                <a:cs typeface="Times New Roman" panose="02020603050405020304" pitchFamily="18" charset="0"/>
              </a:rPr>
              <a:t>Since m=3  10</a:t>
            </a:r>
            <a:r>
              <a:rPr lang="en-US" sz="2000" baseline="30000" dirty="0">
                <a:latin typeface="Times New Roman" panose="02020603050405020304" pitchFamily="18" charset="0"/>
                <a:cs typeface="Times New Roman" panose="02020603050405020304" pitchFamily="18" charset="0"/>
              </a:rPr>
              <a:t>m−1</a:t>
            </a:r>
            <a:r>
              <a:rPr lang="en-US" sz="2000" dirty="0">
                <a:latin typeface="Times New Roman" panose="02020603050405020304" pitchFamily="18" charset="0"/>
                <a:cs typeface="Times New Roman" panose="02020603050405020304" pitchFamily="18" charset="0"/>
              </a:rPr>
              <a:t>=10</a:t>
            </a:r>
            <a:r>
              <a:rPr lang="en-US" sz="2000" baseline="30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=100   </a:t>
            </a:r>
            <a:r>
              <a:rPr lang="en-US" sz="2000" dirty="0" err="1">
                <a:latin typeface="Times New Roman" panose="02020603050405020304" pitchFamily="18" charset="0"/>
                <a:cs typeface="Times New Roman" panose="02020603050405020304" pitchFamily="18" charset="0"/>
              </a:rPr>
              <a:t>H</a:t>
            </a:r>
            <a:r>
              <a:rPr lang="en-US" sz="2000" baseline="-25000" dirty="0" err="1">
                <a:latin typeface="Times New Roman" panose="02020603050405020304" pitchFamily="18" charset="0"/>
                <a:cs typeface="Times New Roman" panose="02020603050405020304" pitchFamily="18" charset="0"/>
              </a:rPr>
              <a:t>new</a:t>
            </a:r>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old</a:t>
            </a:r>
            <a:r>
              <a:rPr lang="en-US" sz="2000" dirty="0">
                <a:latin typeface="Times New Roman" panose="02020603050405020304" pitchFamily="18" charset="0"/>
                <a:cs typeface="Times New Roman" panose="02020603050405020304" pitchFamily="18" charset="0"/>
              </a:rPr>
              <a:t>​−Old×100)×10+New</a:t>
            </a:r>
          </a:p>
          <a:p>
            <a:r>
              <a:rPr lang="en-US" altLang="en-US" sz="2000" b="1" dirty="0">
                <a:latin typeface="Times New Roman" panose="02020603050405020304" pitchFamily="18" charset="0"/>
                <a:cs typeface="Times New Roman" panose="02020603050405020304" pitchFamily="18" charset="0"/>
              </a:rPr>
              <a:t>Character Codes:</a:t>
            </a:r>
            <a:r>
              <a:rPr lang="en-US" altLang="en-US" sz="2000" dirty="0">
                <a:latin typeface="Times New Roman" panose="02020603050405020304" pitchFamily="18" charset="0"/>
                <a:cs typeface="Times New Roman" panose="02020603050405020304" pitchFamily="18" charset="0"/>
              </a:rPr>
              <a:t> a = 1, b = 2, c = 3, d = 4, e = 5 ,   </a:t>
            </a:r>
            <a:r>
              <a:rPr lang="en-US" altLang="en-US" sz="2000" b="1" dirty="0">
                <a:latin typeface="Times New Roman" panose="02020603050405020304" pitchFamily="18" charset="0"/>
                <a:cs typeface="Times New Roman" panose="02020603050405020304" pitchFamily="18" charset="0"/>
              </a:rPr>
              <a:t>Base (d):</a:t>
            </a:r>
            <a:r>
              <a:rPr lang="en-US" altLang="en-US" sz="2000" dirty="0">
                <a:latin typeface="Times New Roman" panose="02020603050405020304" pitchFamily="18" charset="0"/>
                <a:cs typeface="Times New Roman" panose="02020603050405020304" pitchFamily="18" charset="0"/>
              </a:rPr>
              <a:t> 10 </a:t>
            </a:r>
          </a:p>
          <a:p>
            <a:r>
              <a:rPr lang="en-US" alt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Pattern = </a:t>
            </a:r>
            <a:r>
              <a:rPr lang="en-US" sz="2000" b="1" dirty="0">
                <a:latin typeface="Times New Roman" panose="02020603050405020304" pitchFamily="18" charset="0"/>
                <a:cs typeface="Times New Roman" panose="02020603050405020304" pitchFamily="18" charset="0"/>
              </a:rPr>
              <a:t>d b a    Hash(pattern)=4*10</a:t>
            </a:r>
            <a:r>
              <a:rPr lang="en-US" sz="2000" b="1" baseline="30000"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 +2*10</a:t>
            </a:r>
            <a:r>
              <a:rPr lang="en-US" sz="2000" b="1" baseline="30000" dirty="0">
                <a:latin typeface="Times New Roman" panose="02020603050405020304" pitchFamily="18" charset="0"/>
                <a:cs typeface="Times New Roman" panose="02020603050405020304" pitchFamily="18" charset="0"/>
              </a:rPr>
              <a:t>1</a:t>
            </a:r>
            <a:r>
              <a:rPr lang="en-US" sz="2000" b="1" dirty="0">
                <a:latin typeface="Times New Roman" panose="02020603050405020304" pitchFamily="18" charset="0"/>
                <a:cs typeface="Times New Roman" panose="02020603050405020304" pitchFamily="18" charset="0"/>
              </a:rPr>
              <a:t> + 1 * 10</a:t>
            </a:r>
            <a:r>
              <a:rPr lang="en-US" sz="2000" b="1" baseline="30000" dirty="0">
                <a:latin typeface="Times New Roman" panose="02020603050405020304" pitchFamily="18" charset="0"/>
                <a:cs typeface="Times New Roman" panose="02020603050405020304" pitchFamily="18" charset="0"/>
              </a:rPr>
              <a:t>0</a:t>
            </a:r>
            <a:r>
              <a:rPr lang="en-US" sz="2000" b="1" dirty="0">
                <a:latin typeface="Times New Roman" panose="02020603050405020304" pitchFamily="18" charset="0"/>
                <a:cs typeface="Times New Roman" panose="02020603050405020304" pitchFamily="18" charset="0"/>
              </a:rPr>
              <a:t> =4*100+2*10+1=400+20+1=421</a:t>
            </a:r>
          </a:p>
        </p:txBody>
      </p:sp>
    </p:spTree>
    <p:extLst>
      <p:ext uri="{BB962C8B-B14F-4D97-AF65-F5344CB8AC3E}">
        <p14:creationId xmlns:p14="http://schemas.microsoft.com/office/powerpoint/2010/main" val="21169093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63E1E-BF9A-46DD-E92A-B8D374C7334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ADB363A-4EF2-14C0-C47B-047AADEF2981}"/>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9E083324-D861-5BB4-1D50-36AE86803DF0}"/>
              </a:ext>
            </a:extLst>
          </p:cNvPr>
          <p:cNvSpPr>
            <a:spLocks noGrp="1"/>
          </p:cNvSpPr>
          <p:nvPr>
            <p:ph type="sldNum" sz="quarter" idx="12"/>
          </p:nvPr>
        </p:nvSpPr>
        <p:spPr/>
        <p:txBody>
          <a:bodyPr/>
          <a:lstStyle/>
          <a:p>
            <a:fld id="{68187FF5-4BF9-4B21-B0D2-9B7FF2B27D7F}" type="slidenum">
              <a:rPr lang="en-AU" smtClean="0"/>
              <a:pPr/>
              <a:t>75</a:t>
            </a:fld>
            <a:endParaRPr lang="en-AU"/>
          </a:p>
        </p:txBody>
      </p:sp>
      <p:graphicFrame>
        <p:nvGraphicFramePr>
          <p:cNvPr id="4" name="Table 3">
            <a:extLst>
              <a:ext uri="{FF2B5EF4-FFF2-40B4-BE49-F238E27FC236}">
                <a16:creationId xmlns:a16="http://schemas.microsoft.com/office/drawing/2014/main" id="{AB67F5CE-BA8B-EAB7-A20B-7B25C4F9FAF9}"/>
              </a:ext>
            </a:extLst>
          </p:cNvPr>
          <p:cNvGraphicFramePr>
            <a:graphicFrameLocks noGrp="1"/>
          </p:cNvGraphicFramePr>
          <p:nvPr>
            <p:extLst>
              <p:ext uri="{D42A27DB-BD31-4B8C-83A1-F6EECF244321}">
                <p14:modId xmlns:p14="http://schemas.microsoft.com/office/powerpoint/2010/main" val="4189161933"/>
              </p:ext>
            </p:extLst>
          </p:nvPr>
        </p:nvGraphicFramePr>
        <p:xfrm>
          <a:off x="159026" y="1717883"/>
          <a:ext cx="11907078" cy="4777765"/>
        </p:xfrm>
        <a:graphic>
          <a:graphicData uri="http://schemas.openxmlformats.org/drawingml/2006/table">
            <a:tbl>
              <a:tblPr/>
              <a:tblGrid>
                <a:gridCol w="689519">
                  <a:extLst>
                    <a:ext uri="{9D8B030D-6E8A-4147-A177-3AD203B41FA5}">
                      <a16:colId xmlns:a16="http://schemas.microsoft.com/office/drawing/2014/main" val="4170927850"/>
                    </a:ext>
                  </a:extLst>
                </a:gridCol>
                <a:gridCol w="1039425">
                  <a:extLst>
                    <a:ext uri="{9D8B030D-6E8A-4147-A177-3AD203B41FA5}">
                      <a16:colId xmlns:a16="http://schemas.microsoft.com/office/drawing/2014/main" val="4186477354"/>
                    </a:ext>
                  </a:extLst>
                </a:gridCol>
                <a:gridCol w="1060009">
                  <a:extLst>
                    <a:ext uri="{9D8B030D-6E8A-4147-A177-3AD203B41FA5}">
                      <a16:colId xmlns:a16="http://schemas.microsoft.com/office/drawing/2014/main" val="4021892924"/>
                    </a:ext>
                  </a:extLst>
                </a:gridCol>
                <a:gridCol w="1029133">
                  <a:extLst>
                    <a:ext uri="{9D8B030D-6E8A-4147-A177-3AD203B41FA5}">
                      <a16:colId xmlns:a16="http://schemas.microsoft.com/office/drawing/2014/main" val="3129869539"/>
                    </a:ext>
                  </a:extLst>
                </a:gridCol>
                <a:gridCol w="5114795">
                  <a:extLst>
                    <a:ext uri="{9D8B030D-6E8A-4147-A177-3AD203B41FA5}">
                      <a16:colId xmlns:a16="http://schemas.microsoft.com/office/drawing/2014/main" val="2623215700"/>
                    </a:ext>
                  </a:extLst>
                </a:gridCol>
                <a:gridCol w="761560">
                  <a:extLst>
                    <a:ext uri="{9D8B030D-6E8A-4147-A177-3AD203B41FA5}">
                      <a16:colId xmlns:a16="http://schemas.microsoft.com/office/drawing/2014/main" val="1400893677"/>
                    </a:ext>
                  </a:extLst>
                </a:gridCol>
                <a:gridCol w="1080590">
                  <a:extLst>
                    <a:ext uri="{9D8B030D-6E8A-4147-A177-3AD203B41FA5}">
                      <a16:colId xmlns:a16="http://schemas.microsoft.com/office/drawing/2014/main" val="4109519383"/>
                    </a:ext>
                  </a:extLst>
                </a:gridCol>
                <a:gridCol w="1132047">
                  <a:extLst>
                    <a:ext uri="{9D8B030D-6E8A-4147-A177-3AD203B41FA5}">
                      <a16:colId xmlns:a16="http://schemas.microsoft.com/office/drawing/2014/main" val="3415483987"/>
                    </a:ext>
                  </a:extLst>
                </a:gridCol>
              </a:tblGrid>
              <a:tr h="496520">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Step</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Current Window</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Old Char Removed</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New Char Added</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Rolling Hash Calculation</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New Hash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Pattern Hash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Match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1968282"/>
                  </a:ext>
                </a:extLst>
              </a:tr>
              <a:tr h="385744">
                <a:tc>
                  <a:txBody>
                    <a:bodyPr/>
                    <a:lstStyle/>
                    <a:p>
                      <a:pPr algn="ctr"/>
                      <a:r>
                        <a:rPr lang="en-US" sz="1900" b="1" dirty="0">
                          <a:latin typeface="Times New Roman" panose="02020603050405020304" pitchFamily="18" charset="0"/>
                          <a:cs typeface="Times New Roman" panose="02020603050405020304" pitchFamily="18" charset="0"/>
                        </a:rPr>
                        <a:t>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cca</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Initial Hash = 3x100+3x10+1= 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4141085"/>
                  </a:ext>
                </a:extLst>
              </a:tr>
              <a:tr h="521020">
                <a:tc>
                  <a:txBody>
                    <a:bodyPr/>
                    <a:lstStyle/>
                    <a:p>
                      <a:pPr algn="ctr"/>
                      <a:r>
                        <a:rPr lang="en-US" sz="1900" b="1">
                          <a:latin typeface="Times New Roman" panose="02020603050405020304" pitchFamily="18" charset="0"/>
                          <a:cs typeface="Times New Roman" panose="02020603050405020304" pitchFamily="18" charset="0"/>
                        </a:rPr>
                        <a:t>2</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cac</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(331−3×100)×10+3=(331−300)×10+3=31×10+3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313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8585702"/>
                  </a:ext>
                </a:extLst>
              </a:tr>
              <a:tr h="443833">
                <a:tc>
                  <a:txBody>
                    <a:bodyPr/>
                    <a:lstStyle/>
                    <a:p>
                      <a:pPr algn="ctr"/>
                      <a:r>
                        <a:rPr lang="en-US" sz="1900" b="1" dirty="0">
                          <a:latin typeface="Times New Roman" panose="02020603050405020304" pitchFamily="18" charset="0"/>
                          <a:cs typeface="Times New Roman" panose="02020603050405020304" pitchFamily="18" charset="0"/>
                        </a:rPr>
                        <a:t>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solidFill>
                            <a:srgbClr val="1E03BD"/>
                          </a:solidFill>
                          <a:latin typeface="Times New Roman" panose="02020603050405020304" pitchFamily="18" charset="0"/>
                          <a:cs typeface="Times New Roman" panose="02020603050405020304" pitchFamily="18" charset="0"/>
                        </a:rPr>
                        <a:t>acc</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(313−3×100)×10+3=(313−300)×10+3=13×10+3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133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5628687"/>
                  </a:ext>
                </a:extLst>
              </a:tr>
              <a:tr h="521020">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7058825"/>
                  </a:ext>
                </a:extLst>
              </a:tr>
              <a:tr h="463130">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8708137"/>
                  </a:ext>
                </a:extLst>
              </a:tr>
              <a:tr h="424536">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4988868"/>
                  </a:ext>
                </a:extLst>
              </a:tr>
              <a:tr h="540318">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213124"/>
                  </a:ext>
                </a:extLst>
              </a:tr>
              <a:tr h="424536">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6248407"/>
                  </a:ext>
                </a:extLst>
              </a:tr>
              <a:tr h="492076">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7469314"/>
                  </a:ext>
                </a:extLst>
              </a:tr>
            </a:tbl>
          </a:graphicData>
        </a:graphic>
      </p:graphicFrame>
      <p:sp>
        <p:nvSpPr>
          <p:cNvPr id="5" name="Rectangle 4">
            <a:extLst>
              <a:ext uri="{FF2B5EF4-FFF2-40B4-BE49-F238E27FC236}">
                <a16:creationId xmlns:a16="http://schemas.microsoft.com/office/drawing/2014/main" id="{D0638469-73BA-1A99-BA3F-A468A7AC1702}"/>
              </a:ext>
            </a:extLst>
          </p:cNvPr>
          <p:cNvSpPr/>
          <p:nvPr/>
        </p:nvSpPr>
        <p:spPr>
          <a:xfrm>
            <a:off x="1615859" y="121178"/>
            <a:ext cx="10576142" cy="1631216"/>
          </a:xfrm>
          <a:prstGeom prst="rect">
            <a:avLst/>
          </a:prstGeom>
        </p:spPr>
        <p:txBody>
          <a:bodyPr wrap="square">
            <a:spAutoFit/>
          </a:bodyPr>
          <a:lstStyle/>
          <a:p>
            <a:r>
              <a:rPr lang="en-US" sz="2000" b="1" dirty="0">
                <a:solidFill>
                  <a:srgbClr val="C00000"/>
                </a:solidFill>
                <a:latin typeface="Times New Roman" panose="02020603050405020304" pitchFamily="18" charset="0"/>
                <a:cs typeface="Times New Roman" panose="02020603050405020304" pitchFamily="18" charset="0"/>
              </a:rPr>
              <a:t>Example 3: Rolling hash function</a:t>
            </a:r>
            <a:endParaRPr lang="en-US" altLang="en-US" sz="2000" b="1" dirty="0">
              <a:solidFill>
                <a:srgbClr val="C00000"/>
              </a:solidFill>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Text (T):</a:t>
            </a: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F0000"/>
                </a:solidFill>
                <a:latin typeface="Times New Roman" panose="02020603050405020304" pitchFamily="18" charset="0"/>
                <a:cs typeface="Times New Roman" panose="02020603050405020304" pitchFamily="18" charset="0"/>
              </a:rPr>
              <a:t>c </a:t>
            </a:r>
            <a:r>
              <a:rPr lang="en-US" altLang="en-US" sz="2000" b="1" dirty="0" err="1">
                <a:solidFill>
                  <a:srgbClr val="FF0000"/>
                </a:solidFill>
                <a:latin typeface="Times New Roman" panose="02020603050405020304" pitchFamily="18" charset="0"/>
                <a:cs typeface="Times New Roman" panose="02020603050405020304" pitchFamily="18" charset="0"/>
              </a:rPr>
              <a:t>c</a:t>
            </a:r>
            <a:r>
              <a:rPr lang="en-US" altLang="en-US" sz="2000" b="1" dirty="0">
                <a:solidFill>
                  <a:srgbClr val="FF0000"/>
                </a:solidFill>
                <a:latin typeface="Times New Roman" panose="02020603050405020304" pitchFamily="18" charset="0"/>
                <a:cs typeface="Times New Roman" panose="02020603050405020304" pitchFamily="18" charset="0"/>
              </a:rPr>
              <a:t> a c </a:t>
            </a:r>
            <a:r>
              <a:rPr lang="en-US" altLang="en-US" sz="2000" b="1" dirty="0" err="1">
                <a:solidFill>
                  <a:srgbClr val="FF0000"/>
                </a:solidFill>
                <a:latin typeface="Times New Roman" panose="02020603050405020304" pitchFamily="18" charset="0"/>
                <a:cs typeface="Times New Roman" panose="02020603050405020304" pitchFamily="18" charset="0"/>
              </a:rPr>
              <a:t>c</a:t>
            </a:r>
            <a:r>
              <a:rPr lang="en-US" altLang="en-US" sz="2000" b="1" dirty="0">
                <a:solidFill>
                  <a:srgbClr val="FF0000"/>
                </a:solidFill>
                <a:latin typeface="Times New Roman" panose="02020603050405020304" pitchFamily="18" charset="0"/>
                <a:cs typeface="Times New Roman" panose="02020603050405020304" pitchFamily="18" charset="0"/>
              </a:rPr>
              <a:t> a </a:t>
            </a:r>
            <a:r>
              <a:rPr lang="en-US" altLang="en-US" sz="2000" b="1" dirty="0" err="1">
                <a:solidFill>
                  <a:srgbClr val="FF0000"/>
                </a:solidFill>
                <a:latin typeface="Times New Roman" panose="02020603050405020304" pitchFamily="18" charset="0"/>
                <a:cs typeface="Times New Roman" panose="02020603050405020304" pitchFamily="18" charset="0"/>
              </a:rPr>
              <a:t>a</a:t>
            </a:r>
            <a:r>
              <a:rPr lang="en-US" altLang="en-US" sz="2000" b="1" dirty="0">
                <a:solidFill>
                  <a:srgbClr val="FF0000"/>
                </a:solidFill>
                <a:latin typeface="Times New Roman" panose="02020603050405020304" pitchFamily="18" charset="0"/>
                <a:cs typeface="Times New Roman" panose="02020603050405020304" pitchFamily="18" charset="0"/>
              </a:rPr>
              <a:t> e d b a </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Pattern (P):</a:t>
            </a: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F0000"/>
                </a:solidFill>
                <a:latin typeface="Times New Roman" panose="02020603050405020304" pitchFamily="18" charset="0"/>
                <a:cs typeface="Times New Roman" panose="02020603050405020304" pitchFamily="18" charset="0"/>
              </a:rPr>
              <a:t>d b a  </a:t>
            </a:r>
            <a:r>
              <a:rPr lang="en-US" altLang="en-US" sz="2000" b="1" dirty="0" err="1">
                <a:solidFill>
                  <a:srgbClr val="1E03BD"/>
                </a:solidFill>
                <a:latin typeface="Times New Roman" panose="02020603050405020304" pitchFamily="18" charset="0"/>
                <a:cs typeface="Times New Roman" panose="02020603050405020304" pitchFamily="18" charset="0"/>
              </a:rPr>
              <a:t>H</a:t>
            </a:r>
            <a:r>
              <a:rPr lang="en-US" altLang="en-US" sz="2000" b="1" baseline="-25000" dirty="0" err="1">
                <a:solidFill>
                  <a:srgbClr val="1E03BD"/>
                </a:solidFill>
                <a:latin typeface="Times New Roman" panose="02020603050405020304" pitchFamily="18" charset="0"/>
                <a:cs typeface="Times New Roman" panose="02020603050405020304" pitchFamily="18" charset="0"/>
              </a:rPr>
              <a:t>new</a:t>
            </a:r>
            <a:r>
              <a:rPr lang="en-US" altLang="en-US" sz="2000" b="1" dirty="0">
                <a:solidFill>
                  <a:srgbClr val="1E03BD"/>
                </a:solidFill>
                <a:latin typeface="Times New Roman" panose="02020603050405020304" pitchFamily="18" charset="0"/>
                <a:cs typeface="Times New Roman" panose="02020603050405020304" pitchFamily="18" charset="0"/>
              </a:rPr>
              <a:t>=(H</a:t>
            </a:r>
            <a:r>
              <a:rPr lang="en-US" altLang="en-US" sz="2000" b="1" baseline="-25000" dirty="0">
                <a:solidFill>
                  <a:srgbClr val="1E03BD"/>
                </a:solidFill>
                <a:latin typeface="Times New Roman" panose="02020603050405020304" pitchFamily="18" charset="0"/>
                <a:cs typeface="Times New Roman" panose="02020603050405020304" pitchFamily="18" charset="0"/>
              </a:rPr>
              <a:t>old</a:t>
            </a:r>
            <a:r>
              <a:rPr lang="en-US" altLang="en-US" sz="2000" b="1" dirty="0">
                <a:solidFill>
                  <a:srgbClr val="1E03BD"/>
                </a:solidFill>
                <a:latin typeface="Times New Roman" panose="02020603050405020304" pitchFamily="18" charset="0"/>
                <a:cs typeface="Times New Roman" panose="02020603050405020304" pitchFamily="18" charset="0"/>
              </a:rPr>
              <a:t>−Old×10</a:t>
            </a:r>
            <a:r>
              <a:rPr lang="en-US" altLang="en-US" sz="2000" b="1" baseline="30000" dirty="0">
                <a:solidFill>
                  <a:srgbClr val="1E03BD"/>
                </a:solidFill>
                <a:latin typeface="Times New Roman" panose="02020603050405020304" pitchFamily="18" charset="0"/>
                <a:cs typeface="Times New Roman" panose="02020603050405020304" pitchFamily="18" charset="0"/>
              </a:rPr>
              <a:t>m−1</a:t>
            </a:r>
            <a:r>
              <a:rPr lang="en-US" altLang="en-US" sz="2000" b="1" dirty="0">
                <a:solidFill>
                  <a:srgbClr val="1E03BD"/>
                </a:solidFill>
                <a:latin typeface="Times New Roman" panose="02020603050405020304" pitchFamily="18" charset="0"/>
                <a:cs typeface="Times New Roman" panose="02020603050405020304" pitchFamily="18" charset="0"/>
              </a:rPr>
              <a:t>)×10+New</a:t>
            </a:r>
          </a:p>
          <a:p>
            <a:pPr lvl="0"/>
            <a:r>
              <a:rPr lang="en-US" sz="2000" dirty="0">
                <a:latin typeface="Times New Roman" panose="02020603050405020304" pitchFamily="18" charset="0"/>
                <a:cs typeface="Times New Roman" panose="02020603050405020304" pitchFamily="18" charset="0"/>
              </a:rPr>
              <a:t>Since m=3  10</a:t>
            </a:r>
            <a:r>
              <a:rPr lang="en-US" sz="2000" baseline="30000" dirty="0">
                <a:latin typeface="Times New Roman" panose="02020603050405020304" pitchFamily="18" charset="0"/>
                <a:cs typeface="Times New Roman" panose="02020603050405020304" pitchFamily="18" charset="0"/>
              </a:rPr>
              <a:t>m−1</a:t>
            </a:r>
            <a:r>
              <a:rPr lang="en-US" sz="2000" dirty="0">
                <a:latin typeface="Times New Roman" panose="02020603050405020304" pitchFamily="18" charset="0"/>
                <a:cs typeface="Times New Roman" panose="02020603050405020304" pitchFamily="18" charset="0"/>
              </a:rPr>
              <a:t>=10</a:t>
            </a:r>
            <a:r>
              <a:rPr lang="en-US" sz="2000" baseline="30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=100   </a:t>
            </a:r>
            <a:r>
              <a:rPr lang="en-US" sz="2000" dirty="0" err="1">
                <a:latin typeface="Times New Roman" panose="02020603050405020304" pitchFamily="18" charset="0"/>
                <a:cs typeface="Times New Roman" panose="02020603050405020304" pitchFamily="18" charset="0"/>
              </a:rPr>
              <a:t>H</a:t>
            </a:r>
            <a:r>
              <a:rPr lang="en-US" sz="2000" baseline="-25000" dirty="0" err="1">
                <a:latin typeface="Times New Roman" panose="02020603050405020304" pitchFamily="18" charset="0"/>
                <a:cs typeface="Times New Roman" panose="02020603050405020304" pitchFamily="18" charset="0"/>
              </a:rPr>
              <a:t>new</a:t>
            </a:r>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old</a:t>
            </a:r>
            <a:r>
              <a:rPr lang="en-US" sz="2000" dirty="0">
                <a:latin typeface="Times New Roman" panose="02020603050405020304" pitchFamily="18" charset="0"/>
                <a:cs typeface="Times New Roman" panose="02020603050405020304" pitchFamily="18" charset="0"/>
              </a:rPr>
              <a:t>​−Old×100)×10+New</a:t>
            </a:r>
          </a:p>
          <a:p>
            <a:r>
              <a:rPr lang="en-US" altLang="en-US" sz="2000" b="1" dirty="0">
                <a:latin typeface="Times New Roman" panose="02020603050405020304" pitchFamily="18" charset="0"/>
                <a:cs typeface="Times New Roman" panose="02020603050405020304" pitchFamily="18" charset="0"/>
              </a:rPr>
              <a:t>Character Codes:</a:t>
            </a:r>
            <a:r>
              <a:rPr lang="en-US" altLang="en-US" sz="2000" dirty="0">
                <a:latin typeface="Times New Roman" panose="02020603050405020304" pitchFamily="18" charset="0"/>
                <a:cs typeface="Times New Roman" panose="02020603050405020304" pitchFamily="18" charset="0"/>
              </a:rPr>
              <a:t> a = 1, b = 2, c = 3, d = 4, e = 5 ,   </a:t>
            </a:r>
            <a:r>
              <a:rPr lang="en-US" altLang="en-US" sz="2000" b="1" dirty="0">
                <a:latin typeface="Times New Roman" panose="02020603050405020304" pitchFamily="18" charset="0"/>
                <a:cs typeface="Times New Roman" panose="02020603050405020304" pitchFamily="18" charset="0"/>
              </a:rPr>
              <a:t>Base (d):</a:t>
            </a:r>
            <a:r>
              <a:rPr lang="en-US" altLang="en-US" sz="2000" dirty="0">
                <a:latin typeface="Times New Roman" panose="02020603050405020304" pitchFamily="18" charset="0"/>
                <a:cs typeface="Times New Roman" panose="02020603050405020304" pitchFamily="18" charset="0"/>
              </a:rPr>
              <a:t> 10 </a:t>
            </a:r>
          </a:p>
          <a:p>
            <a:r>
              <a:rPr lang="en-US" alt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Pattern = </a:t>
            </a:r>
            <a:r>
              <a:rPr lang="en-US" sz="2000" b="1" dirty="0">
                <a:latin typeface="Times New Roman" panose="02020603050405020304" pitchFamily="18" charset="0"/>
                <a:cs typeface="Times New Roman" panose="02020603050405020304" pitchFamily="18" charset="0"/>
              </a:rPr>
              <a:t>d b a    Hash(pattern)=4*10</a:t>
            </a:r>
            <a:r>
              <a:rPr lang="en-US" sz="2000" b="1" baseline="30000"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 +2*10</a:t>
            </a:r>
            <a:r>
              <a:rPr lang="en-US" sz="2000" b="1" baseline="30000" dirty="0">
                <a:latin typeface="Times New Roman" panose="02020603050405020304" pitchFamily="18" charset="0"/>
                <a:cs typeface="Times New Roman" panose="02020603050405020304" pitchFamily="18" charset="0"/>
              </a:rPr>
              <a:t>1</a:t>
            </a:r>
            <a:r>
              <a:rPr lang="en-US" sz="2000" b="1" dirty="0">
                <a:latin typeface="Times New Roman" panose="02020603050405020304" pitchFamily="18" charset="0"/>
                <a:cs typeface="Times New Roman" panose="02020603050405020304" pitchFamily="18" charset="0"/>
              </a:rPr>
              <a:t> + 1 * 10</a:t>
            </a:r>
            <a:r>
              <a:rPr lang="en-US" sz="2000" b="1" baseline="30000" dirty="0">
                <a:latin typeface="Times New Roman" panose="02020603050405020304" pitchFamily="18" charset="0"/>
                <a:cs typeface="Times New Roman" panose="02020603050405020304" pitchFamily="18" charset="0"/>
              </a:rPr>
              <a:t>0</a:t>
            </a:r>
            <a:r>
              <a:rPr lang="en-US" sz="2000" b="1" dirty="0">
                <a:latin typeface="Times New Roman" panose="02020603050405020304" pitchFamily="18" charset="0"/>
                <a:cs typeface="Times New Roman" panose="02020603050405020304" pitchFamily="18" charset="0"/>
              </a:rPr>
              <a:t> =4*100+2*10+1=400+20+1=421</a:t>
            </a:r>
          </a:p>
        </p:txBody>
      </p:sp>
    </p:spTree>
    <p:extLst>
      <p:ext uri="{BB962C8B-B14F-4D97-AF65-F5344CB8AC3E}">
        <p14:creationId xmlns:p14="http://schemas.microsoft.com/office/powerpoint/2010/main" val="29813742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22E49-CC51-D1F0-CB52-14EFAA3523E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6C0A13A-CA07-80D4-7568-E00266C6098A}"/>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E0A444A1-7209-9C43-4040-4F443A69706D}"/>
              </a:ext>
            </a:extLst>
          </p:cNvPr>
          <p:cNvSpPr>
            <a:spLocks noGrp="1"/>
          </p:cNvSpPr>
          <p:nvPr>
            <p:ph type="sldNum" sz="quarter" idx="12"/>
          </p:nvPr>
        </p:nvSpPr>
        <p:spPr/>
        <p:txBody>
          <a:bodyPr/>
          <a:lstStyle/>
          <a:p>
            <a:fld id="{68187FF5-4BF9-4B21-B0D2-9B7FF2B27D7F}" type="slidenum">
              <a:rPr lang="en-AU" smtClean="0"/>
              <a:pPr/>
              <a:t>76</a:t>
            </a:fld>
            <a:endParaRPr lang="en-AU"/>
          </a:p>
        </p:txBody>
      </p:sp>
      <p:graphicFrame>
        <p:nvGraphicFramePr>
          <p:cNvPr id="4" name="Table 3">
            <a:extLst>
              <a:ext uri="{FF2B5EF4-FFF2-40B4-BE49-F238E27FC236}">
                <a16:creationId xmlns:a16="http://schemas.microsoft.com/office/drawing/2014/main" id="{322E01D5-2517-E74B-CB7C-F5E335D36A35}"/>
              </a:ext>
            </a:extLst>
          </p:cNvPr>
          <p:cNvGraphicFramePr>
            <a:graphicFrameLocks noGrp="1"/>
          </p:cNvGraphicFramePr>
          <p:nvPr>
            <p:extLst>
              <p:ext uri="{D42A27DB-BD31-4B8C-83A1-F6EECF244321}">
                <p14:modId xmlns:p14="http://schemas.microsoft.com/office/powerpoint/2010/main" val="3211236686"/>
              </p:ext>
            </p:extLst>
          </p:nvPr>
        </p:nvGraphicFramePr>
        <p:xfrm>
          <a:off x="159026" y="1717883"/>
          <a:ext cx="11907078" cy="4777765"/>
        </p:xfrm>
        <a:graphic>
          <a:graphicData uri="http://schemas.openxmlformats.org/drawingml/2006/table">
            <a:tbl>
              <a:tblPr/>
              <a:tblGrid>
                <a:gridCol w="689519">
                  <a:extLst>
                    <a:ext uri="{9D8B030D-6E8A-4147-A177-3AD203B41FA5}">
                      <a16:colId xmlns:a16="http://schemas.microsoft.com/office/drawing/2014/main" val="4170927850"/>
                    </a:ext>
                  </a:extLst>
                </a:gridCol>
                <a:gridCol w="1039425">
                  <a:extLst>
                    <a:ext uri="{9D8B030D-6E8A-4147-A177-3AD203B41FA5}">
                      <a16:colId xmlns:a16="http://schemas.microsoft.com/office/drawing/2014/main" val="4186477354"/>
                    </a:ext>
                  </a:extLst>
                </a:gridCol>
                <a:gridCol w="1060009">
                  <a:extLst>
                    <a:ext uri="{9D8B030D-6E8A-4147-A177-3AD203B41FA5}">
                      <a16:colId xmlns:a16="http://schemas.microsoft.com/office/drawing/2014/main" val="4021892924"/>
                    </a:ext>
                  </a:extLst>
                </a:gridCol>
                <a:gridCol w="1029133">
                  <a:extLst>
                    <a:ext uri="{9D8B030D-6E8A-4147-A177-3AD203B41FA5}">
                      <a16:colId xmlns:a16="http://schemas.microsoft.com/office/drawing/2014/main" val="3129869539"/>
                    </a:ext>
                  </a:extLst>
                </a:gridCol>
                <a:gridCol w="5114795">
                  <a:extLst>
                    <a:ext uri="{9D8B030D-6E8A-4147-A177-3AD203B41FA5}">
                      <a16:colId xmlns:a16="http://schemas.microsoft.com/office/drawing/2014/main" val="2623215700"/>
                    </a:ext>
                  </a:extLst>
                </a:gridCol>
                <a:gridCol w="761560">
                  <a:extLst>
                    <a:ext uri="{9D8B030D-6E8A-4147-A177-3AD203B41FA5}">
                      <a16:colId xmlns:a16="http://schemas.microsoft.com/office/drawing/2014/main" val="1400893677"/>
                    </a:ext>
                  </a:extLst>
                </a:gridCol>
                <a:gridCol w="1080590">
                  <a:extLst>
                    <a:ext uri="{9D8B030D-6E8A-4147-A177-3AD203B41FA5}">
                      <a16:colId xmlns:a16="http://schemas.microsoft.com/office/drawing/2014/main" val="4109519383"/>
                    </a:ext>
                  </a:extLst>
                </a:gridCol>
                <a:gridCol w="1132047">
                  <a:extLst>
                    <a:ext uri="{9D8B030D-6E8A-4147-A177-3AD203B41FA5}">
                      <a16:colId xmlns:a16="http://schemas.microsoft.com/office/drawing/2014/main" val="3415483987"/>
                    </a:ext>
                  </a:extLst>
                </a:gridCol>
              </a:tblGrid>
              <a:tr h="496520">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Step</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Current Window</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Old Char Removed</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New Char Added</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Rolling Hash Calculation</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New Hash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Pattern Hash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Match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1968282"/>
                  </a:ext>
                </a:extLst>
              </a:tr>
              <a:tr h="385744">
                <a:tc>
                  <a:txBody>
                    <a:bodyPr/>
                    <a:lstStyle/>
                    <a:p>
                      <a:pPr algn="ctr"/>
                      <a:r>
                        <a:rPr lang="en-US" sz="1900" b="1" dirty="0">
                          <a:latin typeface="Times New Roman" panose="02020603050405020304" pitchFamily="18" charset="0"/>
                          <a:cs typeface="Times New Roman" panose="02020603050405020304" pitchFamily="18" charset="0"/>
                        </a:rPr>
                        <a:t>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cca</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Initial Hash = 3x100+3x10+1= 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4141085"/>
                  </a:ext>
                </a:extLst>
              </a:tr>
              <a:tr h="521020">
                <a:tc>
                  <a:txBody>
                    <a:bodyPr/>
                    <a:lstStyle/>
                    <a:p>
                      <a:pPr algn="ctr"/>
                      <a:r>
                        <a:rPr lang="en-US" sz="1900" b="1">
                          <a:latin typeface="Times New Roman" panose="02020603050405020304" pitchFamily="18" charset="0"/>
                          <a:cs typeface="Times New Roman" panose="02020603050405020304" pitchFamily="18" charset="0"/>
                        </a:rPr>
                        <a:t>2</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cac</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(331−3×100)×10+3=(331−300)×10+3=31×10+3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313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8585702"/>
                  </a:ext>
                </a:extLst>
              </a:tr>
              <a:tr h="443833">
                <a:tc>
                  <a:txBody>
                    <a:bodyPr/>
                    <a:lstStyle/>
                    <a:p>
                      <a:pPr algn="ctr"/>
                      <a:r>
                        <a:rPr lang="en-US" sz="1900" b="1" dirty="0">
                          <a:latin typeface="Times New Roman" panose="02020603050405020304" pitchFamily="18" charset="0"/>
                          <a:cs typeface="Times New Roman" panose="02020603050405020304" pitchFamily="18" charset="0"/>
                        </a:rPr>
                        <a:t>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solidFill>
                            <a:srgbClr val="1E03BD"/>
                          </a:solidFill>
                          <a:latin typeface="Times New Roman" panose="02020603050405020304" pitchFamily="18" charset="0"/>
                          <a:cs typeface="Times New Roman" panose="02020603050405020304" pitchFamily="18" charset="0"/>
                        </a:rPr>
                        <a:t>acc</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(313−3×100)×10+3=(313−300)×10+3=13×10+3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133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5628687"/>
                  </a:ext>
                </a:extLst>
              </a:tr>
              <a:tr h="521020">
                <a:tc>
                  <a:txBody>
                    <a:bodyPr/>
                    <a:lstStyle/>
                    <a:p>
                      <a:pPr algn="ctr"/>
                      <a:r>
                        <a:rPr lang="en-US" sz="1900" b="1">
                          <a:latin typeface="Times New Roman" panose="02020603050405020304" pitchFamily="18" charset="0"/>
                          <a:cs typeface="Times New Roman" panose="02020603050405020304" pitchFamily="18" charset="0"/>
                        </a:rPr>
                        <a:t>4</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cca</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(133−1×100)×10+1=(133−100)×10+1=33×10+1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7058825"/>
                  </a:ext>
                </a:extLst>
              </a:tr>
              <a:tr h="463130">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8708137"/>
                  </a:ext>
                </a:extLst>
              </a:tr>
              <a:tr h="424536">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4988868"/>
                  </a:ext>
                </a:extLst>
              </a:tr>
              <a:tr h="540318">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213124"/>
                  </a:ext>
                </a:extLst>
              </a:tr>
              <a:tr h="424536">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6248407"/>
                  </a:ext>
                </a:extLst>
              </a:tr>
              <a:tr h="492076">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7469314"/>
                  </a:ext>
                </a:extLst>
              </a:tr>
            </a:tbl>
          </a:graphicData>
        </a:graphic>
      </p:graphicFrame>
      <p:sp>
        <p:nvSpPr>
          <p:cNvPr id="5" name="Rectangle 4">
            <a:extLst>
              <a:ext uri="{FF2B5EF4-FFF2-40B4-BE49-F238E27FC236}">
                <a16:creationId xmlns:a16="http://schemas.microsoft.com/office/drawing/2014/main" id="{B8874E1E-2140-5537-5130-97634236C10D}"/>
              </a:ext>
            </a:extLst>
          </p:cNvPr>
          <p:cNvSpPr/>
          <p:nvPr/>
        </p:nvSpPr>
        <p:spPr>
          <a:xfrm>
            <a:off x="1615859" y="121178"/>
            <a:ext cx="10576142" cy="1631216"/>
          </a:xfrm>
          <a:prstGeom prst="rect">
            <a:avLst/>
          </a:prstGeom>
        </p:spPr>
        <p:txBody>
          <a:bodyPr wrap="square">
            <a:spAutoFit/>
          </a:bodyPr>
          <a:lstStyle/>
          <a:p>
            <a:r>
              <a:rPr lang="en-US" sz="2000" b="1" dirty="0">
                <a:solidFill>
                  <a:srgbClr val="C00000"/>
                </a:solidFill>
                <a:latin typeface="Times New Roman" panose="02020603050405020304" pitchFamily="18" charset="0"/>
                <a:cs typeface="Times New Roman" panose="02020603050405020304" pitchFamily="18" charset="0"/>
              </a:rPr>
              <a:t>Example 3: Rolling hash function</a:t>
            </a:r>
            <a:endParaRPr lang="en-US" altLang="en-US" sz="2000" b="1" dirty="0">
              <a:solidFill>
                <a:srgbClr val="C00000"/>
              </a:solidFill>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Text (T):</a:t>
            </a: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F0000"/>
                </a:solidFill>
                <a:latin typeface="Times New Roman" panose="02020603050405020304" pitchFamily="18" charset="0"/>
                <a:cs typeface="Times New Roman" panose="02020603050405020304" pitchFamily="18" charset="0"/>
              </a:rPr>
              <a:t>c </a:t>
            </a:r>
            <a:r>
              <a:rPr lang="en-US" altLang="en-US" sz="2000" b="1" dirty="0" err="1">
                <a:solidFill>
                  <a:srgbClr val="FF0000"/>
                </a:solidFill>
                <a:latin typeface="Times New Roman" panose="02020603050405020304" pitchFamily="18" charset="0"/>
                <a:cs typeface="Times New Roman" panose="02020603050405020304" pitchFamily="18" charset="0"/>
              </a:rPr>
              <a:t>c</a:t>
            </a:r>
            <a:r>
              <a:rPr lang="en-US" altLang="en-US" sz="2000" b="1" dirty="0">
                <a:solidFill>
                  <a:srgbClr val="FF0000"/>
                </a:solidFill>
                <a:latin typeface="Times New Roman" panose="02020603050405020304" pitchFamily="18" charset="0"/>
                <a:cs typeface="Times New Roman" panose="02020603050405020304" pitchFamily="18" charset="0"/>
              </a:rPr>
              <a:t> a c </a:t>
            </a:r>
            <a:r>
              <a:rPr lang="en-US" altLang="en-US" sz="2000" b="1" dirty="0" err="1">
                <a:solidFill>
                  <a:srgbClr val="FF0000"/>
                </a:solidFill>
                <a:latin typeface="Times New Roman" panose="02020603050405020304" pitchFamily="18" charset="0"/>
                <a:cs typeface="Times New Roman" panose="02020603050405020304" pitchFamily="18" charset="0"/>
              </a:rPr>
              <a:t>c</a:t>
            </a:r>
            <a:r>
              <a:rPr lang="en-US" altLang="en-US" sz="2000" b="1" dirty="0">
                <a:solidFill>
                  <a:srgbClr val="FF0000"/>
                </a:solidFill>
                <a:latin typeface="Times New Roman" panose="02020603050405020304" pitchFamily="18" charset="0"/>
                <a:cs typeface="Times New Roman" panose="02020603050405020304" pitchFamily="18" charset="0"/>
              </a:rPr>
              <a:t> a </a:t>
            </a:r>
            <a:r>
              <a:rPr lang="en-US" altLang="en-US" sz="2000" b="1" dirty="0" err="1">
                <a:solidFill>
                  <a:srgbClr val="FF0000"/>
                </a:solidFill>
                <a:latin typeface="Times New Roman" panose="02020603050405020304" pitchFamily="18" charset="0"/>
                <a:cs typeface="Times New Roman" panose="02020603050405020304" pitchFamily="18" charset="0"/>
              </a:rPr>
              <a:t>a</a:t>
            </a:r>
            <a:r>
              <a:rPr lang="en-US" altLang="en-US" sz="2000" b="1" dirty="0">
                <a:solidFill>
                  <a:srgbClr val="FF0000"/>
                </a:solidFill>
                <a:latin typeface="Times New Roman" panose="02020603050405020304" pitchFamily="18" charset="0"/>
                <a:cs typeface="Times New Roman" panose="02020603050405020304" pitchFamily="18" charset="0"/>
              </a:rPr>
              <a:t> e d b a </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Pattern (P):</a:t>
            </a: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F0000"/>
                </a:solidFill>
                <a:latin typeface="Times New Roman" panose="02020603050405020304" pitchFamily="18" charset="0"/>
                <a:cs typeface="Times New Roman" panose="02020603050405020304" pitchFamily="18" charset="0"/>
              </a:rPr>
              <a:t>d b a  </a:t>
            </a:r>
            <a:r>
              <a:rPr lang="en-US" altLang="en-US" sz="2000" b="1" dirty="0" err="1">
                <a:solidFill>
                  <a:srgbClr val="1E03BD"/>
                </a:solidFill>
                <a:latin typeface="Times New Roman" panose="02020603050405020304" pitchFamily="18" charset="0"/>
                <a:cs typeface="Times New Roman" panose="02020603050405020304" pitchFamily="18" charset="0"/>
              </a:rPr>
              <a:t>H</a:t>
            </a:r>
            <a:r>
              <a:rPr lang="en-US" altLang="en-US" sz="2000" b="1" baseline="-25000" dirty="0" err="1">
                <a:solidFill>
                  <a:srgbClr val="1E03BD"/>
                </a:solidFill>
                <a:latin typeface="Times New Roman" panose="02020603050405020304" pitchFamily="18" charset="0"/>
                <a:cs typeface="Times New Roman" panose="02020603050405020304" pitchFamily="18" charset="0"/>
              </a:rPr>
              <a:t>new</a:t>
            </a:r>
            <a:r>
              <a:rPr lang="en-US" altLang="en-US" sz="2000" b="1" dirty="0">
                <a:solidFill>
                  <a:srgbClr val="1E03BD"/>
                </a:solidFill>
                <a:latin typeface="Times New Roman" panose="02020603050405020304" pitchFamily="18" charset="0"/>
                <a:cs typeface="Times New Roman" panose="02020603050405020304" pitchFamily="18" charset="0"/>
              </a:rPr>
              <a:t>=(H</a:t>
            </a:r>
            <a:r>
              <a:rPr lang="en-US" altLang="en-US" sz="2000" b="1" baseline="-25000" dirty="0">
                <a:solidFill>
                  <a:srgbClr val="1E03BD"/>
                </a:solidFill>
                <a:latin typeface="Times New Roman" panose="02020603050405020304" pitchFamily="18" charset="0"/>
                <a:cs typeface="Times New Roman" panose="02020603050405020304" pitchFamily="18" charset="0"/>
              </a:rPr>
              <a:t>old</a:t>
            </a:r>
            <a:r>
              <a:rPr lang="en-US" altLang="en-US" sz="2000" b="1" dirty="0">
                <a:solidFill>
                  <a:srgbClr val="1E03BD"/>
                </a:solidFill>
                <a:latin typeface="Times New Roman" panose="02020603050405020304" pitchFamily="18" charset="0"/>
                <a:cs typeface="Times New Roman" panose="02020603050405020304" pitchFamily="18" charset="0"/>
              </a:rPr>
              <a:t>−Old×10</a:t>
            </a:r>
            <a:r>
              <a:rPr lang="en-US" altLang="en-US" sz="2000" b="1" baseline="30000" dirty="0">
                <a:solidFill>
                  <a:srgbClr val="1E03BD"/>
                </a:solidFill>
                <a:latin typeface="Times New Roman" panose="02020603050405020304" pitchFamily="18" charset="0"/>
                <a:cs typeface="Times New Roman" panose="02020603050405020304" pitchFamily="18" charset="0"/>
              </a:rPr>
              <a:t>m−1</a:t>
            </a:r>
            <a:r>
              <a:rPr lang="en-US" altLang="en-US" sz="2000" b="1" dirty="0">
                <a:solidFill>
                  <a:srgbClr val="1E03BD"/>
                </a:solidFill>
                <a:latin typeface="Times New Roman" panose="02020603050405020304" pitchFamily="18" charset="0"/>
                <a:cs typeface="Times New Roman" panose="02020603050405020304" pitchFamily="18" charset="0"/>
              </a:rPr>
              <a:t>)×10+New</a:t>
            </a:r>
          </a:p>
          <a:p>
            <a:pPr lvl="0"/>
            <a:r>
              <a:rPr lang="en-US" sz="2000" dirty="0">
                <a:latin typeface="Times New Roman" panose="02020603050405020304" pitchFamily="18" charset="0"/>
                <a:cs typeface="Times New Roman" panose="02020603050405020304" pitchFamily="18" charset="0"/>
              </a:rPr>
              <a:t>Since m=3  10</a:t>
            </a:r>
            <a:r>
              <a:rPr lang="en-US" sz="2000" baseline="30000" dirty="0">
                <a:latin typeface="Times New Roman" panose="02020603050405020304" pitchFamily="18" charset="0"/>
                <a:cs typeface="Times New Roman" panose="02020603050405020304" pitchFamily="18" charset="0"/>
              </a:rPr>
              <a:t>m−1</a:t>
            </a:r>
            <a:r>
              <a:rPr lang="en-US" sz="2000" dirty="0">
                <a:latin typeface="Times New Roman" panose="02020603050405020304" pitchFamily="18" charset="0"/>
                <a:cs typeface="Times New Roman" panose="02020603050405020304" pitchFamily="18" charset="0"/>
              </a:rPr>
              <a:t>=10</a:t>
            </a:r>
            <a:r>
              <a:rPr lang="en-US" sz="2000" baseline="30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=100   </a:t>
            </a:r>
            <a:r>
              <a:rPr lang="en-US" sz="2000" dirty="0" err="1">
                <a:latin typeface="Times New Roman" panose="02020603050405020304" pitchFamily="18" charset="0"/>
                <a:cs typeface="Times New Roman" panose="02020603050405020304" pitchFamily="18" charset="0"/>
              </a:rPr>
              <a:t>H</a:t>
            </a:r>
            <a:r>
              <a:rPr lang="en-US" sz="2000" baseline="-25000" dirty="0" err="1">
                <a:latin typeface="Times New Roman" panose="02020603050405020304" pitchFamily="18" charset="0"/>
                <a:cs typeface="Times New Roman" panose="02020603050405020304" pitchFamily="18" charset="0"/>
              </a:rPr>
              <a:t>new</a:t>
            </a:r>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old</a:t>
            </a:r>
            <a:r>
              <a:rPr lang="en-US" sz="2000" dirty="0">
                <a:latin typeface="Times New Roman" panose="02020603050405020304" pitchFamily="18" charset="0"/>
                <a:cs typeface="Times New Roman" panose="02020603050405020304" pitchFamily="18" charset="0"/>
              </a:rPr>
              <a:t>​−Old×100)×10+New</a:t>
            </a:r>
          </a:p>
          <a:p>
            <a:r>
              <a:rPr lang="en-US" altLang="en-US" sz="2000" b="1" dirty="0">
                <a:latin typeface="Times New Roman" panose="02020603050405020304" pitchFamily="18" charset="0"/>
                <a:cs typeface="Times New Roman" panose="02020603050405020304" pitchFamily="18" charset="0"/>
              </a:rPr>
              <a:t>Character Codes:</a:t>
            </a:r>
            <a:r>
              <a:rPr lang="en-US" altLang="en-US" sz="2000" dirty="0">
                <a:latin typeface="Times New Roman" panose="02020603050405020304" pitchFamily="18" charset="0"/>
                <a:cs typeface="Times New Roman" panose="02020603050405020304" pitchFamily="18" charset="0"/>
              </a:rPr>
              <a:t> a = 1, b = 2, c = 3, d = 4, e = 5 ,   </a:t>
            </a:r>
            <a:r>
              <a:rPr lang="en-US" altLang="en-US" sz="2000" b="1" dirty="0">
                <a:latin typeface="Times New Roman" panose="02020603050405020304" pitchFamily="18" charset="0"/>
                <a:cs typeface="Times New Roman" panose="02020603050405020304" pitchFamily="18" charset="0"/>
              </a:rPr>
              <a:t>Base (d):</a:t>
            </a:r>
            <a:r>
              <a:rPr lang="en-US" altLang="en-US" sz="2000" dirty="0">
                <a:latin typeface="Times New Roman" panose="02020603050405020304" pitchFamily="18" charset="0"/>
                <a:cs typeface="Times New Roman" panose="02020603050405020304" pitchFamily="18" charset="0"/>
              </a:rPr>
              <a:t> 10 </a:t>
            </a:r>
          </a:p>
          <a:p>
            <a:r>
              <a:rPr lang="en-US" alt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Pattern = </a:t>
            </a:r>
            <a:r>
              <a:rPr lang="en-US" sz="2000" b="1" dirty="0">
                <a:latin typeface="Times New Roman" panose="02020603050405020304" pitchFamily="18" charset="0"/>
                <a:cs typeface="Times New Roman" panose="02020603050405020304" pitchFamily="18" charset="0"/>
              </a:rPr>
              <a:t>d b a    Hash(pattern)=4*10</a:t>
            </a:r>
            <a:r>
              <a:rPr lang="en-US" sz="2000" b="1" baseline="30000"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 +2*10</a:t>
            </a:r>
            <a:r>
              <a:rPr lang="en-US" sz="2000" b="1" baseline="30000" dirty="0">
                <a:latin typeface="Times New Roman" panose="02020603050405020304" pitchFamily="18" charset="0"/>
                <a:cs typeface="Times New Roman" panose="02020603050405020304" pitchFamily="18" charset="0"/>
              </a:rPr>
              <a:t>1</a:t>
            </a:r>
            <a:r>
              <a:rPr lang="en-US" sz="2000" b="1" dirty="0">
                <a:latin typeface="Times New Roman" panose="02020603050405020304" pitchFamily="18" charset="0"/>
                <a:cs typeface="Times New Roman" panose="02020603050405020304" pitchFamily="18" charset="0"/>
              </a:rPr>
              <a:t> + 1 * 10</a:t>
            </a:r>
            <a:r>
              <a:rPr lang="en-US" sz="2000" b="1" baseline="30000" dirty="0">
                <a:latin typeface="Times New Roman" panose="02020603050405020304" pitchFamily="18" charset="0"/>
                <a:cs typeface="Times New Roman" panose="02020603050405020304" pitchFamily="18" charset="0"/>
              </a:rPr>
              <a:t>0</a:t>
            </a:r>
            <a:r>
              <a:rPr lang="en-US" sz="2000" b="1" dirty="0">
                <a:latin typeface="Times New Roman" panose="02020603050405020304" pitchFamily="18" charset="0"/>
                <a:cs typeface="Times New Roman" panose="02020603050405020304" pitchFamily="18" charset="0"/>
              </a:rPr>
              <a:t> =4*100+2*10+1=400+20+1=421</a:t>
            </a:r>
          </a:p>
        </p:txBody>
      </p:sp>
    </p:spTree>
    <p:extLst>
      <p:ext uri="{BB962C8B-B14F-4D97-AF65-F5344CB8AC3E}">
        <p14:creationId xmlns:p14="http://schemas.microsoft.com/office/powerpoint/2010/main" val="12883228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BDF81-761E-8F38-FF1E-31003791E53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27D07B-1EC3-9D5D-0569-30DB3D09D76B}"/>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C1919633-7EE2-CE80-81E8-3BD038B04796}"/>
              </a:ext>
            </a:extLst>
          </p:cNvPr>
          <p:cNvSpPr>
            <a:spLocks noGrp="1"/>
          </p:cNvSpPr>
          <p:nvPr>
            <p:ph type="sldNum" sz="quarter" idx="12"/>
          </p:nvPr>
        </p:nvSpPr>
        <p:spPr/>
        <p:txBody>
          <a:bodyPr/>
          <a:lstStyle/>
          <a:p>
            <a:fld id="{68187FF5-4BF9-4B21-B0D2-9B7FF2B27D7F}" type="slidenum">
              <a:rPr lang="en-AU" smtClean="0"/>
              <a:pPr/>
              <a:t>77</a:t>
            </a:fld>
            <a:endParaRPr lang="en-AU"/>
          </a:p>
        </p:txBody>
      </p:sp>
      <p:graphicFrame>
        <p:nvGraphicFramePr>
          <p:cNvPr id="4" name="Table 3">
            <a:extLst>
              <a:ext uri="{FF2B5EF4-FFF2-40B4-BE49-F238E27FC236}">
                <a16:creationId xmlns:a16="http://schemas.microsoft.com/office/drawing/2014/main" id="{FEE4EF26-9C2E-0551-3BC1-988701F8269A}"/>
              </a:ext>
            </a:extLst>
          </p:cNvPr>
          <p:cNvGraphicFramePr>
            <a:graphicFrameLocks noGrp="1"/>
          </p:cNvGraphicFramePr>
          <p:nvPr>
            <p:extLst>
              <p:ext uri="{D42A27DB-BD31-4B8C-83A1-F6EECF244321}">
                <p14:modId xmlns:p14="http://schemas.microsoft.com/office/powerpoint/2010/main" val="1115861116"/>
              </p:ext>
            </p:extLst>
          </p:nvPr>
        </p:nvGraphicFramePr>
        <p:xfrm>
          <a:off x="159026" y="1717883"/>
          <a:ext cx="11907078" cy="4777765"/>
        </p:xfrm>
        <a:graphic>
          <a:graphicData uri="http://schemas.openxmlformats.org/drawingml/2006/table">
            <a:tbl>
              <a:tblPr/>
              <a:tblGrid>
                <a:gridCol w="689519">
                  <a:extLst>
                    <a:ext uri="{9D8B030D-6E8A-4147-A177-3AD203B41FA5}">
                      <a16:colId xmlns:a16="http://schemas.microsoft.com/office/drawing/2014/main" val="4170927850"/>
                    </a:ext>
                  </a:extLst>
                </a:gridCol>
                <a:gridCol w="1039425">
                  <a:extLst>
                    <a:ext uri="{9D8B030D-6E8A-4147-A177-3AD203B41FA5}">
                      <a16:colId xmlns:a16="http://schemas.microsoft.com/office/drawing/2014/main" val="4186477354"/>
                    </a:ext>
                  </a:extLst>
                </a:gridCol>
                <a:gridCol w="1060009">
                  <a:extLst>
                    <a:ext uri="{9D8B030D-6E8A-4147-A177-3AD203B41FA5}">
                      <a16:colId xmlns:a16="http://schemas.microsoft.com/office/drawing/2014/main" val="4021892924"/>
                    </a:ext>
                  </a:extLst>
                </a:gridCol>
                <a:gridCol w="1029133">
                  <a:extLst>
                    <a:ext uri="{9D8B030D-6E8A-4147-A177-3AD203B41FA5}">
                      <a16:colId xmlns:a16="http://schemas.microsoft.com/office/drawing/2014/main" val="3129869539"/>
                    </a:ext>
                  </a:extLst>
                </a:gridCol>
                <a:gridCol w="5114795">
                  <a:extLst>
                    <a:ext uri="{9D8B030D-6E8A-4147-A177-3AD203B41FA5}">
                      <a16:colId xmlns:a16="http://schemas.microsoft.com/office/drawing/2014/main" val="2623215700"/>
                    </a:ext>
                  </a:extLst>
                </a:gridCol>
                <a:gridCol w="761560">
                  <a:extLst>
                    <a:ext uri="{9D8B030D-6E8A-4147-A177-3AD203B41FA5}">
                      <a16:colId xmlns:a16="http://schemas.microsoft.com/office/drawing/2014/main" val="1400893677"/>
                    </a:ext>
                  </a:extLst>
                </a:gridCol>
                <a:gridCol w="1080590">
                  <a:extLst>
                    <a:ext uri="{9D8B030D-6E8A-4147-A177-3AD203B41FA5}">
                      <a16:colId xmlns:a16="http://schemas.microsoft.com/office/drawing/2014/main" val="4109519383"/>
                    </a:ext>
                  </a:extLst>
                </a:gridCol>
                <a:gridCol w="1132047">
                  <a:extLst>
                    <a:ext uri="{9D8B030D-6E8A-4147-A177-3AD203B41FA5}">
                      <a16:colId xmlns:a16="http://schemas.microsoft.com/office/drawing/2014/main" val="3415483987"/>
                    </a:ext>
                  </a:extLst>
                </a:gridCol>
              </a:tblGrid>
              <a:tr h="496520">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Step</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Current Window</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Old Char Removed</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New Char Added</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Rolling Hash Calculation</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New Hash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Pattern Hash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Match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1968282"/>
                  </a:ext>
                </a:extLst>
              </a:tr>
              <a:tr h="385744">
                <a:tc>
                  <a:txBody>
                    <a:bodyPr/>
                    <a:lstStyle/>
                    <a:p>
                      <a:pPr algn="ctr"/>
                      <a:r>
                        <a:rPr lang="en-US" sz="1900" b="1" dirty="0">
                          <a:latin typeface="Times New Roman" panose="02020603050405020304" pitchFamily="18" charset="0"/>
                          <a:cs typeface="Times New Roman" panose="02020603050405020304" pitchFamily="18" charset="0"/>
                        </a:rPr>
                        <a:t>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cca</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Initial Hash = 3x100+3x10+1= 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4141085"/>
                  </a:ext>
                </a:extLst>
              </a:tr>
              <a:tr h="521020">
                <a:tc>
                  <a:txBody>
                    <a:bodyPr/>
                    <a:lstStyle/>
                    <a:p>
                      <a:pPr algn="ctr"/>
                      <a:r>
                        <a:rPr lang="en-US" sz="1900" b="1">
                          <a:latin typeface="Times New Roman" panose="02020603050405020304" pitchFamily="18" charset="0"/>
                          <a:cs typeface="Times New Roman" panose="02020603050405020304" pitchFamily="18" charset="0"/>
                        </a:rPr>
                        <a:t>2</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cac</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(331−3×100)×10+3=(331−300)×10+3=31×10+3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313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8585702"/>
                  </a:ext>
                </a:extLst>
              </a:tr>
              <a:tr h="443833">
                <a:tc>
                  <a:txBody>
                    <a:bodyPr/>
                    <a:lstStyle/>
                    <a:p>
                      <a:pPr algn="ctr"/>
                      <a:r>
                        <a:rPr lang="en-US" sz="1900" b="1" dirty="0">
                          <a:latin typeface="Times New Roman" panose="02020603050405020304" pitchFamily="18" charset="0"/>
                          <a:cs typeface="Times New Roman" panose="02020603050405020304" pitchFamily="18" charset="0"/>
                        </a:rPr>
                        <a:t>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solidFill>
                            <a:srgbClr val="1E03BD"/>
                          </a:solidFill>
                          <a:latin typeface="Times New Roman" panose="02020603050405020304" pitchFamily="18" charset="0"/>
                          <a:cs typeface="Times New Roman" panose="02020603050405020304" pitchFamily="18" charset="0"/>
                        </a:rPr>
                        <a:t>acc</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(313−3×100)×10+3=(313−300)×10+3=13×10+3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133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5628687"/>
                  </a:ext>
                </a:extLst>
              </a:tr>
              <a:tr h="521020">
                <a:tc>
                  <a:txBody>
                    <a:bodyPr/>
                    <a:lstStyle/>
                    <a:p>
                      <a:pPr algn="ctr"/>
                      <a:r>
                        <a:rPr lang="en-US" sz="1900" b="1">
                          <a:latin typeface="Times New Roman" panose="02020603050405020304" pitchFamily="18" charset="0"/>
                          <a:cs typeface="Times New Roman" panose="02020603050405020304" pitchFamily="18" charset="0"/>
                        </a:rPr>
                        <a:t>4</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cca</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(133−1×100)×10+1=(133−100)×10+1=33×10+1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7058825"/>
                  </a:ext>
                </a:extLst>
              </a:tr>
              <a:tr h="463130">
                <a:tc>
                  <a:txBody>
                    <a:bodyPr/>
                    <a:lstStyle/>
                    <a:p>
                      <a:pPr algn="ctr"/>
                      <a:r>
                        <a:rPr lang="en-US" sz="1900" b="1">
                          <a:latin typeface="Times New Roman" panose="02020603050405020304" pitchFamily="18" charset="0"/>
                          <a:cs typeface="Times New Roman" panose="02020603050405020304" pitchFamily="18" charset="0"/>
                        </a:rPr>
                        <a:t>5</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caa</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(331−3×100)×10+1=(331−300)×10+1=31×10+1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311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8708137"/>
                  </a:ext>
                </a:extLst>
              </a:tr>
              <a:tr h="424536">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4988868"/>
                  </a:ext>
                </a:extLst>
              </a:tr>
              <a:tr h="540318">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213124"/>
                  </a:ext>
                </a:extLst>
              </a:tr>
              <a:tr h="424536">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6248407"/>
                  </a:ext>
                </a:extLst>
              </a:tr>
              <a:tr h="492076">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7469314"/>
                  </a:ext>
                </a:extLst>
              </a:tr>
            </a:tbl>
          </a:graphicData>
        </a:graphic>
      </p:graphicFrame>
      <p:sp>
        <p:nvSpPr>
          <p:cNvPr id="5" name="Rectangle 4">
            <a:extLst>
              <a:ext uri="{FF2B5EF4-FFF2-40B4-BE49-F238E27FC236}">
                <a16:creationId xmlns:a16="http://schemas.microsoft.com/office/drawing/2014/main" id="{1634C49D-5C40-F511-7311-AFB7F9825237}"/>
              </a:ext>
            </a:extLst>
          </p:cNvPr>
          <p:cNvSpPr/>
          <p:nvPr/>
        </p:nvSpPr>
        <p:spPr>
          <a:xfrm>
            <a:off x="1615859" y="121178"/>
            <a:ext cx="10576142" cy="1631216"/>
          </a:xfrm>
          <a:prstGeom prst="rect">
            <a:avLst/>
          </a:prstGeom>
        </p:spPr>
        <p:txBody>
          <a:bodyPr wrap="square">
            <a:spAutoFit/>
          </a:bodyPr>
          <a:lstStyle/>
          <a:p>
            <a:r>
              <a:rPr lang="en-US" sz="2000" b="1" dirty="0">
                <a:solidFill>
                  <a:srgbClr val="C00000"/>
                </a:solidFill>
                <a:latin typeface="Times New Roman" panose="02020603050405020304" pitchFamily="18" charset="0"/>
                <a:cs typeface="Times New Roman" panose="02020603050405020304" pitchFamily="18" charset="0"/>
              </a:rPr>
              <a:t>Example 3: Rolling hash function</a:t>
            </a:r>
            <a:endParaRPr lang="en-US" altLang="en-US" sz="2000" b="1" dirty="0">
              <a:solidFill>
                <a:srgbClr val="C00000"/>
              </a:solidFill>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Text (T):</a:t>
            </a: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F0000"/>
                </a:solidFill>
                <a:latin typeface="Times New Roman" panose="02020603050405020304" pitchFamily="18" charset="0"/>
                <a:cs typeface="Times New Roman" panose="02020603050405020304" pitchFamily="18" charset="0"/>
              </a:rPr>
              <a:t>c </a:t>
            </a:r>
            <a:r>
              <a:rPr lang="en-US" altLang="en-US" sz="2000" b="1" dirty="0" err="1">
                <a:solidFill>
                  <a:srgbClr val="FF0000"/>
                </a:solidFill>
                <a:latin typeface="Times New Roman" panose="02020603050405020304" pitchFamily="18" charset="0"/>
                <a:cs typeface="Times New Roman" panose="02020603050405020304" pitchFamily="18" charset="0"/>
              </a:rPr>
              <a:t>c</a:t>
            </a:r>
            <a:r>
              <a:rPr lang="en-US" altLang="en-US" sz="2000" b="1" dirty="0">
                <a:solidFill>
                  <a:srgbClr val="FF0000"/>
                </a:solidFill>
                <a:latin typeface="Times New Roman" panose="02020603050405020304" pitchFamily="18" charset="0"/>
                <a:cs typeface="Times New Roman" panose="02020603050405020304" pitchFamily="18" charset="0"/>
              </a:rPr>
              <a:t> a c </a:t>
            </a:r>
            <a:r>
              <a:rPr lang="en-US" altLang="en-US" sz="2000" b="1" dirty="0" err="1">
                <a:solidFill>
                  <a:srgbClr val="FF0000"/>
                </a:solidFill>
                <a:latin typeface="Times New Roman" panose="02020603050405020304" pitchFamily="18" charset="0"/>
                <a:cs typeface="Times New Roman" panose="02020603050405020304" pitchFamily="18" charset="0"/>
              </a:rPr>
              <a:t>c</a:t>
            </a:r>
            <a:r>
              <a:rPr lang="en-US" altLang="en-US" sz="2000" b="1" dirty="0">
                <a:solidFill>
                  <a:srgbClr val="FF0000"/>
                </a:solidFill>
                <a:latin typeface="Times New Roman" panose="02020603050405020304" pitchFamily="18" charset="0"/>
                <a:cs typeface="Times New Roman" panose="02020603050405020304" pitchFamily="18" charset="0"/>
              </a:rPr>
              <a:t> a </a:t>
            </a:r>
            <a:r>
              <a:rPr lang="en-US" altLang="en-US" sz="2000" b="1" dirty="0" err="1">
                <a:solidFill>
                  <a:srgbClr val="FF0000"/>
                </a:solidFill>
                <a:latin typeface="Times New Roman" panose="02020603050405020304" pitchFamily="18" charset="0"/>
                <a:cs typeface="Times New Roman" panose="02020603050405020304" pitchFamily="18" charset="0"/>
              </a:rPr>
              <a:t>a</a:t>
            </a:r>
            <a:r>
              <a:rPr lang="en-US" altLang="en-US" sz="2000" b="1" dirty="0">
                <a:solidFill>
                  <a:srgbClr val="FF0000"/>
                </a:solidFill>
                <a:latin typeface="Times New Roman" panose="02020603050405020304" pitchFamily="18" charset="0"/>
                <a:cs typeface="Times New Roman" panose="02020603050405020304" pitchFamily="18" charset="0"/>
              </a:rPr>
              <a:t> e d b a </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Pattern (P):</a:t>
            </a: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F0000"/>
                </a:solidFill>
                <a:latin typeface="Times New Roman" panose="02020603050405020304" pitchFamily="18" charset="0"/>
                <a:cs typeface="Times New Roman" panose="02020603050405020304" pitchFamily="18" charset="0"/>
              </a:rPr>
              <a:t>d b a  </a:t>
            </a:r>
            <a:r>
              <a:rPr lang="en-US" altLang="en-US" sz="2000" b="1" dirty="0" err="1">
                <a:solidFill>
                  <a:srgbClr val="1E03BD"/>
                </a:solidFill>
                <a:latin typeface="Times New Roman" panose="02020603050405020304" pitchFamily="18" charset="0"/>
                <a:cs typeface="Times New Roman" panose="02020603050405020304" pitchFamily="18" charset="0"/>
              </a:rPr>
              <a:t>H</a:t>
            </a:r>
            <a:r>
              <a:rPr lang="en-US" altLang="en-US" sz="2000" b="1" baseline="-25000" dirty="0" err="1">
                <a:solidFill>
                  <a:srgbClr val="1E03BD"/>
                </a:solidFill>
                <a:latin typeface="Times New Roman" panose="02020603050405020304" pitchFamily="18" charset="0"/>
                <a:cs typeface="Times New Roman" panose="02020603050405020304" pitchFamily="18" charset="0"/>
              </a:rPr>
              <a:t>new</a:t>
            </a:r>
            <a:r>
              <a:rPr lang="en-US" altLang="en-US" sz="2000" b="1" dirty="0">
                <a:solidFill>
                  <a:srgbClr val="1E03BD"/>
                </a:solidFill>
                <a:latin typeface="Times New Roman" panose="02020603050405020304" pitchFamily="18" charset="0"/>
                <a:cs typeface="Times New Roman" panose="02020603050405020304" pitchFamily="18" charset="0"/>
              </a:rPr>
              <a:t>=(H</a:t>
            </a:r>
            <a:r>
              <a:rPr lang="en-US" altLang="en-US" sz="2000" b="1" baseline="-25000" dirty="0">
                <a:solidFill>
                  <a:srgbClr val="1E03BD"/>
                </a:solidFill>
                <a:latin typeface="Times New Roman" panose="02020603050405020304" pitchFamily="18" charset="0"/>
                <a:cs typeface="Times New Roman" panose="02020603050405020304" pitchFamily="18" charset="0"/>
              </a:rPr>
              <a:t>old</a:t>
            </a:r>
            <a:r>
              <a:rPr lang="en-US" altLang="en-US" sz="2000" b="1" dirty="0">
                <a:solidFill>
                  <a:srgbClr val="1E03BD"/>
                </a:solidFill>
                <a:latin typeface="Times New Roman" panose="02020603050405020304" pitchFamily="18" charset="0"/>
                <a:cs typeface="Times New Roman" panose="02020603050405020304" pitchFamily="18" charset="0"/>
              </a:rPr>
              <a:t>−Old×10</a:t>
            </a:r>
            <a:r>
              <a:rPr lang="en-US" altLang="en-US" sz="2000" b="1" baseline="30000" dirty="0">
                <a:solidFill>
                  <a:srgbClr val="1E03BD"/>
                </a:solidFill>
                <a:latin typeface="Times New Roman" panose="02020603050405020304" pitchFamily="18" charset="0"/>
                <a:cs typeface="Times New Roman" panose="02020603050405020304" pitchFamily="18" charset="0"/>
              </a:rPr>
              <a:t>m−1</a:t>
            </a:r>
            <a:r>
              <a:rPr lang="en-US" altLang="en-US" sz="2000" b="1" dirty="0">
                <a:solidFill>
                  <a:srgbClr val="1E03BD"/>
                </a:solidFill>
                <a:latin typeface="Times New Roman" panose="02020603050405020304" pitchFamily="18" charset="0"/>
                <a:cs typeface="Times New Roman" panose="02020603050405020304" pitchFamily="18" charset="0"/>
              </a:rPr>
              <a:t>)×10+New</a:t>
            </a:r>
          </a:p>
          <a:p>
            <a:pPr lvl="0"/>
            <a:r>
              <a:rPr lang="en-US" sz="2000" dirty="0">
                <a:latin typeface="Times New Roman" panose="02020603050405020304" pitchFamily="18" charset="0"/>
                <a:cs typeface="Times New Roman" panose="02020603050405020304" pitchFamily="18" charset="0"/>
              </a:rPr>
              <a:t>Since m=3  10</a:t>
            </a:r>
            <a:r>
              <a:rPr lang="en-US" sz="2000" baseline="30000" dirty="0">
                <a:latin typeface="Times New Roman" panose="02020603050405020304" pitchFamily="18" charset="0"/>
                <a:cs typeface="Times New Roman" panose="02020603050405020304" pitchFamily="18" charset="0"/>
              </a:rPr>
              <a:t>m−1</a:t>
            </a:r>
            <a:r>
              <a:rPr lang="en-US" sz="2000" dirty="0">
                <a:latin typeface="Times New Roman" panose="02020603050405020304" pitchFamily="18" charset="0"/>
                <a:cs typeface="Times New Roman" panose="02020603050405020304" pitchFamily="18" charset="0"/>
              </a:rPr>
              <a:t>=10</a:t>
            </a:r>
            <a:r>
              <a:rPr lang="en-US" sz="2000" baseline="30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=100   </a:t>
            </a:r>
            <a:r>
              <a:rPr lang="en-US" sz="2000" dirty="0" err="1">
                <a:latin typeface="Times New Roman" panose="02020603050405020304" pitchFamily="18" charset="0"/>
                <a:cs typeface="Times New Roman" panose="02020603050405020304" pitchFamily="18" charset="0"/>
              </a:rPr>
              <a:t>H</a:t>
            </a:r>
            <a:r>
              <a:rPr lang="en-US" sz="2000" baseline="-25000" dirty="0" err="1">
                <a:latin typeface="Times New Roman" panose="02020603050405020304" pitchFamily="18" charset="0"/>
                <a:cs typeface="Times New Roman" panose="02020603050405020304" pitchFamily="18" charset="0"/>
              </a:rPr>
              <a:t>new</a:t>
            </a:r>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old</a:t>
            </a:r>
            <a:r>
              <a:rPr lang="en-US" sz="2000" dirty="0">
                <a:latin typeface="Times New Roman" panose="02020603050405020304" pitchFamily="18" charset="0"/>
                <a:cs typeface="Times New Roman" panose="02020603050405020304" pitchFamily="18" charset="0"/>
              </a:rPr>
              <a:t>​−Old×100)×10+New</a:t>
            </a:r>
          </a:p>
          <a:p>
            <a:r>
              <a:rPr lang="en-US" altLang="en-US" sz="2000" b="1" dirty="0">
                <a:latin typeface="Times New Roman" panose="02020603050405020304" pitchFamily="18" charset="0"/>
                <a:cs typeface="Times New Roman" panose="02020603050405020304" pitchFamily="18" charset="0"/>
              </a:rPr>
              <a:t>Character Codes:</a:t>
            </a:r>
            <a:r>
              <a:rPr lang="en-US" altLang="en-US" sz="2000" dirty="0">
                <a:latin typeface="Times New Roman" panose="02020603050405020304" pitchFamily="18" charset="0"/>
                <a:cs typeface="Times New Roman" panose="02020603050405020304" pitchFamily="18" charset="0"/>
              </a:rPr>
              <a:t> a = 1, b = 2, c = 3, d = 4, e = 5 ,   </a:t>
            </a:r>
            <a:r>
              <a:rPr lang="en-US" altLang="en-US" sz="2000" b="1" dirty="0">
                <a:latin typeface="Times New Roman" panose="02020603050405020304" pitchFamily="18" charset="0"/>
                <a:cs typeface="Times New Roman" panose="02020603050405020304" pitchFamily="18" charset="0"/>
              </a:rPr>
              <a:t>Base (d):</a:t>
            </a:r>
            <a:r>
              <a:rPr lang="en-US" altLang="en-US" sz="2000" dirty="0">
                <a:latin typeface="Times New Roman" panose="02020603050405020304" pitchFamily="18" charset="0"/>
                <a:cs typeface="Times New Roman" panose="02020603050405020304" pitchFamily="18" charset="0"/>
              </a:rPr>
              <a:t> 10 </a:t>
            </a:r>
          </a:p>
          <a:p>
            <a:r>
              <a:rPr lang="en-US" alt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Pattern = </a:t>
            </a:r>
            <a:r>
              <a:rPr lang="en-US" sz="2000" b="1" dirty="0">
                <a:latin typeface="Times New Roman" panose="02020603050405020304" pitchFamily="18" charset="0"/>
                <a:cs typeface="Times New Roman" panose="02020603050405020304" pitchFamily="18" charset="0"/>
              </a:rPr>
              <a:t>d b a    Hash(pattern)=4*10</a:t>
            </a:r>
            <a:r>
              <a:rPr lang="en-US" sz="2000" b="1" baseline="30000"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 +2*10</a:t>
            </a:r>
            <a:r>
              <a:rPr lang="en-US" sz="2000" b="1" baseline="30000" dirty="0">
                <a:latin typeface="Times New Roman" panose="02020603050405020304" pitchFamily="18" charset="0"/>
                <a:cs typeface="Times New Roman" panose="02020603050405020304" pitchFamily="18" charset="0"/>
              </a:rPr>
              <a:t>1</a:t>
            </a:r>
            <a:r>
              <a:rPr lang="en-US" sz="2000" b="1" dirty="0">
                <a:latin typeface="Times New Roman" panose="02020603050405020304" pitchFamily="18" charset="0"/>
                <a:cs typeface="Times New Roman" panose="02020603050405020304" pitchFamily="18" charset="0"/>
              </a:rPr>
              <a:t> + 1 * 10</a:t>
            </a:r>
            <a:r>
              <a:rPr lang="en-US" sz="2000" b="1" baseline="30000" dirty="0">
                <a:latin typeface="Times New Roman" panose="02020603050405020304" pitchFamily="18" charset="0"/>
                <a:cs typeface="Times New Roman" panose="02020603050405020304" pitchFamily="18" charset="0"/>
              </a:rPr>
              <a:t>0</a:t>
            </a:r>
            <a:r>
              <a:rPr lang="en-US" sz="2000" b="1" dirty="0">
                <a:latin typeface="Times New Roman" panose="02020603050405020304" pitchFamily="18" charset="0"/>
                <a:cs typeface="Times New Roman" panose="02020603050405020304" pitchFamily="18" charset="0"/>
              </a:rPr>
              <a:t> =4*100+2*10+1=400+20+1=421</a:t>
            </a:r>
          </a:p>
        </p:txBody>
      </p:sp>
    </p:spTree>
    <p:extLst>
      <p:ext uri="{BB962C8B-B14F-4D97-AF65-F5344CB8AC3E}">
        <p14:creationId xmlns:p14="http://schemas.microsoft.com/office/powerpoint/2010/main" val="215375589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0E1A4-E12E-0B84-0C09-C1FE57908FD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232C38-34B8-CE77-F5C9-12EBF68466DB}"/>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ED8CF8FC-77A9-1D2D-9089-243781C8482A}"/>
              </a:ext>
            </a:extLst>
          </p:cNvPr>
          <p:cNvSpPr>
            <a:spLocks noGrp="1"/>
          </p:cNvSpPr>
          <p:nvPr>
            <p:ph type="sldNum" sz="quarter" idx="12"/>
          </p:nvPr>
        </p:nvSpPr>
        <p:spPr/>
        <p:txBody>
          <a:bodyPr/>
          <a:lstStyle/>
          <a:p>
            <a:fld id="{68187FF5-4BF9-4B21-B0D2-9B7FF2B27D7F}" type="slidenum">
              <a:rPr lang="en-AU" smtClean="0"/>
              <a:pPr/>
              <a:t>78</a:t>
            </a:fld>
            <a:endParaRPr lang="en-AU"/>
          </a:p>
        </p:txBody>
      </p:sp>
      <p:graphicFrame>
        <p:nvGraphicFramePr>
          <p:cNvPr id="4" name="Table 3">
            <a:extLst>
              <a:ext uri="{FF2B5EF4-FFF2-40B4-BE49-F238E27FC236}">
                <a16:creationId xmlns:a16="http://schemas.microsoft.com/office/drawing/2014/main" id="{0CD129F1-936F-0D84-4444-A6A204BC26B1}"/>
              </a:ext>
            </a:extLst>
          </p:cNvPr>
          <p:cNvGraphicFramePr>
            <a:graphicFrameLocks noGrp="1"/>
          </p:cNvGraphicFramePr>
          <p:nvPr>
            <p:extLst>
              <p:ext uri="{D42A27DB-BD31-4B8C-83A1-F6EECF244321}">
                <p14:modId xmlns:p14="http://schemas.microsoft.com/office/powerpoint/2010/main" val="4193539859"/>
              </p:ext>
            </p:extLst>
          </p:nvPr>
        </p:nvGraphicFramePr>
        <p:xfrm>
          <a:off x="159026" y="1717883"/>
          <a:ext cx="11907078" cy="4777765"/>
        </p:xfrm>
        <a:graphic>
          <a:graphicData uri="http://schemas.openxmlformats.org/drawingml/2006/table">
            <a:tbl>
              <a:tblPr/>
              <a:tblGrid>
                <a:gridCol w="689519">
                  <a:extLst>
                    <a:ext uri="{9D8B030D-6E8A-4147-A177-3AD203B41FA5}">
                      <a16:colId xmlns:a16="http://schemas.microsoft.com/office/drawing/2014/main" val="4170927850"/>
                    </a:ext>
                  </a:extLst>
                </a:gridCol>
                <a:gridCol w="1039425">
                  <a:extLst>
                    <a:ext uri="{9D8B030D-6E8A-4147-A177-3AD203B41FA5}">
                      <a16:colId xmlns:a16="http://schemas.microsoft.com/office/drawing/2014/main" val="4186477354"/>
                    </a:ext>
                  </a:extLst>
                </a:gridCol>
                <a:gridCol w="1060009">
                  <a:extLst>
                    <a:ext uri="{9D8B030D-6E8A-4147-A177-3AD203B41FA5}">
                      <a16:colId xmlns:a16="http://schemas.microsoft.com/office/drawing/2014/main" val="4021892924"/>
                    </a:ext>
                  </a:extLst>
                </a:gridCol>
                <a:gridCol w="1029133">
                  <a:extLst>
                    <a:ext uri="{9D8B030D-6E8A-4147-A177-3AD203B41FA5}">
                      <a16:colId xmlns:a16="http://schemas.microsoft.com/office/drawing/2014/main" val="3129869539"/>
                    </a:ext>
                  </a:extLst>
                </a:gridCol>
                <a:gridCol w="5114795">
                  <a:extLst>
                    <a:ext uri="{9D8B030D-6E8A-4147-A177-3AD203B41FA5}">
                      <a16:colId xmlns:a16="http://schemas.microsoft.com/office/drawing/2014/main" val="2623215700"/>
                    </a:ext>
                  </a:extLst>
                </a:gridCol>
                <a:gridCol w="761560">
                  <a:extLst>
                    <a:ext uri="{9D8B030D-6E8A-4147-A177-3AD203B41FA5}">
                      <a16:colId xmlns:a16="http://schemas.microsoft.com/office/drawing/2014/main" val="1400893677"/>
                    </a:ext>
                  </a:extLst>
                </a:gridCol>
                <a:gridCol w="1080590">
                  <a:extLst>
                    <a:ext uri="{9D8B030D-6E8A-4147-A177-3AD203B41FA5}">
                      <a16:colId xmlns:a16="http://schemas.microsoft.com/office/drawing/2014/main" val="4109519383"/>
                    </a:ext>
                  </a:extLst>
                </a:gridCol>
                <a:gridCol w="1132047">
                  <a:extLst>
                    <a:ext uri="{9D8B030D-6E8A-4147-A177-3AD203B41FA5}">
                      <a16:colId xmlns:a16="http://schemas.microsoft.com/office/drawing/2014/main" val="3415483987"/>
                    </a:ext>
                  </a:extLst>
                </a:gridCol>
              </a:tblGrid>
              <a:tr h="496520">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Step</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Current Window</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Old Char Removed</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New Char Added</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Rolling Hash Calculation</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New Hash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Pattern Hash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Match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1968282"/>
                  </a:ext>
                </a:extLst>
              </a:tr>
              <a:tr h="385744">
                <a:tc>
                  <a:txBody>
                    <a:bodyPr/>
                    <a:lstStyle/>
                    <a:p>
                      <a:pPr algn="ctr"/>
                      <a:r>
                        <a:rPr lang="en-US" sz="1900" b="1" dirty="0">
                          <a:latin typeface="Times New Roman" panose="02020603050405020304" pitchFamily="18" charset="0"/>
                          <a:cs typeface="Times New Roman" panose="02020603050405020304" pitchFamily="18" charset="0"/>
                        </a:rPr>
                        <a:t>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cca</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Initial Hash = 3x100+3x10+1= 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4141085"/>
                  </a:ext>
                </a:extLst>
              </a:tr>
              <a:tr h="521020">
                <a:tc>
                  <a:txBody>
                    <a:bodyPr/>
                    <a:lstStyle/>
                    <a:p>
                      <a:pPr algn="ctr"/>
                      <a:r>
                        <a:rPr lang="en-US" sz="1900" b="1">
                          <a:latin typeface="Times New Roman" panose="02020603050405020304" pitchFamily="18" charset="0"/>
                          <a:cs typeface="Times New Roman" panose="02020603050405020304" pitchFamily="18" charset="0"/>
                        </a:rPr>
                        <a:t>2</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cac</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(331−3×100)×10+3=(331−300)×10+3=31×10+3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313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8585702"/>
                  </a:ext>
                </a:extLst>
              </a:tr>
              <a:tr h="443833">
                <a:tc>
                  <a:txBody>
                    <a:bodyPr/>
                    <a:lstStyle/>
                    <a:p>
                      <a:pPr algn="ctr"/>
                      <a:r>
                        <a:rPr lang="en-US" sz="1900" b="1" dirty="0">
                          <a:latin typeface="Times New Roman" panose="02020603050405020304" pitchFamily="18" charset="0"/>
                          <a:cs typeface="Times New Roman" panose="02020603050405020304" pitchFamily="18" charset="0"/>
                        </a:rPr>
                        <a:t>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solidFill>
                            <a:srgbClr val="1E03BD"/>
                          </a:solidFill>
                          <a:latin typeface="Times New Roman" panose="02020603050405020304" pitchFamily="18" charset="0"/>
                          <a:cs typeface="Times New Roman" panose="02020603050405020304" pitchFamily="18" charset="0"/>
                        </a:rPr>
                        <a:t>acc</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(313−3×100)×10+3=(313−300)×10+3=13×10+3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133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5628687"/>
                  </a:ext>
                </a:extLst>
              </a:tr>
              <a:tr h="521020">
                <a:tc>
                  <a:txBody>
                    <a:bodyPr/>
                    <a:lstStyle/>
                    <a:p>
                      <a:pPr algn="ctr"/>
                      <a:r>
                        <a:rPr lang="en-US" sz="1900" b="1">
                          <a:latin typeface="Times New Roman" panose="02020603050405020304" pitchFamily="18" charset="0"/>
                          <a:cs typeface="Times New Roman" panose="02020603050405020304" pitchFamily="18" charset="0"/>
                        </a:rPr>
                        <a:t>4</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cca</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(133−1×100)×10+1=(133−100)×10+1=33×10+1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7058825"/>
                  </a:ext>
                </a:extLst>
              </a:tr>
              <a:tr h="463130">
                <a:tc>
                  <a:txBody>
                    <a:bodyPr/>
                    <a:lstStyle/>
                    <a:p>
                      <a:pPr algn="ctr"/>
                      <a:r>
                        <a:rPr lang="en-US" sz="1900" b="1">
                          <a:latin typeface="Times New Roman" panose="02020603050405020304" pitchFamily="18" charset="0"/>
                          <a:cs typeface="Times New Roman" panose="02020603050405020304" pitchFamily="18" charset="0"/>
                        </a:rPr>
                        <a:t>5</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caa</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(331−3×100)×10+1=(331−300)×10+1=31×10+1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311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8708137"/>
                  </a:ext>
                </a:extLst>
              </a:tr>
              <a:tr h="424536">
                <a:tc>
                  <a:txBody>
                    <a:bodyPr/>
                    <a:lstStyle/>
                    <a:p>
                      <a:pPr algn="ctr"/>
                      <a:r>
                        <a:rPr lang="en-US" sz="1900" b="1">
                          <a:latin typeface="Times New Roman" panose="02020603050405020304" pitchFamily="18" charset="0"/>
                          <a:cs typeface="Times New Roman" panose="02020603050405020304" pitchFamily="18" charset="0"/>
                        </a:rPr>
                        <a:t>6</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solidFill>
                            <a:srgbClr val="1E03BD"/>
                          </a:solidFill>
                          <a:latin typeface="Times New Roman" panose="02020603050405020304" pitchFamily="18" charset="0"/>
                          <a:cs typeface="Times New Roman" panose="02020603050405020304" pitchFamily="18" charset="0"/>
                        </a:rPr>
                        <a:t>aae</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e (5)</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(311−3×100)×10+5=(311−300)×10+5=11×10+5</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115</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4988868"/>
                  </a:ext>
                </a:extLst>
              </a:tr>
              <a:tr h="540318">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213124"/>
                  </a:ext>
                </a:extLst>
              </a:tr>
              <a:tr h="424536">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6248407"/>
                  </a:ext>
                </a:extLst>
              </a:tr>
              <a:tr h="492076">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7469314"/>
                  </a:ext>
                </a:extLst>
              </a:tr>
            </a:tbl>
          </a:graphicData>
        </a:graphic>
      </p:graphicFrame>
      <p:sp>
        <p:nvSpPr>
          <p:cNvPr id="5" name="Rectangle 4">
            <a:extLst>
              <a:ext uri="{FF2B5EF4-FFF2-40B4-BE49-F238E27FC236}">
                <a16:creationId xmlns:a16="http://schemas.microsoft.com/office/drawing/2014/main" id="{052EEEA4-3132-1CE9-A7B8-A95BFE3A4E4E}"/>
              </a:ext>
            </a:extLst>
          </p:cNvPr>
          <p:cNvSpPr/>
          <p:nvPr/>
        </p:nvSpPr>
        <p:spPr>
          <a:xfrm>
            <a:off x="1615859" y="121178"/>
            <a:ext cx="10576142" cy="1631216"/>
          </a:xfrm>
          <a:prstGeom prst="rect">
            <a:avLst/>
          </a:prstGeom>
        </p:spPr>
        <p:txBody>
          <a:bodyPr wrap="square">
            <a:spAutoFit/>
          </a:bodyPr>
          <a:lstStyle/>
          <a:p>
            <a:r>
              <a:rPr lang="en-US" sz="2000" b="1" dirty="0">
                <a:solidFill>
                  <a:srgbClr val="C00000"/>
                </a:solidFill>
                <a:latin typeface="Times New Roman" panose="02020603050405020304" pitchFamily="18" charset="0"/>
                <a:cs typeface="Times New Roman" panose="02020603050405020304" pitchFamily="18" charset="0"/>
              </a:rPr>
              <a:t>Example 3: Rolling hash function</a:t>
            </a:r>
            <a:endParaRPr lang="en-US" altLang="en-US" sz="2000" b="1" dirty="0">
              <a:solidFill>
                <a:srgbClr val="C00000"/>
              </a:solidFill>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Text (T):</a:t>
            </a: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F0000"/>
                </a:solidFill>
                <a:latin typeface="Times New Roman" panose="02020603050405020304" pitchFamily="18" charset="0"/>
                <a:cs typeface="Times New Roman" panose="02020603050405020304" pitchFamily="18" charset="0"/>
              </a:rPr>
              <a:t>c </a:t>
            </a:r>
            <a:r>
              <a:rPr lang="en-US" altLang="en-US" sz="2000" b="1" dirty="0" err="1">
                <a:solidFill>
                  <a:srgbClr val="FF0000"/>
                </a:solidFill>
                <a:latin typeface="Times New Roman" panose="02020603050405020304" pitchFamily="18" charset="0"/>
                <a:cs typeface="Times New Roman" panose="02020603050405020304" pitchFamily="18" charset="0"/>
              </a:rPr>
              <a:t>c</a:t>
            </a:r>
            <a:r>
              <a:rPr lang="en-US" altLang="en-US" sz="2000" b="1" dirty="0">
                <a:solidFill>
                  <a:srgbClr val="FF0000"/>
                </a:solidFill>
                <a:latin typeface="Times New Roman" panose="02020603050405020304" pitchFamily="18" charset="0"/>
                <a:cs typeface="Times New Roman" panose="02020603050405020304" pitchFamily="18" charset="0"/>
              </a:rPr>
              <a:t> a c </a:t>
            </a:r>
            <a:r>
              <a:rPr lang="en-US" altLang="en-US" sz="2000" b="1" dirty="0" err="1">
                <a:solidFill>
                  <a:srgbClr val="FF0000"/>
                </a:solidFill>
                <a:latin typeface="Times New Roman" panose="02020603050405020304" pitchFamily="18" charset="0"/>
                <a:cs typeface="Times New Roman" panose="02020603050405020304" pitchFamily="18" charset="0"/>
              </a:rPr>
              <a:t>c</a:t>
            </a:r>
            <a:r>
              <a:rPr lang="en-US" altLang="en-US" sz="2000" b="1" dirty="0">
                <a:solidFill>
                  <a:srgbClr val="FF0000"/>
                </a:solidFill>
                <a:latin typeface="Times New Roman" panose="02020603050405020304" pitchFamily="18" charset="0"/>
                <a:cs typeface="Times New Roman" panose="02020603050405020304" pitchFamily="18" charset="0"/>
              </a:rPr>
              <a:t> a </a:t>
            </a:r>
            <a:r>
              <a:rPr lang="en-US" altLang="en-US" sz="2000" b="1" dirty="0" err="1">
                <a:solidFill>
                  <a:srgbClr val="FF0000"/>
                </a:solidFill>
                <a:latin typeface="Times New Roman" panose="02020603050405020304" pitchFamily="18" charset="0"/>
                <a:cs typeface="Times New Roman" panose="02020603050405020304" pitchFamily="18" charset="0"/>
              </a:rPr>
              <a:t>a</a:t>
            </a:r>
            <a:r>
              <a:rPr lang="en-US" altLang="en-US" sz="2000" b="1" dirty="0">
                <a:solidFill>
                  <a:srgbClr val="FF0000"/>
                </a:solidFill>
                <a:latin typeface="Times New Roman" panose="02020603050405020304" pitchFamily="18" charset="0"/>
                <a:cs typeface="Times New Roman" panose="02020603050405020304" pitchFamily="18" charset="0"/>
              </a:rPr>
              <a:t> e d b a </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Pattern (P):</a:t>
            </a: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F0000"/>
                </a:solidFill>
                <a:latin typeface="Times New Roman" panose="02020603050405020304" pitchFamily="18" charset="0"/>
                <a:cs typeface="Times New Roman" panose="02020603050405020304" pitchFamily="18" charset="0"/>
              </a:rPr>
              <a:t>d b a  </a:t>
            </a:r>
            <a:r>
              <a:rPr lang="en-US" altLang="en-US" sz="2000" b="1" dirty="0" err="1">
                <a:solidFill>
                  <a:srgbClr val="1E03BD"/>
                </a:solidFill>
                <a:latin typeface="Times New Roman" panose="02020603050405020304" pitchFamily="18" charset="0"/>
                <a:cs typeface="Times New Roman" panose="02020603050405020304" pitchFamily="18" charset="0"/>
              </a:rPr>
              <a:t>H</a:t>
            </a:r>
            <a:r>
              <a:rPr lang="en-US" altLang="en-US" sz="2000" b="1" baseline="-25000" dirty="0" err="1">
                <a:solidFill>
                  <a:srgbClr val="1E03BD"/>
                </a:solidFill>
                <a:latin typeface="Times New Roman" panose="02020603050405020304" pitchFamily="18" charset="0"/>
                <a:cs typeface="Times New Roman" panose="02020603050405020304" pitchFamily="18" charset="0"/>
              </a:rPr>
              <a:t>new</a:t>
            </a:r>
            <a:r>
              <a:rPr lang="en-US" altLang="en-US" sz="2000" b="1" dirty="0">
                <a:solidFill>
                  <a:srgbClr val="1E03BD"/>
                </a:solidFill>
                <a:latin typeface="Times New Roman" panose="02020603050405020304" pitchFamily="18" charset="0"/>
                <a:cs typeface="Times New Roman" panose="02020603050405020304" pitchFamily="18" charset="0"/>
              </a:rPr>
              <a:t>=(H</a:t>
            </a:r>
            <a:r>
              <a:rPr lang="en-US" altLang="en-US" sz="2000" b="1" baseline="-25000" dirty="0">
                <a:solidFill>
                  <a:srgbClr val="1E03BD"/>
                </a:solidFill>
                <a:latin typeface="Times New Roman" panose="02020603050405020304" pitchFamily="18" charset="0"/>
                <a:cs typeface="Times New Roman" panose="02020603050405020304" pitchFamily="18" charset="0"/>
              </a:rPr>
              <a:t>old</a:t>
            </a:r>
            <a:r>
              <a:rPr lang="en-US" altLang="en-US" sz="2000" b="1" dirty="0">
                <a:solidFill>
                  <a:srgbClr val="1E03BD"/>
                </a:solidFill>
                <a:latin typeface="Times New Roman" panose="02020603050405020304" pitchFamily="18" charset="0"/>
                <a:cs typeface="Times New Roman" panose="02020603050405020304" pitchFamily="18" charset="0"/>
              </a:rPr>
              <a:t>−Old×10</a:t>
            </a:r>
            <a:r>
              <a:rPr lang="en-US" altLang="en-US" sz="2000" b="1" baseline="30000" dirty="0">
                <a:solidFill>
                  <a:srgbClr val="1E03BD"/>
                </a:solidFill>
                <a:latin typeface="Times New Roman" panose="02020603050405020304" pitchFamily="18" charset="0"/>
                <a:cs typeface="Times New Roman" panose="02020603050405020304" pitchFamily="18" charset="0"/>
              </a:rPr>
              <a:t>m−1</a:t>
            </a:r>
            <a:r>
              <a:rPr lang="en-US" altLang="en-US" sz="2000" b="1" dirty="0">
                <a:solidFill>
                  <a:srgbClr val="1E03BD"/>
                </a:solidFill>
                <a:latin typeface="Times New Roman" panose="02020603050405020304" pitchFamily="18" charset="0"/>
                <a:cs typeface="Times New Roman" panose="02020603050405020304" pitchFamily="18" charset="0"/>
              </a:rPr>
              <a:t>)×10+New</a:t>
            </a:r>
          </a:p>
          <a:p>
            <a:pPr lvl="0"/>
            <a:r>
              <a:rPr lang="en-US" sz="2000" dirty="0">
                <a:latin typeface="Times New Roman" panose="02020603050405020304" pitchFamily="18" charset="0"/>
                <a:cs typeface="Times New Roman" panose="02020603050405020304" pitchFamily="18" charset="0"/>
              </a:rPr>
              <a:t>Since m=3  10</a:t>
            </a:r>
            <a:r>
              <a:rPr lang="en-US" sz="2000" baseline="30000" dirty="0">
                <a:latin typeface="Times New Roman" panose="02020603050405020304" pitchFamily="18" charset="0"/>
                <a:cs typeface="Times New Roman" panose="02020603050405020304" pitchFamily="18" charset="0"/>
              </a:rPr>
              <a:t>m−1</a:t>
            </a:r>
            <a:r>
              <a:rPr lang="en-US" sz="2000" dirty="0">
                <a:latin typeface="Times New Roman" panose="02020603050405020304" pitchFamily="18" charset="0"/>
                <a:cs typeface="Times New Roman" panose="02020603050405020304" pitchFamily="18" charset="0"/>
              </a:rPr>
              <a:t>=10</a:t>
            </a:r>
            <a:r>
              <a:rPr lang="en-US" sz="2000" baseline="30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=100   </a:t>
            </a:r>
            <a:r>
              <a:rPr lang="en-US" sz="2000" dirty="0" err="1">
                <a:latin typeface="Times New Roman" panose="02020603050405020304" pitchFamily="18" charset="0"/>
                <a:cs typeface="Times New Roman" panose="02020603050405020304" pitchFamily="18" charset="0"/>
              </a:rPr>
              <a:t>H</a:t>
            </a:r>
            <a:r>
              <a:rPr lang="en-US" sz="2000" baseline="-25000" dirty="0" err="1">
                <a:latin typeface="Times New Roman" panose="02020603050405020304" pitchFamily="18" charset="0"/>
                <a:cs typeface="Times New Roman" panose="02020603050405020304" pitchFamily="18" charset="0"/>
              </a:rPr>
              <a:t>new</a:t>
            </a:r>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old</a:t>
            </a:r>
            <a:r>
              <a:rPr lang="en-US" sz="2000" dirty="0">
                <a:latin typeface="Times New Roman" panose="02020603050405020304" pitchFamily="18" charset="0"/>
                <a:cs typeface="Times New Roman" panose="02020603050405020304" pitchFamily="18" charset="0"/>
              </a:rPr>
              <a:t>​−Old×100)×10+New</a:t>
            </a:r>
          </a:p>
          <a:p>
            <a:r>
              <a:rPr lang="en-US" altLang="en-US" sz="2000" b="1" dirty="0">
                <a:latin typeface="Times New Roman" panose="02020603050405020304" pitchFamily="18" charset="0"/>
                <a:cs typeface="Times New Roman" panose="02020603050405020304" pitchFamily="18" charset="0"/>
              </a:rPr>
              <a:t>Character Codes:</a:t>
            </a:r>
            <a:r>
              <a:rPr lang="en-US" altLang="en-US" sz="2000" dirty="0">
                <a:latin typeface="Times New Roman" panose="02020603050405020304" pitchFamily="18" charset="0"/>
                <a:cs typeface="Times New Roman" panose="02020603050405020304" pitchFamily="18" charset="0"/>
              </a:rPr>
              <a:t> a = 1, b = 2, c = 3, d = 4, e = 5 ,   </a:t>
            </a:r>
            <a:r>
              <a:rPr lang="en-US" altLang="en-US" sz="2000" b="1" dirty="0">
                <a:latin typeface="Times New Roman" panose="02020603050405020304" pitchFamily="18" charset="0"/>
                <a:cs typeface="Times New Roman" panose="02020603050405020304" pitchFamily="18" charset="0"/>
              </a:rPr>
              <a:t>Base (d):</a:t>
            </a:r>
            <a:r>
              <a:rPr lang="en-US" altLang="en-US" sz="2000" dirty="0">
                <a:latin typeface="Times New Roman" panose="02020603050405020304" pitchFamily="18" charset="0"/>
                <a:cs typeface="Times New Roman" panose="02020603050405020304" pitchFamily="18" charset="0"/>
              </a:rPr>
              <a:t> 10 </a:t>
            </a:r>
          </a:p>
          <a:p>
            <a:r>
              <a:rPr lang="en-US" alt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Pattern = </a:t>
            </a:r>
            <a:r>
              <a:rPr lang="en-US" sz="2000" b="1" dirty="0">
                <a:latin typeface="Times New Roman" panose="02020603050405020304" pitchFamily="18" charset="0"/>
                <a:cs typeface="Times New Roman" panose="02020603050405020304" pitchFamily="18" charset="0"/>
              </a:rPr>
              <a:t>d b a    Hash(pattern)=4*10</a:t>
            </a:r>
            <a:r>
              <a:rPr lang="en-US" sz="2000" b="1" baseline="30000"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 +2*10</a:t>
            </a:r>
            <a:r>
              <a:rPr lang="en-US" sz="2000" b="1" baseline="30000" dirty="0">
                <a:latin typeface="Times New Roman" panose="02020603050405020304" pitchFamily="18" charset="0"/>
                <a:cs typeface="Times New Roman" panose="02020603050405020304" pitchFamily="18" charset="0"/>
              </a:rPr>
              <a:t>1</a:t>
            </a:r>
            <a:r>
              <a:rPr lang="en-US" sz="2000" b="1" dirty="0">
                <a:latin typeface="Times New Roman" panose="02020603050405020304" pitchFamily="18" charset="0"/>
                <a:cs typeface="Times New Roman" panose="02020603050405020304" pitchFamily="18" charset="0"/>
              </a:rPr>
              <a:t> + 1 * 10</a:t>
            </a:r>
            <a:r>
              <a:rPr lang="en-US" sz="2000" b="1" baseline="30000" dirty="0">
                <a:latin typeface="Times New Roman" panose="02020603050405020304" pitchFamily="18" charset="0"/>
                <a:cs typeface="Times New Roman" panose="02020603050405020304" pitchFamily="18" charset="0"/>
              </a:rPr>
              <a:t>0</a:t>
            </a:r>
            <a:r>
              <a:rPr lang="en-US" sz="2000" b="1" dirty="0">
                <a:latin typeface="Times New Roman" panose="02020603050405020304" pitchFamily="18" charset="0"/>
                <a:cs typeface="Times New Roman" panose="02020603050405020304" pitchFamily="18" charset="0"/>
              </a:rPr>
              <a:t> =4*100+2*10+1=400+20+1=421</a:t>
            </a:r>
          </a:p>
        </p:txBody>
      </p:sp>
    </p:spTree>
    <p:extLst>
      <p:ext uri="{BB962C8B-B14F-4D97-AF65-F5344CB8AC3E}">
        <p14:creationId xmlns:p14="http://schemas.microsoft.com/office/powerpoint/2010/main" val="300710996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10CAA-C825-2C79-BD15-318ED218E69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C5221F2-C885-84AA-5A55-D82A8A899D9F}"/>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B06096B1-1ADD-B6E3-D3D5-24EB202B0B30}"/>
              </a:ext>
            </a:extLst>
          </p:cNvPr>
          <p:cNvSpPr>
            <a:spLocks noGrp="1"/>
          </p:cNvSpPr>
          <p:nvPr>
            <p:ph type="sldNum" sz="quarter" idx="12"/>
          </p:nvPr>
        </p:nvSpPr>
        <p:spPr/>
        <p:txBody>
          <a:bodyPr/>
          <a:lstStyle/>
          <a:p>
            <a:fld id="{68187FF5-4BF9-4B21-B0D2-9B7FF2B27D7F}" type="slidenum">
              <a:rPr lang="en-AU" smtClean="0"/>
              <a:pPr/>
              <a:t>79</a:t>
            </a:fld>
            <a:endParaRPr lang="en-AU"/>
          </a:p>
        </p:txBody>
      </p:sp>
      <p:graphicFrame>
        <p:nvGraphicFramePr>
          <p:cNvPr id="4" name="Table 3">
            <a:extLst>
              <a:ext uri="{FF2B5EF4-FFF2-40B4-BE49-F238E27FC236}">
                <a16:creationId xmlns:a16="http://schemas.microsoft.com/office/drawing/2014/main" id="{398D9136-B7F5-8A13-A228-A097BDF1C58F}"/>
              </a:ext>
            </a:extLst>
          </p:cNvPr>
          <p:cNvGraphicFramePr>
            <a:graphicFrameLocks noGrp="1"/>
          </p:cNvGraphicFramePr>
          <p:nvPr>
            <p:extLst>
              <p:ext uri="{D42A27DB-BD31-4B8C-83A1-F6EECF244321}">
                <p14:modId xmlns:p14="http://schemas.microsoft.com/office/powerpoint/2010/main" val="2641174534"/>
              </p:ext>
            </p:extLst>
          </p:nvPr>
        </p:nvGraphicFramePr>
        <p:xfrm>
          <a:off x="159026" y="1717883"/>
          <a:ext cx="11907078" cy="4777765"/>
        </p:xfrm>
        <a:graphic>
          <a:graphicData uri="http://schemas.openxmlformats.org/drawingml/2006/table">
            <a:tbl>
              <a:tblPr/>
              <a:tblGrid>
                <a:gridCol w="689519">
                  <a:extLst>
                    <a:ext uri="{9D8B030D-6E8A-4147-A177-3AD203B41FA5}">
                      <a16:colId xmlns:a16="http://schemas.microsoft.com/office/drawing/2014/main" val="4170927850"/>
                    </a:ext>
                  </a:extLst>
                </a:gridCol>
                <a:gridCol w="1039425">
                  <a:extLst>
                    <a:ext uri="{9D8B030D-6E8A-4147-A177-3AD203B41FA5}">
                      <a16:colId xmlns:a16="http://schemas.microsoft.com/office/drawing/2014/main" val="4186477354"/>
                    </a:ext>
                  </a:extLst>
                </a:gridCol>
                <a:gridCol w="1060009">
                  <a:extLst>
                    <a:ext uri="{9D8B030D-6E8A-4147-A177-3AD203B41FA5}">
                      <a16:colId xmlns:a16="http://schemas.microsoft.com/office/drawing/2014/main" val="4021892924"/>
                    </a:ext>
                  </a:extLst>
                </a:gridCol>
                <a:gridCol w="1029133">
                  <a:extLst>
                    <a:ext uri="{9D8B030D-6E8A-4147-A177-3AD203B41FA5}">
                      <a16:colId xmlns:a16="http://schemas.microsoft.com/office/drawing/2014/main" val="3129869539"/>
                    </a:ext>
                  </a:extLst>
                </a:gridCol>
                <a:gridCol w="5114795">
                  <a:extLst>
                    <a:ext uri="{9D8B030D-6E8A-4147-A177-3AD203B41FA5}">
                      <a16:colId xmlns:a16="http://schemas.microsoft.com/office/drawing/2014/main" val="2623215700"/>
                    </a:ext>
                  </a:extLst>
                </a:gridCol>
                <a:gridCol w="761560">
                  <a:extLst>
                    <a:ext uri="{9D8B030D-6E8A-4147-A177-3AD203B41FA5}">
                      <a16:colId xmlns:a16="http://schemas.microsoft.com/office/drawing/2014/main" val="1400893677"/>
                    </a:ext>
                  </a:extLst>
                </a:gridCol>
                <a:gridCol w="1080590">
                  <a:extLst>
                    <a:ext uri="{9D8B030D-6E8A-4147-A177-3AD203B41FA5}">
                      <a16:colId xmlns:a16="http://schemas.microsoft.com/office/drawing/2014/main" val="4109519383"/>
                    </a:ext>
                  </a:extLst>
                </a:gridCol>
                <a:gridCol w="1132047">
                  <a:extLst>
                    <a:ext uri="{9D8B030D-6E8A-4147-A177-3AD203B41FA5}">
                      <a16:colId xmlns:a16="http://schemas.microsoft.com/office/drawing/2014/main" val="3415483987"/>
                    </a:ext>
                  </a:extLst>
                </a:gridCol>
              </a:tblGrid>
              <a:tr h="496520">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Step</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Current Window</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Old Char Removed</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New Char Added</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Rolling Hash Calculation</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New Hash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Pattern Hash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Match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1968282"/>
                  </a:ext>
                </a:extLst>
              </a:tr>
              <a:tr h="385744">
                <a:tc>
                  <a:txBody>
                    <a:bodyPr/>
                    <a:lstStyle/>
                    <a:p>
                      <a:pPr algn="ctr"/>
                      <a:r>
                        <a:rPr lang="en-US" sz="1900" b="1" dirty="0">
                          <a:latin typeface="Times New Roman" panose="02020603050405020304" pitchFamily="18" charset="0"/>
                          <a:cs typeface="Times New Roman" panose="02020603050405020304" pitchFamily="18" charset="0"/>
                        </a:rPr>
                        <a:t>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cca</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Initial Hash = 3x100+3x10+1= 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4141085"/>
                  </a:ext>
                </a:extLst>
              </a:tr>
              <a:tr h="521020">
                <a:tc>
                  <a:txBody>
                    <a:bodyPr/>
                    <a:lstStyle/>
                    <a:p>
                      <a:pPr algn="ctr"/>
                      <a:r>
                        <a:rPr lang="en-US" sz="1900" b="1">
                          <a:latin typeface="Times New Roman" panose="02020603050405020304" pitchFamily="18" charset="0"/>
                          <a:cs typeface="Times New Roman" panose="02020603050405020304" pitchFamily="18" charset="0"/>
                        </a:rPr>
                        <a:t>2</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cac</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(331−3×100)×10+3=(331−300)×10+3=31×10+3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313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8585702"/>
                  </a:ext>
                </a:extLst>
              </a:tr>
              <a:tr h="443833">
                <a:tc>
                  <a:txBody>
                    <a:bodyPr/>
                    <a:lstStyle/>
                    <a:p>
                      <a:pPr algn="ctr"/>
                      <a:r>
                        <a:rPr lang="en-US" sz="1900" b="1" dirty="0">
                          <a:latin typeface="Times New Roman" panose="02020603050405020304" pitchFamily="18" charset="0"/>
                          <a:cs typeface="Times New Roman" panose="02020603050405020304" pitchFamily="18" charset="0"/>
                        </a:rPr>
                        <a:t>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solidFill>
                            <a:srgbClr val="1E03BD"/>
                          </a:solidFill>
                          <a:latin typeface="Times New Roman" panose="02020603050405020304" pitchFamily="18" charset="0"/>
                          <a:cs typeface="Times New Roman" panose="02020603050405020304" pitchFamily="18" charset="0"/>
                        </a:rPr>
                        <a:t>acc</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(313−3×100)×10+3=(313−300)×10+3=13×10+3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133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5628687"/>
                  </a:ext>
                </a:extLst>
              </a:tr>
              <a:tr h="521020">
                <a:tc>
                  <a:txBody>
                    <a:bodyPr/>
                    <a:lstStyle/>
                    <a:p>
                      <a:pPr algn="ctr"/>
                      <a:r>
                        <a:rPr lang="en-US" sz="1900" b="1">
                          <a:latin typeface="Times New Roman" panose="02020603050405020304" pitchFamily="18" charset="0"/>
                          <a:cs typeface="Times New Roman" panose="02020603050405020304" pitchFamily="18" charset="0"/>
                        </a:rPr>
                        <a:t>4</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cca</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(133−1×100)×10+1=(133−100)×10+1=33×10+1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7058825"/>
                  </a:ext>
                </a:extLst>
              </a:tr>
              <a:tr h="463130">
                <a:tc>
                  <a:txBody>
                    <a:bodyPr/>
                    <a:lstStyle/>
                    <a:p>
                      <a:pPr algn="ctr"/>
                      <a:r>
                        <a:rPr lang="en-US" sz="1900" b="1">
                          <a:latin typeface="Times New Roman" panose="02020603050405020304" pitchFamily="18" charset="0"/>
                          <a:cs typeface="Times New Roman" panose="02020603050405020304" pitchFamily="18" charset="0"/>
                        </a:rPr>
                        <a:t>5</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caa</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(331−3×100)×10+1=(331−300)×10+1=31×10+1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311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8708137"/>
                  </a:ext>
                </a:extLst>
              </a:tr>
              <a:tr h="424536">
                <a:tc>
                  <a:txBody>
                    <a:bodyPr/>
                    <a:lstStyle/>
                    <a:p>
                      <a:pPr algn="ctr"/>
                      <a:r>
                        <a:rPr lang="en-US" sz="1900" b="1">
                          <a:latin typeface="Times New Roman" panose="02020603050405020304" pitchFamily="18" charset="0"/>
                          <a:cs typeface="Times New Roman" panose="02020603050405020304" pitchFamily="18" charset="0"/>
                        </a:rPr>
                        <a:t>6</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solidFill>
                            <a:srgbClr val="1E03BD"/>
                          </a:solidFill>
                          <a:latin typeface="Times New Roman" panose="02020603050405020304" pitchFamily="18" charset="0"/>
                          <a:cs typeface="Times New Roman" panose="02020603050405020304" pitchFamily="18" charset="0"/>
                        </a:rPr>
                        <a:t>aae</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e (5)</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(311−3×100)×10+5=(311−300)×10+5=11×10+5</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115</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4988868"/>
                  </a:ext>
                </a:extLst>
              </a:tr>
              <a:tr h="540318">
                <a:tc>
                  <a:txBody>
                    <a:bodyPr/>
                    <a:lstStyle/>
                    <a:p>
                      <a:pPr algn="ctr"/>
                      <a:r>
                        <a:rPr lang="en-US" sz="1900" b="1">
                          <a:latin typeface="Times New Roman" panose="02020603050405020304" pitchFamily="18" charset="0"/>
                          <a:cs typeface="Times New Roman" panose="02020603050405020304" pitchFamily="18" charset="0"/>
                        </a:rPr>
                        <a:t>7</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aed</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d (4)</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(115−1×100)×10+4=(115−100)×10+4=15×10+4</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154</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213124"/>
                  </a:ext>
                </a:extLst>
              </a:tr>
              <a:tr h="424536">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6248407"/>
                  </a:ext>
                </a:extLst>
              </a:tr>
              <a:tr h="492076">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7469314"/>
                  </a:ext>
                </a:extLst>
              </a:tr>
            </a:tbl>
          </a:graphicData>
        </a:graphic>
      </p:graphicFrame>
      <p:sp>
        <p:nvSpPr>
          <p:cNvPr id="5" name="Rectangle 4">
            <a:extLst>
              <a:ext uri="{FF2B5EF4-FFF2-40B4-BE49-F238E27FC236}">
                <a16:creationId xmlns:a16="http://schemas.microsoft.com/office/drawing/2014/main" id="{319E8CD0-A79C-79AC-8936-80EE631B6278}"/>
              </a:ext>
            </a:extLst>
          </p:cNvPr>
          <p:cNvSpPr/>
          <p:nvPr/>
        </p:nvSpPr>
        <p:spPr>
          <a:xfrm>
            <a:off x="1615859" y="121178"/>
            <a:ext cx="10576142" cy="1631216"/>
          </a:xfrm>
          <a:prstGeom prst="rect">
            <a:avLst/>
          </a:prstGeom>
        </p:spPr>
        <p:txBody>
          <a:bodyPr wrap="square">
            <a:spAutoFit/>
          </a:bodyPr>
          <a:lstStyle/>
          <a:p>
            <a:r>
              <a:rPr lang="en-US" sz="2000" b="1" dirty="0">
                <a:solidFill>
                  <a:srgbClr val="C00000"/>
                </a:solidFill>
                <a:latin typeface="Times New Roman" panose="02020603050405020304" pitchFamily="18" charset="0"/>
                <a:cs typeface="Times New Roman" panose="02020603050405020304" pitchFamily="18" charset="0"/>
              </a:rPr>
              <a:t>Example 3: Rolling hash function</a:t>
            </a:r>
            <a:endParaRPr lang="en-US" altLang="en-US" sz="2000" b="1" dirty="0">
              <a:solidFill>
                <a:srgbClr val="C00000"/>
              </a:solidFill>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Text (T):</a:t>
            </a: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F0000"/>
                </a:solidFill>
                <a:latin typeface="Times New Roman" panose="02020603050405020304" pitchFamily="18" charset="0"/>
                <a:cs typeface="Times New Roman" panose="02020603050405020304" pitchFamily="18" charset="0"/>
              </a:rPr>
              <a:t>c </a:t>
            </a:r>
            <a:r>
              <a:rPr lang="en-US" altLang="en-US" sz="2000" b="1" dirty="0" err="1">
                <a:solidFill>
                  <a:srgbClr val="FF0000"/>
                </a:solidFill>
                <a:latin typeface="Times New Roman" panose="02020603050405020304" pitchFamily="18" charset="0"/>
                <a:cs typeface="Times New Roman" panose="02020603050405020304" pitchFamily="18" charset="0"/>
              </a:rPr>
              <a:t>c</a:t>
            </a:r>
            <a:r>
              <a:rPr lang="en-US" altLang="en-US" sz="2000" b="1" dirty="0">
                <a:solidFill>
                  <a:srgbClr val="FF0000"/>
                </a:solidFill>
                <a:latin typeface="Times New Roman" panose="02020603050405020304" pitchFamily="18" charset="0"/>
                <a:cs typeface="Times New Roman" panose="02020603050405020304" pitchFamily="18" charset="0"/>
              </a:rPr>
              <a:t> a c </a:t>
            </a:r>
            <a:r>
              <a:rPr lang="en-US" altLang="en-US" sz="2000" b="1" dirty="0" err="1">
                <a:solidFill>
                  <a:srgbClr val="FF0000"/>
                </a:solidFill>
                <a:latin typeface="Times New Roman" panose="02020603050405020304" pitchFamily="18" charset="0"/>
                <a:cs typeface="Times New Roman" panose="02020603050405020304" pitchFamily="18" charset="0"/>
              </a:rPr>
              <a:t>c</a:t>
            </a:r>
            <a:r>
              <a:rPr lang="en-US" altLang="en-US" sz="2000" b="1" dirty="0">
                <a:solidFill>
                  <a:srgbClr val="FF0000"/>
                </a:solidFill>
                <a:latin typeface="Times New Roman" panose="02020603050405020304" pitchFamily="18" charset="0"/>
                <a:cs typeface="Times New Roman" panose="02020603050405020304" pitchFamily="18" charset="0"/>
              </a:rPr>
              <a:t> a </a:t>
            </a:r>
            <a:r>
              <a:rPr lang="en-US" altLang="en-US" sz="2000" b="1" dirty="0" err="1">
                <a:solidFill>
                  <a:srgbClr val="FF0000"/>
                </a:solidFill>
                <a:latin typeface="Times New Roman" panose="02020603050405020304" pitchFamily="18" charset="0"/>
                <a:cs typeface="Times New Roman" panose="02020603050405020304" pitchFamily="18" charset="0"/>
              </a:rPr>
              <a:t>a</a:t>
            </a:r>
            <a:r>
              <a:rPr lang="en-US" altLang="en-US" sz="2000" b="1" dirty="0">
                <a:solidFill>
                  <a:srgbClr val="FF0000"/>
                </a:solidFill>
                <a:latin typeface="Times New Roman" panose="02020603050405020304" pitchFamily="18" charset="0"/>
                <a:cs typeface="Times New Roman" panose="02020603050405020304" pitchFamily="18" charset="0"/>
              </a:rPr>
              <a:t> e d b a </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Pattern (P):</a:t>
            </a: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F0000"/>
                </a:solidFill>
                <a:latin typeface="Times New Roman" panose="02020603050405020304" pitchFamily="18" charset="0"/>
                <a:cs typeface="Times New Roman" panose="02020603050405020304" pitchFamily="18" charset="0"/>
              </a:rPr>
              <a:t>d b a  </a:t>
            </a:r>
            <a:r>
              <a:rPr lang="en-US" altLang="en-US" sz="2000" b="1" dirty="0" err="1">
                <a:solidFill>
                  <a:srgbClr val="1E03BD"/>
                </a:solidFill>
                <a:latin typeface="Times New Roman" panose="02020603050405020304" pitchFamily="18" charset="0"/>
                <a:cs typeface="Times New Roman" panose="02020603050405020304" pitchFamily="18" charset="0"/>
              </a:rPr>
              <a:t>H</a:t>
            </a:r>
            <a:r>
              <a:rPr lang="en-US" altLang="en-US" sz="2000" b="1" baseline="-25000" dirty="0" err="1">
                <a:solidFill>
                  <a:srgbClr val="1E03BD"/>
                </a:solidFill>
                <a:latin typeface="Times New Roman" panose="02020603050405020304" pitchFamily="18" charset="0"/>
                <a:cs typeface="Times New Roman" panose="02020603050405020304" pitchFamily="18" charset="0"/>
              </a:rPr>
              <a:t>new</a:t>
            </a:r>
            <a:r>
              <a:rPr lang="en-US" altLang="en-US" sz="2000" b="1" dirty="0">
                <a:solidFill>
                  <a:srgbClr val="1E03BD"/>
                </a:solidFill>
                <a:latin typeface="Times New Roman" panose="02020603050405020304" pitchFamily="18" charset="0"/>
                <a:cs typeface="Times New Roman" panose="02020603050405020304" pitchFamily="18" charset="0"/>
              </a:rPr>
              <a:t>=(H</a:t>
            </a:r>
            <a:r>
              <a:rPr lang="en-US" altLang="en-US" sz="2000" b="1" baseline="-25000" dirty="0">
                <a:solidFill>
                  <a:srgbClr val="1E03BD"/>
                </a:solidFill>
                <a:latin typeface="Times New Roman" panose="02020603050405020304" pitchFamily="18" charset="0"/>
                <a:cs typeface="Times New Roman" panose="02020603050405020304" pitchFamily="18" charset="0"/>
              </a:rPr>
              <a:t>old</a:t>
            </a:r>
            <a:r>
              <a:rPr lang="en-US" altLang="en-US" sz="2000" b="1" dirty="0">
                <a:solidFill>
                  <a:srgbClr val="1E03BD"/>
                </a:solidFill>
                <a:latin typeface="Times New Roman" panose="02020603050405020304" pitchFamily="18" charset="0"/>
                <a:cs typeface="Times New Roman" panose="02020603050405020304" pitchFamily="18" charset="0"/>
              </a:rPr>
              <a:t>−Old×10</a:t>
            </a:r>
            <a:r>
              <a:rPr lang="en-US" altLang="en-US" sz="2000" b="1" baseline="30000" dirty="0">
                <a:solidFill>
                  <a:srgbClr val="1E03BD"/>
                </a:solidFill>
                <a:latin typeface="Times New Roman" panose="02020603050405020304" pitchFamily="18" charset="0"/>
                <a:cs typeface="Times New Roman" panose="02020603050405020304" pitchFamily="18" charset="0"/>
              </a:rPr>
              <a:t>m−1</a:t>
            </a:r>
            <a:r>
              <a:rPr lang="en-US" altLang="en-US" sz="2000" b="1" dirty="0">
                <a:solidFill>
                  <a:srgbClr val="1E03BD"/>
                </a:solidFill>
                <a:latin typeface="Times New Roman" panose="02020603050405020304" pitchFamily="18" charset="0"/>
                <a:cs typeface="Times New Roman" panose="02020603050405020304" pitchFamily="18" charset="0"/>
              </a:rPr>
              <a:t>)×10+New</a:t>
            </a:r>
          </a:p>
          <a:p>
            <a:pPr lvl="0"/>
            <a:r>
              <a:rPr lang="en-US" sz="2000" dirty="0">
                <a:latin typeface="Times New Roman" panose="02020603050405020304" pitchFamily="18" charset="0"/>
                <a:cs typeface="Times New Roman" panose="02020603050405020304" pitchFamily="18" charset="0"/>
              </a:rPr>
              <a:t>Since m=3  10</a:t>
            </a:r>
            <a:r>
              <a:rPr lang="en-US" sz="2000" baseline="30000" dirty="0">
                <a:latin typeface="Times New Roman" panose="02020603050405020304" pitchFamily="18" charset="0"/>
                <a:cs typeface="Times New Roman" panose="02020603050405020304" pitchFamily="18" charset="0"/>
              </a:rPr>
              <a:t>m−1</a:t>
            </a:r>
            <a:r>
              <a:rPr lang="en-US" sz="2000" dirty="0">
                <a:latin typeface="Times New Roman" panose="02020603050405020304" pitchFamily="18" charset="0"/>
                <a:cs typeface="Times New Roman" panose="02020603050405020304" pitchFamily="18" charset="0"/>
              </a:rPr>
              <a:t>=10</a:t>
            </a:r>
            <a:r>
              <a:rPr lang="en-US" sz="2000" baseline="30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=100   </a:t>
            </a:r>
            <a:r>
              <a:rPr lang="en-US" sz="2000" dirty="0" err="1">
                <a:latin typeface="Times New Roman" panose="02020603050405020304" pitchFamily="18" charset="0"/>
                <a:cs typeface="Times New Roman" panose="02020603050405020304" pitchFamily="18" charset="0"/>
              </a:rPr>
              <a:t>H</a:t>
            </a:r>
            <a:r>
              <a:rPr lang="en-US" sz="2000" baseline="-25000" dirty="0" err="1">
                <a:latin typeface="Times New Roman" panose="02020603050405020304" pitchFamily="18" charset="0"/>
                <a:cs typeface="Times New Roman" panose="02020603050405020304" pitchFamily="18" charset="0"/>
              </a:rPr>
              <a:t>new</a:t>
            </a:r>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old</a:t>
            </a:r>
            <a:r>
              <a:rPr lang="en-US" sz="2000" dirty="0">
                <a:latin typeface="Times New Roman" panose="02020603050405020304" pitchFamily="18" charset="0"/>
                <a:cs typeface="Times New Roman" panose="02020603050405020304" pitchFamily="18" charset="0"/>
              </a:rPr>
              <a:t>​−Old×100)×10+New</a:t>
            </a:r>
          </a:p>
          <a:p>
            <a:r>
              <a:rPr lang="en-US" altLang="en-US" sz="2000" b="1" dirty="0">
                <a:latin typeface="Times New Roman" panose="02020603050405020304" pitchFamily="18" charset="0"/>
                <a:cs typeface="Times New Roman" panose="02020603050405020304" pitchFamily="18" charset="0"/>
              </a:rPr>
              <a:t>Character Codes:</a:t>
            </a:r>
            <a:r>
              <a:rPr lang="en-US" altLang="en-US" sz="2000" dirty="0">
                <a:latin typeface="Times New Roman" panose="02020603050405020304" pitchFamily="18" charset="0"/>
                <a:cs typeface="Times New Roman" panose="02020603050405020304" pitchFamily="18" charset="0"/>
              </a:rPr>
              <a:t> a = 1, b = 2, c = 3, d = 4, e = 5 ,   </a:t>
            </a:r>
            <a:r>
              <a:rPr lang="en-US" altLang="en-US" sz="2000" b="1" dirty="0">
                <a:latin typeface="Times New Roman" panose="02020603050405020304" pitchFamily="18" charset="0"/>
                <a:cs typeface="Times New Roman" panose="02020603050405020304" pitchFamily="18" charset="0"/>
              </a:rPr>
              <a:t>Base (d):</a:t>
            </a:r>
            <a:r>
              <a:rPr lang="en-US" altLang="en-US" sz="2000" dirty="0">
                <a:latin typeface="Times New Roman" panose="02020603050405020304" pitchFamily="18" charset="0"/>
                <a:cs typeface="Times New Roman" panose="02020603050405020304" pitchFamily="18" charset="0"/>
              </a:rPr>
              <a:t> 10 </a:t>
            </a:r>
          </a:p>
          <a:p>
            <a:r>
              <a:rPr lang="en-US" alt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Pattern = </a:t>
            </a:r>
            <a:r>
              <a:rPr lang="en-US" sz="2000" b="1" dirty="0">
                <a:latin typeface="Times New Roman" panose="02020603050405020304" pitchFamily="18" charset="0"/>
                <a:cs typeface="Times New Roman" panose="02020603050405020304" pitchFamily="18" charset="0"/>
              </a:rPr>
              <a:t>d b a    Hash(pattern)=4*10</a:t>
            </a:r>
            <a:r>
              <a:rPr lang="en-US" sz="2000" b="1" baseline="30000"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 +2*10</a:t>
            </a:r>
            <a:r>
              <a:rPr lang="en-US" sz="2000" b="1" baseline="30000" dirty="0">
                <a:latin typeface="Times New Roman" panose="02020603050405020304" pitchFamily="18" charset="0"/>
                <a:cs typeface="Times New Roman" panose="02020603050405020304" pitchFamily="18" charset="0"/>
              </a:rPr>
              <a:t>1</a:t>
            </a:r>
            <a:r>
              <a:rPr lang="en-US" sz="2000" b="1" dirty="0">
                <a:latin typeface="Times New Roman" panose="02020603050405020304" pitchFamily="18" charset="0"/>
                <a:cs typeface="Times New Roman" panose="02020603050405020304" pitchFamily="18" charset="0"/>
              </a:rPr>
              <a:t> + 1 * 10</a:t>
            </a:r>
            <a:r>
              <a:rPr lang="en-US" sz="2000" b="1" baseline="30000" dirty="0">
                <a:latin typeface="Times New Roman" panose="02020603050405020304" pitchFamily="18" charset="0"/>
                <a:cs typeface="Times New Roman" panose="02020603050405020304" pitchFamily="18" charset="0"/>
              </a:rPr>
              <a:t>0</a:t>
            </a:r>
            <a:r>
              <a:rPr lang="en-US" sz="2000" b="1" dirty="0">
                <a:latin typeface="Times New Roman" panose="02020603050405020304" pitchFamily="18" charset="0"/>
                <a:cs typeface="Times New Roman" panose="02020603050405020304" pitchFamily="18" charset="0"/>
              </a:rPr>
              <a:t> =4*100+2*10+1=400+20+1=421</a:t>
            </a:r>
          </a:p>
        </p:txBody>
      </p:sp>
    </p:spTree>
    <p:extLst>
      <p:ext uri="{BB962C8B-B14F-4D97-AF65-F5344CB8AC3E}">
        <p14:creationId xmlns:p14="http://schemas.microsoft.com/office/powerpoint/2010/main" val="4247711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73087-BEF7-05E8-25E8-B53D551AD69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4DE2C62-9F67-4F18-10EF-9D89B266EC7B}"/>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0B4268BF-C3FF-6B2C-FADE-0F85AC110871}"/>
              </a:ext>
            </a:extLst>
          </p:cNvPr>
          <p:cNvSpPr>
            <a:spLocks noGrp="1"/>
          </p:cNvSpPr>
          <p:nvPr>
            <p:ph type="sldNum" sz="quarter" idx="12"/>
          </p:nvPr>
        </p:nvSpPr>
        <p:spPr/>
        <p:txBody>
          <a:bodyPr/>
          <a:lstStyle/>
          <a:p>
            <a:fld id="{68187FF5-4BF9-4B21-B0D2-9B7FF2B27D7F}" type="slidenum">
              <a:rPr lang="en-AU" smtClean="0"/>
              <a:pPr/>
              <a:t>80</a:t>
            </a:fld>
            <a:endParaRPr lang="en-AU"/>
          </a:p>
        </p:txBody>
      </p:sp>
      <p:graphicFrame>
        <p:nvGraphicFramePr>
          <p:cNvPr id="4" name="Table 3">
            <a:extLst>
              <a:ext uri="{FF2B5EF4-FFF2-40B4-BE49-F238E27FC236}">
                <a16:creationId xmlns:a16="http://schemas.microsoft.com/office/drawing/2014/main" id="{FCF74D5C-F92B-065F-B55F-070184CC365C}"/>
              </a:ext>
            </a:extLst>
          </p:cNvPr>
          <p:cNvGraphicFramePr>
            <a:graphicFrameLocks noGrp="1"/>
          </p:cNvGraphicFramePr>
          <p:nvPr>
            <p:extLst>
              <p:ext uri="{D42A27DB-BD31-4B8C-83A1-F6EECF244321}">
                <p14:modId xmlns:p14="http://schemas.microsoft.com/office/powerpoint/2010/main" val="2824653808"/>
              </p:ext>
            </p:extLst>
          </p:nvPr>
        </p:nvGraphicFramePr>
        <p:xfrm>
          <a:off x="159026" y="1717883"/>
          <a:ext cx="11907078" cy="4777765"/>
        </p:xfrm>
        <a:graphic>
          <a:graphicData uri="http://schemas.openxmlformats.org/drawingml/2006/table">
            <a:tbl>
              <a:tblPr/>
              <a:tblGrid>
                <a:gridCol w="689519">
                  <a:extLst>
                    <a:ext uri="{9D8B030D-6E8A-4147-A177-3AD203B41FA5}">
                      <a16:colId xmlns:a16="http://schemas.microsoft.com/office/drawing/2014/main" val="4170927850"/>
                    </a:ext>
                  </a:extLst>
                </a:gridCol>
                <a:gridCol w="1039425">
                  <a:extLst>
                    <a:ext uri="{9D8B030D-6E8A-4147-A177-3AD203B41FA5}">
                      <a16:colId xmlns:a16="http://schemas.microsoft.com/office/drawing/2014/main" val="4186477354"/>
                    </a:ext>
                  </a:extLst>
                </a:gridCol>
                <a:gridCol w="1060009">
                  <a:extLst>
                    <a:ext uri="{9D8B030D-6E8A-4147-A177-3AD203B41FA5}">
                      <a16:colId xmlns:a16="http://schemas.microsoft.com/office/drawing/2014/main" val="4021892924"/>
                    </a:ext>
                  </a:extLst>
                </a:gridCol>
                <a:gridCol w="1029133">
                  <a:extLst>
                    <a:ext uri="{9D8B030D-6E8A-4147-A177-3AD203B41FA5}">
                      <a16:colId xmlns:a16="http://schemas.microsoft.com/office/drawing/2014/main" val="3129869539"/>
                    </a:ext>
                  </a:extLst>
                </a:gridCol>
                <a:gridCol w="5114795">
                  <a:extLst>
                    <a:ext uri="{9D8B030D-6E8A-4147-A177-3AD203B41FA5}">
                      <a16:colId xmlns:a16="http://schemas.microsoft.com/office/drawing/2014/main" val="2623215700"/>
                    </a:ext>
                  </a:extLst>
                </a:gridCol>
                <a:gridCol w="761560">
                  <a:extLst>
                    <a:ext uri="{9D8B030D-6E8A-4147-A177-3AD203B41FA5}">
                      <a16:colId xmlns:a16="http://schemas.microsoft.com/office/drawing/2014/main" val="1400893677"/>
                    </a:ext>
                  </a:extLst>
                </a:gridCol>
                <a:gridCol w="1080590">
                  <a:extLst>
                    <a:ext uri="{9D8B030D-6E8A-4147-A177-3AD203B41FA5}">
                      <a16:colId xmlns:a16="http://schemas.microsoft.com/office/drawing/2014/main" val="4109519383"/>
                    </a:ext>
                  </a:extLst>
                </a:gridCol>
                <a:gridCol w="1132047">
                  <a:extLst>
                    <a:ext uri="{9D8B030D-6E8A-4147-A177-3AD203B41FA5}">
                      <a16:colId xmlns:a16="http://schemas.microsoft.com/office/drawing/2014/main" val="3415483987"/>
                    </a:ext>
                  </a:extLst>
                </a:gridCol>
              </a:tblGrid>
              <a:tr h="496520">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Step</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Current Window</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Old Char Removed</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New Char Added</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Rolling Hash Calculation</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New Hash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Pattern Hash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Match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1968282"/>
                  </a:ext>
                </a:extLst>
              </a:tr>
              <a:tr h="385744">
                <a:tc>
                  <a:txBody>
                    <a:bodyPr/>
                    <a:lstStyle/>
                    <a:p>
                      <a:pPr algn="ctr"/>
                      <a:r>
                        <a:rPr lang="en-US" sz="1900" b="1" dirty="0">
                          <a:latin typeface="Times New Roman" panose="02020603050405020304" pitchFamily="18" charset="0"/>
                          <a:cs typeface="Times New Roman" panose="02020603050405020304" pitchFamily="18" charset="0"/>
                        </a:rPr>
                        <a:t>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cca</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Initial Hash = 3x100+3x10+1= 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4141085"/>
                  </a:ext>
                </a:extLst>
              </a:tr>
              <a:tr h="521020">
                <a:tc>
                  <a:txBody>
                    <a:bodyPr/>
                    <a:lstStyle/>
                    <a:p>
                      <a:pPr algn="ctr"/>
                      <a:r>
                        <a:rPr lang="en-US" sz="1900" b="1">
                          <a:latin typeface="Times New Roman" panose="02020603050405020304" pitchFamily="18" charset="0"/>
                          <a:cs typeface="Times New Roman" panose="02020603050405020304" pitchFamily="18" charset="0"/>
                        </a:rPr>
                        <a:t>2</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cac</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(331−3×100)×10+3=(331−300)×10+3=31×10+3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313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8585702"/>
                  </a:ext>
                </a:extLst>
              </a:tr>
              <a:tr h="443833">
                <a:tc>
                  <a:txBody>
                    <a:bodyPr/>
                    <a:lstStyle/>
                    <a:p>
                      <a:pPr algn="ctr"/>
                      <a:r>
                        <a:rPr lang="en-US" sz="1900" b="1" dirty="0">
                          <a:latin typeface="Times New Roman" panose="02020603050405020304" pitchFamily="18" charset="0"/>
                          <a:cs typeface="Times New Roman" panose="02020603050405020304" pitchFamily="18" charset="0"/>
                        </a:rPr>
                        <a:t>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solidFill>
                            <a:srgbClr val="1E03BD"/>
                          </a:solidFill>
                          <a:latin typeface="Times New Roman" panose="02020603050405020304" pitchFamily="18" charset="0"/>
                          <a:cs typeface="Times New Roman" panose="02020603050405020304" pitchFamily="18" charset="0"/>
                        </a:rPr>
                        <a:t>acc</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(313−3×100)×10+3=(313−300)×10+3=13×10+3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133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5628687"/>
                  </a:ext>
                </a:extLst>
              </a:tr>
              <a:tr h="521020">
                <a:tc>
                  <a:txBody>
                    <a:bodyPr/>
                    <a:lstStyle/>
                    <a:p>
                      <a:pPr algn="ctr"/>
                      <a:r>
                        <a:rPr lang="en-US" sz="1900" b="1">
                          <a:latin typeface="Times New Roman" panose="02020603050405020304" pitchFamily="18" charset="0"/>
                          <a:cs typeface="Times New Roman" panose="02020603050405020304" pitchFamily="18" charset="0"/>
                        </a:rPr>
                        <a:t>4</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cca</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(133−1×100)×10+1=(133−100)×10+1=33×10+1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7058825"/>
                  </a:ext>
                </a:extLst>
              </a:tr>
              <a:tr h="463130">
                <a:tc>
                  <a:txBody>
                    <a:bodyPr/>
                    <a:lstStyle/>
                    <a:p>
                      <a:pPr algn="ctr"/>
                      <a:r>
                        <a:rPr lang="en-US" sz="1900" b="1">
                          <a:latin typeface="Times New Roman" panose="02020603050405020304" pitchFamily="18" charset="0"/>
                          <a:cs typeface="Times New Roman" panose="02020603050405020304" pitchFamily="18" charset="0"/>
                        </a:rPr>
                        <a:t>5</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caa</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(331−3×100)×10+1=(331−300)×10+1=31×10+1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311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8708137"/>
                  </a:ext>
                </a:extLst>
              </a:tr>
              <a:tr h="424536">
                <a:tc>
                  <a:txBody>
                    <a:bodyPr/>
                    <a:lstStyle/>
                    <a:p>
                      <a:pPr algn="ctr"/>
                      <a:r>
                        <a:rPr lang="en-US" sz="1900" b="1">
                          <a:latin typeface="Times New Roman" panose="02020603050405020304" pitchFamily="18" charset="0"/>
                          <a:cs typeface="Times New Roman" panose="02020603050405020304" pitchFamily="18" charset="0"/>
                        </a:rPr>
                        <a:t>6</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solidFill>
                            <a:srgbClr val="1E03BD"/>
                          </a:solidFill>
                          <a:latin typeface="Times New Roman" panose="02020603050405020304" pitchFamily="18" charset="0"/>
                          <a:cs typeface="Times New Roman" panose="02020603050405020304" pitchFamily="18" charset="0"/>
                        </a:rPr>
                        <a:t>aae</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e (5)</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(311−3×100)×10+5=(311−300)×10+5=11×10+5</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115</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4988868"/>
                  </a:ext>
                </a:extLst>
              </a:tr>
              <a:tr h="540318">
                <a:tc>
                  <a:txBody>
                    <a:bodyPr/>
                    <a:lstStyle/>
                    <a:p>
                      <a:pPr algn="ctr"/>
                      <a:r>
                        <a:rPr lang="en-US" sz="1900" b="1">
                          <a:latin typeface="Times New Roman" panose="02020603050405020304" pitchFamily="18" charset="0"/>
                          <a:cs typeface="Times New Roman" panose="02020603050405020304" pitchFamily="18" charset="0"/>
                        </a:rPr>
                        <a:t>7</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aed</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d (4)</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(115−1×100)×10+4=(115−100)×10+4=15×10+4</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154</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213124"/>
                  </a:ext>
                </a:extLst>
              </a:tr>
              <a:tr h="424536">
                <a:tc>
                  <a:txBody>
                    <a:bodyPr/>
                    <a:lstStyle/>
                    <a:p>
                      <a:pPr algn="ctr"/>
                      <a:r>
                        <a:rPr lang="en-US" sz="1900" b="1">
                          <a:latin typeface="Times New Roman" panose="02020603050405020304" pitchFamily="18" charset="0"/>
                          <a:cs typeface="Times New Roman" panose="02020603050405020304" pitchFamily="18" charset="0"/>
                        </a:rPr>
                        <a:t>8</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edb</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b (2)</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(154−1×100)×10+2=(154−100)×10+2=54×10+2</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542</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6248407"/>
                  </a:ext>
                </a:extLst>
              </a:tr>
              <a:tr h="492076">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7469314"/>
                  </a:ext>
                </a:extLst>
              </a:tr>
            </a:tbl>
          </a:graphicData>
        </a:graphic>
      </p:graphicFrame>
      <p:sp>
        <p:nvSpPr>
          <p:cNvPr id="5" name="Rectangle 4">
            <a:extLst>
              <a:ext uri="{FF2B5EF4-FFF2-40B4-BE49-F238E27FC236}">
                <a16:creationId xmlns:a16="http://schemas.microsoft.com/office/drawing/2014/main" id="{42AF69B4-0742-8E97-1B13-CC8147F045CC}"/>
              </a:ext>
            </a:extLst>
          </p:cNvPr>
          <p:cNvSpPr/>
          <p:nvPr/>
        </p:nvSpPr>
        <p:spPr>
          <a:xfrm>
            <a:off x="1615859" y="121178"/>
            <a:ext cx="10576142" cy="1631216"/>
          </a:xfrm>
          <a:prstGeom prst="rect">
            <a:avLst/>
          </a:prstGeom>
        </p:spPr>
        <p:txBody>
          <a:bodyPr wrap="square">
            <a:spAutoFit/>
          </a:bodyPr>
          <a:lstStyle/>
          <a:p>
            <a:r>
              <a:rPr lang="en-US" sz="2000" b="1" dirty="0">
                <a:solidFill>
                  <a:srgbClr val="C00000"/>
                </a:solidFill>
                <a:latin typeface="Times New Roman" panose="02020603050405020304" pitchFamily="18" charset="0"/>
                <a:cs typeface="Times New Roman" panose="02020603050405020304" pitchFamily="18" charset="0"/>
              </a:rPr>
              <a:t>Example 3: Rolling hash function</a:t>
            </a:r>
            <a:endParaRPr lang="en-US" altLang="en-US" sz="2000" b="1" dirty="0">
              <a:solidFill>
                <a:srgbClr val="C00000"/>
              </a:solidFill>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Text (T):</a:t>
            </a: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F0000"/>
                </a:solidFill>
                <a:latin typeface="Times New Roman" panose="02020603050405020304" pitchFamily="18" charset="0"/>
                <a:cs typeface="Times New Roman" panose="02020603050405020304" pitchFamily="18" charset="0"/>
              </a:rPr>
              <a:t>c </a:t>
            </a:r>
            <a:r>
              <a:rPr lang="en-US" altLang="en-US" sz="2000" b="1" dirty="0" err="1">
                <a:solidFill>
                  <a:srgbClr val="FF0000"/>
                </a:solidFill>
                <a:latin typeface="Times New Roman" panose="02020603050405020304" pitchFamily="18" charset="0"/>
                <a:cs typeface="Times New Roman" panose="02020603050405020304" pitchFamily="18" charset="0"/>
              </a:rPr>
              <a:t>c</a:t>
            </a:r>
            <a:r>
              <a:rPr lang="en-US" altLang="en-US" sz="2000" b="1" dirty="0">
                <a:solidFill>
                  <a:srgbClr val="FF0000"/>
                </a:solidFill>
                <a:latin typeface="Times New Roman" panose="02020603050405020304" pitchFamily="18" charset="0"/>
                <a:cs typeface="Times New Roman" panose="02020603050405020304" pitchFamily="18" charset="0"/>
              </a:rPr>
              <a:t> a c </a:t>
            </a:r>
            <a:r>
              <a:rPr lang="en-US" altLang="en-US" sz="2000" b="1" dirty="0" err="1">
                <a:solidFill>
                  <a:srgbClr val="FF0000"/>
                </a:solidFill>
                <a:latin typeface="Times New Roman" panose="02020603050405020304" pitchFamily="18" charset="0"/>
                <a:cs typeface="Times New Roman" panose="02020603050405020304" pitchFamily="18" charset="0"/>
              </a:rPr>
              <a:t>c</a:t>
            </a:r>
            <a:r>
              <a:rPr lang="en-US" altLang="en-US" sz="2000" b="1" dirty="0">
                <a:solidFill>
                  <a:srgbClr val="FF0000"/>
                </a:solidFill>
                <a:latin typeface="Times New Roman" panose="02020603050405020304" pitchFamily="18" charset="0"/>
                <a:cs typeface="Times New Roman" panose="02020603050405020304" pitchFamily="18" charset="0"/>
              </a:rPr>
              <a:t> a </a:t>
            </a:r>
            <a:r>
              <a:rPr lang="en-US" altLang="en-US" sz="2000" b="1" dirty="0" err="1">
                <a:solidFill>
                  <a:srgbClr val="FF0000"/>
                </a:solidFill>
                <a:latin typeface="Times New Roman" panose="02020603050405020304" pitchFamily="18" charset="0"/>
                <a:cs typeface="Times New Roman" panose="02020603050405020304" pitchFamily="18" charset="0"/>
              </a:rPr>
              <a:t>a</a:t>
            </a:r>
            <a:r>
              <a:rPr lang="en-US" altLang="en-US" sz="2000" b="1" dirty="0">
                <a:solidFill>
                  <a:srgbClr val="FF0000"/>
                </a:solidFill>
                <a:latin typeface="Times New Roman" panose="02020603050405020304" pitchFamily="18" charset="0"/>
                <a:cs typeface="Times New Roman" panose="02020603050405020304" pitchFamily="18" charset="0"/>
              </a:rPr>
              <a:t> e d b a </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Pattern (P):</a:t>
            </a: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F0000"/>
                </a:solidFill>
                <a:latin typeface="Times New Roman" panose="02020603050405020304" pitchFamily="18" charset="0"/>
                <a:cs typeface="Times New Roman" panose="02020603050405020304" pitchFamily="18" charset="0"/>
              </a:rPr>
              <a:t>d b a  </a:t>
            </a:r>
            <a:r>
              <a:rPr lang="en-US" altLang="en-US" sz="2000" b="1" dirty="0" err="1">
                <a:solidFill>
                  <a:srgbClr val="1E03BD"/>
                </a:solidFill>
                <a:latin typeface="Times New Roman" panose="02020603050405020304" pitchFamily="18" charset="0"/>
                <a:cs typeface="Times New Roman" panose="02020603050405020304" pitchFamily="18" charset="0"/>
              </a:rPr>
              <a:t>H</a:t>
            </a:r>
            <a:r>
              <a:rPr lang="en-US" altLang="en-US" sz="2000" b="1" baseline="-25000" dirty="0" err="1">
                <a:solidFill>
                  <a:srgbClr val="1E03BD"/>
                </a:solidFill>
                <a:latin typeface="Times New Roman" panose="02020603050405020304" pitchFamily="18" charset="0"/>
                <a:cs typeface="Times New Roman" panose="02020603050405020304" pitchFamily="18" charset="0"/>
              </a:rPr>
              <a:t>new</a:t>
            </a:r>
            <a:r>
              <a:rPr lang="en-US" altLang="en-US" sz="2000" b="1" dirty="0">
                <a:solidFill>
                  <a:srgbClr val="1E03BD"/>
                </a:solidFill>
                <a:latin typeface="Times New Roman" panose="02020603050405020304" pitchFamily="18" charset="0"/>
                <a:cs typeface="Times New Roman" panose="02020603050405020304" pitchFamily="18" charset="0"/>
              </a:rPr>
              <a:t>=(H</a:t>
            </a:r>
            <a:r>
              <a:rPr lang="en-US" altLang="en-US" sz="2000" b="1" baseline="-25000" dirty="0">
                <a:solidFill>
                  <a:srgbClr val="1E03BD"/>
                </a:solidFill>
                <a:latin typeface="Times New Roman" panose="02020603050405020304" pitchFamily="18" charset="0"/>
                <a:cs typeface="Times New Roman" panose="02020603050405020304" pitchFamily="18" charset="0"/>
              </a:rPr>
              <a:t>old</a:t>
            </a:r>
            <a:r>
              <a:rPr lang="en-US" altLang="en-US" sz="2000" b="1" dirty="0">
                <a:solidFill>
                  <a:srgbClr val="1E03BD"/>
                </a:solidFill>
                <a:latin typeface="Times New Roman" panose="02020603050405020304" pitchFamily="18" charset="0"/>
                <a:cs typeface="Times New Roman" panose="02020603050405020304" pitchFamily="18" charset="0"/>
              </a:rPr>
              <a:t>−Old×10</a:t>
            </a:r>
            <a:r>
              <a:rPr lang="en-US" altLang="en-US" sz="2000" b="1" baseline="30000" dirty="0">
                <a:solidFill>
                  <a:srgbClr val="1E03BD"/>
                </a:solidFill>
                <a:latin typeface="Times New Roman" panose="02020603050405020304" pitchFamily="18" charset="0"/>
                <a:cs typeface="Times New Roman" panose="02020603050405020304" pitchFamily="18" charset="0"/>
              </a:rPr>
              <a:t>m−1</a:t>
            </a:r>
            <a:r>
              <a:rPr lang="en-US" altLang="en-US" sz="2000" b="1" dirty="0">
                <a:solidFill>
                  <a:srgbClr val="1E03BD"/>
                </a:solidFill>
                <a:latin typeface="Times New Roman" panose="02020603050405020304" pitchFamily="18" charset="0"/>
                <a:cs typeface="Times New Roman" panose="02020603050405020304" pitchFamily="18" charset="0"/>
              </a:rPr>
              <a:t>)×10+New</a:t>
            </a:r>
          </a:p>
          <a:p>
            <a:pPr lvl="0"/>
            <a:r>
              <a:rPr lang="en-US" sz="2000" dirty="0">
                <a:latin typeface="Times New Roman" panose="02020603050405020304" pitchFamily="18" charset="0"/>
                <a:cs typeface="Times New Roman" panose="02020603050405020304" pitchFamily="18" charset="0"/>
              </a:rPr>
              <a:t>Since m=3  10</a:t>
            </a:r>
            <a:r>
              <a:rPr lang="en-US" sz="2000" baseline="30000" dirty="0">
                <a:latin typeface="Times New Roman" panose="02020603050405020304" pitchFamily="18" charset="0"/>
                <a:cs typeface="Times New Roman" panose="02020603050405020304" pitchFamily="18" charset="0"/>
              </a:rPr>
              <a:t>m−1</a:t>
            </a:r>
            <a:r>
              <a:rPr lang="en-US" sz="2000" dirty="0">
                <a:latin typeface="Times New Roman" panose="02020603050405020304" pitchFamily="18" charset="0"/>
                <a:cs typeface="Times New Roman" panose="02020603050405020304" pitchFamily="18" charset="0"/>
              </a:rPr>
              <a:t>=10</a:t>
            </a:r>
            <a:r>
              <a:rPr lang="en-US" sz="2000" baseline="30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=100   </a:t>
            </a:r>
            <a:r>
              <a:rPr lang="en-US" sz="2000" dirty="0" err="1">
                <a:latin typeface="Times New Roman" panose="02020603050405020304" pitchFamily="18" charset="0"/>
                <a:cs typeface="Times New Roman" panose="02020603050405020304" pitchFamily="18" charset="0"/>
              </a:rPr>
              <a:t>H</a:t>
            </a:r>
            <a:r>
              <a:rPr lang="en-US" sz="2000" baseline="-25000" dirty="0" err="1">
                <a:latin typeface="Times New Roman" panose="02020603050405020304" pitchFamily="18" charset="0"/>
                <a:cs typeface="Times New Roman" panose="02020603050405020304" pitchFamily="18" charset="0"/>
              </a:rPr>
              <a:t>new</a:t>
            </a:r>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old</a:t>
            </a:r>
            <a:r>
              <a:rPr lang="en-US" sz="2000" dirty="0">
                <a:latin typeface="Times New Roman" panose="02020603050405020304" pitchFamily="18" charset="0"/>
                <a:cs typeface="Times New Roman" panose="02020603050405020304" pitchFamily="18" charset="0"/>
              </a:rPr>
              <a:t>​−Old×100)×10+New</a:t>
            </a:r>
          </a:p>
          <a:p>
            <a:r>
              <a:rPr lang="en-US" altLang="en-US" sz="2000" b="1" dirty="0">
                <a:latin typeface="Times New Roman" panose="02020603050405020304" pitchFamily="18" charset="0"/>
                <a:cs typeface="Times New Roman" panose="02020603050405020304" pitchFamily="18" charset="0"/>
              </a:rPr>
              <a:t>Character Codes:</a:t>
            </a:r>
            <a:r>
              <a:rPr lang="en-US" altLang="en-US" sz="2000" dirty="0">
                <a:latin typeface="Times New Roman" panose="02020603050405020304" pitchFamily="18" charset="0"/>
                <a:cs typeface="Times New Roman" panose="02020603050405020304" pitchFamily="18" charset="0"/>
              </a:rPr>
              <a:t> a = 1, b = 2, c = 3, d = 4, e = 5 ,   </a:t>
            </a:r>
            <a:r>
              <a:rPr lang="en-US" altLang="en-US" sz="2000" b="1" dirty="0">
                <a:latin typeface="Times New Roman" panose="02020603050405020304" pitchFamily="18" charset="0"/>
                <a:cs typeface="Times New Roman" panose="02020603050405020304" pitchFamily="18" charset="0"/>
              </a:rPr>
              <a:t>Base (d):</a:t>
            </a:r>
            <a:r>
              <a:rPr lang="en-US" altLang="en-US" sz="2000" dirty="0">
                <a:latin typeface="Times New Roman" panose="02020603050405020304" pitchFamily="18" charset="0"/>
                <a:cs typeface="Times New Roman" panose="02020603050405020304" pitchFamily="18" charset="0"/>
              </a:rPr>
              <a:t> 10 </a:t>
            </a:r>
          </a:p>
          <a:p>
            <a:r>
              <a:rPr lang="en-US" alt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Pattern = </a:t>
            </a:r>
            <a:r>
              <a:rPr lang="en-US" sz="2000" b="1" dirty="0">
                <a:latin typeface="Times New Roman" panose="02020603050405020304" pitchFamily="18" charset="0"/>
                <a:cs typeface="Times New Roman" panose="02020603050405020304" pitchFamily="18" charset="0"/>
              </a:rPr>
              <a:t>d b a    Hash(pattern)=4*10</a:t>
            </a:r>
            <a:r>
              <a:rPr lang="en-US" sz="2000" b="1" baseline="30000"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 +2*10</a:t>
            </a:r>
            <a:r>
              <a:rPr lang="en-US" sz="2000" b="1" baseline="30000" dirty="0">
                <a:latin typeface="Times New Roman" panose="02020603050405020304" pitchFamily="18" charset="0"/>
                <a:cs typeface="Times New Roman" panose="02020603050405020304" pitchFamily="18" charset="0"/>
              </a:rPr>
              <a:t>1</a:t>
            </a:r>
            <a:r>
              <a:rPr lang="en-US" sz="2000" b="1" dirty="0">
                <a:latin typeface="Times New Roman" panose="02020603050405020304" pitchFamily="18" charset="0"/>
                <a:cs typeface="Times New Roman" panose="02020603050405020304" pitchFamily="18" charset="0"/>
              </a:rPr>
              <a:t> + 1 * 10</a:t>
            </a:r>
            <a:r>
              <a:rPr lang="en-US" sz="2000" b="1" baseline="30000" dirty="0">
                <a:latin typeface="Times New Roman" panose="02020603050405020304" pitchFamily="18" charset="0"/>
                <a:cs typeface="Times New Roman" panose="02020603050405020304" pitchFamily="18" charset="0"/>
              </a:rPr>
              <a:t>0</a:t>
            </a:r>
            <a:r>
              <a:rPr lang="en-US" sz="2000" b="1" dirty="0">
                <a:latin typeface="Times New Roman" panose="02020603050405020304" pitchFamily="18" charset="0"/>
                <a:cs typeface="Times New Roman" panose="02020603050405020304" pitchFamily="18" charset="0"/>
              </a:rPr>
              <a:t> =4*100+2*10+1=400+20+1=421</a:t>
            </a:r>
          </a:p>
        </p:txBody>
      </p:sp>
    </p:spTree>
    <p:extLst>
      <p:ext uri="{BB962C8B-B14F-4D97-AF65-F5344CB8AC3E}">
        <p14:creationId xmlns:p14="http://schemas.microsoft.com/office/powerpoint/2010/main" val="191572312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E1EAD-02EF-93D5-456C-661322534CB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5064374-1413-35D4-544A-3E27840762C1}"/>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A5280A19-2A4E-8651-4CC8-BA4651BF3163}"/>
              </a:ext>
            </a:extLst>
          </p:cNvPr>
          <p:cNvSpPr>
            <a:spLocks noGrp="1"/>
          </p:cNvSpPr>
          <p:nvPr>
            <p:ph type="sldNum" sz="quarter" idx="12"/>
          </p:nvPr>
        </p:nvSpPr>
        <p:spPr/>
        <p:txBody>
          <a:bodyPr/>
          <a:lstStyle/>
          <a:p>
            <a:fld id="{68187FF5-4BF9-4B21-B0D2-9B7FF2B27D7F}" type="slidenum">
              <a:rPr lang="en-AU" smtClean="0"/>
              <a:pPr/>
              <a:t>81</a:t>
            </a:fld>
            <a:endParaRPr lang="en-AU"/>
          </a:p>
        </p:txBody>
      </p:sp>
      <p:graphicFrame>
        <p:nvGraphicFramePr>
          <p:cNvPr id="4" name="Table 3">
            <a:extLst>
              <a:ext uri="{FF2B5EF4-FFF2-40B4-BE49-F238E27FC236}">
                <a16:creationId xmlns:a16="http://schemas.microsoft.com/office/drawing/2014/main" id="{DF0E0E45-7D13-82A6-A157-217F6EEB8164}"/>
              </a:ext>
            </a:extLst>
          </p:cNvPr>
          <p:cNvGraphicFramePr>
            <a:graphicFrameLocks noGrp="1"/>
          </p:cNvGraphicFramePr>
          <p:nvPr/>
        </p:nvGraphicFramePr>
        <p:xfrm>
          <a:off x="159026" y="1717883"/>
          <a:ext cx="11907078" cy="4777765"/>
        </p:xfrm>
        <a:graphic>
          <a:graphicData uri="http://schemas.openxmlformats.org/drawingml/2006/table">
            <a:tbl>
              <a:tblPr/>
              <a:tblGrid>
                <a:gridCol w="689519">
                  <a:extLst>
                    <a:ext uri="{9D8B030D-6E8A-4147-A177-3AD203B41FA5}">
                      <a16:colId xmlns:a16="http://schemas.microsoft.com/office/drawing/2014/main" val="4170927850"/>
                    </a:ext>
                  </a:extLst>
                </a:gridCol>
                <a:gridCol w="1039425">
                  <a:extLst>
                    <a:ext uri="{9D8B030D-6E8A-4147-A177-3AD203B41FA5}">
                      <a16:colId xmlns:a16="http://schemas.microsoft.com/office/drawing/2014/main" val="4186477354"/>
                    </a:ext>
                  </a:extLst>
                </a:gridCol>
                <a:gridCol w="1060009">
                  <a:extLst>
                    <a:ext uri="{9D8B030D-6E8A-4147-A177-3AD203B41FA5}">
                      <a16:colId xmlns:a16="http://schemas.microsoft.com/office/drawing/2014/main" val="4021892924"/>
                    </a:ext>
                  </a:extLst>
                </a:gridCol>
                <a:gridCol w="1029133">
                  <a:extLst>
                    <a:ext uri="{9D8B030D-6E8A-4147-A177-3AD203B41FA5}">
                      <a16:colId xmlns:a16="http://schemas.microsoft.com/office/drawing/2014/main" val="3129869539"/>
                    </a:ext>
                  </a:extLst>
                </a:gridCol>
                <a:gridCol w="5114795">
                  <a:extLst>
                    <a:ext uri="{9D8B030D-6E8A-4147-A177-3AD203B41FA5}">
                      <a16:colId xmlns:a16="http://schemas.microsoft.com/office/drawing/2014/main" val="2623215700"/>
                    </a:ext>
                  </a:extLst>
                </a:gridCol>
                <a:gridCol w="761560">
                  <a:extLst>
                    <a:ext uri="{9D8B030D-6E8A-4147-A177-3AD203B41FA5}">
                      <a16:colId xmlns:a16="http://schemas.microsoft.com/office/drawing/2014/main" val="1400893677"/>
                    </a:ext>
                  </a:extLst>
                </a:gridCol>
                <a:gridCol w="1080590">
                  <a:extLst>
                    <a:ext uri="{9D8B030D-6E8A-4147-A177-3AD203B41FA5}">
                      <a16:colId xmlns:a16="http://schemas.microsoft.com/office/drawing/2014/main" val="4109519383"/>
                    </a:ext>
                  </a:extLst>
                </a:gridCol>
                <a:gridCol w="1132047">
                  <a:extLst>
                    <a:ext uri="{9D8B030D-6E8A-4147-A177-3AD203B41FA5}">
                      <a16:colId xmlns:a16="http://schemas.microsoft.com/office/drawing/2014/main" val="3415483987"/>
                    </a:ext>
                  </a:extLst>
                </a:gridCol>
              </a:tblGrid>
              <a:tr h="496520">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Step</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Current Window</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Old Char Removed</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New Char Added</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Rolling Hash Calculation</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New Hash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Pattern Hash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rgbClr val="0070C0"/>
                          </a:solidFill>
                          <a:latin typeface="Times New Roman" panose="02020603050405020304" pitchFamily="18" charset="0"/>
                          <a:cs typeface="Times New Roman" panose="02020603050405020304" pitchFamily="18" charset="0"/>
                        </a:rPr>
                        <a:t>Match</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1968282"/>
                  </a:ext>
                </a:extLst>
              </a:tr>
              <a:tr h="385744">
                <a:tc>
                  <a:txBody>
                    <a:bodyPr/>
                    <a:lstStyle/>
                    <a:p>
                      <a:pPr algn="ctr"/>
                      <a:r>
                        <a:rPr lang="en-US" sz="1900" b="1" dirty="0">
                          <a:latin typeface="Times New Roman" panose="02020603050405020304" pitchFamily="18" charset="0"/>
                          <a:cs typeface="Times New Roman" panose="02020603050405020304" pitchFamily="18" charset="0"/>
                        </a:rPr>
                        <a:t>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cca</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Initial Hash = 3x100+3x10+1= 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4141085"/>
                  </a:ext>
                </a:extLst>
              </a:tr>
              <a:tr h="521020">
                <a:tc>
                  <a:txBody>
                    <a:bodyPr/>
                    <a:lstStyle/>
                    <a:p>
                      <a:pPr algn="ctr"/>
                      <a:r>
                        <a:rPr lang="en-US" sz="1900" b="1">
                          <a:latin typeface="Times New Roman" panose="02020603050405020304" pitchFamily="18" charset="0"/>
                          <a:cs typeface="Times New Roman" panose="02020603050405020304" pitchFamily="18" charset="0"/>
                        </a:rPr>
                        <a:t>2</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cac</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(331−3×100)×10+3=(331−300)×10+3=31×10+3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313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8585702"/>
                  </a:ext>
                </a:extLst>
              </a:tr>
              <a:tr h="443833">
                <a:tc>
                  <a:txBody>
                    <a:bodyPr/>
                    <a:lstStyle/>
                    <a:p>
                      <a:pPr algn="ctr"/>
                      <a:r>
                        <a:rPr lang="en-US" sz="1900" b="1" dirty="0">
                          <a:latin typeface="Times New Roman" panose="02020603050405020304" pitchFamily="18" charset="0"/>
                          <a:cs typeface="Times New Roman" panose="02020603050405020304" pitchFamily="18" charset="0"/>
                        </a:rPr>
                        <a:t>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solidFill>
                            <a:srgbClr val="1E03BD"/>
                          </a:solidFill>
                          <a:latin typeface="Times New Roman" panose="02020603050405020304" pitchFamily="18" charset="0"/>
                          <a:cs typeface="Times New Roman" panose="02020603050405020304" pitchFamily="18" charset="0"/>
                        </a:rPr>
                        <a:t>acc</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(313−3×100)×10+3=(313−300)×10+3=13×10+3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133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5628687"/>
                  </a:ext>
                </a:extLst>
              </a:tr>
              <a:tr h="521020">
                <a:tc>
                  <a:txBody>
                    <a:bodyPr/>
                    <a:lstStyle/>
                    <a:p>
                      <a:pPr algn="ctr"/>
                      <a:r>
                        <a:rPr lang="en-US" sz="1900" b="1">
                          <a:latin typeface="Times New Roman" panose="02020603050405020304" pitchFamily="18" charset="0"/>
                          <a:cs typeface="Times New Roman" panose="02020603050405020304" pitchFamily="18" charset="0"/>
                        </a:rPr>
                        <a:t>4</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cca</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(133−1×100)×10+1=(133−100)×10+1=33×10+1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331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7058825"/>
                  </a:ext>
                </a:extLst>
              </a:tr>
              <a:tr h="463130">
                <a:tc>
                  <a:txBody>
                    <a:bodyPr/>
                    <a:lstStyle/>
                    <a:p>
                      <a:pPr algn="ctr"/>
                      <a:r>
                        <a:rPr lang="en-US" sz="1900" b="1">
                          <a:latin typeface="Times New Roman" panose="02020603050405020304" pitchFamily="18" charset="0"/>
                          <a:cs typeface="Times New Roman" panose="02020603050405020304" pitchFamily="18" charset="0"/>
                        </a:rPr>
                        <a:t>5</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caa</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(331−3×100)×10+1=(331−300)×10+1=31×10+1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311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8708137"/>
                  </a:ext>
                </a:extLst>
              </a:tr>
              <a:tr h="424536">
                <a:tc>
                  <a:txBody>
                    <a:bodyPr/>
                    <a:lstStyle/>
                    <a:p>
                      <a:pPr algn="ctr"/>
                      <a:r>
                        <a:rPr lang="en-US" sz="1900" b="1">
                          <a:latin typeface="Times New Roman" panose="02020603050405020304" pitchFamily="18" charset="0"/>
                          <a:cs typeface="Times New Roman" panose="02020603050405020304" pitchFamily="18" charset="0"/>
                        </a:rPr>
                        <a:t>6</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solidFill>
                            <a:srgbClr val="1E03BD"/>
                          </a:solidFill>
                          <a:latin typeface="Times New Roman" panose="02020603050405020304" pitchFamily="18" charset="0"/>
                          <a:cs typeface="Times New Roman" panose="02020603050405020304" pitchFamily="18" charset="0"/>
                        </a:rPr>
                        <a:t>aae</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c (3)</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e (5)</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(311−3×100)×10+5=(311−300)×10+5=11×10+5</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115</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4988868"/>
                  </a:ext>
                </a:extLst>
              </a:tr>
              <a:tr h="540318">
                <a:tc>
                  <a:txBody>
                    <a:bodyPr/>
                    <a:lstStyle/>
                    <a:p>
                      <a:pPr algn="ctr"/>
                      <a:r>
                        <a:rPr lang="en-US" sz="1900" b="1">
                          <a:latin typeface="Times New Roman" panose="02020603050405020304" pitchFamily="18" charset="0"/>
                          <a:cs typeface="Times New Roman" panose="02020603050405020304" pitchFamily="18" charset="0"/>
                        </a:rPr>
                        <a:t>7</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aed</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d (4)</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(115−1×100)×10+4=(115−100)×10+4=15×10+4</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154</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213124"/>
                  </a:ext>
                </a:extLst>
              </a:tr>
              <a:tr h="424536">
                <a:tc>
                  <a:txBody>
                    <a:bodyPr/>
                    <a:lstStyle/>
                    <a:p>
                      <a:pPr algn="ctr"/>
                      <a:r>
                        <a:rPr lang="en-US" sz="1900" b="1">
                          <a:latin typeface="Times New Roman" panose="02020603050405020304" pitchFamily="18" charset="0"/>
                          <a:cs typeface="Times New Roman" panose="02020603050405020304" pitchFamily="18" charset="0"/>
                        </a:rPr>
                        <a:t>8</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err="1">
                          <a:solidFill>
                            <a:srgbClr val="1E03BD"/>
                          </a:solidFill>
                          <a:latin typeface="Times New Roman" panose="02020603050405020304" pitchFamily="18" charset="0"/>
                          <a:cs typeface="Times New Roman" panose="02020603050405020304" pitchFamily="18" charset="0"/>
                        </a:rPr>
                        <a:t>edb</a:t>
                      </a:r>
                      <a:endParaRPr lang="en-US" sz="1900" b="1" dirty="0">
                        <a:solidFill>
                          <a:srgbClr val="1E03BD"/>
                        </a:solidFill>
                        <a:latin typeface="Times New Roman" panose="02020603050405020304" pitchFamily="18" charset="0"/>
                        <a:cs typeface="Times New Roman" panose="02020603050405020304" pitchFamily="18" charset="0"/>
                      </a:endParaRP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b (2)</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(154−1×100)×10+2=(154−100)×10+2=54×10+2</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a:latin typeface="Times New Roman" panose="02020603050405020304" pitchFamily="18" charset="0"/>
                          <a:cs typeface="Times New Roman" panose="02020603050405020304" pitchFamily="18" charset="0"/>
                        </a:rPr>
                        <a:t>542</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No</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6248407"/>
                  </a:ext>
                </a:extLst>
              </a:tr>
              <a:tr h="492076">
                <a:tc>
                  <a:txBody>
                    <a:bodyPr/>
                    <a:lstStyle/>
                    <a:p>
                      <a:pPr algn="ctr"/>
                      <a:r>
                        <a:rPr lang="en-US" sz="1900" b="1" dirty="0">
                          <a:latin typeface="Times New Roman" panose="02020603050405020304" pitchFamily="18" charset="0"/>
                          <a:cs typeface="Times New Roman" panose="02020603050405020304" pitchFamily="18" charset="0"/>
                        </a:rPr>
                        <a:t>9</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solidFill>
                            <a:srgbClr val="1E03BD"/>
                          </a:solidFill>
                          <a:latin typeface="Times New Roman" panose="02020603050405020304" pitchFamily="18" charset="0"/>
                          <a:cs typeface="Times New Roman" panose="02020603050405020304" pitchFamily="18" charset="0"/>
                        </a:rPr>
                        <a:t>dba</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e (5)</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a (1)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latin typeface="Times New Roman" panose="02020603050405020304" pitchFamily="18" charset="0"/>
                          <a:cs typeface="Times New Roman" panose="02020603050405020304" pitchFamily="18" charset="0"/>
                        </a:rPr>
                        <a:t>(542−5×100)×10+1=(542−500)×10+1=42×10+1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solidFill>
                            <a:srgbClr val="1E03BD"/>
                          </a:solidFill>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solidFill>
                            <a:srgbClr val="1E03BD"/>
                          </a:solidFill>
                          <a:latin typeface="Times New Roman" panose="02020603050405020304" pitchFamily="18" charset="0"/>
                          <a:cs typeface="Times New Roman" panose="02020603050405020304" pitchFamily="18" charset="0"/>
                        </a:rPr>
                        <a:t>421</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solidFill>
                            <a:srgbClr val="1E03BD"/>
                          </a:solidFill>
                          <a:latin typeface="Times New Roman" panose="02020603050405020304" pitchFamily="18" charset="0"/>
                          <a:cs typeface="Times New Roman" panose="02020603050405020304" pitchFamily="18" charset="0"/>
                        </a:rPr>
                        <a:t>Yes ✓</a:t>
                      </a:r>
                    </a:p>
                  </a:txBody>
                  <a:tcPr marL="12912" marR="12912" marT="6456" marB="6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7469314"/>
                  </a:ext>
                </a:extLst>
              </a:tr>
            </a:tbl>
          </a:graphicData>
        </a:graphic>
      </p:graphicFrame>
      <p:sp>
        <p:nvSpPr>
          <p:cNvPr id="5" name="Rectangle 4">
            <a:extLst>
              <a:ext uri="{FF2B5EF4-FFF2-40B4-BE49-F238E27FC236}">
                <a16:creationId xmlns:a16="http://schemas.microsoft.com/office/drawing/2014/main" id="{00595E09-C161-2CA1-8BD4-97D40D32E463}"/>
              </a:ext>
            </a:extLst>
          </p:cNvPr>
          <p:cNvSpPr/>
          <p:nvPr/>
        </p:nvSpPr>
        <p:spPr>
          <a:xfrm>
            <a:off x="1615859" y="121178"/>
            <a:ext cx="10576142" cy="1631216"/>
          </a:xfrm>
          <a:prstGeom prst="rect">
            <a:avLst/>
          </a:prstGeom>
        </p:spPr>
        <p:txBody>
          <a:bodyPr wrap="square">
            <a:spAutoFit/>
          </a:bodyPr>
          <a:lstStyle/>
          <a:p>
            <a:r>
              <a:rPr lang="en-US" sz="2000" b="1" dirty="0">
                <a:solidFill>
                  <a:srgbClr val="C00000"/>
                </a:solidFill>
                <a:latin typeface="Times New Roman" panose="02020603050405020304" pitchFamily="18" charset="0"/>
                <a:cs typeface="Times New Roman" panose="02020603050405020304" pitchFamily="18" charset="0"/>
              </a:rPr>
              <a:t>Example 3: Rolling hash function</a:t>
            </a:r>
            <a:endParaRPr lang="en-US" altLang="en-US" sz="2000" b="1" dirty="0">
              <a:solidFill>
                <a:srgbClr val="C00000"/>
              </a:solidFill>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Text (T):</a:t>
            </a: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F0000"/>
                </a:solidFill>
                <a:latin typeface="Times New Roman" panose="02020603050405020304" pitchFamily="18" charset="0"/>
                <a:cs typeface="Times New Roman" panose="02020603050405020304" pitchFamily="18" charset="0"/>
              </a:rPr>
              <a:t>c </a:t>
            </a:r>
            <a:r>
              <a:rPr lang="en-US" altLang="en-US" sz="2000" b="1" dirty="0" err="1">
                <a:solidFill>
                  <a:srgbClr val="FF0000"/>
                </a:solidFill>
                <a:latin typeface="Times New Roman" panose="02020603050405020304" pitchFamily="18" charset="0"/>
                <a:cs typeface="Times New Roman" panose="02020603050405020304" pitchFamily="18" charset="0"/>
              </a:rPr>
              <a:t>c</a:t>
            </a:r>
            <a:r>
              <a:rPr lang="en-US" altLang="en-US" sz="2000" b="1" dirty="0">
                <a:solidFill>
                  <a:srgbClr val="FF0000"/>
                </a:solidFill>
                <a:latin typeface="Times New Roman" panose="02020603050405020304" pitchFamily="18" charset="0"/>
                <a:cs typeface="Times New Roman" panose="02020603050405020304" pitchFamily="18" charset="0"/>
              </a:rPr>
              <a:t> a c </a:t>
            </a:r>
            <a:r>
              <a:rPr lang="en-US" altLang="en-US" sz="2000" b="1" dirty="0" err="1">
                <a:solidFill>
                  <a:srgbClr val="FF0000"/>
                </a:solidFill>
                <a:latin typeface="Times New Roman" panose="02020603050405020304" pitchFamily="18" charset="0"/>
                <a:cs typeface="Times New Roman" panose="02020603050405020304" pitchFamily="18" charset="0"/>
              </a:rPr>
              <a:t>c</a:t>
            </a:r>
            <a:r>
              <a:rPr lang="en-US" altLang="en-US" sz="2000" b="1" dirty="0">
                <a:solidFill>
                  <a:srgbClr val="FF0000"/>
                </a:solidFill>
                <a:latin typeface="Times New Roman" panose="02020603050405020304" pitchFamily="18" charset="0"/>
                <a:cs typeface="Times New Roman" panose="02020603050405020304" pitchFamily="18" charset="0"/>
              </a:rPr>
              <a:t> a </a:t>
            </a:r>
            <a:r>
              <a:rPr lang="en-US" altLang="en-US" sz="2000" b="1" dirty="0" err="1">
                <a:solidFill>
                  <a:srgbClr val="FF0000"/>
                </a:solidFill>
                <a:latin typeface="Times New Roman" panose="02020603050405020304" pitchFamily="18" charset="0"/>
                <a:cs typeface="Times New Roman" panose="02020603050405020304" pitchFamily="18" charset="0"/>
              </a:rPr>
              <a:t>a</a:t>
            </a:r>
            <a:r>
              <a:rPr lang="en-US" altLang="en-US" sz="2000" b="1" dirty="0">
                <a:solidFill>
                  <a:srgbClr val="FF0000"/>
                </a:solidFill>
                <a:latin typeface="Times New Roman" panose="02020603050405020304" pitchFamily="18" charset="0"/>
                <a:cs typeface="Times New Roman" panose="02020603050405020304" pitchFamily="18" charset="0"/>
              </a:rPr>
              <a:t> e d b a </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Pattern (P):</a:t>
            </a: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F0000"/>
                </a:solidFill>
                <a:latin typeface="Times New Roman" panose="02020603050405020304" pitchFamily="18" charset="0"/>
                <a:cs typeface="Times New Roman" panose="02020603050405020304" pitchFamily="18" charset="0"/>
              </a:rPr>
              <a:t>d b a  </a:t>
            </a:r>
            <a:r>
              <a:rPr lang="en-US" altLang="en-US" sz="2000" b="1" dirty="0" err="1">
                <a:solidFill>
                  <a:srgbClr val="1E03BD"/>
                </a:solidFill>
                <a:latin typeface="Times New Roman" panose="02020603050405020304" pitchFamily="18" charset="0"/>
                <a:cs typeface="Times New Roman" panose="02020603050405020304" pitchFamily="18" charset="0"/>
              </a:rPr>
              <a:t>H</a:t>
            </a:r>
            <a:r>
              <a:rPr lang="en-US" altLang="en-US" sz="2000" b="1" baseline="-25000" dirty="0" err="1">
                <a:solidFill>
                  <a:srgbClr val="1E03BD"/>
                </a:solidFill>
                <a:latin typeface="Times New Roman" panose="02020603050405020304" pitchFamily="18" charset="0"/>
                <a:cs typeface="Times New Roman" panose="02020603050405020304" pitchFamily="18" charset="0"/>
              </a:rPr>
              <a:t>new</a:t>
            </a:r>
            <a:r>
              <a:rPr lang="en-US" altLang="en-US" sz="2000" b="1" dirty="0">
                <a:solidFill>
                  <a:srgbClr val="1E03BD"/>
                </a:solidFill>
                <a:latin typeface="Times New Roman" panose="02020603050405020304" pitchFamily="18" charset="0"/>
                <a:cs typeface="Times New Roman" panose="02020603050405020304" pitchFamily="18" charset="0"/>
              </a:rPr>
              <a:t>=(H</a:t>
            </a:r>
            <a:r>
              <a:rPr lang="en-US" altLang="en-US" sz="2000" b="1" baseline="-25000" dirty="0">
                <a:solidFill>
                  <a:srgbClr val="1E03BD"/>
                </a:solidFill>
                <a:latin typeface="Times New Roman" panose="02020603050405020304" pitchFamily="18" charset="0"/>
                <a:cs typeface="Times New Roman" panose="02020603050405020304" pitchFamily="18" charset="0"/>
              </a:rPr>
              <a:t>old</a:t>
            </a:r>
            <a:r>
              <a:rPr lang="en-US" altLang="en-US" sz="2000" b="1" dirty="0">
                <a:solidFill>
                  <a:srgbClr val="1E03BD"/>
                </a:solidFill>
                <a:latin typeface="Times New Roman" panose="02020603050405020304" pitchFamily="18" charset="0"/>
                <a:cs typeface="Times New Roman" panose="02020603050405020304" pitchFamily="18" charset="0"/>
              </a:rPr>
              <a:t>−Old×10</a:t>
            </a:r>
            <a:r>
              <a:rPr lang="en-US" altLang="en-US" sz="2000" b="1" baseline="30000" dirty="0">
                <a:solidFill>
                  <a:srgbClr val="1E03BD"/>
                </a:solidFill>
                <a:latin typeface="Times New Roman" panose="02020603050405020304" pitchFamily="18" charset="0"/>
                <a:cs typeface="Times New Roman" panose="02020603050405020304" pitchFamily="18" charset="0"/>
              </a:rPr>
              <a:t>m−1</a:t>
            </a:r>
            <a:r>
              <a:rPr lang="en-US" altLang="en-US" sz="2000" b="1" dirty="0">
                <a:solidFill>
                  <a:srgbClr val="1E03BD"/>
                </a:solidFill>
                <a:latin typeface="Times New Roman" panose="02020603050405020304" pitchFamily="18" charset="0"/>
                <a:cs typeface="Times New Roman" panose="02020603050405020304" pitchFamily="18" charset="0"/>
              </a:rPr>
              <a:t>)×10+New</a:t>
            </a:r>
          </a:p>
          <a:p>
            <a:pPr lvl="0"/>
            <a:r>
              <a:rPr lang="en-US" sz="2000" dirty="0">
                <a:latin typeface="Times New Roman" panose="02020603050405020304" pitchFamily="18" charset="0"/>
                <a:cs typeface="Times New Roman" panose="02020603050405020304" pitchFamily="18" charset="0"/>
              </a:rPr>
              <a:t>Since m=3  10</a:t>
            </a:r>
            <a:r>
              <a:rPr lang="en-US" sz="2000" baseline="30000" dirty="0">
                <a:latin typeface="Times New Roman" panose="02020603050405020304" pitchFamily="18" charset="0"/>
                <a:cs typeface="Times New Roman" panose="02020603050405020304" pitchFamily="18" charset="0"/>
              </a:rPr>
              <a:t>m−1</a:t>
            </a:r>
            <a:r>
              <a:rPr lang="en-US" sz="2000" dirty="0">
                <a:latin typeface="Times New Roman" panose="02020603050405020304" pitchFamily="18" charset="0"/>
                <a:cs typeface="Times New Roman" panose="02020603050405020304" pitchFamily="18" charset="0"/>
              </a:rPr>
              <a:t>=10</a:t>
            </a:r>
            <a:r>
              <a:rPr lang="en-US" sz="2000" baseline="30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=100   </a:t>
            </a:r>
            <a:r>
              <a:rPr lang="en-US" sz="2000" dirty="0" err="1">
                <a:latin typeface="Times New Roman" panose="02020603050405020304" pitchFamily="18" charset="0"/>
                <a:cs typeface="Times New Roman" panose="02020603050405020304" pitchFamily="18" charset="0"/>
              </a:rPr>
              <a:t>H</a:t>
            </a:r>
            <a:r>
              <a:rPr lang="en-US" sz="2000" baseline="-25000" dirty="0" err="1">
                <a:latin typeface="Times New Roman" panose="02020603050405020304" pitchFamily="18" charset="0"/>
                <a:cs typeface="Times New Roman" panose="02020603050405020304" pitchFamily="18" charset="0"/>
              </a:rPr>
              <a:t>new</a:t>
            </a:r>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old</a:t>
            </a:r>
            <a:r>
              <a:rPr lang="en-US" sz="2000" dirty="0">
                <a:latin typeface="Times New Roman" panose="02020603050405020304" pitchFamily="18" charset="0"/>
                <a:cs typeface="Times New Roman" panose="02020603050405020304" pitchFamily="18" charset="0"/>
              </a:rPr>
              <a:t>​−Old×100)×10+New</a:t>
            </a:r>
          </a:p>
          <a:p>
            <a:r>
              <a:rPr lang="en-US" altLang="en-US" sz="2000" b="1" dirty="0">
                <a:latin typeface="Times New Roman" panose="02020603050405020304" pitchFamily="18" charset="0"/>
                <a:cs typeface="Times New Roman" panose="02020603050405020304" pitchFamily="18" charset="0"/>
              </a:rPr>
              <a:t>Character Codes:</a:t>
            </a:r>
            <a:r>
              <a:rPr lang="en-US" altLang="en-US" sz="2000" dirty="0">
                <a:latin typeface="Times New Roman" panose="02020603050405020304" pitchFamily="18" charset="0"/>
                <a:cs typeface="Times New Roman" panose="02020603050405020304" pitchFamily="18" charset="0"/>
              </a:rPr>
              <a:t> a = 1, b = 2, c = 3, d = 4, e = 5 ,   </a:t>
            </a:r>
            <a:r>
              <a:rPr lang="en-US" altLang="en-US" sz="2000" b="1" dirty="0">
                <a:latin typeface="Times New Roman" panose="02020603050405020304" pitchFamily="18" charset="0"/>
                <a:cs typeface="Times New Roman" panose="02020603050405020304" pitchFamily="18" charset="0"/>
              </a:rPr>
              <a:t>Base (d):</a:t>
            </a:r>
            <a:r>
              <a:rPr lang="en-US" altLang="en-US" sz="2000" dirty="0">
                <a:latin typeface="Times New Roman" panose="02020603050405020304" pitchFamily="18" charset="0"/>
                <a:cs typeface="Times New Roman" panose="02020603050405020304" pitchFamily="18" charset="0"/>
              </a:rPr>
              <a:t> 10 </a:t>
            </a:r>
          </a:p>
          <a:p>
            <a:r>
              <a:rPr lang="en-US" alt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Pattern = </a:t>
            </a:r>
            <a:r>
              <a:rPr lang="en-US" sz="2000" b="1" dirty="0">
                <a:latin typeface="Times New Roman" panose="02020603050405020304" pitchFamily="18" charset="0"/>
                <a:cs typeface="Times New Roman" panose="02020603050405020304" pitchFamily="18" charset="0"/>
              </a:rPr>
              <a:t>d b a    Hash(pattern)=4*10</a:t>
            </a:r>
            <a:r>
              <a:rPr lang="en-US" sz="2000" b="1" baseline="30000"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 +2*10</a:t>
            </a:r>
            <a:r>
              <a:rPr lang="en-US" sz="2000" b="1" baseline="30000" dirty="0">
                <a:latin typeface="Times New Roman" panose="02020603050405020304" pitchFamily="18" charset="0"/>
                <a:cs typeface="Times New Roman" panose="02020603050405020304" pitchFamily="18" charset="0"/>
              </a:rPr>
              <a:t>1</a:t>
            </a:r>
            <a:r>
              <a:rPr lang="en-US" sz="2000" b="1" dirty="0">
                <a:latin typeface="Times New Roman" panose="02020603050405020304" pitchFamily="18" charset="0"/>
                <a:cs typeface="Times New Roman" panose="02020603050405020304" pitchFamily="18" charset="0"/>
              </a:rPr>
              <a:t> + 1 * 10</a:t>
            </a:r>
            <a:r>
              <a:rPr lang="en-US" sz="2000" b="1" baseline="30000" dirty="0">
                <a:latin typeface="Times New Roman" panose="02020603050405020304" pitchFamily="18" charset="0"/>
                <a:cs typeface="Times New Roman" panose="02020603050405020304" pitchFamily="18" charset="0"/>
              </a:rPr>
              <a:t>0</a:t>
            </a:r>
            <a:r>
              <a:rPr lang="en-US" sz="2000" b="1" dirty="0">
                <a:latin typeface="Times New Roman" panose="02020603050405020304" pitchFamily="18" charset="0"/>
                <a:cs typeface="Times New Roman" panose="02020603050405020304" pitchFamily="18" charset="0"/>
              </a:rPr>
              <a:t> =4*100+2*10+1=400+20+1=421</a:t>
            </a:r>
          </a:p>
        </p:txBody>
      </p:sp>
    </p:spTree>
    <p:extLst>
      <p:ext uri="{BB962C8B-B14F-4D97-AF65-F5344CB8AC3E}">
        <p14:creationId xmlns:p14="http://schemas.microsoft.com/office/powerpoint/2010/main" val="35156383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ECC84-37CB-8C6F-9477-A3E2E2EFEC2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3152754-4795-CD1D-5C5A-BFB130776100}"/>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628ED51C-E5AC-F544-A6D6-A0A467F0C63D}"/>
              </a:ext>
            </a:extLst>
          </p:cNvPr>
          <p:cNvSpPr>
            <a:spLocks noGrp="1"/>
          </p:cNvSpPr>
          <p:nvPr>
            <p:ph type="sldNum" sz="quarter" idx="12"/>
          </p:nvPr>
        </p:nvSpPr>
        <p:spPr/>
        <p:txBody>
          <a:bodyPr/>
          <a:lstStyle/>
          <a:p>
            <a:fld id="{68187FF5-4BF9-4B21-B0D2-9B7FF2B27D7F}" type="slidenum">
              <a:rPr lang="en-AU" smtClean="0"/>
              <a:pPr/>
              <a:t>82</a:t>
            </a:fld>
            <a:endParaRPr lang="en-AU"/>
          </a:p>
        </p:txBody>
      </p:sp>
      <p:sp>
        <p:nvSpPr>
          <p:cNvPr id="5" name="Rectangle 2">
            <a:extLst>
              <a:ext uri="{FF2B5EF4-FFF2-40B4-BE49-F238E27FC236}">
                <a16:creationId xmlns:a16="http://schemas.microsoft.com/office/drawing/2014/main" id="{23DB01A8-DA85-9A43-3C09-C9D5EAEB5B28}"/>
              </a:ext>
            </a:extLst>
          </p:cNvPr>
          <p:cNvSpPr>
            <a:spLocks noChangeArrowheads="1"/>
          </p:cNvSpPr>
          <p:nvPr/>
        </p:nvSpPr>
        <p:spPr bwMode="auto">
          <a:xfrm>
            <a:off x="1176251" y="598190"/>
            <a:ext cx="6096000" cy="6740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400" dirty="0"/>
              <a:t>Algorithm </a:t>
            </a:r>
            <a:r>
              <a:rPr lang="en-US" altLang="en-US" sz="2400" dirty="0" err="1"/>
              <a:t>rabin_karp</a:t>
            </a:r>
            <a:r>
              <a:rPr lang="en-US" altLang="en-US" sz="2400" dirty="0"/>
              <a:t>(T, P, d, q)</a:t>
            </a:r>
          </a:p>
          <a:p>
            <a:r>
              <a:rPr lang="en-US" altLang="en-US" sz="2400" dirty="0"/>
              <a:t>{</a:t>
            </a:r>
          </a:p>
          <a:p>
            <a:r>
              <a:rPr lang="en-US" altLang="en-US" sz="2400" dirty="0"/>
              <a:t>n=length(T)</a:t>
            </a:r>
          </a:p>
          <a:p>
            <a:r>
              <a:rPr lang="en-US" altLang="en-US" sz="2400" dirty="0"/>
              <a:t>m =length(P)</a:t>
            </a:r>
          </a:p>
          <a:p>
            <a:r>
              <a:rPr lang="en-US" altLang="en-US" sz="2400" dirty="0"/>
              <a:t>h = d</a:t>
            </a:r>
            <a:r>
              <a:rPr lang="en-US" altLang="en-US" sz="2400" baseline="30000" dirty="0"/>
              <a:t>(m-1)</a:t>
            </a:r>
            <a:r>
              <a:rPr lang="en-US" altLang="en-US" sz="2400" dirty="0"/>
              <a:t> mod q</a:t>
            </a:r>
          </a:p>
          <a:p>
            <a:r>
              <a:rPr lang="en-US" altLang="en-US" sz="2400" dirty="0"/>
              <a:t>p=0</a:t>
            </a:r>
          </a:p>
          <a:p>
            <a:r>
              <a:rPr lang="en-US" altLang="en-US" sz="2400" dirty="0"/>
              <a:t>t =0</a:t>
            </a:r>
          </a:p>
          <a:p>
            <a:r>
              <a:rPr lang="en-US" altLang="en-US" sz="2400" dirty="0"/>
              <a:t>for </a:t>
            </a:r>
            <a:r>
              <a:rPr lang="en-US" altLang="en-US" sz="2400" dirty="0" err="1"/>
              <a:t>i</a:t>
            </a:r>
            <a:r>
              <a:rPr lang="en-US" altLang="en-US" sz="2400" dirty="0"/>
              <a:t> = 0 to m-1 step1 do</a:t>
            </a:r>
          </a:p>
          <a:p>
            <a:r>
              <a:rPr lang="en-US" altLang="en-US" sz="2400" dirty="0"/>
              <a:t>    p ← (d*p + P[</a:t>
            </a:r>
            <a:r>
              <a:rPr lang="en-US" altLang="en-US" sz="2400" dirty="0" err="1"/>
              <a:t>i</a:t>
            </a:r>
            <a:r>
              <a:rPr lang="en-US" altLang="en-US" sz="2400" dirty="0"/>
              <a:t>]) mod q</a:t>
            </a:r>
          </a:p>
          <a:p>
            <a:r>
              <a:rPr lang="en-US" altLang="en-US" sz="2400" dirty="0"/>
              <a:t>    t ← (d*t + T[</a:t>
            </a:r>
            <a:r>
              <a:rPr lang="en-US" altLang="en-US" sz="2400" dirty="0" err="1"/>
              <a:t>i</a:t>
            </a:r>
            <a:r>
              <a:rPr lang="en-US" altLang="en-US" sz="2400" dirty="0"/>
              <a:t>]) mod q</a:t>
            </a:r>
          </a:p>
          <a:p>
            <a:r>
              <a:rPr lang="en-US" altLang="en-US" sz="2400" dirty="0"/>
              <a:t>end for</a:t>
            </a:r>
          </a:p>
          <a:p>
            <a:r>
              <a:rPr lang="en-US" altLang="en-US" sz="2400" dirty="0"/>
              <a:t>for </a:t>
            </a:r>
            <a:r>
              <a:rPr lang="en-US" altLang="en-US" sz="2400" dirty="0" err="1"/>
              <a:t>i</a:t>
            </a:r>
            <a:r>
              <a:rPr lang="en-US" altLang="en-US" sz="2400" dirty="0"/>
              <a:t> = 0 to n-m step1 do</a:t>
            </a:r>
          </a:p>
          <a:p>
            <a:r>
              <a:rPr lang="en-US" altLang="en-US" sz="2400" dirty="0"/>
              <a:t>    if p == t then</a:t>
            </a:r>
          </a:p>
          <a:p>
            <a:r>
              <a:rPr lang="en-US" altLang="en-US" sz="2400" dirty="0"/>
              <a:t>        if T[</a:t>
            </a:r>
            <a:r>
              <a:rPr lang="en-US" altLang="en-US" sz="2400" dirty="0" err="1"/>
              <a:t>i</a:t>
            </a:r>
            <a:r>
              <a:rPr lang="en-US" altLang="en-US" sz="2400" dirty="0"/>
              <a:t>…i+m-1] == P then</a:t>
            </a:r>
          </a:p>
          <a:p>
            <a:r>
              <a:rPr lang="en-US" altLang="en-US" sz="2400" dirty="0"/>
              <a:t>            print "Pattern found at index", </a:t>
            </a:r>
            <a:r>
              <a:rPr lang="en-US" altLang="en-US" sz="2400" dirty="0" err="1"/>
              <a:t>i</a:t>
            </a:r>
            <a:endParaRPr lang="en-US" altLang="en-US" sz="2400" dirty="0"/>
          </a:p>
          <a:p>
            <a:r>
              <a:rPr lang="en-US" altLang="en-US" sz="2400" dirty="0"/>
              <a:t>       end if</a:t>
            </a:r>
          </a:p>
          <a:p>
            <a:r>
              <a:rPr lang="en-US" altLang="en-US" sz="2400" dirty="0"/>
              <a:t>   end if</a:t>
            </a:r>
          </a:p>
          <a:p>
            <a:r>
              <a:rPr lang="en-US" altLang="en-US" sz="2400" dirty="0"/>
              <a:t>    </a:t>
            </a:r>
          </a:p>
        </p:txBody>
      </p:sp>
      <p:sp>
        <p:nvSpPr>
          <p:cNvPr id="6" name="Rectangle 1">
            <a:extLst>
              <a:ext uri="{FF2B5EF4-FFF2-40B4-BE49-F238E27FC236}">
                <a16:creationId xmlns:a16="http://schemas.microsoft.com/office/drawing/2014/main" id="{B83000D5-0278-5056-2E31-EE2CD211D284}"/>
              </a:ext>
            </a:extLst>
          </p:cNvPr>
          <p:cNvSpPr>
            <a:spLocks noChangeArrowheads="1"/>
          </p:cNvSpPr>
          <p:nvPr/>
        </p:nvSpPr>
        <p:spPr bwMode="auto">
          <a:xfrm>
            <a:off x="7560124" y="598190"/>
            <a:ext cx="437974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400" dirty="0"/>
              <a:t>if </a:t>
            </a:r>
            <a:r>
              <a:rPr lang="en-US" altLang="en-US" sz="2400" dirty="0" err="1"/>
              <a:t>i</a:t>
            </a:r>
            <a:r>
              <a:rPr lang="en-US" altLang="en-US" sz="2400" dirty="0"/>
              <a:t> &lt; n-m then</a:t>
            </a:r>
          </a:p>
          <a:p>
            <a:r>
              <a:rPr lang="en-US" altLang="en-US" sz="2400" dirty="0"/>
              <a:t>        t ← (d*(t - T[</a:t>
            </a:r>
            <a:r>
              <a:rPr lang="en-US" altLang="en-US" sz="2400" dirty="0" err="1"/>
              <a:t>i</a:t>
            </a:r>
            <a:r>
              <a:rPr lang="en-US" altLang="en-US" sz="2400" dirty="0"/>
              <a:t>]*h) + T[</a:t>
            </a:r>
            <a:r>
              <a:rPr lang="en-US" altLang="en-US" sz="2400" dirty="0" err="1"/>
              <a:t>i+m</a:t>
            </a:r>
            <a:r>
              <a:rPr lang="en-US" altLang="en-US" sz="2400" dirty="0"/>
              <a:t>]) mod q</a:t>
            </a:r>
          </a:p>
          <a:p>
            <a:r>
              <a:rPr lang="en-US" altLang="en-US" sz="2400" dirty="0"/>
              <a:t>        if t &lt; 0 then</a:t>
            </a:r>
          </a:p>
          <a:p>
            <a:r>
              <a:rPr lang="en-US" altLang="en-US" sz="2400" dirty="0"/>
              <a:t>            t ← t + q</a:t>
            </a:r>
          </a:p>
          <a:p>
            <a:r>
              <a:rPr lang="en-US" altLang="en-US" sz="2400" dirty="0"/>
              <a:t>       end if</a:t>
            </a:r>
          </a:p>
          <a:p>
            <a:r>
              <a:rPr lang="en-US" altLang="en-US" sz="2400" dirty="0"/>
              <a:t>   end if</a:t>
            </a:r>
          </a:p>
          <a:p>
            <a:r>
              <a:rPr lang="en-US" altLang="en-US" sz="2400" dirty="0"/>
              <a:t>end for</a:t>
            </a:r>
          </a:p>
          <a:p>
            <a:r>
              <a:rPr lang="en-US" altLang="en-US" sz="2400" dirty="0"/>
              <a:t>}</a:t>
            </a:r>
          </a:p>
        </p:txBody>
      </p:sp>
      <p:sp>
        <p:nvSpPr>
          <p:cNvPr id="7" name="TextBox 6">
            <a:extLst>
              <a:ext uri="{FF2B5EF4-FFF2-40B4-BE49-F238E27FC236}">
                <a16:creationId xmlns:a16="http://schemas.microsoft.com/office/drawing/2014/main" id="{12527D72-2B59-A359-4A7E-278CA62777F5}"/>
              </a:ext>
            </a:extLst>
          </p:cNvPr>
          <p:cNvSpPr txBox="1"/>
          <p:nvPr/>
        </p:nvSpPr>
        <p:spPr>
          <a:xfrm>
            <a:off x="3505129" y="74970"/>
            <a:ext cx="5777672" cy="523220"/>
          </a:xfrm>
          <a:prstGeom prst="rect">
            <a:avLst/>
          </a:prstGeom>
          <a:noFill/>
        </p:spPr>
        <p:txBody>
          <a:bodyPr wrap="none" rtlCol="0">
            <a:spAutoFit/>
          </a:bodyPr>
          <a:lstStyle/>
          <a:p>
            <a:r>
              <a:rPr lang="en-US" sz="2800" b="1" dirty="0">
                <a:solidFill>
                  <a:srgbClr val="1E03BD"/>
                </a:solidFill>
              </a:rPr>
              <a:t>Pseudocode for Rabin Karp Algorithm</a:t>
            </a:r>
          </a:p>
        </p:txBody>
      </p:sp>
    </p:spTree>
    <p:extLst>
      <p:ext uri="{BB962C8B-B14F-4D97-AF65-F5344CB8AC3E}">
        <p14:creationId xmlns:p14="http://schemas.microsoft.com/office/powerpoint/2010/main" val="416720247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229F9-21E4-9C89-49A3-996E149B7E1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F7CDB64-AA2F-0E89-1687-D12DCCDE8453}"/>
              </a:ext>
            </a:extLst>
          </p:cNvPr>
          <p:cNvSpPr>
            <a:spLocks noGrp="1"/>
          </p:cNvSpPr>
          <p:nvPr>
            <p:ph type="ftr" sz="quarter" idx="11"/>
          </p:nvPr>
        </p:nvSpPr>
        <p:spPr>
          <a:xfrm>
            <a:off x="872950" y="6492875"/>
            <a:ext cx="9144000" cy="365125"/>
          </a:xfrm>
        </p:spPr>
        <p:txBody>
          <a:bodyPr/>
          <a:lstStyle/>
          <a:p>
            <a:r>
              <a:rPr lang="en-AU" dirty="0">
                <a:solidFill>
                  <a:srgbClr val="C00000"/>
                </a:solidFill>
              </a:rPr>
              <a:t>DSA-3 </a:t>
            </a:r>
          </a:p>
        </p:txBody>
      </p:sp>
      <p:sp>
        <p:nvSpPr>
          <p:cNvPr id="3" name="Slide Number Placeholder 2">
            <a:extLst>
              <a:ext uri="{FF2B5EF4-FFF2-40B4-BE49-F238E27FC236}">
                <a16:creationId xmlns:a16="http://schemas.microsoft.com/office/drawing/2014/main" id="{4026AED9-7064-5AB6-623C-7E64C21298F0}"/>
              </a:ext>
            </a:extLst>
          </p:cNvPr>
          <p:cNvSpPr>
            <a:spLocks noGrp="1"/>
          </p:cNvSpPr>
          <p:nvPr>
            <p:ph type="sldNum" sz="quarter" idx="12"/>
          </p:nvPr>
        </p:nvSpPr>
        <p:spPr>
          <a:xfrm>
            <a:off x="10673656" y="6492875"/>
            <a:ext cx="705196" cy="365125"/>
          </a:xfrm>
        </p:spPr>
        <p:txBody>
          <a:bodyPr/>
          <a:lstStyle/>
          <a:p>
            <a:fld id="{68187FF5-4BF9-4B21-B0D2-9B7FF2B27D7F}" type="slidenum">
              <a:rPr lang="en-AU" smtClean="0"/>
              <a:pPr/>
              <a:t>83</a:t>
            </a:fld>
            <a:endParaRPr lang="en-AU" dirty="0"/>
          </a:p>
        </p:txBody>
      </p:sp>
      <p:sp>
        <p:nvSpPr>
          <p:cNvPr id="4" name="Rectangle 3">
            <a:extLst>
              <a:ext uri="{FF2B5EF4-FFF2-40B4-BE49-F238E27FC236}">
                <a16:creationId xmlns:a16="http://schemas.microsoft.com/office/drawing/2014/main" id="{F2E49292-94C5-0874-A787-4152F4B37B22}"/>
              </a:ext>
            </a:extLst>
          </p:cNvPr>
          <p:cNvSpPr>
            <a:spLocks noChangeArrowheads="1"/>
          </p:cNvSpPr>
          <p:nvPr/>
        </p:nvSpPr>
        <p:spPr bwMode="auto">
          <a:xfrm>
            <a:off x="87682" y="981075"/>
            <a:ext cx="5647956"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r>
              <a:rPr lang="en-US" altLang="en-US" b="1" dirty="0">
                <a:solidFill>
                  <a:srgbClr val="7F0055"/>
                </a:solidFill>
                <a:latin typeface="Times New Roman" panose="02020603050405020304" pitchFamily="18" charset="0"/>
                <a:cs typeface="Times New Roman" panose="02020603050405020304" pitchFamily="18" charset="0"/>
              </a:rPr>
              <a:t>package</a:t>
            </a:r>
            <a:r>
              <a:rPr lang="en-US" altLang="en-US" dirty="0">
                <a:solidFill>
                  <a:srgbClr val="000000"/>
                </a:solidFill>
                <a:latin typeface="Times New Roman" panose="02020603050405020304" pitchFamily="18" charset="0"/>
                <a:cs typeface="Times New Roman" panose="02020603050405020304" pitchFamily="18" charset="0"/>
              </a:rPr>
              <a:t> algorithm;</a:t>
            </a:r>
          </a:p>
          <a:p>
            <a:r>
              <a:rPr lang="en-US" altLang="en-US" b="1" dirty="0">
                <a:solidFill>
                  <a:srgbClr val="7F0055"/>
                </a:solidFill>
                <a:latin typeface="Times New Roman" panose="02020603050405020304" pitchFamily="18" charset="0"/>
                <a:cs typeface="Times New Roman" panose="02020603050405020304" pitchFamily="18" charset="0"/>
              </a:rPr>
              <a:t>public</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b="1" dirty="0">
                <a:solidFill>
                  <a:srgbClr val="7F0055"/>
                </a:solidFill>
                <a:latin typeface="Times New Roman" panose="02020603050405020304" pitchFamily="18" charset="0"/>
                <a:cs typeface="Times New Roman" panose="02020603050405020304" pitchFamily="18" charset="0"/>
              </a:rPr>
              <a:t>class</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dirty="0" err="1">
                <a:solidFill>
                  <a:srgbClr val="000000"/>
                </a:solidFill>
                <a:latin typeface="Times New Roman" panose="02020603050405020304" pitchFamily="18" charset="0"/>
                <a:cs typeface="Times New Roman" panose="02020603050405020304" pitchFamily="18" charset="0"/>
              </a:rPr>
              <a:t>Rabinkarp</a:t>
            </a:r>
            <a:r>
              <a:rPr lang="en-US" altLang="en-US" dirty="0">
                <a:solidFill>
                  <a:srgbClr val="000000"/>
                </a:solidFill>
                <a:latin typeface="Times New Roman" panose="02020603050405020304" pitchFamily="18" charset="0"/>
                <a:cs typeface="Times New Roman" panose="02020603050405020304" pitchFamily="18" charset="0"/>
              </a:rPr>
              <a:t> {</a:t>
            </a:r>
          </a:p>
          <a:p>
            <a:r>
              <a:rPr lang="en-US" altLang="en-US" b="1" dirty="0">
                <a:solidFill>
                  <a:srgbClr val="7F0055"/>
                </a:solidFill>
                <a:latin typeface="Times New Roman" panose="02020603050405020304" pitchFamily="18" charset="0"/>
                <a:cs typeface="Times New Roman" panose="02020603050405020304" pitchFamily="18" charset="0"/>
              </a:rPr>
              <a:t>public</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b="1" dirty="0">
                <a:solidFill>
                  <a:srgbClr val="7F0055"/>
                </a:solidFill>
                <a:latin typeface="Times New Roman" panose="02020603050405020304" pitchFamily="18" charset="0"/>
                <a:cs typeface="Times New Roman" panose="02020603050405020304" pitchFamily="18" charset="0"/>
              </a:rPr>
              <a:t>final</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b="1" dirty="0">
                <a:solidFill>
                  <a:srgbClr val="7F0055"/>
                </a:solidFill>
                <a:latin typeface="Times New Roman" panose="02020603050405020304" pitchFamily="18" charset="0"/>
                <a:cs typeface="Times New Roman" panose="02020603050405020304" pitchFamily="18" charset="0"/>
              </a:rPr>
              <a:t>static</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7F0055"/>
                </a:solidFill>
                <a:latin typeface="Times New Roman" panose="02020603050405020304" pitchFamily="18" charset="0"/>
                <a:cs typeface="Times New Roman" panose="02020603050405020304" pitchFamily="18" charset="0"/>
              </a:rPr>
              <a:t>int</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b="1" i="1" dirty="0">
                <a:solidFill>
                  <a:srgbClr val="0000C0"/>
                </a:solidFill>
                <a:latin typeface="Times New Roman" panose="02020603050405020304" pitchFamily="18" charset="0"/>
                <a:cs typeface="Times New Roman" panose="02020603050405020304" pitchFamily="18" charset="0"/>
              </a:rPr>
              <a:t>b</a:t>
            </a:r>
            <a:r>
              <a:rPr lang="en-US" altLang="en-US" dirty="0">
                <a:solidFill>
                  <a:srgbClr val="000000"/>
                </a:solidFill>
                <a:latin typeface="Times New Roman" panose="02020603050405020304" pitchFamily="18" charset="0"/>
                <a:cs typeface="Times New Roman" panose="02020603050405020304" pitchFamily="18" charset="0"/>
              </a:rPr>
              <a:t> = 10; //base</a:t>
            </a:r>
          </a:p>
          <a:p>
            <a:r>
              <a:rPr lang="en-US" altLang="en-US" b="1" dirty="0">
                <a:solidFill>
                  <a:srgbClr val="7F0055"/>
                </a:solidFill>
                <a:latin typeface="Times New Roman" panose="02020603050405020304" pitchFamily="18" charset="0"/>
                <a:cs typeface="Times New Roman" panose="02020603050405020304" pitchFamily="18" charset="0"/>
              </a:rPr>
              <a:t>static</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b="1" dirty="0">
                <a:solidFill>
                  <a:srgbClr val="7F0055"/>
                </a:solidFill>
                <a:latin typeface="Times New Roman" panose="02020603050405020304" pitchFamily="18" charset="0"/>
                <a:cs typeface="Times New Roman" panose="02020603050405020304" pitchFamily="18" charset="0"/>
              </a:rPr>
              <a:t>void</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dirty="0" err="1">
                <a:solidFill>
                  <a:srgbClr val="000000"/>
                </a:solidFill>
                <a:latin typeface="Times New Roman" panose="02020603050405020304" pitchFamily="18" charset="0"/>
                <a:cs typeface="Times New Roman" panose="02020603050405020304" pitchFamily="18" charset="0"/>
              </a:rPr>
              <a:t>rabinkarpsearch</a:t>
            </a:r>
            <a:r>
              <a:rPr lang="en-US" altLang="en-US" dirty="0">
                <a:solidFill>
                  <a:srgbClr val="000000"/>
                </a:solidFill>
                <a:latin typeface="Times New Roman" panose="02020603050405020304" pitchFamily="18" charset="0"/>
                <a:cs typeface="Times New Roman" panose="02020603050405020304" pitchFamily="18" charset="0"/>
              </a:rPr>
              <a:t>(String </a:t>
            </a:r>
            <a:r>
              <a:rPr lang="en-US" altLang="en-US" dirty="0">
                <a:solidFill>
                  <a:srgbClr val="6A3E3E"/>
                </a:solidFill>
                <a:latin typeface="Times New Roman" panose="02020603050405020304" pitchFamily="18" charset="0"/>
                <a:cs typeface="Times New Roman" panose="02020603050405020304" pitchFamily="18" charset="0"/>
              </a:rPr>
              <a:t>pattern</a:t>
            </a:r>
            <a:r>
              <a:rPr lang="en-US" altLang="en-US" dirty="0">
                <a:solidFill>
                  <a:srgbClr val="000000"/>
                </a:solidFill>
                <a:latin typeface="Times New Roman" panose="02020603050405020304" pitchFamily="18" charset="0"/>
                <a:cs typeface="Times New Roman" panose="02020603050405020304" pitchFamily="18" charset="0"/>
              </a:rPr>
              <a:t>, String </a:t>
            </a:r>
            <a:r>
              <a:rPr lang="en-US" altLang="en-US" dirty="0">
                <a:solidFill>
                  <a:srgbClr val="6A3E3E"/>
                </a:solidFill>
                <a:latin typeface="Times New Roman" panose="02020603050405020304" pitchFamily="18" charset="0"/>
                <a:cs typeface="Times New Roman" panose="02020603050405020304" pitchFamily="18" charset="0"/>
              </a:rPr>
              <a:t>txt</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7F0055"/>
                </a:solidFill>
                <a:latin typeface="Times New Roman" panose="02020603050405020304" pitchFamily="18" charset="0"/>
                <a:cs typeface="Times New Roman" panose="02020603050405020304" pitchFamily="18" charset="0"/>
              </a:rPr>
              <a:t>int</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dirty="0">
                <a:solidFill>
                  <a:srgbClr val="6A3E3E"/>
                </a:solidFill>
                <a:latin typeface="Times New Roman" panose="02020603050405020304" pitchFamily="18" charset="0"/>
                <a:cs typeface="Times New Roman" panose="02020603050405020304" pitchFamily="18" charset="0"/>
              </a:rPr>
              <a:t>q</a:t>
            </a:r>
            <a:r>
              <a:rPr lang="en-US" altLang="en-US" dirty="0">
                <a:solidFill>
                  <a:srgbClr val="000000"/>
                </a:solidFill>
                <a:latin typeface="Times New Roman" panose="02020603050405020304" pitchFamily="18" charset="0"/>
                <a:cs typeface="Times New Roman" panose="02020603050405020304" pitchFamily="18" charset="0"/>
              </a:rPr>
              <a:t>) </a:t>
            </a:r>
          </a:p>
          <a:p>
            <a:r>
              <a:rPr lang="en-US" altLang="en-US" dirty="0">
                <a:solidFill>
                  <a:srgbClr val="000000"/>
                </a:solidFill>
                <a:latin typeface="Times New Roman" panose="02020603050405020304" pitchFamily="18" charset="0"/>
                <a:cs typeface="Times New Roman" panose="02020603050405020304" pitchFamily="18" charset="0"/>
              </a:rPr>
              <a:t>{</a:t>
            </a:r>
          </a:p>
          <a:p>
            <a:r>
              <a:rPr lang="en-US" altLang="en-US" b="1" dirty="0" err="1">
                <a:solidFill>
                  <a:srgbClr val="7F0055"/>
                </a:solidFill>
                <a:latin typeface="Times New Roman" panose="02020603050405020304" pitchFamily="18" charset="0"/>
                <a:cs typeface="Times New Roman" panose="02020603050405020304" pitchFamily="18" charset="0"/>
              </a:rPr>
              <a:t>int</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dirty="0">
                <a:solidFill>
                  <a:srgbClr val="6A3E3E"/>
                </a:solidFill>
                <a:latin typeface="Times New Roman" panose="02020603050405020304" pitchFamily="18" charset="0"/>
                <a:cs typeface="Times New Roman" panose="02020603050405020304" pitchFamily="18" charset="0"/>
              </a:rPr>
              <a:t>m</a:t>
            </a:r>
            <a:r>
              <a:rPr lang="en-US" altLang="en-US" dirty="0">
                <a:solidFill>
                  <a:srgbClr val="000000"/>
                </a:solidFill>
                <a:latin typeface="Times New Roman" panose="02020603050405020304" pitchFamily="18" charset="0"/>
                <a:cs typeface="Times New Roman" panose="02020603050405020304" pitchFamily="18" charset="0"/>
              </a:rPr>
              <a:t>=</a:t>
            </a:r>
            <a:r>
              <a:rPr lang="en-US" altLang="en-US" dirty="0" err="1">
                <a:solidFill>
                  <a:srgbClr val="6A3E3E"/>
                </a:solidFill>
                <a:latin typeface="Times New Roman" panose="02020603050405020304" pitchFamily="18" charset="0"/>
                <a:cs typeface="Times New Roman" panose="02020603050405020304" pitchFamily="18" charset="0"/>
              </a:rPr>
              <a:t>pattern</a:t>
            </a:r>
            <a:r>
              <a:rPr lang="en-US" altLang="en-US" dirty="0" err="1">
                <a:solidFill>
                  <a:srgbClr val="000000"/>
                </a:solidFill>
                <a:latin typeface="Times New Roman" panose="02020603050405020304" pitchFamily="18" charset="0"/>
                <a:cs typeface="Times New Roman" panose="02020603050405020304" pitchFamily="18" charset="0"/>
              </a:rPr>
              <a:t>.length</a:t>
            </a:r>
            <a:r>
              <a:rPr lang="en-US" altLang="en-US" dirty="0">
                <a:solidFill>
                  <a:srgbClr val="000000"/>
                </a:solidFill>
                <a:latin typeface="Times New Roman" panose="02020603050405020304" pitchFamily="18" charset="0"/>
                <a:cs typeface="Times New Roman" panose="02020603050405020304" pitchFamily="18" charset="0"/>
              </a:rPr>
              <a:t>();</a:t>
            </a:r>
          </a:p>
          <a:p>
            <a:r>
              <a:rPr lang="en-US" altLang="en-US" b="1" dirty="0" err="1">
                <a:solidFill>
                  <a:srgbClr val="7F0055"/>
                </a:solidFill>
                <a:latin typeface="Times New Roman" panose="02020603050405020304" pitchFamily="18" charset="0"/>
                <a:cs typeface="Times New Roman" panose="02020603050405020304" pitchFamily="18" charset="0"/>
              </a:rPr>
              <a:t>int</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dirty="0">
                <a:solidFill>
                  <a:srgbClr val="6A3E3E"/>
                </a:solidFill>
                <a:latin typeface="Times New Roman" panose="02020603050405020304" pitchFamily="18" charset="0"/>
                <a:cs typeface="Times New Roman" panose="02020603050405020304" pitchFamily="18" charset="0"/>
              </a:rPr>
              <a:t>n</a:t>
            </a:r>
            <a:r>
              <a:rPr lang="en-US" altLang="en-US" dirty="0">
                <a:solidFill>
                  <a:srgbClr val="000000"/>
                </a:solidFill>
                <a:latin typeface="Times New Roman" panose="02020603050405020304" pitchFamily="18" charset="0"/>
                <a:cs typeface="Times New Roman" panose="02020603050405020304" pitchFamily="18" charset="0"/>
              </a:rPr>
              <a:t>=</a:t>
            </a:r>
            <a:r>
              <a:rPr lang="en-US" altLang="en-US" dirty="0" err="1">
                <a:solidFill>
                  <a:srgbClr val="6A3E3E"/>
                </a:solidFill>
                <a:latin typeface="Times New Roman" panose="02020603050405020304" pitchFamily="18" charset="0"/>
                <a:cs typeface="Times New Roman" panose="02020603050405020304" pitchFamily="18" charset="0"/>
              </a:rPr>
              <a:t>txt</a:t>
            </a:r>
            <a:r>
              <a:rPr lang="en-US" altLang="en-US" dirty="0" err="1">
                <a:solidFill>
                  <a:srgbClr val="000000"/>
                </a:solidFill>
                <a:latin typeface="Times New Roman" panose="02020603050405020304" pitchFamily="18" charset="0"/>
                <a:cs typeface="Times New Roman" panose="02020603050405020304" pitchFamily="18" charset="0"/>
              </a:rPr>
              <a:t>.length</a:t>
            </a:r>
            <a:r>
              <a:rPr lang="en-US" altLang="en-US" dirty="0">
                <a:solidFill>
                  <a:srgbClr val="000000"/>
                </a:solidFill>
                <a:latin typeface="Times New Roman" panose="02020603050405020304" pitchFamily="18" charset="0"/>
                <a:cs typeface="Times New Roman" panose="02020603050405020304" pitchFamily="18" charset="0"/>
              </a:rPr>
              <a:t>();</a:t>
            </a:r>
          </a:p>
          <a:p>
            <a:r>
              <a:rPr lang="en-US" altLang="en-US" b="1" dirty="0" err="1">
                <a:solidFill>
                  <a:srgbClr val="7F0055"/>
                </a:solidFill>
                <a:latin typeface="Times New Roman" panose="02020603050405020304" pitchFamily="18" charset="0"/>
                <a:cs typeface="Times New Roman" panose="02020603050405020304" pitchFamily="18" charset="0"/>
              </a:rPr>
              <a:t>int</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dirty="0">
                <a:solidFill>
                  <a:srgbClr val="6A3E3E"/>
                </a:solidFill>
                <a:latin typeface="Times New Roman" panose="02020603050405020304" pitchFamily="18" charset="0"/>
                <a:cs typeface="Times New Roman" panose="02020603050405020304" pitchFamily="18" charset="0"/>
              </a:rPr>
              <a:t>i</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dirty="0">
                <a:solidFill>
                  <a:srgbClr val="6A3E3E"/>
                </a:solidFill>
                <a:latin typeface="Times New Roman" panose="02020603050405020304" pitchFamily="18" charset="0"/>
                <a:cs typeface="Times New Roman" panose="02020603050405020304" pitchFamily="18" charset="0"/>
              </a:rPr>
              <a:t>j</a:t>
            </a:r>
            <a:r>
              <a:rPr lang="en-US" altLang="en-US" dirty="0">
                <a:solidFill>
                  <a:srgbClr val="000000"/>
                </a:solidFill>
                <a:latin typeface="Times New Roman" panose="02020603050405020304" pitchFamily="18" charset="0"/>
                <a:cs typeface="Times New Roman" panose="02020603050405020304" pitchFamily="18" charset="0"/>
              </a:rPr>
              <a:t>;</a:t>
            </a:r>
          </a:p>
          <a:p>
            <a:r>
              <a:rPr lang="en-US" altLang="en-US" b="1" dirty="0" err="1">
                <a:solidFill>
                  <a:srgbClr val="7F0055"/>
                </a:solidFill>
                <a:latin typeface="Times New Roman" panose="02020603050405020304" pitchFamily="18" charset="0"/>
                <a:cs typeface="Times New Roman" panose="02020603050405020304" pitchFamily="18" charset="0"/>
              </a:rPr>
              <a:t>int</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dirty="0">
                <a:solidFill>
                  <a:srgbClr val="6A3E3E"/>
                </a:solidFill>
                <a:latin typeface="Times New Roman" panose="02020603050405020304" pitchFamily="18" charset="0"/>
                <a:cs typeface="Times New Roman" panose="02020603050405020304" pitchFamily="18" charset="0"/>
              </a:rPr>
              <a:t>p</a:t>
            </a:r>
            <a:r>
              <a:rPr lang="en-US" altLang="en-US" dirty="0">
                <a:solidFill>
                  <a:srgbClr val="000000"/>
                </a:solidFill>
                <a:latin typeface="Times New Roman" panose="02020603050405020304" pitchFamily="18" charset="0"/>
                <a:cs typeface="Times New Roman" panose="02020603050405020304" pitchFamily="18" charset="0"/>
              </a:rPr>
              <a:t>=0; // hash value of pattern </a:t>
            </a:r>
          </a:p>
          <a:p>
            <a:r>
              <a:rPr lang="en-US" altLang="en-US" b="1" dirty="0" err="1">
                <a:solidFill>
                  <a:srgbClr val="7F0055"/>
                </a:solidFill>
                <a:latin typeface="Times New Roman" panose="02020603050405020304" pitchFamily="18" charset="0"/>
                <a:cs typeface="Times New Roman" panose="02020603050405020304" pitchFamily="18" charset="0"/>
              </a:rPr>
              <a:t>int</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dirty="0">
                <a:solidFill>
                  <a:srgbClr val="6A3E3E"/>
                </a:solidFill>
                <a:latin typeface="Times New Roman" panose="02020603050405020304" pitchFamily="18" charset="0"/>
                <a:cs typeface="Times New Roman" panose="02020603050405020304" pitchFamily="18" charset="0"/>
              </a:rPr>
              <a:t>t</a:t>
            </a:r>
            <a:r>
              <a:rPr lang="en-US" altLang="en-US" dirty="0">
                <a:solidFill>
                  <a:srgbClr val="000000"/>
                </a:solidFill>
                <a:latin typeface="Times New Roman" panose="02020603050405020304" pitchFamily="18" charset="0"/>
                <a:cs typeface="Times New Roman" panose="02020603050405020304" pitchFamily="18" charset="0"/>
              </a:rPr>
              <a:t>=0;  //hash value of text </a:t>
            </a:r>
          </a:p>
          <a:p>
            <a:r>
              <a:rPr lang="en-US" altLang="en-US" b="1" dirty="0" err="1">
                <a:solidFill>
                  <a:srgbClr val="7F0055"/>
                </a:solidFill>
                <a:latin typeface="Times New Roman" panose="02020603050405020304" pitchFamily="18" charset="0"/>
                <a:cs typeface="Times New Roman" panose="02020603050405020304" pitchFamily="18" charset="0"/>
              </a:rPr>
              <a:t>int</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dirty="0">
                <a:solidFill>
                  <a:srgbClr val="6A3E3E"/>
                </a:solidFill>
                <a:latin typeface="Times New Roman" panose="02020603050405020304" pitchFamily="18" charset="0"/>
                <a:cs typeface="Times New Roman" panose="02020603050405020304" pitchFamily="18" charset="0"/>
              </a:rPr>
              <a:t>h</a:t>
            </a:r>
            <a:r>
              <a:rPr lang="en-US" altLang="en-US" dirty="0">
                <a:solidFill>
                  <a:srgbClr val="000000"/>
                </a:solidFill>
                <a:latin typeface="Times New Roman" panose="02020603050405020304" pitchFamily="18" charset="0"/>
                <a:cs typeface="Times New Roman" panose="02020603050405020304" pitchFamily="18" charset="0"/>
              </a:rPr>
              <a:t>=1;</a:t>
            </a:r>
          </a:p>
          <a:p>
            <a:r>
              <a:rPr lang="en-IN" i="1" dirty="0"/>
              <a:t>// h = (b^(m-1)) % q</a:t>
            </a:r>
            <a:endParaRPr lang="en-US" altLang="en-US" i="1" dirty="0">
              <a:solidFill>
                <a:srgbClr val="000000"/>
              </a:solidFill>
              <a:latin typeface="Times New Roman" panose="02020603050405020304" pitchFamily="18" charset="0"/>
              <a:cs typeface="Times New Roman" panose="02020603050405020304" pitchFamily="18" charset="0"/>
            </a:endParaRPr>
          </a:p>
          <a:p>
            <a:r>
              <a:rPr lang="en-US" altLang="en-US" b="1" dirty="0">
                <a:solidFill>
                  <a:srgbClr val="7F0055"/>
                </a:solidFill>
                <a:latin typeface="Times New Roman" panose="02020603050405020304" pitchFamily="18" charset="0"/>
                <a:cs typeface="Times New Roman" panose="02020603050405020304" pitchFamily="18" charset="0"/>
              </a:rPr>
              <a:t>for</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dirty="0" err="1">
                <a:solidFill>
                  <a:srgbClr val="6A3E3E"/>
                </a:solidFill>
                <a:latin typeface="Times New Roman" panose="02020603050405020304" pitchFamily="18" charset="0"/>
                <a:cs typeface="Times New Roman" panose="02020603050405020304" pitchFamily="18" charset="0"/>
              </a:rPr>
              <a:t>i</a:t>
            </a:r>
            <a:r>
              <a:rPr lang="en-US" altLang="en-US" dirty="0">
                <a:solidFill>
                  <a:srgbClr val="000000"/>
                </a:solidFill>
                <a:latin typeface="Times New Roman" panose="02020603050405020304" pitchFamily="18" charset="0"/>
                <a:cs typeface="Times New Roman" panose="02020603050405020304" pitchFamily="18" charset="0"/>
              </a:rPr>
              <a:t>=0;</a:t>
            </a:r>
            <a:r>
              <a:rPr lang="en-US" altLang="en-US" dirty="0">
                <a:solidFill>
                  <a:srgbClr val="6A3E3E"/>
                </a:solidFill>
                <a:latin typeface="Times New Roman" panose="02020603050405020304" pitchFamily="18" charset="0"/>
                <a:cs typeface="Times New Roman" panose="02020603050405020304" pitchFamily="18" charset="0"/>
              </a:rPr>
              <a:t>i</a:t>
            </a:r>
            <a:r>
              <a:rPr lang="en-US" altLang="en-US" dirty="0">
                <a:solidFill>
                  <a:srgbClr val="000000"/>
                </a:solidFill>
                <a:latin typeface="Times New Roman" panose="02020603050405020304" pitchFamily="18" charset="0"/>
                <a:cs typeface="Times New Roman" panose="02020603050405020304" pitchFamily="18" charset="0"/>
              </a:rPr>
              <a:t>&lt;</a:t>
            </a:r>
            <a:r>
              <a:rPr lang="en-US" altLang="en-US" dirty="0">
                <a:solidFill>
                  <a:srgbClr val="6A3E3E"/>
                </a:solidFill>
                <a:latin typeface="Times New Roman" panose="02020603050405020304" pitchFamily="18" charset="0"/>
                <a:cs typeface="Times New Roman" panose="02020603050405020304" pitchFamily="18" charset="0"/>
              </a:rPr>
              <a:t>m</a:t>
            </a:r>
            <a:r>
              <a:rPr lang="en-US" altLang="en-US" dirty="0">
                <a:solidFill>
                  <a:srgbClr val="000000"/>
                </a:solidFill>
                <a:latin typeface="Times New Roman" panose="02020603050405020304" pitchFamily="18" charset="0"/>
                <a:cs typeface="Times New Roman" panose="02020603050405020304" pitchFamily="18" charset="0"/>
              </a:rPr>
              <a:t>-1;</a:t>
            </a:r>
            <a:r>
              <a:rPr lang="en-US" altLang="en-US" dirty="0">
                <a:solidFill>
                  <a:srgbClr val="6A3E3E"/>
                </a:solidFill>
                <a:latin typeface="Times New Roman" panose="02020603050405020304" pitchFamily="18" charset="0"/>
                <a:cs typeface="Times New Roman" panose="02020603050405020304" pitchFamily="18" charset="0"/>
              </a:rPr>
              <a:t>i</a:t>
            </a:r>
            <a:r>
              <a:rPr lang="en-US" altLang="en-US" dirty="0">
                <a:solidFill>
                  <a:srgbClr val="000000"/>
                </a:solidFill>
                <a:latin typeface="Times New Roman" panose="02020603050405020304" pitchFamily="18" charset="0"/>
                <a:cs typeface="Times New Roman" panose="02020603050405020304" pitchFamily="18" charset="0"/>
              </a:rPr>
              <a:t>++)</a:t>
            </a:r>
          </a:p>
          <a:p>
            <a:r>
              <a:rPr lang="en-US" altLang="en-US" dirty="0">
                <a:solidFill>
                  <a:srgbClr val="6A3E3E"/>
                </a:solidFill>
                <a:latin typeface="Times New Roman" panose="02020603050405020304" pitchFamily="18" charset="0"/>
                <a:cs typeface="Times New Roman" panose="02020603050405020304" pitchFamily="18" charset="0"/>
              </a:rPr>
              <a:t>	h</a:t>
            </a:r>
            <a:r>
              <a:rPr lang="en-US" altLang="en-US" dirty="0">
                <a:solidFill>
                  <a:srgbClr val="000000"/>
                </a:solidFill>
                <a:latin typeface="Times New Roman" panose="02020603050405020304" pitchFamily="18" charset="0"/>
                <a:cs typeface="Times New Roman" panose="02020603050405020304" pitchFamily="18" charset="0"/>
              </a:rPr>
              <a:t>=(</a:t>
            </a:r>
            <a:r>
              <a:rPr lang="en-US" altLang="en-US" dirty="0">
                <a:solidFill>
                  <a:srgbClr val="6A3E3E"/>
                </a:solidFill>
                <a:latin typeface="Times New Roman" panose="02020603050405020304" pitchFamily="18" charset="0"/>
                <a:cs typeface="Times New Roman" panose="02020603050405020304" pitchFamily="18" charset="0"/>
              </a:rPr>
              <a:t>h</a:t>
            </a:r>
            <a:r>
              <a:rPr lang="en-US" altLang="en-US" dirty="0">
                <a:solidFill>
                  <a:srgbClr val="000000"/>
                </a:solidFill>
                <a:latin typeface="Times New Roman" panose="02020603050405020304" pitchFamily="18" charset="0"/>
                <a:cs typeface="Times New Roman" panose="02020603050405020304" pitchFamily="18" charset="0"/>
              </a:rPr>
              <a:t>*</a:t>
            </a:r>
            <a:r>
              <a:rPr lang="en-US" altLang="en-US" b="1" i="1" dirty="0">
                <a:solidFill>
                  <a:srgbClr val="0000C0"/>
                </a:solidFill>
                <a:latin typeface="Times New Roman" panose="02020603050405020304" pitchFamily="18" charset="0"/>
                <a:cs typeface="Times New Roman" panose="02020603050405020304" pitchFamily="18" charset="0"/>
              </a:rPr>
              <a:t>b</a:t>
            </a:r>
            <a:r>
              <a:rPr lang="en-US" altLang="en-US" dirty="0">
                <a:solidFill>
                  <a:srgbClr val="000000"/>
                </a:solidFill>
                <a:latin typeface="Times New Roman" panose="02020603050405020304" pitchFamily="18" charset="0"/>
                <a:cs typeface="Times New Roman" panose="02020603050405020304" pitchFamily="18" charset="0"/>
              </a:rPr>
              <a:t>)%</a:t>
            </a:r>
            <a:r>
              <a:rPr lang="en-US" altLang="en-US" dirty="0">
                <a:solidFill>
                  <a:srgbClr val="6A3E3E"/>
                </a:solidFill>
                <a:latin typeface="Times New Roman" panose="02020603050405020304" pitchFamily="18" charset="0"/>
                <a:cs typeface="Times New Roman" panose="02020603050405020304" pitchFamily="18" charset="0"/>
              </a:rPr>
              <a:t>q</a:t>
            </a:r>
            <a:r>
              <a:rPr lang="en-US" altLang="en-US" dirty="0">
                <a:solidFill>
                  <a:srgbClr val="000000"/>
                </a:solidFill>
                <a:latin typeface="Times New Roman" panose="02020603050405020304" pitchFamily="18" charset="0"/>
                <a:cs typeface="Times New Roman" panose="02020603050405020304" pitchFamily="18" charset="0"/>
              </a:rPr>
              <a:t>;</a:t>
            </a:r>
          </a:p>
          <a:p>
            <a:r>
              <a:rPr lang="en-US" i="1" dirty="0"/>
              <a:t>// Compute initial hash values for pattern and the first text </a:t>
            </a:r>
            <a:r>
              <a:rPr lang="en-US" dirty="0"/>
              <a:t>window</a:t>
            </a:r>
            <a:endParaRPr lang="en-US" altLang="en-US" dirty="0">
              <a:solidFill>
                <a:srgbClr val="000000"/>
              </a:solidFill>
              <a:latin typeface="Times New Roman" panose="02020603050405020304" pitchFamily="18" charset="0"/>
              <a:cs typeface="Times New Roman" panose="02020603050405020304" pitchFamily="18" charset="0"/>
            </a:endParaRPr>
          </a:p>
          <a:p>
            <a:r>
              <a:rPr lang="en-US" altLang="en-US" b="1" dirty="0">
                <a:solidFill>
                  <a:srgbClr val="7F0055"/>
                </a:solidFill>
                <a:latin typeface="Times New Roman" panose="02020603050405020304" pitchFamily="18" charset="0"/>
                <a:cs typeface="Times New Roman" panose="02020603050405020304" pitchFamily="18" charset="0"/>
              </a:rPr>
              <a:t>for</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dirty="0" err="1">
                <a:solidFill>
                  <a:srgbClr val="6A3E3E"/>
                </a:solidFill>
                <a:latin typeface="Times New Roman" panose="02020603050405020304" pitchFamily="18" charset="0"/>
                <a:cs typeface="Times New Roman" panose="02020603050405020304" pitchFamily="18" charset="0"/>
              </a:rPr>
              <a:t>i</a:t>
            </a:r>
            <a:r>
              <a:rPr lang="en-US" altLang="en-US" dirty="0">
                <a:solidFill>
                  <a:srgbClr val="000000"/>
                </a:solidFill>
                <a:latin typeface="Times New Roman" panose="02020603050405020304" pitchFamily="18" charset="0"/>
                <a:cs typeface="Times New Roman" panose="02020603050405020304" pitchFamily="18" charset="0"/>
              </a:rPr>
              <a:t>=0;</a:t>
            </a:r>
            <a:r>
              <a:rPr lang="en-US" altLang="en-US" dirty="0">
                <a:solidFill>
                  <a:srgbClr val="6A3E3E"/>
                </a:solidFill>
                <a:latin typeface="Times New Roman" panose="02020603050405020304" pitchFamily="18" charset="0"/>
                <a:cs typeface="Times New Roman" panose="02020603050405020304" pitchFamily="18" charset="0"/>
              </a:rPr>
              <a:t>i</a:t>
            </a:r>
            <a:r>
              <a:rPr lang="en-US" altLang="en-US" dirty="0">
                <a:solidFill>
                  <a:srgbClr val="000000"/>
                </a:solidFill>
                <a:latin typeface="Times New Roman" panose="02020603050405020304" pitchFamily="18" charset="0"/>
                <a:cs typeface="Times New Roman" panose="02020603050405020304" pitchFamily="18" charset="0"/>
              </a:rPr>
              <a:t>&lt;</a:t>
            </a:r>
            <a:r>
              <a:rPr lang="en-US" altLang="en-US" dirty="0" err="1">
                <a:solidFill>
                  <a:srgbClr val="6A3E3E"/>
                </a:solidFill>
                <a:latin typeface="Times New Roman" panose="02020603050405020304" pitchFamily="18" charset="0"/>
                <a:cs typeface="Times New Roman" panose="02020603050405020304" pitchFamily="18" charset="0"/>
              </a:rPr>
              <a:t>m</a:t>
            </a:r>
            <a:r>
              <a:rPr lang="en-US" altLang="en-US" dirty="0" err="1">
                <a:solidFill>
                  <a:srgbClr val="000000"/>
                </a:solidFill>
                <a:latin typeface="Times New Roman" panose="02020603050405020304" pitchFamily="18" charset="0"/>
                <a:cs typeface="Times New Roman" panose="02020603050405020304" pitchFamily="18" charset="0"/>
              </a:rPr>
              <a:t>;</a:t>
            </a:r>
            <a:r>
              <a:rPr lang="en-US" altLang="en-US" dirty="0" err="1">
                <a:solidFill>
                  <a:srgbClr val="6A3E3E"/>
                </a:solidFill>
                <a:latin typeface="Times New Roman" panose="02020603050405020304" pitchFamily="18" charset="0"/>
                <a:cs typeface="Times New Roman" panose="02020603050405020304" pitchFamily="18" charset="0"/>
              </a:rPr>
              <a:t>i</a:t>
            </a:r>
            <a:r>
              <a:rPr lang="en-US" altLang="en-US" dirty="0">
                <a:solidFill>
                  <a:srgbClr val="000000"/>
                </a:solidFill>
                <a:latin typeface="Times New Roman" panose="02020603050405020304" pitchFamily="18" charset="0"/>
                <a:cs typeface="Times New Roman" panose="02020603050405020304" pitchFamily="18" charset="0"/>
              </a:rPr>
              <a:t>++) {</a:t>
            </a:r>
          </a:p>
          <a:p>
            <a:pPr lvl="1"/>
            <a:r>
              <a:rPr lang="en-US" altLang="en-US" dirty="0">
                <a:solidFill>
                  <a:srgbClr val="6A3E3E"/>
                </a:solidFill>
                <a:latin typeface="Times New Roman" panose="02020603050405020304" pitchFamily="18" charset="0"/>
                <a:cs typeface="Times New Roman" panose="02020603050405020304" pitchFamily="18" charset="0"/>
              </a:rPr>
              <a:t>p</a:t>
            </a:r>
            <a:r>
              <a:rPr lang="en-US" altLang="en-US" dirty="0">
                <a:solidFill>
                  <a:srgbClr val="000000"/>
                </a:solidFill>
                <a:latin typeface="Times New Roman" panose="02020603050405020304" pitchFamily="18" charset="0"/>
                <a:cs typeface="Times New Roman" panose="02020603050405020304" pitchFamily="18" charset="0"/>
              </a:rPr>
              <a:t>=(</a:t>
            </a:r>
            <a:r>
              <a:rPr lang="en-US" altLang="en-US" b="1" i="1" dirty="0">
                <a:solidFill>
                  <a:srgbClr val="0000C0"/>
                </a:solidFill>
                <a:latin typeface="Times New Roman" panose="02020603050405020304" pitchFamily="18" charset="0"/>
                <a:cs typeface="Times New Roman" panose="02020603050405020304" pitchFamily="18" charset="0"/>
              </a:rPr>
              <a:t>b</a:t>
            </a:r>
            <a:r>
              <a:rPr lang="en-US" altLang="en-US" dirty="0">
                <a:solidFill>
                  <a:srgbClr val="000000"/>
                </a:solidFill>
                <a:latin typeface="Times New Roman" panose="02020603050405020304" pitchFamily="18" charset="0"/>
                <a:cs typeface="Times New Roman" panose="02020603050405020304" pitchFamily="18" charset="0"/>
              </a:rPr>
              <a:t>*</a:t>
            </a:r>
            <a:r>
              <a:rPr lang="en-US" altLang="en-US" dirty="0" err="1">
                <a:solidFill>
                  <a:srgbClr val="6A3E3E"/>
                </a:solidFill>
                <a:latin typeface="Times New Roman" panose="02020603050405020304" pitchFamily="18" charset="0"/>
                <a:cs typeface="Times New Roman" panose="02020603050405020304" pitchFamily="18" charset="0"/>
              </a:rPr>
              <a:t>p</a:t>
            </a:r>
            <a:r>
              <a:rPr lang="en-US" altLang="en-US" dirty="0" err="1">
                <a:solidFill>
                  <a:srgbClr val="000000"/>
                </a:solidFill>
                <a:latin typeface="Times New Roman" panose="02020603050405020304" pitchFamily="18" charset="0"/>
                <a:cs typeface="Times New Roman" panose="02020603050405020304" pitchFamily="18" charset="0"/>
              </a:rPr>
              <a:t>+</a:t>
            </a:r>
            <a:r>
              <a:rPr lang="en-US" altLang="en-US" dirty="0" err="1">
                <a:solidFill>
                  <a:srgbClr val="6A3E3E"/>
                </a:solidFill>
                <a:latin typeface="Times New Roman" panose="02020603050405020304" pitchFamily="18" charset="0"/>
                <a:cs typeface="Times New Roman" panose="02020603050405020304" pitchFamily="18" charset="0"/>
              </a:rPr>
              <a:t>pattern</a:t>
            </a:r>
            <a:r>
              <a:rPr lang="en-US" altLang="en-US" dirty="0" err="1">
                <a:solidFill>
                  <a:srgbClr val="000000"/>
                </a:solidFill>
                <a:latin typeface="Times New Roman" panose="02020603050405020304" pitchFamily="18" charset="0"/>
                <a:cs typeface="Times New Roman" panose="02020603050405020304" pitchFamily="18" charset="0"/>
              </a:rPr>
              <a:t>.charAt</a:t>
            </a:r>
            <a:r>
              <a:rPr lang="en-US" altLang="en-US" dirty="0">
                <a:solidFill>
                  <a:srgbClr val="000000"/>
                </a:solidFill>
                <a:latin typeface="Times New Roman" panose="02020603050405020304" pitchFamily="18" charset="0"/>
                <a:cs typeface="Times New Roman" panose="02020603050405020304" pitchFamily="18" charset="0"/>
              </a:rPr>
              <a:t>(</a:t>
            </a:r>
            <a:r>
              <a:rPr lang="en-US" altLang="en-US" dirty="0">
                <a:solidFill>
                  <a:srgbClr val="6A3E3E"/>
                </a:solidFill>
                <a:latin typeface="Times New Roman" panose="02020603050405020304" pitchFamily="18" charset="0"/>
                <a:cs typeface="Times New Roman" panose="02020603050405020304" pitchFamily="18" charset="0"/>
              </a:rPr>
              <a:t>i</a:t>
            </a:r>
            <a:r>
              <a:rPr lang="en-US" altLang="en-US" dirty="0">
                <a:solidFill>
                  <a:srgbClr val="000000"/>
                </a:solidFill>
                <a:latin typeface="Times New Roman" panose="02020603050405020304" pitchFamily="18" charset="0"/>
                <a:cs typeface="Times New Roman" panose="02020603050405020304" pitchFamily="18" charset="0"/>
              </a:rPr>
              <a:t>))%</a:t>
            </a:r>
            <a:r>
              <a:rPr lang="en-US" altLang="en-US" dirty="0">
                <a:solidFill>
                  <a:srgbClr val="6A3E3E"/>
                </a:solidFill>
                <a:latin typeface="Times New Roman" panose="02020603050405020304" pitchFamily="18" charset="0"/>
                <a:cs typeface="Times New Roman" panose="02020603050405020304" pitchFamily="18" charset="0"/>
              </a:rPr>
              <a:t>q</a:t>
            </a:r>
            <a:r>
              <a:rPr lang="en-US" altLang="en-US" dirty="0">
                <a:solidFill>
                  <a:srgbClr val="000000"/>
                </a:solidFill>
                <a:latin typeface="Times New Roman" panose="02020603050405020304" pitchFamily="18" charset="0"/>
                <a:cs typeface="Times New Roman" panose="02020603050405020304" pitchFamily="18" charset="0"/>
              </a:rPr>
              <a:t>;</a:t>
            </a:r>
          </a:p>
          <a:p>
            <a:pPr lvl="1"/>
            <a:r>
              <a:rPr lang="en-US" altLang="en-US" dirty="0">
                <a:solidFill>
                  <a:srgbClr val="6A3E3E"/>
                </a:solidFill>
                <a:latin typeface="Times New Roman" panose="02020603050405020304" pitchFamily="18" charset="0"/>
                <a:cs typeface="Times New Roman" panose="02020603050405020304" pitchFamily="18" charset="0"/>
              </a:rPr>
              <a:t>t</a:t>
            </a:r>
            <a:r>
              <a:rPr lang="en-US" altLang="en-US" dirty="0">
                <a:solidFill>
                  <a:srgbClr val="000000"/>
                </a:solidFill>
                <a:latin typeface="Times New Roman" panose="02020603050405020304" pitchFamily="18" charset="0"/>
                <a:cs typeface="Times New Roman" panose="02020603050405020304" pitchFamily="18" charset="0"/>
              </a:rPr>
              <a:t>=(</a:t>
            </a:r>
            <a:r>
              <a:rPr lang="en-US" altLang="en-US" b="1" i="1" dirty="0">
                <a:solidFill>
                  <a:srgbClr val="0000C0"/>
                </a:solidFill>
                <a:latin typeface="Times New Roman" panose="02020603050405020304" pitchFamily="18" charset="0"/>
                <a:cs typeface="Times New Roman" panose="02020603050405020304" pitchFamily="18" charset="0"/>
              </a:rPr>
              <a:t>b</a:t>
            </a:r>
            <a:r>
              <a:rPr lang="en-US" altLang="en-US" dirty="0">
                <a:solidFill>
                  <a:srgbClr val="000000"/>
                </a:solidFill>
                <a:latin typeface="Times New Roman" panose="02020603050405020304" pitchFamily="18" charset="0"/>
                <a:cs typeface="Times New Roman" panose="02020603050405020304" pitchFamily="18" charset="0"/>
              </a:rPr>
              <a:t>*</a:t>
            </a:r>
            <a:r>
              <a:rPr lang="en-US" altLang="en-US" dirty="0" err="1">
                <a:solidFill>
                  <a:srgbClr val="6A3E3E"/>
                </a:solidFill>
                <a:latin typeface="Times New Roman" panose="02020603050405020304" pitchFamily="18" charset="0"/>
                <a:cs typeface="Times New Roman" panose="02020603050405020304" pitchFamily="18" charset="0"/>
              </a:rPr>
              <a:t>t</a:t>
            </a:r>
            <a:r>
              <a:rPr lang="en-US" altLang="en-US" dirty="0" err="1">
                <a:solidFill>
                  <a:srgbClr val="000000"/>
                </a:solidFill>
                <a:latin typeface="Times New Roman" panose="02020603050405020304" pitchFamily="18" charset="0"/>
                <a:cs typeface="Times New Roman" panose="02020603050405020304" pitchFamily="18" charset="0"/>
              </a:rPr>
              <a:t>+</a:t>
            </a:r>
            <a:r>
              <a:rPr lang="en-US" altLang="en-US" dirty="0" err="1">
                <a:solidFill>
                  <a:srgbClr val="6A3E3E"/>
                </a:solidFill>
                <a:latin typeface="Times New Roman" panose="02020603050405020304" pitchFamily="18" charset="0"/>
                <a:cs typeface="Times New Roman" panose="02020603050405020304" pitchFamily="18" charset="0"/>
              </a:rPr>
              <a:t>txt</a:t>
            </a:r>
            <a:r>
              <a:rPr lang="en-US" altLang="en-US" dirty="0" err="1">
                <a:solidFill>
                  <a:srgbClr val="000000"/>
                </a:solidFill>
                <a:latin typeface="Times New Roman" panose="02020603050405020304" pitchFamily="18" charset="0"/>
                <a:cs typeface="Times New Roman" panose="02020603050405020304" pitchFamily="18" charset="0"/>
              </a:rPr>
              <a:t>.charAt</a:t>
            </a:r>
            <a:r>
              <a:rPr lang="en-US" altLang="en-US" dirty="0">
                <a:solidFill>
                  <a:srgbClr val="000000"/>
                </a:solidFill>
                <a:latin typeface="Times New Roman" panose="02020603050405020304" pitchFamily="18" charset="0"/>
                <a:cs typeface="Times New Roman" panose="02020603050405020304" pitchFamily="18" charset="0"/>
              </a:rPr>
              <a:t>(</a:t>
            </a:r>
            <a:r>
              <a:rPr lang="en-US" altLang="en-US" dirty="0">
                <a:solidFill>
                  <a:srgbClr val="6A3E3E"/>
                </a:solidFill>
                <a:latin typeface="Times New Roman" panose="02020603050405020304" pitchFamily="18" charset="0"/>
                <a:cs typeface="Times New Roman" panose="02020603050405020304" pitchFamily="18" charset="0"/>
              </a:rPr>
              <a:t>i</a:t>
            </a:r>
            <a:r>
              <a:rPr lang="en-US" altLang="en-US" dirty="0">
                <a:solidFill>
                  <a:srgbClr val="000000"/>
                </a:solidFill>
                <a:latin typeface="Times New Roman" panose="02020603050405020304" pitchFamily="18" charset="0"/>
                <a:cs typeface="Times New Roman" panose="02020603050405020304" pitchFamily="18" charset="0"/>
              </a:rPr>
              <a:t>))%</a:t>
            </a:r>
            <a:r>
              <a:rPr lang="en-US" altLang="en-US" dirty="0">
                <a:solidFill>
                  <a:srgbClr val="6A3E3E"/>
                </a:solidFill>
                <a:latin typeface="Times New Roman" panose="02020603050405020304" pitchFamily="18" charset="0"/>
                <a:cs typeface="Times New Roman" panose="02020603050405020304" pitchFamily="18" charset="0"/>
              </a:rPr>
              <a:t>q</a:t>
            </a:r>
            <a:r>
              <a:rPr lang="en-US" altLang="en-US" dirty="0">
                <a:solidFill>
                  <a:srgbClr val="000000"/>
                </a:solidFill>
                <a:latin typeface="Times New Roman" panose="02020603050405020304" pitchFamily="18" charset="0"/>
                <a:cs typeface="Times New Roman" panose="02020603050405020304" pitchFamily="18" charset="0"/>
              </a:rPr>
              <a:t>;</a:t>
            </a:r>
          </a:p>
          <a:p>
            <a:r>
              <a:rPr lang="en-US" altLang="en-US" dirty="0">
                <a:solidFill>
                  <a:srgbClr val="000000"/>
                </a:solidFill>
                <a:latin typeface="Times New Roman" panose="02020603050405020304" pitchFamily="18" charset="0"/>
                <a:cs typeface="Times New Roman" panose="02020603050405020304" pitchFamily="18" charset="0"/>
              </a:rPr>
              <a:t>}</a:t>
            </a:r>
          </a:p>
        </p:txBody>
      </p:sp>
      <p:sp>
        <p:nvSpPr>
          <p:cNvPr id="5" name="Rectangle 4">
            <a:extLst>
              <a:ext uri="{FF2B5EF4-FFF2-40B4-BE49-F238E27FC236}">
                <a16:creationId xmlns:a16="http://schemas.microsoft.com/office/drawing/2014/main" id="{E8332427-C8DA-6584-BBD2-5A65CC7C4C9D}"/>
              </a:ext>
            </a:extLst>
          </p:cNvPr>
          <p:cNvSpPr/>
          <p:nvPr/>
        </p:nvSpPr>
        <p:spPr>
          <a:xfrm>
            <a:off x="5735638" y="149225"/>
            <a:ext cx="6456362" cy="6463308"/>
          </a:xfrm>
          <a:prstGeom prst="rect">
            <a:avLst/>
          </a:prstGeom>
        </p:spPr>
        <p:txBody>
          <a:bodyPr wrap="square">
            <a:spAutoFit/>
          </a:bodyPr>
          <a:lstStyle/>
          <a:p>
            <a:r>
              <a:rPr lang="en-US" altLang="en-US" b="1" dirty="0">
                <a:solidFill>
                  <a:srgbClr val="7F0055"/>
                </a:solidFill>
                <a:latin typeface="Times New Roman" panose="02020603050405020304" pitchFamily="18" charset="0"/>
                <a:cs typeface="Times New Roman" panose="02020603050405020304" pitchFamily="18" charset="0"/>
              </a:rPr>
              <a:t>for</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dirty="0">
                <a:solidFill>
                  <a:srgbClr val="6A3E3E"/>
                </a:solidFill>
                <a:latin typeface="Times New Roman" panose="02020603050405020304" pitchFamily="18" charset="0"/>
                <a:cs typeface="Times New Roman" panose="02020603050405020304" pitchFamily="18" charset="0"/>
              </a:rPr>
              <a:t>i</a:t>
            </a:r>
            <a:r>
              <a:rPr lang="en-US" altLang="en-US" dirty="0">
                <a:solidFill>
                  <a:srgbClr val="000000"/>
                </a:solidFill>
                <a:latin typeface="Times New Roman" panose="02020603050405020304" pitchFamily="18" charset="0"/>
                <a:cs typeface="Times New Roman" panose="02020603050405020304" pitchFamily="18" charset="0"/>
              </a:rPr>
              <a:t>=0;</a:t>
            </a:r>
            <a:r>
              <a:rPr lang="en-US" altLang="en-US" dirty="0">
                <a:solidFill>
                  <a:srgbClr val="6A3E3E"/>
                </a:solidFill>
                <a:latin typeface="Times New Roman" panose="02020603050405020304" pitchFamily="18" charset="0"/>
                <a:cs typeface="Times New Roman" panose="02020603050405020304" pitchFamily="18" charset="0"/>
              </a:rPr>
              <a:t>i</a:t>
            </a:r>
            <a:r>
              <a:rPr lang="en-US" altLang="en-US" dirty="0">
                <a:solidFill>
                  <a:srgbClr val="000000"/>
                </a:solidFill>
                <a:latin typeface="Times New Roman" panose="02020603050405020304" pitchFamily="18" charset="0"/>
                <a:cs typeface="Times New Roman" panose="02020603050405020304" pitchFamily="18" charset="0"/>
              </a:rPr>
              <a:t>&lt;=</a:t>
            </a:r>
            <a:r>
              <a:rPr lang="en-US" altLang="en-US" dirty="0" err="1">
                <a:solidFill>
                  <a:srgbClr val="6A3E3E"/>
                </a:solidFill>
                <a:latin typeface="Times New Roman" panose="02020603050405020304" pitchFamily="18" charset="0"/>
                <a:cs typeface="Times New Roman" panose="02020603050405020304" pitchFamily="18" charset="0"/>
              </a:rPr>
              <a:t>n</a:t>
            </a:r>
            <a:r>
              <a:rPr lang="en-US" altLang="en-US" dirty="0" err="1">
                <a:solidFill>
                  <a:srgbClr val="000000"/>
                </a:solidFill>
                <a:latin typeface="Times New Roman" panose="02020603050405020304" pitchFamily="18" charset="0"/>
                <a:cs typeface="Times New Roman" panose="02020603050405020304" pitchFamily="18" charset="0"/>
              </a:rPr>
              <a:t>-</a:t>
            </a:r>
            <a:r>
              <a:rPr lang="en-US" altLang="en-US" dirty="0" err="1">
                <a:solidFill>
                  <a:srgbClr val="6A3E3E"/>
                </a:solidFill>
                <a:latin typeface="Times New Roman" panose="02020603050405020304" pitchFamily="18" charset="0"/>
                <a:cs typeface="Times New Roman" panose="02020603050405020304" pitchFamily="18" charset="0"/>
              </a:rPr>
              <a:t>m</a:t>
            </a:r>
            <a:r>
              <a:rPr lang="en-US" altLang="en-US" dirty="0" err="1">
                <a:solidFill>
                  <a:srgbClr val="000000"/>
                </a:solidFill>
                <a:latin typeface="Times New Roman" panose="02020603050405020304" pitchFamily="18" charset="0"/>
                <a:cs typeface="Times New Roman" panose="02020603050405020304" pitchFamily="18" charset="0"/>
              </a:rPr>
              <a:t>;</a:t>
            </a:r>
            <a:r>
              <a:rPr lang="en-US" altLang="en-US" dirty="0" err="1">
                <a:solidFill>
                  <a:srgbClr val="6A3E3E"/>
                </a:solidFill>
                <a:latin typeface="Times New Roman" panose="02020603050405020304" pitchFamily="18" charset="0"/>
                <a:cs typeface="Times New Roman" panose="02020603050405020304" pitchFamily="18" charset="0"/>
              </a:rPr>
              <a:t>i</a:t>
            </a:r>
            <a:r>
              <a:rPr lang="en-US" altLang="en-US" dirty="0">
                <a:solidFill>
                  <a:srgbClr val="000000"/>
                </a:solidFill>
                <a:latin typeface="Times New Roman" panose="02020603050405020304" pitchFamily="18" charset="0"/>
                <a:cs typeface="Times New Roman" panose="02020603050405020304" pitchFamily="18" charset="0"/>
              </a:rPr>
              <a:t>++) {</a:t>
            </a:r>
          </a:p>
          <a:p>
            <a:pPr lvl="1"/>
            <a:r>
              <a:rPr lang="en-US" altLang="en-US" b="1" dirty="0">
                <a:solidFill>
                  <a:srgbClr val="7F0055"/>
                </a:solidFill>
                <a:latin typeface="Times New Roman" panose="02020603050405020304" pitchFamily="18" charset="0"/>
                <a:cs typeface="Times New Roman" panose="02020603050405020304" pitchFamily="18" charset="0"/>
              </a:rPr>
              <a:t>if</a:t>
            </a:r>
            <a:r>
              <a:rPr lang="en-US" altLang="en-US" dirty="0">
                <a:solidFill>
                  <a:srgbClr val="000000"/>
                </a:solidFill>
                <a:latin typeface="Times New Roman" panose="02020603050405020304" pitchFamily="18" charset="0"/>
                <a:cs typeface="Times New Roman" panose="02020603050405020304" pitchFamily="18" charset="0"/>
              </a:rPr>
              <a:t>(</a:t>
            </a:r>
            <a:r>
              <a:rPr lang="en-US" altLang="en-US" dirty="0">
                <a:solidFill>
                  <a:srgbClr val="6A3E3E"/>
                </a:solidFill>
                <a:latin typeface="Times New Roman" panose="02020603050405020304" pitchFamily="18" charset="0"/>
                <a:cs typeface="Times New Roman" panose="02020603050405020304" pitchFamily="18" charset="0"/>
              </a:rPr>
              <a:t>p</a:t>
            </a:r>
            <a:r>
              <a:rPr lang="en-US" altLang="en-US" dirty="0">
                <a:solidFill>
                  <a:srgbClr val="000000"/>
                </a:solidFill>
                <a:latin typeface="Times New Roman" panose="02020603050405020304" pitchFamily="18" charset="0"/>
                <a:cs typeface="Times New Roman" panose="02020603050405020304" pitchFamily="18" charset="0"/>
              </a:rPr>
              <a:t>==</a:t>
            </a:r>
            <a:r>
              <a:rPr lang="en-US" altLang="en-US" dirty="0">
                <a:solidFill>
                  <a:srgbClr val="6A3E3E"/>
                </a:solidFill>
                <a:latin typeface="Times New Roman" panose="02020603050405020304" pitchFamily="18" charset="0"/>
                <a:cs typeface="Times New Roman" panose="02020603050405020304" pitchFamily="18" charset="0"/>
              </a:rPr>
              <a:t>t</a:t>
            </a:r>
            <a:r>
              <a:rPr lang="en-US" altLang="en-US" dirty="0">
                <a:solidFill>
                  <a:srgbClr val="000000"/>
                </a:solidFill>
                <a:latin typeface="Times New Roman" panose="02020603050405020304" pitchFamily="18" charset="0"/>
                <a:cs typeface="Times New Roman" panose="02020603050405020304" pitchFamily="18" charset="0"/>
              </a:rPr>
              <a:t>)</a:t>
            </a:r>
          </a:p>
          <a:p>
            <a:pPr lvl="1"/>
            <a:r>
              <a:rPr lang="en-US" altLang="en-US" dirty="0">
                <a:solidFill>
                  <a:srgbClr val="000000"/>
                </a:solidFill>
                <a:latin typeface="Times New Roman" panose="02020603050405020304" pitchFamily="18" charset="0"/>
                <a:cs typeface="Times New Roman" panose="02020603050405020304" pitchFamily="18" charset="0"/>
              </a:rPr>
              <a:t>{</a:t>
            </a:r>
          </a:p>
          <a:p>
            <a:pPr>
              <a:spcBef>
                <a:spcPts val="0"/>
              </a:spcBef>
              <a:spcAft>
                <a:spcPts val="0"/>
              </a:spcAft>
              <a:defRPr/>
            </a:pPr>
            <a:r>
              <a:rPr lang="en-US" b="1" dirty="0">
                <a:solidFill>
                  <a:srgbClr val="7F0055"/>
                </a:solidFill>
                <a:latin typeface="Times New Roman" panose="02020603050405020304" pitchFamily="18" charset="0"/>
                <a:cs typeface="Times New Roman" panose="02020603050405020304" pitchFamily="18" charset="0"/>
              </a:rPr>
              <a:t>	for</a:t>
            </a:r>
            <a:r>
              <a:rPr lang="en-US" dirty="0">
                <a:solidFill>
                  <a:srgbClr val="000000"/>
                </a:solidFill>
                <a:latin typeface="Times New Roman" panose="02020603050405020304" pitchFamily="18" charset="0"/>
                <a:cs typeface="Times New Roman" panose="02020603050405020304" pitchFamily="18" charset="0"/>
              </a:rPr>
              <a:t>(</a:t>
            </a:r>
            <a:r>
              <a:rPr lang="en-US" dirty="0">
                <a:solidFill>
                  <a:srgbClr val="6A3E3E"/>
                </a:solidFill>
                <a:latin typeface="Times New Roman" panose="02020603050405020304" pitchFamily="18" charset="0"/>
                <a:cs typeface="Times New Roman" panose="02020603050405020304" pitchFamily="18" charset="0"/>
              </a:rPr>
              <a:t>j</a:t>
            </a:r>
            <a:r>
              <a:rPr lang="en-US" dirty="0">
                <a:solidFill>
                  <a:srgbClr val="000000"/>
                </a:solidFill>
                <a:latin typeface="Times New Roman" panose="02020603050405020304" pitchFamily="18" charset="0"/>
                <a:cs typeface="Times New Roman" panose="02020603050405020304" pitchFamily="18" charset="0"/>
              </a:rPr>
              <a:t>=0;</a:t>
            </a:r>
            <a:r>
              <a:rPr lang="en-US" dirty="0">
                <a:solidFill>
                  <a:srgbClr val="6A3E3E"/>
                </a:solidFill>
                <a:latin typeface="Times New Roman" panose="02020603050405020304" pitchFamily="18" charset="0"/>
                <a:cs typeface="Times New Roman" panose="02020603050405020304" pitchFamily="18" charset="0"/>
              </a:rPr>
              <a:t>j</a:t>
            </a:r>
            <a:r>
              <a:rPr lang="en-US" dirty="0">
                <a:solidFill>
                  <a:srgbClr val="000000"/>
                </a:solidFill>
                <a:latin typeface="Times New Roman" panose="02020603050405020304" pitchFamily="18" charset="0"/>
                <a:cs typeface="Times New Roman" panose="02020603050405020304" pitchFamily="18" charset="0"/>
              </a:rPr>
              <a:t>&lt;</a:t>
            </a:r>
            <a:r>
              <a:rPr lang="en-US" dirty="0" err="1">
                <a:solidFill>
                  <a:srgbClr val="6A3E3E"/>
                </a:solidFill>
                <a:latin typeface="Times New Roman" panose="02020603050405020304" pitchFamily="18" charset="0"/>
                <a:cs typeface="Times New Roman" panose="02020603050405020304" pitchFamily="18" charset="0"/>
              </a:rPr>
              <a:t>m</a:t>
            </a:r>
            <a:r>
              <a:rPr lang="en-US" dirty="0" err="1">
                <a:solidFill>
                  <a:srgbClr val="000000"/>
                </a:solidFill>
                <a:latin typeface="Times New Roman" panose="02020603050405020304" pitchFamily="18" charset="0"/>
                <a:cs typeface="Times New Roman" panose="02020603050405020304" pitchFamily="18" charset="0"/>
              </a:rPr>
              <a:t>;</a:t>
            </a:r>
            <a:r>
              <a:rPr lang="en-US" dirty="0" err="1">
                <a:solidFill>
                  <a:srgbClr val="6A3E3E"/>
                </a:solidFill>
                <a:latin typeface="Times New Roman" panose="02020603050405020304" pitchFamily="18" charset="0"/>
                <a:cs typeface="Times New Roman" panose="02020603050405020304" pitchFamily="18" charset="0"/>
              </a:rPr>
              <a:t>j</a:t>
            </a:r>
            <a:r>
              <a:rPr lang="en-US" dirty="0">
                <a:solidFill>
                  <a:srgbClr val="000000"/>
                </a:solidFill>
                <a:latin typeface="Times New Roman" panose="02020603050405020304" pitchFamily="18" charset="0"/>
                <a:cs typeface="Times New Roman" panose="02020603050405020304" pitchFamily="18" charset="0"/>
              </a:rPr>
              <a:t>++) </a:t>
            </a:r>
          </a:p>
          <a:p>
            <a:pPr lvl="1">
              <a:spcBef>
                <a:spcPts val="0"/>
              </a:spcBef>
              <a:spcAft>
                <a:spcPts val="0"/>
              </a:spcAft>
              <a:defRPr/>
            </a:pPr>
            <a:r>
              <a:rPr lang="en-US" dirty="0">
                <a:solidFill>
                  <a:srgbClr val="000000"/>
                </a:solidFill>
                <a:latin typeface="Times New Roman" panose="02020603050405020304" pitchFamily="18" charset="0"/>
                <a:cs typeface="Times New Roman" panose="02020603050405020304" pitchFamily="18" charset="0"/>
              </a:rPr>
              <a:t>   	{</a:t>
            </a:r>
          </a:p>
          <a:p>
            <a:pPr lvl="2">
              <a:spcBef>
                <a:spcPts val="0"/>
              </a:spcBef>
              <a:spcAft>
                <a:spcPts val="0"/>
              </a:spcAft>
              <a:defRPr/>
            </a:pPr>
            <a:r>
              <a:rPr lang="en-US" b="1" dirty="0">
                <a:solidFill>
                  <a:srgbClr val="7F0055"/>
                </a:solidFill>
                <a:latin typeface="Times New Roman" panose="02020603050405020304" pitchFamily="18" charset="0"/>
                <a:cs typeface="Times New Roman" panose="02020603050405020304" pitchFamily="18" charset="0"/>
              </a:rPr>
              <a:t>if</a:t>
            </a:r>
            <a:r>
              <a:rPr lang="en-US" dirty="0">
                <a:solidFill>
                  <a:srgbClr val="000000"/>
                </a:solidFill>
                <a:latin typeface="Times New Roman" panose="02020603050405020304" pitchFamily="18" charset="0"/>
                <a:cs typeface="Times New Roman" panose="02020603050405020304" pitchFamily="18" charset="0"/>
              </a:rPr>
              <a:t>(</a:t>
            </a:r>
            <a:r>
              <a:rPr lang="en-US" dirty="0" err="1">
                <a:solidFill>
                  <a:srgbClr val="6A3E3E"/>
                </a:solidFill>
                <a:latin typeface="Times New Roman" panose="02020603050405020304" pitchFamily="18" charset="0"/>
                <a:cs typeface="Times New Roman" panose="02020603050405020304" pitchFamily="18" charset="0"/>
              </a:rPr>
              <a:t>txt</a:t>
            </a:r>
            <a:r>
              <a:rPr lang="en-US" dirty="0" err="1">
                <a:solidFill>
                  <a:srgbClr val="000000"/>
                </a:solidFill>
                <a:latin typeface="Times New Roman" panose="02020603050405020304" pitchFamily="18" charset="0"/>
                <a:cs typeface="Times New Roman" panose="02020603050405020304" pitchFamily="18" charset="0"/>
              </a:rPr>
              <a:t>.charAt</a:t>
            </a:r>
            <a:r>
              <a:rPr lang="en-US" dirty="0">
                <a:solidFill>
                  <a:srgbClr val="000000"/>
                </a:solidFill>
                <a:latin typeface="Times New Roman" panose="02020603050405020304" pitchFamily="18" charset="0"/>
                <a:cs typeface="Times New Roman" panose="02020603050405020304" pitchFamily="18" charset="0"/>
              </a:rPr>
              <a:t>(</a:t>
            </a:r>
            <a:r>
              <a:rPr lang="en-US" dirty="0" err="1">
                <a:solidFill>
                  <a:srgbClr val="6A3E3E"/>
                </a:solidFill>
                <a:latin typeface="Times New Roman" panose="02020603050405020304" pitchFamily="18" charset="0"/>
                <a:cs typeface="Times New Roman" panose="02020603050405020304" pitchFamily="18" charset="0"/>
              </a:rPr>
              <a:t>i</a:t>
            </a:r>
            <a:r>
              <a:rPr lang="en-US" dirty="0" err="1">
                <a:solidFill>
                  <a:srgbClr val="000000"/>
                </a:solidFill>
                <a:latin typeface="Times New Roman" panose="02020603050405020304" pitchFamily="18" charset="0"/>
                <a:cs typeface="Times New Roman" panose="02020603050405020304" pitchFamily="18" charset="0"/>
              </a:rPr>
              <a:t>+</a:t>
            </a:r>
            <a:r>
              <a:rPr lang="en-US" dirty="0" err="1">
                <a:solidFill>
                  <a:srgbClr val="6A3E3E"/>
                </a:solidFill>
                <a:latin typeface="Times New Roman" panose="02020603050405020304" pitchFamily="18" charset="0"/>
                <a:cs typeface="Times New Roman" panose="02020603050405020304" pitchFamily="18" charset="0"/>
              </a:rPr>
              <a:t>j</a:t>
            </a:r>
            <a:r>
              <a:rPr lang="en-US" dirty="0">
                <a:solidFill>
                  <a:srgbClr val="000000"/>
                </a:solidFill>
                <a:latin typeface="Times New Roman" panose="02020603050405020304" pitchFamily="18" charset="0"/>
                <a:cs typeface="Times New Roman" panose="02020603050405020304" pitchFamily="18" charset="0"/>
              </a:rPr>
              <a:t>)!=</a:t>
            </a:r>
            <a:r>
              <a:rPr lang="en-US" dirty="0" err="1">
                <a:solidFill>
                  <a:srgbClr val="6A3E3E"/>
                </a:solidFill>
                <a:latin typeface="Times New Roman" panose="02020603050405020304" pitchFamily="18" charset="0"/>
                <a:cs typeface="Times New Roman" panose="02020603050405020304" pitchFamily="18" charset="0"/>
              </a:rPr>
              <a:t>pattern</a:t>
            </a:r>
            <a:r>
              <a:rPr lang="en-US" dirty="0" err="1">
                <a:solidFill>
                  <a:srgbClr val="000000"/>
                </a:solidFill>
                <a:latin typeface="Times New Roman" panose="02020603050405020304" pitchFamily="18" charset="0"/>
                <a:cs typeface="Times New Roman" panose="02020603050405020304" pitchFamily="18" charset="0"/>
              </a:rPr>
              <a:t>.charAt</a:t>
            </a:r>
            <a:r>
              <a:rPr lang="en-US" dirty="0">
                <a:solidFill>
                  <a:srgbClr val="000000"/>
                </a:solidFill>
                <a:latin typeface="Times New Roman" panose="02020603050405020304" pitchFamily="18" charset="0"/>
                <a:cs typeface="Times New Roman" panose="02020603050405020304" pitchFamily="18" charset="0"/>
              </a:rPr>
              <a:t>(</a:t>
            </a:r>
            <a:r>
              <a:rPr lang="en-US" dirty="0">
                <a:solidFill>
                  <a:srgbClr val="6A3E3E"/>
                </a:solidFill>
                <a:latin typeface="Times New Roman" panose="02020603050405020304" pitchFamily="18" charset="0"/>
                <a:cs typeface="Times New Roman" panose="02020603050405020304" pitchFamily="18" charset="0"/>
              </a:rPr>
              <a:t>j</a:t>
            </a:r>
            <a:r>
              <a:rPr lang="en-US" dirty="0">
                <a:solidFill>
                  <a:srgbClr val="000000"/>
                </a:solidFill>
                <a:latin typeface="Times New Roman" panose="02020603050405020304" pitchFamily="18" charset="0"/>
                <a:cs typeface="Times New Roman" panose="02020603050405020304" pitchFamily="18" charset="0"/>
              </a:rPr>
              <a:t>))</a:t>
            </a:r>
          </a:p>
          <a:p>
            <a:pPr lvl="2">
              <a:spcBef>
                <a:spcPts val="0"/>
              </a:spcBef>
              <a:spcAft>
                <a:spcPts val="0"/>
              </a:spcAft>
              <a:defRPr/>
            </a:pPr>
            <a:r>
              <a:rPr lang="en-US" b="1" dirty="0">
                <a:solidFill>
                  <a:srgbClr val="7F0055"/>
                </a:solidFill>
                <a:latin typeface="Times New Roman" panose="02020603050405020304" pitchFamily="18" charset="0"/>
                <a:cs typeface="Times New Roman" panose="02020603050405020304" pitchFamily="18" charset="0"/>
              </a:rPr>
              <a:t>  break</a:t>
            </a:r>
            <a:r>
              <a:rPr lang="en-US" dirty="0">
                <a:solidFill>
                  <a:srgbClr val="000000"/>
                </a:solidFill>
                <a:latin typeface="Times New Roman" panose="02020603050405020304" pitchFamily="18" charset="0"/>
                <a:cs typeface="Times New Roman" panose="02020603050405020304" pitchFamily="18" charset="0"/>
              </a:rPr>
              <a:t>;</a:t>
            </a:r>
          </a:p>
          <a:p>
            <a:pPr marL="396875" lvl="2">
              <a:spcBef>
                <a:spcPts val="0"/>
              </a:spcBef>
              <a:spcAft>
                <a:spcPts val="0"/>
              </a:spcAft>
              <a:defRPr/>
            </a:pPr>
            <a:r>
              <a:rPr lang="en-US" dirty="0">
                <a:solidFill>
                  <a:srgbClr val="000000"/>
                </a:solidFill>
                <a:latin typeface="Times New Roman" panose="02020603050405020304" pitchFamily="18" charset="0"/>
                <a:cs typeface="Times New Roman" panose="02020603050405020304" pitchFamily="18" charset="0"/>
              </a:rPr>
              <a:t>     	}</a:t>
            </a:r>
          </a:p>
          <a:p>
            <a:pPr>
              <a:spcBef>
                <a:spcPts val="0"/>
              </a:spcBef>
              <a:spcAft>
                <a:spcPts val="0"/>
              </a:spcAft>
              <a:defRPr/>
            </a:pPr>
            <a:r>
              <a:rPr lang="en-US" b="1" dirty="0">
                <a:solidFill>
                  <a:srgbClr val="7F0055"/>
                </a:solidFill>
                <a:latin typeface="Times New Roman" panose="02020603050405020304" pitchFamily="18" charset="0"/>
                <a:cs typeface="Times New Roman" panose="02020603050405020304" pitchFamily="18" charset="0"/>
              </a:rPr>
              <a:t>                 if</a:t>
            </a:r>
            <a:r>
              <a:rPr lang="en-US" dirty="0">
                <a:solidFill>
                  <a:srgbClr val="000000"/>
                </a:solidFill>
                <a:latin typeface="Times New Roman" panose="02020603050405020304" pitchFamily="18" charset="0"/>
                <a:cs typeface="Times New Roman" panose="02020603050405020304" pitchFamily="18" charset="0"/>
              </a:rPr>
              <a:t>(</a:t>
            </a:r>
            <a:r>
              <a:rPr lang="en-US" dirty="0">
                <a:solidFill>
                  <a:srgbClr val="6A3E3E"/>
                </a:solidFill>
                <a:latin typeface="Times New Roman" panose="02020603050405020304" pitchFamily="18" charset="0"/>
                <a:cs typeface="Times New Roman" panose="02020603050405020304" pitchFamily="18" charset="0"/>
              </a:rPr>
              <a:t>j</a:t>
            </a:r>
            <a:r>
              <a:rPr lang="en-US" dirty="0">
                <a:solidFill>
                  <a:srgbClr val="000000"/>
                </a:solidFill>
                <a:latin typeface="Times New Roman" panose="02020603050405020304" pitchFamily="18" charset="0"/>
                <a:cs typeface="Times New Roman" panose="02020603050405020304" pitchFamily="18" charset="0"/>
              </a:rPr>
              <a:t>==</a:t>
            </a:r>
            <a:r>
              <a:rPr lang="en-US" dirty="0">
                <a:solidFill>
                  <a:srgbClr val="6A3E3E"/>
                </a:solidFill>
                <a:latin typeface="Times New Roman" panose="02020603050405020304" pitchFamily="18" charset="0"/>
                <a:cs typeface="Times New Roman" panose="02020603050405020304" pitchFamily="18" charset="0"/>
              </a:rPr>
              <a:t>m</a:t>
            </a:r>
            <a:r>
              <a:rPr lang="en-US" dirty="0">
                <a:solidFill>
                  <a:srgbClr val="000000"/>
                </a:solidFill>
                <a:latin typeface="Times New Roman" panose="02020603050405020304" pitchFamily="18" charset="0"/>
                <a:cs typeface="Times New Roman" panose="02020603050405020304" pitchFamily="18" charset="0"/>
              </a:rPr>
              <a:t>)</a:t>
            </a:r>
          </a:p>
          <a:p>
            <a:pPr>
              <a:spcBef>
                <a:spcPts val="0"/>
              </a:spcBef>
              <a:spcAft>
                <a:spcPts val="0"/>
              </a:spcAft>
              <a:defRPr/>
            </a:pP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System.</a:t>
            </a:r>
            <a:r>
              <a:rPr lang="en-US" b="1" i="1" dirty="0" err="1">
                <a:solidFill>
                  <a:srgbClr val="0000C0"/>
                </a:solidFill>
                <a:latin typeface="Times New Roman" panose="02020603050405020304" pitchFamily="18" charset="0"/>
                <a:cs typeface="Times New Roman" panose="02020603050405020304" pitchFamily="18" charset="0"/>
              </a:rPr>
              <a:t>out</a:t>
            </a:r>
            <a:r>
              <a:rPr lang="en-US" dirty="0" err="1">
                <a:solidFill>
                  <a:srgbClr val="000000"/>
                </a:solidFill>
                <a:latin typeface="Times New Roman" panose="02020603050405020304" pitchFamily="18" charset="0"/>
                <a:cs typeface="Times New Roman" panose="02020603050405020304" pitchFamily="18" charset="0"/>
              </a:rPr>
              <a:t>.println</a:t>
            </a:r>
            <a:r>
              <a:rPr lang="en-US" dirty="0">
                <a:solidFill>
                  <a:srgbClr val="000000"/>
                </a:solidFill>
                <a:latin typeface="Times New Roman" panose="02020603050405020304" pitchFamily="18" charset="0"/>
                <a:cs typeface="Times New Roman" panose="02020603050405020304" pitchFamily="18" charset="0"/>
              </a:rPr>
              <a:t>(</a:t>
            </a:r>
            <a:r>
              <a:rPr lang="en-US" dirty="0">
                <a:solidFill>
                  <a:srgbClr val="2A00FF"/>
                </a:solidFill>
                <a:latin typeface="Times New Roman" panose="02020603050405020304" pitchFamily="18" charset="0"/>
                <a:cs typeface="Times New Roman" panose="02020603050405020304" pitchFamily="18" charset="0"/>
              </a:rPr>
              <a:t>"Pattern at position: "</a:t>
            </a:r>
            <a:r>
              <a:rPr lang="en-US" dirty="0">
                <a:solidFill>
                  <a:srgbClr val="000000"/>
                </a:solidFill>
                <a:latin typeface="Times New Roman" panose="02020603050405020304" pitchFamily="18" charset="0"/>
                <a:cs typeface="Times New Roman" panose="02020603050405020304" pitchFamily="18" charset="0"/>
              </a:rPr>
              <a:t> + (</a:t>
            </a:r>
            <a:r>
              <a:rPr lang="en-US" dirty="0">
                <a:solidFill>
                  <a:srgbClr val="6A3E3E"/>
                </a:solidFill>
                <a:latin typeface="Times New Roman" panose="02020603050405020304" pitchFamily="18" charset="0"/>
                <a:cs typeface="Times New Roman" panose="02020603050405020304" pitchFamily="18" charset="0"/>
              </a:rPr>
              <a:t>i</a:t>
            </a:r>
            <a:r>
              <a:rPr lang="en-US" dirty="0">
                <a:solidFill>
                  <a:srgbClr val="000000"/>
                </a:solidFill>
                <a:latin typeface="Times New Roman" panose="02020603050405020304" pitchFamily="18" charset="0"/>
                <a:cs typeface="Times New Roman" panose="02020603050405020304" pitchFamily="18" charset="0"/>
              </a:rPr>
              <a:t> + 1));</a:t>
            </a:r>
          </a:p>
          <a:p>
            <a:pPr>
              <a:spcBef>
                <a:spcPts val="0"/>
              </a:spcBef>
              <a:spcAft>
                <a:spcPts val="0"/>
              </a:spcAft>
              <a:defRPr/>
            </a:pPr>
            <a:r>
              <a:rPr lang="en-US" dirty="0">
                <a:solidFill>
                  <a:srgbClr val="000000"/>
                </a:solidFill>
                <a:latin typeface="Times New Roman" panose="02020603050405020304" pitchFamily="18" charset="0"/>
                <a:cs typeface="Times New Roman" panose="02020603050405020304" pitchFamily="18" charset="0"/>
              </a:rPr>
              <a:t>                  }</a:t>
            </a:r>
          </a:p>
          <a:p>
            <a:pPr>
              <a:spcBef>
                <a:spcPts val="0"/>
              </a:spcBef>
              <a:spcAft>
                <a:spcPts val="0"/>
              </a:spcAft>
              <a:defRPr/>
            </a:pPr>
            <a:r>
              <a:rPr lang="en-US" b="1" dirty="0">
                <a:solidFill>
                  <a:srgbClr val="7F0055"/>
                </a:solidFill>
                <a:latin typeface="Times New Roman" panose="02020603050405020304" pitchFamily="18" charset="0"/>
                <a:cs typeface="Times New Roman" panose="02020603050405020304" pitchFamily="18" charset="0"/>
              </a:rPr>
              <a:t>   if</a:t>
            </a:r>
            <a:r>
              <a:rPr lang="en-US" dirty="0">
                <a:solidFill>
                  <a:srgbClr val="000000"/>
                </a:solidFill>
                <a:latin typeface="Times New Roman" panose="02020603050405020304" pitchFamily="18" charset="0"/>
                <a:cs typeface="Times New Roman" panose="02020603050405020304" pitchFamily="18" charset="0"/>
              </a:rPr>
              <a:t>(</a:t>
            </a:r>
            <a:r>
              <a:rPr lang="en-US" dirty="0">
                <a:solidFill>
                  <a:srgbClr val="6A3E3E"/>
                </a:solidFill>
                <a:latin typeface="Times New Roman" panose="02020603050405020304" pitchFamily="18" charset="0"/>
                <a:cs typeface="Times New Roman" panose="02020603050405020304" pitchFamily="18" charset="0"/>
              </a:rPr>
              <a:t>i</a:t>
            </a:r>
            <a:r>
              <a:rPr lang="en-US" dirty="0">
                <a:solidFill>
                  <a:srgbClr val="000000"/>
                </a:solidFill>
                <a:latin typeface="Times New Roman" panose="02020603050405020304" pitchFamily="18" charset="0"/>
                <a:cs typeface="Times New Roman" panose="02020603050405020304" pitchFamily="18" charset="0"/>
              </a:rPr>
              <a:t>&lt;</a:t>
            </a:r>
            <a:r>
              <a:rPr lang="en-US" dirty="0">
                <a:solidFill>
                  <a:srgbClr val="6A3E3E"/>
                </a:solidFill>
                <a:latin typeface="Times New Roman" panose="02020603050405020304" pitchFamily="18" charset="0"/>
                <a:cs typeface="Times New Roman" panose="02020603050405020304" pitchFamily="18" charset="0"/>
              </a:rPr>
              <a:t>n</a:t>
            </a:r>
            <a:r>
              <a:rPr lang="en-US" dirty="0">
                <a:solidFill>
                  <a:srgbClr val="000000"/>
                </a:solidFill>
                <a:latin typeface="Times New Roman" panose="02020603050405020304" pitchFamily="18" charset="0"/>
                <a:cs typeface="Times New Roman" panose="02020603050405020304" pitchFamily="18" charset="0"/>
              </a:rPr>
              <a:t>-</a:t>
            </a:r>
            <a:r>
              <a:rPr lang="en-US" dirty="0">
                <a:solidFill>
                  <a:srgbClr val="6A3E3E"/>
                </a:solidFill>
                <a:latin typeface="Times New Roman" panose="02020603050405020304" pitchFamily="18" charset="0"/>
                <a:cs typeface="Times New Roman" panose="02020603050405020304" pitchFamily="18" charset="0"/>
              </a:rPr>
              <a:t>m</a:t>
            </a:r>
            <a:r>
              <a:rPr lang="en-US" dirty="0">
                <a:solidFill>
                  <a:srgbClr val="000000"/>
                </a:solidFill>
                <a:latin typeface="Times New Roman" panose="02020603050405020304" pitchFamily="18" charset="0"/>
                <a:cs typeface="Times New Roman" panose="02020603050405020304" pitchFamily="18" charset="0"/>
              </a:rPr>
              <a:t>)</a:t>
            </a:r>
          </a:p>
          <a:p>
            <a:pPr>
              <a:spcBef>
                <a:spcPts val="0"/>
              </a:spcBef>
              <a:spcAft>
                <a:spcPts val="0"/>
              </a:spcAft>
              <a:defRPr/>
            </a:pPr>
            <a:r>
              <a:rPr lang="en-US" dirty="0">
                <a:solidFill>
                  <a:srgbClr val="000000"/>
                </a:solidFill>
                <a:latin typeface="Times New Roman" panose="02020603050405020304" pitchFamily="18" charset="0"/>
                <a:cs typeface="Times New Roman" panose="02020603050405020304" pitchFamily="18" charset="0"/>
              </a:rPr>
              <a:t>    {</a:t>
            </a:r>
          </a:p>
          <a:p>
            <a:pPr lvl="1">
              <a:spcBef>
                <a:spcPts val="0"/>
              </a:spcBef>
              <a:spcAft>
                <a:spcPts val="0"/>
              </a:spcAft>
              <a:defRPr/>
            </a:pPr>
            <a:r>
              <a:rPr lang="en-US" dirty="0">
                <a:solidFill>
                  <a:srgbClr val="6A3E3E"/>
                </a:solidFill>
                <a:latin typeface="Times New Roman" panose="02020603050405020304" pitchFamily="18" charset="0"/>
                <a:cs typeface="Times New Roman" panose="02020603050405020304" pitchFamily="18" charset="0"/>
              </a:rPr>
              <a:t>t</a:t>
            </a:r>
            <a:r>
              <a:rPr lang="en-US" dirty="0">
                <a:solidFill>
                  <a:srgbClr val="000000"/>
                </a:solidFill>
                <a:latin typeface="Times New Roman" panose="02020603050405020304" pitchFamily="18" charset="0"/>
                <a:cs typeface="Times New Roman" panose="02020603050405020304" pitchFamily="18" charset="0"/>
              </a:rPr>
              <a:t>=(</a:t>
            </a:r>
            <a:r>
              <a:rPr lang="en-US" b="1" i="1" dirty="0">
                <a:solidFill>
                  <a:srgbClr val="0000C0"/>
                </a:solidFill>
                <a:latin typeface="Times New Roman" panose="02020603050405020304" pitchFamily="18" charset="0"/>
                <a:cs typeface="Times New Roman" panose="02020603050405020304" pitchFamily="18" charset="0"/>
              </a:rPr>
              <a:t>d</a:t>
            </a:r>
            <a:r>
              <a:rPr lang="en-US" dirty="0">
                <a:solidFill>
                  <a:srgbClr val="000000"/>
                </a:solidFill>
                <a:latin typeface="Times New Roman" panose="02020603050405020304" pitchFamily="18" charset="0"/>
                <a:cs typeface="Times New Roman" panose="02020603050405020304" pitchFamily="18" charset="0"/>
              </a:rPr>
              <a:t>*(</a:t>
            </a:r>
            <a:r>
              <a:rPr lang="en-US" dirty="0">
                <a:solidFill>
                  <a:srgbClr val="6A3E3E"/>
                </a:solidFill>
                <a:latin typeface="Times New Roman" panose="02020603050405020304" pitchFamily="18" charset="0"/>
                <a:cs typeface="Times New Roman" panose="02020603050405020304" pitchFamily="18" charset="0"/>
              </a:rPr>
              <a:t>t</a:t>
            </a:r>
            <a:r>
              <a:rPr lang="en-US" dirty="0">
                <a:solidFill>
                  <a:srgbClr val="000000"/>
                </a:solidFill>
                <a:latin typeface="Times New Roman" panose="02020603050405020304" pitchFamily="18" charset="0"/>
                <a:cs typeface="Times New Roman" panose="02020603050405020304" pitchFamily="18" charset="0"/>
              </a:rPr>
              <a:t>-</a:t>
            </a:r>
            <a:r>
              <a:rPr lang="en-US" dirty="0" err="1">
                <a:solidFill>
                  <a:srgbClr val="6A3E3E"/>
                </a:solidFill>
                <a:latin typeface="Times New Roman" panose="02020603050405020304" pitchFamily="18" charset="0"/>
                <a:cs typeface="Times New Roman" panose="02020603050405020304" pitchFamily="18" charset="0"/>
              </a:rPr>
              <a:t>txt</a:t>
            </a:r>
            <a:r>
              <a:rPr lang="en-US" dirty="0" err="1">
                <a:solidFill>
                  <a:srgbClr val="000000"/>
                </a:solidFill>
                <a:latin typeface="Times New Roman" panose="02020603050405020304" pitchFamily="18" charset="0"/>
                <a:cs typeface="Times New Roman" panose="02020603050405020304" pitchFamily="18" charset="0"/>
              </a:rPr>
              <a:t>.charAt</a:t>
            </a:r>
            <a:r>
              <a:rPr lang="en-US" dirty="0">
                <a:solidFill>
                  <a:srgbClr val="000000"/>
                </a:solidFill>
                <a:latin typeface="Times New Roman" panose="02020603050405020304" pitchFamily="18" charset="0"/>
                <a:cs typeface="Times New Roman" panose="02020603050405020304" pitchFamily="18" charset="0"/>
              </a:rPr>
              <a:t>(</a:t>
            </a:r>
            <a:r>
              <a:rPr lang="en-US" dirty="0" err="1">
                <a:solidFill>
                  <a:srgbClr val="6A3E3E"/>
                </a:solidFill>
                <a:latin typeface="Times New Roman" panose="02020603050405020304" pitchFamily="18" charset="0"/>
                <a:cs typeface="Times New Roman" panose="02020603050405020304" pitchFamily="18" charset="0"/>
              </a:rPr>
              <a:t>i</a:t>
            </a:r>
            <a:r>
              <a:rPr lang="en-US" dirty="0">
                <a:solidFill>
                  <a:srgbClr val="000000"/>
                </a:solidFill>
                <a:latin typeface="Times New Roman" panose="02020603050405020304" pitchFamily="18" charset="0"/>
                <a:cs typeface="Times New Roman" panose="02020603050405020304" pitchFamily="18" charset="0"/>
              </a:rPr>
              <a:t>)*</a:t>
            </a:r>
            <a:r>
              <a:rPr lang="en-US" dirty="0">
                <a:solidFill>
                  <a:srgbClr val="6A3E3E"/>
                </a:solidFill>
                <a:latin typeface="Times New Roman" panose="02020603050405020304" pitchFamily="18" charset="0"/>
                <a:cs typeface="Times New Roman" panose="02020603050405020304" pitchFamily="18" charset="0"/>
              </a:rPr>
              <a:t>h</a:t>
            </a:r>
            <a:r>
              <a:rPr lang="en-US" dirty="0">
                <a:solidFill>
                  <a:srgbClr val="000000"/>
                </a:solidFill>
                <a:latin typeface="Times New Roman" panose="02020603050405020304" pitchFamily="18" charset="0"/>
                <a:cs typeface="Times New Roman" panose="02020603050405020304" pitchFamily="18" charset="0"/>
              </a:rPr>
              <a:t>)+</a:t>
            </a:r>
            <a:r>
              <a:rPr lang="en-US" dirty="0" err="1">
                <a:solidFill>
                  <a:srgbClr val="6A3E3E"/>
                </a:solidFill>
                <a:latin typeface="Times New Roman" panose="02020603050405020304" pitchFamily="18" charset="0"/>
                <a:cs typeface="Times New Roman" panose="02020603050405020304" pitchFamily="18" charset="0"/>
              </a:rPr>
              <a:t>txt</a:t>
            </a:r>
            <a:r>
              <a:rPr lang="en-US" dirty="0" err="1">
                <a:solidFill>
                  <a:srgbClr val="000000"/>
                </a:solidFill>
                <a:latin typeface="Times New Roman" panose="02020603050405020304" pitchFamily="18" charset="0"/>
                <a:cs typeface="Times New Roman" panose="02020603050405020304" pitchFamily="18" charset="0"/>
              </a:rPr>
              <a:t>.charAt</a:t>
            </a:r>
            <a:r>
              <a:rPr lang="en-US" dirty="0">
                <a:solidFill>
                  <a:srgbClr val="000000"/>
                </a:solidFill>
                <a:latin typeface="Times New Roman" panose="02020603050405020304" pitchFamily="18" charset="0"/>
                <a:cs typeface="Times New Roman" panose="02020603050405020304" pitchFamily="18" charset="0"/>
              </a:rPr>
              <a:t>(</a:t>
            </a:r>
            <a:r>
              <a:rPr lang="en-US" dirty="0" err="1">
                <a:solidFill>
                  <a:srgbClr val="6A3E3E"/>
                </a:solidFill>
                <a:latin typeface="Times New Roman" panose="02020603050405020304" pitchFamily="18" charset="0"/>
                <a:cs typeface="Times New Roman" panose="02020603050405020304" pitchFamily="18" charset="0"/>
              </a:rPr>
              <a:t>i</a:t>
            </a:r>
            <a:r>
              <a:rPr lang="en-US" dirty="0" err="1">
                <a:solidFill>
                  <a:srgbClr val="000000"/>
                </a:solidFill>
                <a:latin typeface="Times New Roman" panose="02020603050405020304" pitchFamily="18" charset="0"/>
                <a:cs typeface="Times New Roman" panose="02020603050405020304" pitchFamily="18" charset="0"/>
              </a:rPr>
              <a:t>+</a:t>
            </a:r>
            <a:r>
              <a:rPr lang="en-US" dirty="0" err="1">
                <a:solidFill>
                  <a:srgbClr val="6A3E3E"/>
                </a:solidFill>
                <a:latin typeface="Times New Roman" panose="02020603050405020304" pitchFamily="18" charset="0"/>
                <a:cs typeface="Times New Roman" panose="02020603050405020304" pitchFamily="18" charset="0"/>
              </a:rPr>
              <a:t>m</a:t>
            </a:r>
            <a:r>
              <a:rPr lang="en-US" dirty="0">
                <a:solidFill>
                  <a:srgbClr val="000000"/>
                </a:solidFill>
                <a:latin typeface="Times New Roman" panose="02020603050405020304" pitchFamily="18" charset="0"/>
                <a:cs typeface="Times New Roman" panose="02020603050405020304" pitchFamily="18" charset="0"/>
              </a:rPr>
              <a:t>))%</a:t>
            </a:r>
            <a:r>
              <a:rPr lang="en-US" dirty="0">
                <a:solidFill>
                  <a:srgbClr val="6A3E3E"/>
                </a:solidFill>
                <a:latin typeface="Times New Roman" panose="02020603050405020304" pitchFamily="18" charset="0"/>
                <a:cs typeface="Times New Roman" panose="02020603050405020304" pitchFamily="18" charset="0"/>
              </a:rPr>
              <a:t>q</a:t>
            </a:r>
            <a:r>
              <a:rPr lang="en-US" dirty="0">
                <a:solidFill>
                  <a:srgbClr val="000000"/>
                </a:solidFill>
                <a:latin typeface="Times New Roman" panose="02020603050405020304" pitchFamily="18" charset="0"/>
                <a:cs typeface="Times New Roman" panose="02020603050405020304" pitchFamily="18" charset="0"/>
              </a:rPr>
              <a:t>;</a:t>
            </a:r>
          </a:p>
          <a:p>
            <a:pPr lvl="1">
              <a:spcBef>
                <a:spcPts val="0"/>
              </a:spcBef>
              <a:spcAft>
                <a:spcPts val="0"/>
              </a:spcAft>
              <a:defRPr/>
            </a:pPr>
            <a:r>
              <a:rPr lang="en-US" b="1" dirty="0">
                <a:solidFill>
                  <a:srgbClr val="7F0055"/>
                </a:solidFill>
                <a:latin typeface="Times New Roman" panose="02020603050405020304" pitchFamily="18" charset="0"/>
                <a:cs typeface="Times New Roman" panose="02020603050405020304" pitchFamily="18" charset="0"/>
              </a:rPr>
              <a:t>if</a:t>
            </a:r>
            <a:r>
              <a:rPr lang="en-US" dirty="0">
                <a:solidFill>
                  <a:srgbClr val="000000"/>
                </a:solidFill>
                <a:latin typeface="Times New Roman" panose="02020603050405020304" pitchFamily="18" charset="0"/>
                <a:cs typeface="Times New Roman" panose="02020603050405020304" pitchFamily="18" charset="0"/>
              </a:rPr>
              <a:t> (</a:t>
            </a:r>
            <a:r>
              <a:rPr lang="en-US" dirty="0">
                <a:solidFill>
                  <a:srgbClr val="6A3E3E"/>
                </a:solidFill>
                <a:latin typeface="Times New Roman" panose="02020603050405020304" pitchFamily="18" charset="0"/>
                <a:cs typeface="Times New Roman" panose="02020603050405020304" pitchFamily="18" charset="0"/>
              </a:rPr>
              <a:t>t</a:t>
            </a:r>
            <a:r>
              <a:rPr lang="en-US" dirty="0">
                <a:solidFill>
                  <a:srgbClr val="000000"/>
                </a:solidFill>
                <a:latin typeface="Times New Roman" panose="02020603050405020304" pitchFamily="18" charset="0"/>
                <a:cs typeface="Times New Roman" panose="02020603050405020304" pitchFamily="18" charset="0"/>
              </a:rPr>
              <a:t>&lt;0)</a:t>
            </a:r>
          </a:p>
          <a:p>
            <a:pPr lvl="1">
              <a:spcBef>
                <a:spcPts val="0"/>
              </a:spcBef>
              <a:spcAft>
                <a:spcPts val="0"/>
              </a:spcAft>
              <a:defRPr/>
            </a:pPr>
            <a:r>
              <a:rPr lang="en-US" dirty="0">
                <a:solidFill>
                  <a:srgbClr val="6A3E3E"/>
                </a:solidFill>
                <a:latin typeface="Times New Roman" panose="02020603050405020304" pitchFamily="18" charset="0"/>
                <a:cs typeface="Times New Roman" panose="02020603050405020304" pitchFamily="18" charset="0"/>
              </a:rPr>
              <a:t>t</a:t>
            </a:r>
            <a:r>
              <a:rPr lang="en-US" dirty="0">
                <a:solidFill>
                  <a:srgbClr val="000000"/>
                </a:solidFill>
                <a:latin typeface="Times New Roman" panose="02020603050405020304" pitchFamily="18" charset="0"/>
                <a:cs typeface="Times New Roman" panose="02020603050405020304" pitchFamily="18" charset="0"/>
              </a:rPr>
              <a:t>=(</a:t>
            </a:r>
            <a:r>
              <a:rPr lang="en-US" dirty="0" err="1">
                <a:solidFill>
                  <a:srgbClr val="6A3E3E"/>
                </a:solidFill>
                <a:latin typeface="Times New Roman" panose="02020603050405020304" pitchFamily="18" charset="0"/>
                <a:cs typeface="Times New Roman" panose="02020603050405020304" pitchFamily="18" charset="0"/>
              </a:rPr>
              <a:t>t</a:t>
            </a:r>
            <a:r>
              <a:rPr lang="en-US" dirty="0" err="1">
                <a:solidFill>
                  <a:srgbClr val="000000"/>
                </a:solidFill>
                <a:latin typeface="Times New Roman" panose="02020603050405020304" pitchFamily="18" charset="0"/>
                <a:cs typeface="Times New Roman" panose="02020603050405020304" pitchFamily="18" charset="0"/>
              </a:rPr>
              <a:t>+</a:t>
            </a:r>
            <a:r>
              <a:rPr lang="en-US" dirty="0" err="1">
                <a:solidFill>
                  <a:srgbClr val="6A3E3E"/>
                </a:solidFill>
                <a:latin typeface="Times New Roman" panose="02020603050405020304" pitchFamily="18" charset="0"/>
                <a:cs typeface="Times New Roman" panose="02020603050405020304" pitchFamily="18" charset="0"/>
              </a:rPr>
              <a:t>q</a:t>
            </a:r>
            <a:r>
              <a:rPr lang="en-US" dirty="0">
                <a:solidFill>
                  <a:srgbClr val="000000"/>
                </a:solidFill>
                <a:latin typeface="Times New Roman" panose="02020603050405020304" pitchFamily="18" charset="0"/>
                <a:cs typeface="Times New Roman" panose="02020603050405020304" pitchFamily="18" charset="0"/>
              </a:rPr>
              <a:t>);</a:t>
            </a:r>
          </a:p>
          <a:p>
            <a:pPr marL="341313" lvl="1">
              <a:spcBef>
                <a:spcPts val="0"/>
              </a:spcBef>
              <a:spcAft>
                <a:spcPts val="0"/>
              </a:spcAft>
              <a:defRPr/>
            </a:pPr>
            <a:r>
              <a:rPr lang="en-US" dirty="0">
                <a:solidFill>
                  <a:srgbClr val="000000"/>
                </a:solidFill>
                <a:latin typeface="Times New Roman" panose="02020603050405020304" pitchFamily="18" charset="0"/>
                <a:cs typeface="Times New Roman" panose="02020603050405020304" pitchFamily="18" charset="0"/>
              </a:rPr>
              <a:t>}</a:t>
            </a:r>
          </a:p>
          <a:p>
            <a:pPr>
              <a:spcBef>
                <a:spcPts val="0"/>
              </a:spcBef>
              <a:spcAft>
                <a:spcPts val="0"/>
              </a:spcAft>
              <a:defRPr/>
            </a:pPr>
            <a:r>
              <a:rPr lang="en-US" dirty="0">
                <a:solidFill>
                  <a:srgbClr val="000000"/>
                </a:solidFill>
                <a:latin typeface="Times New Roman" panose="02020603050405020304" pitchFamily="18" charset="0"/>
                <a:cs typeface="Times New Roman" panose="02020603050405020304" pitchFamily="18" charset="0"/>
              </a:rPr>
              <a:t>  } //for loop </a:t>
            </a:r>
            <a:r>
              <a:rPr lang="en-US" dirty="0" err="1">
                <a:solidFill>
                  <a:srgbClr val="000000"/>
                </a:solidFill>
                <a:latin typeface="Times New Roman" panose="02020603050405020304" pitchFamily="18" charset="0"/>
                <a:cs typeface="Times New Roman" panose="02020603050405020304" pitchFamily="18" charset="0"/>
              </a:rPr>
              <a:t>i</a:t>
            </a:r>
            <a:r>
              <a:rPr lang="en-US" dirty="0">
                <a:solidFill>
                  <a:srgbClr val="000000"/>
                </a:solidFill>
                <a:latin typeface="Times New Roman" panose="02020603050405020304" pitchFamily="18" charset="0"/>
                <a:cs typeface="Times New Roman" panose="02020603050405020304" pitchFamily="18" charset="0"/>
              </a:rPr>
              <a:t>&lt;=n-m  close</a:t>
            </a:r>
          </a:p>
          <a:p>
            <a:pPr>
              <a:spcBef>
                <a:spcPts val="0"/>
              </a:spcBef>
              <a:spcAft>
                <a:spcPts val="0"/>
              </a:spcAft>
              <a:defRPr/>
            </a:pPr>
            <a:r>
              <a:rPr lang="en-US" dirty="0">
                <a:solidFill>
                  <a:srgbClr val="000000"/>
                </a:solidFill>
                <a:latin typeface="Times New Roman" panose="02020603050405020304" pitchFamily="18" charset="0"/>
                <a:cs typeface="Times New Roman" panose="02020603050405020304" pitchFamily="18" charset="0"/>
              </a:rPr>
              <a:t>}// function close</a:t>
            </a:r>
          </a:p>
          <a:p>
            <a:pPr>
              <a:spcBef>
                <a:spcPts val="0"/>
              </a:spcBef>
              <a:spcAft>
                <a:spcPts val="0"/>
              </a:spcAft>
              <a:defRPr/>
            </a:pPr>
            <a:r>
              <a:rPr lang="en-US" b="1" dirty="0">
                <a:solidFill>
                  <a:srgbClr val="7F0055"/>
                </a:solidFill>
                <a:latin typeface="Times New Roman" panose="02020603050405020304" pitchFamily="18" charset="0"/>
                <a:cs typeface="Times New Roman" panose="02020603050405020304" pitchFamily="18" charset="0"/>
              </a:rPr>
              <a:t>public</a:t>
            </a:r>
            <a:r>
              <a:rPr lang="en-US" dirty="0">
                <a:solidFill>
                  <a:srgbClr val="000000"/>
                </a:solidFill>
                <a:latin typeface="Times New Roman" panose="02020603050405020304" pitchFamily="18" charset="0"/>
                <a:cs typeface="Times New Roman" panose="02020603050405020304" pitchFamily="18" charset="0"/>
              </a:rPr>
              <a:t> </a:t>
            </a:r>
            <a:r>
              <a:rPr lang="en-US" b="1" dirty="0">
                <a:solidFill>
                  <a:srgbClr val="7F0055"/>
                </a:solidFill>
                <a:latin typeface="Times New Roman" panose="02020603050405020304" pitchFamily="18" charset="0"/>
                <a:cs typeface="Times New Roman" panose="02020603050405020304" pitchFamily="18" charset="0"/>
              </a:rPr>
              <a:t>static</a:t>
            </a:r>
            <a:r>
              <a:rPr lang="en-US" dirty="0">
                <a:solidFill>
                  <a:srgbClr val="000000"/>
                </a:solidFill>
                <a:latin typeface="Times New Roman" panose="02020603050405020304" pitchFamily="18" charset="0"/>
                <a:cs typeface="Times New Roman" panose="02020603050405020304" pitchFamily="18" charset="0"/>
              </a:rPr>
              <a:t> </a:t>
            </a:r>
            <a:r>
              <a:rPr lang="en-US" b="1" dirty="0">
                <a:solidFill>
                  <a:srgbClr val="7F0055"/>
                </a:solidFill>
                <a:latin typeface="Times New Roman" panose="02020603050405020304" pitchFamily="18" charset="0"/>
                <a:cs typeface="Times New Roman" panose="02020603050405020304" pitchFamily="18" charset="0"/>
              </a:rPr>
              <a:t>void</a:t>
            </a:r>
            <a:r>
              <a:rPr lang="en-US" dirty="0">
                <a:solidFill>
                  <a:srgbClr val="000000"/>
                </a:solidFill>
                <a:latin typeface="Times New Roman" panose="02020603050405020304" pitchFamily="18" charset="0"/>
                <a:cs typeface="Times New Roman" panose="02020603050405020304" pitchFamily="18" charset="0"/>
              </a:rPr>
              <a:t> main(String[] </a:t>
            </a:r>
            <a:r>
              <a:rPr lang="en-US" dirty="0">
                <a:solidFill>
                  <a:srgbClr val="6A3E3E"/>
                </a:solidFill>
                <a:latin typeface="Times New Roman" panose="02020603050405020304" pitchFamily="18" charset="0"/>
                <a:cs typeface="Times New Roman" panose="02020603050405020304" pitchFamily="18" charset="0"/>
              </a:rPr>
              <a:t>args</a:t>
            </a:r>
            <a:r>
              <a:rPr lang="en-US" dirty="0">
                <a:solidFill>
                  <a:srgbClr val="000000"/>
                </a:solidFill>
                <a:latin typeface="Times New Roman" panose="02020603050405020304" pitchFamily="18" charset="0"/>
                <a:cs typeface="Times New Roman" panose="02020603050405020304" pitchFamily="18" charset="0"/>
              </a:rPr>
              <a:t>) {</a:t>
            </a:r>
          </a:p>
          <a:p>
            <a:pPr>
              <a:spcBef>
                <a:spcPts val="0"/>
              </a:spcBef>
              <a:spcAft>
                <a:spcPts val="0"/>
              </a:spcAft>
              <a:defRPr/>
            </a:pPr>
            <a:r>
              <a:rPr lang="en-US" dirty="0">
                <a:solidFill>
                  <a:srgbClr val="000000"/>
                </a:solidFill>
                <a:latin typeface="Times New Roman" panose="02020603050405020304" pitchFamily="18" charset="0"/>
                <a:cs typeface="Times New Roman" panose="02020603050405020304" pitchFamily="18" charset="0"/>
              </a:rPr>
              <a:t>String </a:t>
            </a:r>
            <a:r>
              <a:rPr lang="en-US" dirty="0">
                <a:solidFill>
                  <a:srgbClr val="6A3E3E"/>
                </a:solidFill>
                <a:latin typeface="Times New Roman" panose="02020603050405020304" pitchFamily="18" charset="0"/>
                <a:cs typeface="Times New Roman" panose="02020603050405020304" pitchFamily="18" charset="0"/>
              </a:rPr>
              <a:t>txt</a:t>
            </a:r>
            <a:r>
              <a:rPr lang="en-US" dirty="0">
                <a:solidFill>
                  <a:srgbClr val="000000"/>
                </a:solidFill>
                <a:latin typeface="Times New Roman" panose="02020603050405020304" pitchFamily="18" charset="0"/>
                <a:cs typeface="Times New Roman" panose="02020603050405020304" pitchFamily="18" charset="0"/>
              </a:rPr>
              <a:t> = </a:t>
            </a:r>
            <a:r>
              <a:rPr lang="en-US" dirty="0">
                <a:solidFill>
                  <a:srgbClr val="2A00FF"/>
                </a:solidFill>
                <a:latin typeface="Times New Roman" panose="02020603050405020304" pitchFamily="18" charset="0"/>
                <a:cs typeface="Times New Roman" panose="02020603050405020304" pitchFamily="18" charset="0"/>
              </a:rPr>
              <a:t>"ABCCDDAEFG"</a:t>
            </a:r>
            <a:r>
              <a:rPr lang="en-US" dirty="0">
                <a:solidFill>
                  <a:srgbClr val="000000"/>
                </a:solidFill>
                <a:latin typeface="Times New Roman" panose="02020603050405020304" pitchFamily="18" charset="0"/>
                <a:cs typeface="Times New Roman" panose="02020603050405020304" pitchFamily="18" charset="0"/>
              </a:rPr>
              <a:t>;  String </a:t>
            </a:r>
            <a:r>
              <a:rPr lang="en-US" dirty="0">
                <a:solidFill>
                  <a:srgbClr val="6A3E3E"/>
                </a:solidFill>
                <a:latin typeface="Times New Roman" panose="02020603050405020304" pitchFamily="18" charset="0"/>
                <a:cs typeface="Times New Roman" panose="02020603050405020304" pitchFamily="18" charset="0"/>
              </a:rPr>
              <a:t>pattern</a:t>
            </a:r>
            <a:r>
              <a:rPr lang="en-US" dirty="0">
                <a:solidFill>
                  <a:srgbClr val="000000"/>
                </a:solidFill>
                <a:latin typeface="Times New Roman" panose="02020603050405020304" pitchFamily="18" charset="0"/>
                <a:cs typeface="Times New Roman" panose="02020603050405020304" pitchFamily="18" charset="0"/>
              </a:rPr>
              <a:t> = </a:t>
            </a:r>
            <a:r>
              <a:rPr lang="en-US" dirty="0">
                <a:solidFill>
                  <a:srgbClr val="2A00FF"/>
                </a:solidFill>
                <a:latin typeface="Times New Roman" panose="02020603050405020304" pitchFamily="18" charset="0"/>
                <a:cs typeface="Times New Roman" panose="02020603050405020304" pitchFamily="18" charset="0"/>
              </a:rPr>
              <a:t>"DDA"</a:t>
            </a:r>
            <a:r>
              <a:rPr lang="en-US" dirty="0">
                <a:solidFill>
                  <a:srgbClr val="000000"/>
                </a:solidFill>
                <a:latin typeface="Times New Roman" panose="02020603050405020304" pitchFamily="18" charset="0"/>
                <a:cs typeface="Times New Roman" panose="02020603050405020304" pitchFamily="18" charset="0"/>
              </a:rPr>
              <a:t>;</a:t>
            </a:r>
            <a:r>
              <a:rPr lang="en-US" b="1" dirty="0" err="1">
                <a:solidFill>
                  <a:srgbClr val="7F0055"/>
                </a:solidFill>
                <a:latin typeface="Times New Roman" panose="02020603050405020304" pitchFamily="18" charset="0"/>
                <a:cs typeface="Times New Roman" panose="02020603050405020304" pitchFamily="18" charset="0"/>
              </a:rPr>
              <a:t>int</a:t>
            </a:r>
            <a:r>
              <a:rPr lang="en-US" dirty="0">
                <a:solidFill>
                  <a:srgbClr val="000000"/>
                </a:solidFill>
                <a:latin typeface="Times New Roman" panose="02020603050405020304" pitchFamily="18" charset="0"/>
                <a:cs typeface="Times New Roman" panose="02020603050405020304" pitchFamily="18" charset="0"/>
              </a:rPr>
              <a:t> </a:t>
            </a:r>
            <a:r>
              <a:rPr lang="en-US" dirty="0">
                <a:solidFill>
                  <a:srgbClr val="6A3E3E"/>
                </a:solidFill>
                <a:latin typeface="Times New Roman" panose="02020603050405020304" pitchFamily="18" charset="0"/>
                <a:cs typeface="Times New Roman" panose="02020603050405020304" pitchFamily="18" charset="0"/>
              </a:rPr>
              <a:t>q</a:t>
            </a:r>
            <a:r>
              <a:rPr lang="en-US" dirty="0">
                <a:solidFill>
                  <a:srgbClr val="000000"/>
                </a:solidFill>
                <a:latin typeface="Times New Roman" panose="02020603050405020304" pitchFamily="18" charset="0"/>
                <a:cs typeface="Times New Roman" panose="02020603050405020304" pitchFamily="18" charset="0"/>
              </a:rPr>
              <a:t> = 13;</a:t>
            </a:r>
          </a:p>
          <a:p>
            <a:pPr>
              <a:spcBef>
                <a:spcPts val="0"/>
              </a:spcBef>
              <a:spcAft>
                <a:spcPts val="0"/>
              </a:spcAft>
              <a:defRPr/>
            </a:pPr>
            <a:r>
              <a:rPr lang="en-US" i="1" dirty="0" err="1">
                <a:solidFill>
                  <a:srgbClr val="000000"/>
                </a:solidFill>
                <a:latin typeface="Times New Roman" panose="02020603050405020304" pitchFamily="18" charset="0"/>
                <a:cs typeface="Times New Roman" panose="02020603050405020304" pitchFamily="18" charset="0"/>
              </a:rPr>
              <a:t>rabinkarpsearch</a:t>
            </a:r>
            <a:r>
              <a:rPr lang="en-US" dirty="0">
                <a:solidFill>
                  <a:srgbClr val="000000"/>
                </a:solidFill>
                <a:latin typeface="Times New Roman" panose="02020603050405020304" pitchFamily="18" charset="0"/>
                <a:cs typeface="Times New Roman" panose="02020603050405020304" pitchFamily="18" charset="0"/>
              </a:rPr>
              <a:t>(</a:t>
            </a:r>
            <a:r>
              <a:rPr lang="en-US" dirty="0">
                <a:solidFill>
                  <a:srgbClr val="6A3E3E"/>
                </a:solidFill>
                <a:latin typeface="Times New Roman" panose="02020603050405020304" pitchFamily="18" charset="0"/>
                <a:cs typeface="Times New Roman" panose="02020603050405020304" pitchFamily="18" charset="0"/>
              </a:rPr>
              <a:t>pattern</a:t>
            </a:r>
            <a:r>
              <a:rPr lang="en-US" dirty="0">
                <a:solidFill>
                  <a:srgbClr val="000000"/>
                </a:solidFill>
                <a:latin typeface="Times New Roman" panose="02020603050405020304" pitchFamily="18" charset="0"/>
                <a:cs typeface="Times New Roman" panose="02020603050405020304" pitchFamily="18" charset="0"/>
              </a:rPr>
              <a:t>, </a:t>
            </a:r>
            <a:r>
              <a:rPr lang="en-US" dirty="0">
                <a:solidFill>
                  <a:srgbClr val="6A3E3E"/>
                </a:solidFill>
                <a:latin typeface="Times New Roman" panose="02020603050405020304" pitchFamily="18" charset="0"/>
                <a:cs typeface="Times New Roman" panose="02020603050405020304" pitchFamily="18" charset="0"/>
              </a:rPr>
              <a:t>txt</a:t>
            </a:r>
            <a:r>
              <a:rPr lang="en-US" dirty="0">
                <a:solidFill>
                  <a:srgbClr val="000000"/>
                </a:solidFill>
                <a:latin typeface="Times New Roman" panose="02020603050405020304" pitchFamily="18" charset="0"/>
                <a:cs typeface="Times New Roman" panose="02020603050405020304" pitchFamily="18" charset="0"/>
              </a:rPr>
              <a:t>, </a:t>
            </a:r>
            <a:r>
              <a:rPr lang="en-US" dirty="0">
                <a:solidFill>
                  <a:srgbClr val="6A3E3E"/>
                </a:solidFill>
                <a:latin typeface="Times New Roman" panose="02020603050405020304" pitchFamily="18" charset="0"/>
                <a:cs typeface="Times New Roman" panose="02020603050405020304" pitchFamily="18" charset="0"/>
              </a:rPr>
              <a:t>q</a:t>
            </a:r>
            <a:r>
              <a:rPr lang="en-US" dirty="0">
                <a:solidFill>
                  <a:srgbClr val="000000"/>
                </a:solidFill>
                <a:latin typeface="Times New Roman" panose="02020603050405020304" pitchFamily="18" charset="0"/>
                <a:cs typeface="Times New Roman" panose="02020603050405020304" pitchFamily="18" charset="0"/>
              </a:rPr>
              <a:t>);</a:t>
            </a:r>
          </a:p>
          <a:p>
            <a:pPr>
              <a:spcBef>
                <a:spcPts val="0"/>
              </a:spcBef>
              <a:spcAft>
                <a:spcPts val="0"/>
              </a:spcAft>
              <a:defRPr/>
            </a:pPr>
            <a:r>
              <a:rPr lang="en-US" dirty="0">
                <a:solidFill>
                  <a:srgbClr val="000000"/>
                </a:solidFill>
                <a:latin typeface="Times New Roman" panose="02020603050405020304" pitchFamily="18" charset="0"/>
                <a:cs typeface="Times New Roman" panose="02020603050405020304" pitchFamily="18" charset="0"/>
              </a:rPr>
              <a:t>  }}</a:t>
            </a:r>
          </a:p>
        </p:txBody>
      </p:sp>
      <p:sp>
        <p:nvSpPr>
          <p:cNvPr id="6" name="Rectangle 5">
            <a:extLst>
              <a:ext uri="{FF2B5EF4-FFF2-40B4-BE49-F238E27FC236}">
                <a16:creationId xmlns:a16="http://schemas.microsoft.com/office/drawing/2014/main" id="{7467D2FC-AE03-F5FF-0ADF-F0D3BDEDAD56}"/>
              </a:ext>
            </a:extLst>
          </p:cNvPr>
          <p:cNvSpPr>
            <a:spLocks noChangeArrowheads="1"/>
          </p:cNvSpPr>
          <p:nvPr/>
        </p:nvSpPr>
        <p:spPr bwMode="auto">
          <a:xfrm>
            <a:off x="7464425" y="6135688"/>
            <a:ext cx="45354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r>
              <a:rPr lang="en-US" altLang="en-US" sz="1600" b="1" u="sng" dirty="0">
                <a:solidFill>
                  <a:srgbClr val="000000"/>
                </a:solidFill>
                <a:latin typeface="Consolas" panose="020B0609020204030204" pitchFamily="49" charset="0"/>
              </a:rPr>
              <a:t>Output:</a:t>
            </a:r>
            <a:r>
              <a:rPr lang="en-US" altLang="en-US" sz="1600" b="1" dirty="0">
                <a:solidFill>
                  <a:srgbClr val="000000"/>
                </a:solidFill>
                <a:latin typeface="Consolas" panose="020B0609020204030204" pitchFamily="49" charset="0"/>
              </a:rPr>
              <a:t> </a:t>
            </a:r>
            <a:r>
              <a:rPr lang="en-US" altLang="en-US" sz="1600" dirty="0">
                <a:solidFill>
                  <a:srgbClr val="000000"/>
                </a:solidFill>
                <a:latin typeface="Consolas" panose="020B0609020204030204" pitchFamily="49" charset="0"/>
              </a:rPr>
              <a:t>Pattern is found at position: 5</a:t>
            </a:r>
            <a:endParaRPr lang="en-US" altLang="en-US" sz="1600" dirty="0"/>
          </a:p>
        </p:txBody>
      </p:sp>
      <p:pic>
        <p:nvPicPr>
          <p:cNvPr id="7" name="Picture 2">
            <a:extLst>
              <a:ext uri="{FF2B5EF4-FFF2-40B4-BE49-F238E27FC236}">
                <a16:creationId xmlns:a16="http://schemas.microsoft.com/office/drawing/2014/main" id="{6701CA43-C892-BEC5-A5C3-23C411CD50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365" y="672164"/>
            <a:ext cx="5345438" cy="36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2684205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561D4-AEFD-9D64-CA5B-823F51E3EC0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C1EA5FE-8D3B-2A9E-844B-3937DEE1FBD0}"/>
              </a:ext>
            </a:extLst>
          </p:cNvPr>
          <p:cNvSpPr>
            <a:spLocks noGrp="1"/>
          </p:cNvSpPr>
          <p:nvPr>
            <p:ph type="ftr" sz="quarter" idx="11"/>
          </p:nvPr>
        </p:nvSpPr>
        <p:spPr/>
        <p:txBody>
          <a:bodyPr/>
          <a:lstStyle/>
          <a:p>
            <a:r>
              <a:rPr lang="en-AU" dirty="0">
                <a:solidFill>
                  <a:srgbClr val="C00000"/>
                </a:solidFill>
              </a:rPr>
              <a:t>DSA-3 </a:t>
            </a:r>
          </a:p>
        </p:txBody>
      </p:sp>
      <p:sp>
        <p:nvSpPr>
          <p:cNvPr id="3" name="Slide Number Placeholder 2">
            <a:extLst>
              <a:ext uri="{FF2B5EF4-FFF2-40B4-BE49-F238E27FC236}">
                <a16:creationId xmlns:a16="http://schemas.microsoft.com/office/drawing/2014/main" id="{181192B2-4C4A-C435-89A8-8C4C693E64FF}"/>
              </a:ext>
            </a:extLst>
          </p:cNvPr>
          <p:cNvSpPr>
            <a:spLocks noGrp="1"/>
          </p:cNvSpPr>
          <p:nvPr>
            <p:ph type="sldNum" sz="quarter" idx="12"/>
          </p:nvPr>
        </p:nvSpPr>
        <p:spPr/>
        <p:txBody>
          <a:bodyPr/>
          <a:lstStyle/>
          <a:p>
            <a:fld id="{68187FF5-4BF9-4B21-B0D2-9B7FF2B27D7F}" type="slidenum">
              <a:rPr lang="en-AU" smtClean="0"/>
              <a:pPr/>
              <a:t>84</a:t>
            </a:fld>
            <a:endParaRPr lang="en-AU"/>
          </a:p>
        </p:txBody>
      </p:sp>
      <p:sp>
        <p:nvSpPr>
          <p:cNvPr id="4" name="Rectangle 3">
            <a:extLst>
              <a:ext uri="{FF2B5EF4-FFF2-40B4-BE49-F238E27FC236}">
                <a16:creationId xmlns:a16="http://schemas.microsoft.com/office/drawing/2014/main" id="{3542EAEA-28A5-7007-922E-08CF6F06CC7B}"/>
              </a:ext>
            </a:extLst>
          </p:cNvPr>
          <p:cNvSpPr/>
          <p:nvPr/>
        </p:nvSpPr>
        <p:spPr>
          <a:xfrm>
            <a:off x="551145" y="1272409"/>
            <a:ext cx="11112319" cy="3656386"/>
          </a:xfrm>
          <a:prstGeom prst="rect">
            <a:avLst/>
          </a:prstGeom>
        </p:spPr>
        <p:txBody>
          <a:bodyPr wrap="square">
            <a:spAutoFit/>
          </a:bodyPr>
          <a:lstStyle/>
          <a:p>
            <a:pPr marL="342900" indent="-342900">
              <a:lnSpc>
                <a:spcPct val="200000"/>
              </a:lnSpc>
              <a:buFont typeface="Arial" pitchFamily="34" charset="0"/>
              <a:buChar char="•"/>
            </a:pPr>
            <a:r>
              <a:rPr lang="pt-BR" altLang="en-US" sz="3000" dirty="0"/>
              <a:t>Average Case Time Complexity: O(n+m)</a:t>
            </a:r>
          </a:p>
          <a:p>
            <a:pPr marL="342900" indent="-342900">
              <a:lnSpc>
                <a:spcPct val="200000"/>
              </a:lnSpc>
              <a:buFont typeface="Arial" pitchFamily="34" charset="0"/>
              <a:buChar char="•"/>
            </a:pPr>
            <a:r>
              <a:rPr lang="en-US" altLang="en-US" sz="3000" dirty="0">
                <a:solidFill>
                  <a:srgbClr val="1E03BD"/>
                </a:solidFill>
              </a:rPr>
              <a:t>Worst Case Time Complexity: O(</a:t>
            </a:r>
            <a:r>
              <a:rPr lang="en-US" altLang="en-US" sz="3000" dirty="0" err="1">
                <a:solidFill>
                  <a:srgbClr val="1E03BD"/>
                </a:solidFill>
              </a:rPr>
              <a:t>n⋅m</a:t>
            </a:r>
            <a:r>
              <a:rPr lang="en-US" altLang="en-US" sz="3000" dirty="0">
                <a:solidFill>
                  <a:srgbClr val="1E03BD"/>
                </a:solidFill>
              </a:rPr>
              <a:t>) </a:t>
            </a:r>
          </a:p>
          <a:p>
            <a:pPr>
              <a:lnSpc>
                <a:spcPct val="200000"/>
              </a:lnSpc>
            </a:pPr>
            <a:r>
              <a:rPr lang="en-US" altLang="en-US" sz="3000" dirty="0">
                <a:solidFill>
                  <a:srgbClr val="1E03BD"/>
                </a:solidFill>
              </a:rPr>
              <a:t>               - due to hash collisions and character comparisons</a:t>
            </a:r>
            <a:endParaRPr lang="pt-BR" altLang="en-US" sz="3000" dirty="0">
              <a:solidFill>
                <a:srgbClr val="1E03BD"/>
              </a:solidFill>
            </a:endParaRPr>
          </a:p>
          <a:p>
            <a:pPr marL="342900" indent="-342900">
              <a:lnSpc>
                <a:spcPct val="200000"/>
              </a:lnSpc>
              <a:buFont typeface="Arial" pitchFamily="34" charset="0"/>
              <a:buChar char="•"/>
            </a:pPr>
            <a:r>
              <a:rPr lang="pt-BR" altLang="en-US" sz="3000" dirty="0"/>
              <a:t>Space Complexity: O(1) </a:t>
            </a:r>
            <a:endParaRPr lang="en-US" sz="3000" dirty="0"/>
          </a:p>
        </p:txBody>
      </p:sp>
      <p:sp>
        <p:nvSpPr>
          <p:cNvPr id="5" name="TextBox 4">
            <a:extLst>
              <a:ext uri="{FF2B5EF4-FFF2-40B4-BE49-F238E27FC236}">
                <a16:creationId xmlns:a16="http://schemas.microsoft.com/office/drawing/2014/main" id="{FB6FAE47-380C-1D9F-E86B-F9D2A367031B}"/>
              </a:ext>
            </a:extLst>
          </p:cNvPr>
          <p:cNvSpPr txBox="1"/>
          <p:nvPr/>
        </p:nvSpPr>
        <p:spPr>
          <a:xfrm>
            <a:off x="4396902" y="243191"/>
            <a:ext cx="4815357" cy="584775"/>
          </a:xfrm>
          <a:prstGeom prst="rect">
            <a:avLst/>
          </a:prstGeom>
          <a:noFill/>
        </p:spPr>
        <p:txBody>
          <a:bodyPr wrap="none" rtlCol="0">
            <a:spAutoFit/>
          </a:bodyPr>
          <a:lstStyle/>
          <a:p>
            <a:r>
              <a:rPr lang="en-US" sz="3200" b="1" dirty="0">
                <a:solidFill>
                  <a:srgbClr val="1E03BD"/>
                </a:solidFill>
              </a:rPr>
              <a:t>Time and Space complexity</a:t>
            </a:r>
          </a:p>
        </p:txBody>
      </p:sp>
    </p:spTree>
    <p:extLst>
      <p:ext uri="{BB962C8B-B14F-4D97-AF65-F5344CB8AC3E}">
        <p14:creationId xmlns:p14="http://schemas.microsoft.com/office/powerpoint/2010/main" val="24218858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85</a:t>
            </a:fld>
            <a:endParaRPr lang="en-AU"/>
          </a:p>
        </p:txBody>
      </p:sp>
      <p:sp>
        <p:nvSpPr>
          <p:cNvPr id="4" name="Rectangle 3"/>
          <p:cNvSpPr/>
          <p:nvPr/>
        </p:nvSpPr>
        <p:spPr>
          <a:xfrm>
            <a:off x="3605532" y="167882"/>
            <a:ext cx="6267998" cy="523220"/>
          </a:xfrm>
          <a:prstGeom prst="rect">
            <a:avLst/>
          </a:prstGeom>
        </p:spPr>
        <p:txBody>
          <a:bodyPr wrap="none">
            <a:spAutoFit/>
          </a:bodyPr>
          <a:lstStyle/>
          <a:p>
            <a:r>
              <a:rPr lang="en-US" sz="2800" b="1" dirty="0">
                <a:solidFill>
                  <a:srgbClr val="1E03BD"/>
                </a:solidFill>
              </a:rPr>
              <a:t>Double Hashing in Rabin–Karp Algorithm</a:t>
            </a:r>
          </a:p>
        </p:txBody>
      </p:sp>
      <p:sp>
        <p:nvSpPr>
          <p:cNvPr id="5" name="Rectangle 4"/>
          <p:cNvSpPr/>
          <p:nvPr/>
        </p:nvSpPr>
        <p:spPr>
          <a:xfrm>
            <a:off x="461676" y="1015347"/>
            <a:ext cx="11425524" cy="4493538"/>
          </a:xfrm>
          <a:prstGeom prst="rect">
            <a:avLst/>
          </a:prstGeom>
        </p:spPr>
        <p:txBody>
          <a:bodyPr wrap="square">
            <a:spAutoFit/>
          </a:bodyPr>
          <a:lstStyle/>
          <a:p>
            <a:pPr marL="285750" indent="-285750">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Rabin–Karp algorithm</a:t>
            </a:r>
            <a:r>
              <a:rPr lang="en-US" sz="2200" dirty="0">
                <a:latin typeface="Times New Roman" panose="02020603050405020304" pitchFamily="18" charset="0"/>
                <a:cs typeface="Times New Roman" panose="02020603050405020304" pitchFamily="18" charset="0"/>
              </a:rPr>
              <a:t> searches for a pattern in a text by comparing </a:t>
            </a:r>
            <a:r>
              <a:rPr lang="en-US" sz="2200" b="1" dirty="0">
                <a:latin typeface="Times New Roman" panose="02020603050405020304" pitchFamily="18" charset="0"/>
                <a:cs typeface="Times New Roman" panose="02020603050405020304" pitchFamily="18" charset="0"/>
              </a:rPr>
              <a:t>hash values</a:t>
            </a:r>
            <a:r>
              <a:rPr lang="en-US" sz="2200" dirty="0">
                <a:latin typeface="Times New Roman" panose="02020603050405020304" pitchFamily="18" charset="0"/>
                <a:cs typeface="Times New Roman" panose="02020603050405020304" pitchFamily="18" charset="0"/>
              </a:rPr>
              <a:t> instead of comparing characters one by one.</a:t>
            </a:r>
          </a:p>
          <a:p>
            <a:pPr marL="285750" indent="-285750">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A major drawback of using </a:t>
            </a:r>
            <a:r>
              <a:rPr lang="en-US" sz="2200" b="1" dirty="0">
                <a:latin typeface="Times New Roman" panose="02020603050405020304" pitchFamily="18" charset="0"/>
                <a:cs typeface="Times New Roman" panose="02020603050405020304" pitchFamily="18" charset="0"/>
              </a:rPr>
              <a:t>a single hash function</a:t>
            </a:r>
            <a:r>
              <a:rPr lang="en-US" sz="2200" dirty="0">
                <a:latin typeface="Times New Roman" panose="02020603050405020304" pitchFamily="18" charset="0"/>
                <a:cs typeface="Times New Roman" panose="02020603050405020304" pitchFamily="18" charset="0"/>
              </a:rPr>
              <a:t> is the possibility of </a:t>
            </a:r>
            <a:r>
              <a:rPr lang="en-US" sz="2200" b="1" dirty="0">
                <a:latin typeface="Times New Roman" panose="02020603050405020304" pitchFamily="18" charset="0"/>
                <a:cs typeface="Times New Roman" panose="02020603050405020304" pitchFamily="18" charset="0"/>
              </a:rPr>
              <a:t>hash collisions</a:t>
            </a:r>
            <a:r>
              <a:rPr lang="en-US" sz="2200" dirty="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A </a:t>
            </a:r>
            <a:r>
              <a:rPr lang="en-US" sz="2200" b="1" dirty="0">
                <a:latin typeface="Times New Roman" panose="02020603050405020304" pitchFamily="18" charset="0"/>
                <a:cs typeface="Times New Roman" panose="02020603050405020304" pitchFamily="18" charset="0"/>
              </a:rPr>
              <a:t>hash collision</a:t>
            </a:r>
            <a:r>
              <a:rPr lang="en-US" sz="2200" dirty="0">
                <a:latin typeface="Times New Roman" panose="02020603050405020304" pitchFamily="18" charset="0"/>
                <a:cs typeface="Times New Roman" panose="02020603050405020304" pitchFamily="18" charset="0"/>
              </a:rPr>
              <a:t> occurs when:</a:t>
            </a:r>
          </a:p>
          <a:p>
            <a:pPr marL="742950" lvl="1" indent="-285750">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Two different strings produce the same hash value. </a:t>
            </a:r>
          </a:p>
          <a:p>
            <a:pPr marL="742950" lvl="1" indent="-285750">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The algorithm incorrectly assumes a possible match and performs unnecessary character comparisons. </a:t>
            </a:r>
          </a:p>
          <a:p>
            <a:pPr marL="285750" indent="-285750">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To reduce this problem, </a:t>
            </a:r>
            <a:r>
              <a:rPr lang="en-US" sz="2200" b="1" dirty="0">
                <a:latin typeface="Times New Roman" panose="02020603050405020304" pitchFamily="18" charset="0"/>
                <a:cs typeface="Times New Roman" panose="02020603050405020304" pitchFamily="18" charset="0"/>
              </a:rPr>
              <a:t>Double Hashing</a:t>
            </a:r>
            <a:r>
              <a:rPr lang="en-US" sz="2200" dirty="0">
                <a:latin typeface="Times New Roman" panose="02020603050405020304" pitchFamily="18" charset="0"/>
                <a:cs typeface="Times New Roman" panose="02020603050405020304" pitchFamily="18" charset="0"/>
              </a:rPr>
              <a:t> is used.</a:t>
            </a:r>
          </a:p>
          <a:p>
            <a:pPr marL="285750" lvl="0" indent="-285750">
              <a:buFont typeface="Wingdings" panose="05000000000000000000" pitchFamily="2" charset="2"/>
              <a:buChar char="ü"/>
            </a:pPr>
            <a:r>
              <a:rPr lang="en-US" altLang="en-US" sz="2200" b="1" dirty="0">
                <a:latin typeface="Times New Roman" panose="02020603050405020304" pitchFamily="18" charset="0"/>
                <a:cs typeface="Times New Roman" panose="02020603050405020304" pitchFamily="18" charset="0"/>
              </a:rPr>
              <a:t>Double Hashing</a:t>
            </a:r>
            <a:r>
              <a:rPr lang="en-US" altLang="en-US" sz="2200" dirty="0">
                <a:latin typeface="Times New Roman" panose="02020603050405020304" pitchFamily="18" charset="0"/>
                <a:cs typeface="Times New Roman" panose="02020603050405020304" pitchFamily="18" charset="0"/>
              </a:rPr>
              <a:t> computes </a:t>
            </a:r>
            <a:r>
              <a:rPr lang="en-US" altLang="en-US" sz="2200" b="1" dirty="0">
                <a:latin typeface="Times New Roman" panose="02020603050405020304" pitchFamily="18" charset="0"/>
                <a:cs typeface="Times New Roman" panose="02020603050405020304" pitchFamily="18" charset="0"/>
              </a:rPr>
              <a:t>two independent hash values</a:t>
            </a:r>
            <a:r>
              <a:rPr lang="en-US" altLang="en-US" sz="2200" dirty="0">
                <a:latin typeface="Times New Roman" panose="02020603050405020304" pitchFamily="18" charset="0"/>
                <a:cs typeface="Times New Roman" panose="02020603050405020304" pitchFamily="18" charset="0"/>
              </a:rPr>
              <a:t> for the pattern and every text window.</a:t>
            </a:r>
          </a:p>
          <a:p>
            <a:pPr marL="285750" lvl="0" indent="-285750">
              <a:buFont typeface="Wingdings" panose="05000000000000000000" pitchFamily="2" charset="2"/>
              <a:buChar char="ü"/>
            </a:pPr>
            <a:r>
              <a:rPr lang="en-US" altLang="en-US" sz="2200" dirty="0">
                <a:latin typeface="Times New Roman" panose="02020603050405020304" pitchFamily="18" charset="0"/>
                <a:cs typeface="Times New Roman" panose="02020603050405020304" pitchFamily="18" charset="0"/>
              </a:rPr>
              <a:t>Instead of checking,  Hash(Text Window) == Hash(Pattern), </a:t>
            </a:r>
          </a:p>
          <a:p>
            <a:pPr marL="285750" lvl="0" indent="-285750">
              <a:buFont typeface="Wingdings" panose="05000000000000000000" pitchFamily="2" charset="2"/>
              <a:buChar char="ü"/>
            </a:pPr>
            <a:r>
              <a:rPr lang="en-US" altLang="en-US" sz="2200" dirty="0">
                <a:latin typeface="Times New Roman" panose="02020603050405020304" pitchFamily="18" charset="0"/>
                <a:cs typeface="Times New Roman" panose="02020603050405020304" pitchFamily="18" charset="0"/>
              </a:rPr>
              <a:t>The algorithm checks Hash1(Window) == Hash1(Pattern) AND Hash2(Window) == Hash2(Pattern)</a:t>
            </a:r>
          </a:p>
          <a:p>
            <a:pPr marL="285750" lvl="0" indent="-285750">
              <a:buFont typeface="Wingdings" panose="05000000000000000000" pitchFamily="2" charset="2"/>
              <a:buChar char="ü"/>
            </a:pPr>
            <a:r>
              <a:rPr lang="en-US" altLang="en-US" sz="2200" dirty="0">
                <a:latin typeface="Times New Roman" panose="02020603050405020304" pitchFamily="18" charset="0"/>
                <a:cs typeface="Times New Roman" panose="02020603050405020304" pitchFamily="18" charset="0"/>
              </a:rPr>
              <a:t>Only if </a:t>
            </a:r>
            <a:r>
              <a:rPr lang="en-US" altLang="en-US" sz="2200" b="1" dirty="0">
                <a:latin typeface="Times New Roman" panose="02020603050405020304" pitchFamily="18" charset="0"/>
                <a:cs typeface="Times New Roman" panose="02020603050405020304" pitchFamily="18" charset="0"/>
              </a:rPr>
              <a:t>both hashes match</a:t>
            </a:r>
            <a:r>
              <a:rPr lang="en-US" altLang="en-US" sz="2200" dirty="0">
                <a:latin typeface="Times New Roman" panose="02020603050405020304" pitchFamily="18" charset="0"/>
                <a:cs typeface="Times New Roman" panose="02020603050405020304" pitchFamily="18" charset="0"/>
              </a:rPr>
              <a:t> does the algorithm compare the actual characters.</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089966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86</a:t>
            </a:fld>
            <a:endParaRPr lang="en-AU"/>
          </a:p>
        </p:txBody>
      </p:sp>
      <p:sp>
        <p:nvSpPr>
          <p:cNvPr id="6" name="Rectangle 5"/>
          <p:cNvSpPr/>
          <p:nvPr/>
        </p:nvSpPr>
        <p:spPr>
          <a:xfrm>
            <a:off x="1767075" y="411420"/>
            <a:ext cx="9586725" cy="2308324"/>
          </a:xfrm>
          <a:prstGeom prst="rect">
            <a:avLst/>
          </a:prstGeom>
        </p:spPr>
        <p:txBody>
          <a:bodyPr wrap="square">
            <a:spAutoFit/>
          </a:bodyPr>
          <a:lstStyle/>
          <a:p>
            <a:r>
              <a:rPr lang="en-US" sz="2400" b="1" dirty="0">
                <a:solidFill>
                  <a:srgbClr val="C00000"/>
                </a:solidFill>
                <a:latin typeface="Times New Roman" panose="02020603050405020304" pitchFamily="18" charset="0"/>
                <a:cs typeface="Times New Roman" panose="02020603050405020304" pitchFamily="18" charset="0"/>
              </a:rPr>
              <a:t>Text: </a:t>
            </a:r>
            <a:r>
              <a:rPr lang="en-US" sz="2400" b="1" dirty="0">
                <a:latin typeface="Times New Roman" panose="02020603050405020304" pitchFamily="18" charset="0"/>
                <a:cs typeface="Times New Roman" panose="02020603050405020304" pitchFamily="18" charset="0"/>
              </a:rPr>
              <a:t>ABCDABCD  </a:t>
            </a:r>
            <a:r>
              <a:rPr lang="en-US" sz="2400" b="1" dirty="0">
                <a:solidFill>
                  <a:srgbClr val="C00000"/>
                </a:solidFill>
                <a:latin typeface="Times New Roman" panose="02020603050405020304" pitchFamily="18" charset="0"/>
                <a:cs typeface="Times New Roman" panose="02020603050405020304" pitchFamily="18" charset="0"/>
              </a:rPr>
              <a:t>Pattern: </a:t>
            </a:r>
            <a:r>
              <a:rPr lang="en-US" sz="2400" b="1" dirty="0">
                <a:latin typeface="Times New Roman" panose="02020603050405020304" pitchFamily="18" charset="0"/>
                <a:cs typeface="Times New Roman" panose="02020603050405020304" pitchFamily="18" charset="0"/>
              </a:rPr>
              <a:t>BCD </a:t>
            </a:r>
          </a:p>
          <a:p>
            <a:r>
              <a:rPr lang="en-US" sz="2400" b="1" dirty="0">
                <a:latin typeface="Times New Roman" panose="02020603050405020304" pitchFamily="18" charset="0"/>
                <a:cs typeface="Times New Roman" panose="02020603050405020304" pitchFamily="18" charset="0"/>
              </a:rPr>
              <a:t>Consider, base  </a:t>
            </a:r>
            <a:r>
              <a:rPr lang="en-US" sz="2400" b="1" dirty="0">
                <a:solidFill>
                  <a:srgbClr val="C00000"/>
                </a:solidFill>
                <a:latin typeface="Times New Roman" panose="02020603050405020304" pitchFamily="18" charset="0"/>
                <a:cs typeface="Times New Roman" panose="02020603050405020304" pitchFamily="18" charset="0"/>
              </a:rPr>
              <a:t>d = 10 </a:t>
            </a:r>
            <a:r>
              <a:rPr lang="en-US" sz="2400" b="1" dirty="0">
                <a:latin typeface="Times New Roman" panose="02020603050405020304" pitchFamily="18" charset="0"/>
                <a:cs typeface="Times New Roman" panose="02020603050405020304" pitchFamily="18" charset="0"/>
              </a:rPr>
              <a:t>, Use two different prime numbers 101 and 103</a:t>
            </a:r>
          </a:p>
          <a:p>
            <a:r>
              <a:rPr lang="en-US" sz="2400" b="1" dirty="0">
                <a:latin typeface="Times New Roman" panose="02020603050405020304" pitchFamily="18" charset="0"/>
                <a:cs typeface="Times New Roman" panose="02020603050405020304" pitchFamily="18" charset="0"/>
              </a:rPr>
              <a:t>To calculate First hash,  </a:t>
            </a:r>
            <a:r>
              <a:rPr lang="en-US" sz="2400" b="1" dirty="0">
                <a:solidFill>
                  <a:srgbClr val="C00000"/>
                </a:solidFill>
                <a:latin typeface="Times New Roman" panose="02020603050405020304" pitchFamily="18" charset="0"/>
                <a:cs typeface="Times New Roman" panose="02020603050405020304" pitchFamily="18" charset="0"/>
              </a:rPr>
              <a:t>H1(S)=S mod 101</a:t>
            </a:r>
          </a:p>
          <a:p>
            <a:r>
              <a:rPr lang="en-US" sz="2400" b="1" dirty="0">
                <a:latin typeface="Times New Roman" panose="02020603050405020304" pitchFamily="18" charset="0"/>
                <a:cs typeface="Times New Roman" panose="02020603050405020304" pitchFamily="18" charset="0"/>
              </a:rPr>
              <a:t>To calculate Second hash, </a:t>
            </a:r>
            <a:r>
              <a:rPr lang="en-US" sz="2400" b="1" dirty="0">
                <a:solidFill>
                  <a:srgbClr val="C00000"/>
                </a:solidFill>
                <a:latin typeface="Times New Roman" panose="02020603050405020304" pitchFamily="18" charset="0"/>
                <a:cs typeface="Times New Roman" panose="02020603050405020304" pitchFamily="18" charset="0"/>
              </a:rPr>
              <a:t>H2(S)=S mod 103</a:t>
            </a:r>
          </a:p>
          <a:p>
            <a:r>
              <a:rPr lang="en-US" sz="2400" b="1" dirty="0">
                <a:latin typeface="Times New Roman" panose="02020603050405020304" pitchFamily="18" charset="0"/>
                <a:cs typeface="Times New Roman" panose="02020603050405020304" pitchFamily="18" charset="0"/>
              </a:rPr>
              <a:t>Pattern Hash BCD = 2×100+3×10+4 =234</a:t>
            </a:r>
          </a:p>
          <a:p>
            <a:r>
              <a:rPr lang="en-US" sz="2400" b="1" dirty="0">
                <a:latin typeface="Times New Roman" panose="02020603050405020304" pitchFamily="18" charset="0"/>
                <a:cs typeface="Times New Roman" panose="02020603050405020304" pitchFamily="18" charset="0"/>
              </a:rPr>
              <a:t>H1=234%101=32      H2=234%103=28</a:t>
            </a:r>
          </a:p>
        </p:txBody>
      </p:sp>
      <p:graphicFrame>
        <p:nvGraphicFramePr>
          <p:cNvPr id="7" name="Table 6"/>
          <p:cNvGraphicFramePr>
            <a:graphicFrameLocks noGrp="1"/>
          </p:cNvGraphicFramePr>
          <p:nvPr>
            <p:extLst>
              <p:ext uri="{D42A27DB-BD31-4B8C-83A1-F6EECF244321}">
                <p14:modId xmlns:p14="http://schemas.microsoft.com/office/powerpoint/2010/main" val="4140939809"/>
              </p:ext>
            </p:extLst>
          </p:nvPr>
        </p:nvGraphicFramePr>
        <p:xfrm>
          <a:off x="523392" y="2818804"/>
          <a:ext cx="10740956" cy="3322320"/>
        </p:xfrm>
        <a:graphic>
          <a:graphicData uri="http://schemas.openxmlformats.org/drawingml/2006/table">
            <a:tbl>
              <a:tblPr/>
              <a:tblGrid>
                <a:gridCol w="1204295">
                  <a:extLst>
                    <a:ext uri="{9D8B030D-6E8A-4147-A177-3AD203B41FA5}">
                      <a16:colId xmlns:a16="http://schemas.microsoft.com/office/drawing/2014/main" val="1542545065"/>
                    </a:ext>
                  </a:extLst>
                </a:gridCol>
                <a:gridCol w="901812">
                  <a:extLst>
                    <a:ext uri="{9D8B030D-6E8A-4147-A177-3AD203B41FA5}">
                      <a16:colId xmlns:a16="http://schemas.microsoft.com/office/drawing/2014/main" val="1126228908"/>
                    </a:ext>
                  </a:extLst>
                </a:gridCol>
                <a:gridCol w="1239992">
                  <a:extLst>
                    <a:ext uri="{9D8B030D-6E8A-4147-A177-3AD203B41FA5}">
                      <a16:colId xmlns:a16="http://schemas.microsoft.com/office/drawing/2014/main" val="3116823461"/>
                    </a:ext>
                  </a:extLst>
                </a:gridCol>
                <a:gridCol w="1508002">
                  <a:extLst>
                    <a:ext uri="{9D8B030D-6E8A-4147-A177-3AD203B41FA5}">
                      <a16:colId xmlns:a16="http://schemas.microsoft.com/office/drawing/2014/main" val="125883293"/>
                    </a:ext>
                  </a:extLst>
                </a:gridCol>
                <a:gridCol w="1468876">
                  <a:extLst>
                    <a:ext uri="{9D8B030D-6E8A-4147-A177-3AD203B41FA5}">
                      <a16:colId xmlns:a16="http://schemas.microsoft.com/office/drawing/2014/main" val="2992957273"/>
                    </a:ext>
                  </a:extLst>
                </a:gridCol>
                <a:gridCol w="2529192">
                  <a:extLst>
                    <a:ext uri="{9D8B030D-6E8A-4147-A177-3AD203B41FA5}">
                      <a16:colId xmlns:a16="http://schemas.microsoft.com/office/drawing/2014/main" val="3342720878"/>
                    </a:ext>
                  </a:extLst>
                </a:gridCol>
                <a:gridCol w="1888787">
                  <a:extLst>
                    <a:ext uri="{9D8B030D-6E8A-4147-A177-3AD203B41FA5}">
                      <a16:colId xmlns:a16="http://schemas.microsoft.com/office/drawing/2014/main" val="3161714349"/>
                    </a:ext>
                  </a:extLst>
                </a:gridCol>
              </a:tblGrid>
              <a:tr h="0">
                <a:tc>
                  <a:txBody>
                    <a:bodyPr/>
                    <a:lstStyle/>
                    <a:p>
                      <a:pPr algn="ctr"/>
                      <a:r>
                        <a:rPr lang="en-US" sz="2200" b="1" dirty="0">
                          <a:solidFill>
                            <a:srgbClr val="1E03BD"/>
                          </a:solidFill>
                        </a:rPr>
                        <a:t>Window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String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Numeric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Hash1</a:t>
                      </a:r>
                    </a:p>
                    <a:p>
                      <a:pPr algn="ctr"/>
                      <a:r>
                        <a:rPr lang="en-US" sz="2200" b="1" dirty="0">
                          <a:solidFill>
                            <a:srgbClr val="1E03BD"/>
                          </a:solidFill>
                        </a:rPr>
                        <a:t> (mod 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Hash2 </a:t>
                      </a:r>
                    </a:p>
                    <a:p>
                      <a:pPr algn="ctr"/>
                      <a:r>
                        <a:rPr lang="en-US" sz="2200" b="1" dirty="0">
                          <a:solidFill>
                            <a:srgbClr val="1E03BD"/>
                          </a:solidFill>
                        </a:rPr>
                        <a:t>(mod 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Hash1==H1 &amp;&amp; Hash2==H2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Decision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2548051"/>
                  </a:ext>
                </a:extLst>
              </a:tr>
              <a:tr h="0">
                <a:tc>
                  <a:txBody>
                    <a:bodyPr/>
                    <a:lstStyle/>
                    <a:p>
                      <a:pPr algn="ctr"/>
                      <a:r>
                        <a:rPr lang="en-US" sz="2200" b="1"/>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ABC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123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22==32 &amp;&amp; 20==28?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No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1729067"/>
                  </a:ext>
                </a:extLst>
              </a:tr>
              <a:tr h="0">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426786"/>
                  </a:ext>
                </a:extLst>
              </a:tr>
              <a:tr h="0">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4350775"/>
                  </a:ext>
                </a:extLst>
              </a:tr>
              <a:tr h="0">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4992645"/>
                  </a:ext>
                </a:extLst>
              </a:tr>
              <a:tr h="0">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6203003"/>
                  </a:ext>
                </a:extLst>
              </a:tr>
              <a:tr h="0">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893272"/>
                  </a:ext>
                </a:extLst>
              </a:tr>
            </a:tbl>
          </a:graphicData>
        </a:graphic>
      </p:graphicFrame>
    </p:spTree>
    <p:extLst>
      <p:ext uri="{BB962C8B-B14F-4D97-AF65-F5344CB8AC3E}">
        <p14:creationId xmlns:p14="http://schemas.microsoft.com/office/powerpoint/2010/main" val="418696716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9E723-7A4E-F512-89DD-9EEAD74C466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3A90796-2B93-ECCE-B66A-6002F4F110D7}"/>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6BA9B14E-90AB-455C-5CD6-46753493B92F}"/>
              </a:ext>
            </a:extLst>
          </p:cNvPr>
          <p:cNvSpPr>
            <a:spLocks noGrp="1"/>
          </p:cNvSpPr>
          <p:nvPr>
            <p:ph type="sldNum" sz="quarter" idx="12"/>
          </p:nvPr>
        </p:nvSpPr>
        <p:spPr/>
        <p:txBody>
          <a:bodyPr/>
          <a:lstStyle/>
          <a:p>
            <a:fld id="{68187FF5-4BF9-4B21-B0D2-9B7FF2B27D7F}" type="slidenum">
              <a:rPr lang="en-AU" smtClean="0"/>
              <a:pPr/>
              <a:t>87</a:t>
            </a:fld>
            <a:endParaRPr lang="en-AU"/>
          </a:p>
        </p:txBody>
      </p:sp>
      <p:sp>
        <p:nvSpPr>
          <p:cNvPr id="6" name="Rectangle 5">
            <a:extLst>
              <a:ext uri="{FF2B5EF4-FFF2-40B4-BE49-F238E27FC236}">
                <a16:creationId xmlns:a16="http://schemas.microsoft.com/office/drawing/2014/main" id="{C3A1EDCF-8A38-2112-C17A-B5C5DD659F83}"/>
              </a:ext>
            </a:extLst>
          </p:cNvPr>
          <p:cNvSpPr/>
          <p:nvPr/>
        </p:nvSpPr>
        <p:spPr>
          <a:xfrm>
            <a:off x="1767075" y="411420"/>
            <a:ext cx="9586725" cy="2308324"/>
          </a:xfrm>
          <a:prstGeom prst="rect">
            <a:avLst/>
          </a:prstGeom>
        </p:spPr>
        <p:txBody>
          <a:bodyPr wrap="square">
            <a:spAutoFit/>
          </a:bodyPr>
          <a:lstStyle/>
          <a:p>
            <a:r>
              <a:rPr lang="en-US" sz="2400" b="1" dirty="0">
                <a:solidFill>
                  <a:srgbClr val="C00000"/>
                </a:solidFill>
                <a:latin typeface="Times New Roman" panose="02020603050405020304" pitchFamily="18" charset="0"/>
                <a:cs typeface="Times New Roman" panose="02020603050405020304" pitchFamily="18" charset="0"/>
              </a:rPr>
              <a:t>Text: </a:t>
            </a:r>
            <a:r>
              <a:rPr lang="en-US" sz="2400" b="1" dirty="0">
                <a:latin typeface="Times New Roman" panose="02020603050405020304" pitchFamily="18" charset="0"/>
                <a:cs typeface="Times New Roman" panose="02020603050405020304" pitchFamily="18" charset="0"/>
              </a:rPr>
              <a:t>ABCDABCD  </a:t>
            </a:r>
            <a:r>
              <a:rPr lang="en-US" sz="2400" b="1" dirty="0">
                <a:solidFill>
                  <a:srgbClr val="C00000"/>
                </a:solidFill>
                <a:latin typeface="Times New Roman" panose="02020603050405020304" pitchFamily="18" charset="0"/>
                <a:cs typeface="Times New Roman" panose="02020603050405020304" pitchFamily="18" charset="0"/>
              </a:rPr>
              <a:t>Pattern: </a:t>
            </a:r>
            <a:r>
              <a:rPr lang="en-US" sz="2400" b="1" dirty="0">
                <a:latin typeface="Times New Roman" panose="02020603050405020304" pitchFamily="18" charset="0"/>
                <a:cs typeface="Times New Roman" panose="02020603050405020304" pitchFamily="18" charset="0"/>
              </a:rPr>
              <a:t>BCD </a:t>
            </a:r>
          </a:p>
          <a:p>
            <a:r>
              <a:rPr lang="en-US" sz="2400" b="1" dirty="0">
                <a:latin typeface="Times New Roman" panose="02020603050405020304" pitchFamily="18" charset="0"/>
                <a:cs typeface="Times New Roman" panose="02020603050405020304" pitchFamily="18" charset="0"/>
              </a:rPr>
              <a:t>Consider, base  </a:t>
            </a:r>
            <a:r>
              <a:rPr lang="en-US" sz="2400" b="1" dirty="0">
                <a:solidFill>
                  <a:srgbClr val="C00000"/>
                </a:solidFill>
                <a:latin typeface="Times New Roman" panose="02020603050405020304" pitchFamily="18" charset="0"/>
                <a:cs typeface="Times New Roman" panose="02020603050405020304" pitchFamily="18" charset="0"/>
              </a:rPr>
              <a:t>d = 10 </a:t>
            </a:r>
            <a:r>
              <a:rPr lang="en-US" sz="2400" b="1" dirty="0">
                <a:latin typeface="Times New Roman" panose="02020603050405020304" pitchFamily="18" charset="0"/>
                <a:cs typeface="Times New Roman" panose="02020603050405020304" pitchFamily="18" charset="0"/>
              </a:rPr>
              <a:t>, Use two different prime numbers 101 and 103</a:t>
            </a:r>
          </a:p>
          <a:p>
            <a:r>
              <a:rPr lang="en-US" sz="2400" b="1" dirty="0">
                <a:latin typeface="Times New Roman" panose="02020603050405020304" pitchFamily="18" charset="0"/>
                <a:cs typeface="Times New Roman" panose="02020603050405020304" pitchFamily="18" charset="0"/>
              </a:rPr>
              <a:t>To calculate First hash,  </a:t>
            </a:r>
            <a:r>
              <a:rPr lang="en-US" sz="2400" b="1" dirty="0">
                <a:solidFill>
                  <a:srgbClr val="C00000"/>
                </a:solidFill>
                <a:latin typeface="Times New Roman" panose="02020603050405020304" pitchFamily="18" charset="0"/>
                <a:cs typeface="Times New Roman" panose="02020603050405020304" pitchFamily="18" charset="0"/>
              </a:rPr>
              <a:t>H1(S)=S mod 101</a:t>
            </a:r>
          </a:p>
          <a:p>
            <a:r>
              <a:rPr lang="en-US" sz="2400" b="1" dirty="0">
                <a:latin typeface="Times New Roman" panose="02020603050405020304" pitchFamily="18" charset="0"/>
                <a:cs typeface="Times New Roman" panose="02020603050405020304" pitchFamily="18" charset="0"/>
              </a:rPr>
              <a:t>To calculate Second hash, </a:t>
            </a:r>
            <a:r>
              <a:rPr lang="en-US" sz="2400" b="1" dirty="0">
                <a:solidFill>
                  <a:srgbClr val="C00000"/>
                </a:solidFill>
                <a:latin typeface="Times New Roman" panose="02020603050405020304" pitchFamily="18" charset="0"/>
                <a:cs typeface="Times New Roman" panose="02020603050405020304" pitchFamily="18" charset="0"/>
              </a:rPr>
              <a:t>H2(S)=S mod 103</a:t>
            </a:r>
          </a:p>
          <a:p>
            <a:r>
              <a:rPr lang="en-US" sz="2400" b="1" dirty="0">
                <a:latin typeface="Times New Roman" panose="02020603050405020304" pitchFamily="18" charset="0"/>
                <a:cs typeface="Times New Roman" panose="02020603050405020304" pitchFamily="18" charset="0"/>
              </a:rPr>
              <a:t>Pattern Hash BCD = 2×100+3×10+4 =234</a:t>
            </a:r>
          </a:p>
          <a:p>
            <a:r>
              <a:rPr lang="en-US" sz="2400" b="1" dirty="0">
                <a:latin typeface="Times New Roman" panose="02020603050405020304" pitchFamily="18" charset="0"/>
                <a:cs typeface="Times New Roman" panose="02020603050405020304" pitchFamily="18" charset="0"/>
              </a:rPr>
              <a:t>H1=234%101=32      H2=234%103=28</a:t>
            </a:r>
          </a:p>
        </p:txBody>
      </p:sp>
      <p:graphicFrame>
        <p:nvGraphicFramePr>
          <p:cNvPr id="7" name="Table 6">
            <a:extLst>
              <a:ext uri="{FF2B5EF4-FFF2-40B4-BE49-F238E27FC236}">
                <a16:creationId xmlns:a16="http://schemas.microsoft.com/office/drawing/2014/main" id="{1A3CA4D7-43FB-0F86-B131-79A9698DE639}"/>
              </a:ext>
            </a:extLst>
          </p:cNvPr>
          <p:cNvGraphicFramePr>
            <a:graphicFrameLocks noGrp="1"/>
          </p:cNvGraphicFramePr>
          <p:nvPr>
            <p:extLst>
              <p:ext uri="{D42A27DB-BD31-4B8C-83A1-F6EECF244321}">
                <p14:modId xmlns:p14="http://schemas.microsoft.com/office/powerpoint/2010/main" val="606978698"/>
              </p:ext>
            </p:extLst>
          </p:nvPr>
        </p:nvGraphicFramePr>
        <p:xfrm>
          <a:off x="523392" y="2818804"/>
          <a:ext cx="10740956" cy="3322320"/>
        </p:xfrm>
        <a:graphic>
          <a:graphicData uri="http://schemas.openxmlformats.org/drawingml/2006/table">
            <a:tbl>
              <a:tblPr/>
              <a:tblGrid>
                <a:gridCol w="1204295">
                  <a:extLst>
                    <a:ext uri="{9D8B030D-6E8A-4147-A177-3AD203B41FA5}">
                      <a16:colId xmlns:a16="http://schemas.microsoft.com/office/drawing/2014/main" val="1542545065"/>
                    </a:ext>
                  </a:extLst>
                </a:gridCol>
                <a:gridCol w="901812">
                  <a:extLst>
                    <a:ext uri="{9D8B030D-6E8A-4147-A177-3AD203B41FA5}">
                      <a16:colId xmlns:a16="http://schemas.microsoft.com/office/drawing/2014/main" val="1126228908"/>
                    </a:ext>
                  </a:extLst>
                </a:gridCol>
                <a:gridCol w="1239992">
                  <a:extLst>
                    <a:ext uri="{9D8B030D-6E8A-4147-A177-3AD203B41FA5}">
                      <a16:colId xmlns:a16="http://schemas.microsoft.com/office/drawing/2014/main" val="3116823461"/>
                    </a:ext>
                  </a:extLst>
                </a:gridCol>
                <a:gridCol w="1508002">
                  <a:extLst>
                    <a:ext uri="{9D8B030D-6E8A-4147-A177-3AD203B41FA5}">
                      <a16:colId xmlns:a16="http://schemas.microsoft.com/office/drawing/2014/main" val="125883293"/>
                    </a:ext>
                  </a:extLst>
                </a:gridCol>
                <a:gridCol w="1468876">
                  <a:extLst>
                    <a:ext uri="{9D8B030D-6E8A-4147-A177-3AD203B41FA5}">
                      <a16:colId xmlns:a16="http://schemas.microsoft.com/office/drawing/2014/main" val="2992957273"/>
                    </a:ext>
                  </a:extLst>
                </a:gridCol>
                <a:gridCol w="2529192">
                  <a:extLst>
                    <a:ext uri="{9D8B030D-6E8A-4147-A177-3AD203B41FA5}">
                      <a16:colId xmlns:a16="http://schemas.microsoft.com/office/drawing/2014/main" val="3342720878"/>
                    </a:ext>
                  </a:extLst>
                </a:gridCol>
                <a:gridCol w="1888787">
                  <a:extLst>
                    <a:ext uri="{9D8B030D-6E8A-4147-A177-3AD203B41FA5}">
                      <a16:colId xmlns:a16="http://schemas.microsoft.com/office/drawing/2014/main" val="3161714349"/>
                    </a:ext>
                  </a:extLst>
                </a:gridCol>
              </a:tblGrid>
              <a:tr h="0">
                <a:tc>
                  <a:txBody>
                    <a:bodyPr/>
                    <a:lstStyle/>
                    <a:p>
                      <a:pPr algn="ctr"/>
                      <a:r>
                        <a:rPr lang="en-US" sz="2200" b="1" dirty="0">
                          <a:solidFill>
                            <a:srgbClr val="1E03BD"/>
                          </a:solidFill>
                        </a:rPr>
                        <a:t>Window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String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Numeric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Hash1</a:t>
                      </a:r>
                    </a:p>
                    <a:p>
                      <a:pPr algn="ctr"/>
                      <a:r>
                        <a:rPr lang="en-US" sz="2200" b="1" dirty="0">
                          <a:solidFill>
                            <a:srgbClr val="1E03BD"/>
                          </a:solidFill>
                        </a:rPr>
                        <a:t> (mod 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Hash2 </a:t>
                      </a:r>
                    </a:p>
                    <a:p>
                      <a:pPr algn="ctr"/>
                      <a:r>
                        <a:rPr lang="en-US" sz="2200" b="1" dirty="0">
                          <a:solidFill>
                            <a:srgbClr val="1E03BD"/>
                          </a:solidFill>
                        </a:rPr>
                        <a:t>(mod 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Hash1==H1 &amp;&amp; Hash2==H2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Decision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2548051"/>
                  </a:ext>
                </a:extLst>
              </a:tr>
              <a:tr h="0">
                <a:tc>
                  <a:txBody>
                    <a:bodyPr/>
                    <a:lstStyle/>
                    <a:p>
                      <a:pPr algn="ctr"/>
                      <a:r>
                        <a:rPr lang="en-US" sz="2200" b="1"/>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ABC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123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22==32 &amp;&amp; 20==28?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No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1729067"/>
                  </a:ext>
                </a:extLst>
              </a:tr>
              <a:tr h="0">
                <a:tc>
                  <a:txBody>
                    <a:bodyPr/>
                    <a:lstStyle/>
                    <a:p>
                      <a:pPr algn="ctr"/>
                      <a:r>
                        <a:rPr lang="en-US" sz="2200" b="1"/>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BCD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234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32==32 &amp;&amp; 28==28?</a:t>
                      </a:r>
                      <a:r>
                        <a:rPr lang="en-US" sz="2200" b="1" baseline="0" dirty="0"/>
                        <a:t> </a:t>
                      </a: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426786"/>
                  </a:ext>
                </a:extLst>
              </a:tr>
              <a:tr h="0">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4350775"/>
                  </a:ext>
                </a:extLst>
              </a:tr>
              <a:tr h="0">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4992645"/>
                  </a:ext>
                </a:extLst>
              </a:tr>
              <a:tr h="0">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6203003"/>
                  </a:ext>
                </a:extLst>
              </a:tr>
              <a:tr h="0">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893272"/>
                  </a:ext>
                </a:extLst>
              </a:tr>
            </a:tbl>
          </a:graphicData>
        </a:graphic>
      </p:graphicFrame>
    </p:spTree>
    <p:extLst>
      <p:ext uri="{BB962C8B-B14F-4D97-AF65-F5344CB8AC3E}">
        <p14:creationId xmlns:p14="http://schemas.microsoft.com/office/powerpoint/2010/main" val="336088583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45EE2-8455-A66C-7B17-03C09546640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B8624A6-BA66-8416-9FBA-2F7F594CD896}"/>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A19F56AF-8905-ECEF-72CA-131F3C12BE31}"/>
              </a:ext>
            </a:extLst>
          </p:cNvPr>
          <p:cNvSpPr>
            <a:spLocks noGrp="1"/>
          </p:cNvSpPr>
          <p:nvPr>
            <p:ph type="sldNum" sz="quarter" idx="12"/>
          </p:nvPr>
        </p:nvSpPr>
        <p:spPr/>
        <p:txBody>
          <a:bodyPr/>
          <a:lstStyle/>
          <a:p>
            <a:fld id="{68187FF5-4BF9-4B21-B0D2-9B7FF2B27D7F}" type="slidenum">
              <a:rPr lang="en-AU" smtClean="0"/>
              <a:pPr/>
              <a:t>88</a:t>
            </a:fld>
            <a:endParaRPr lang="en-AU"/>
          </a:p>
        </p:txBody>
      </p:sp>
      <p:sp>
        <p:nvSpPr>
          <p:cNvPr id="6" name="Rectangle 5">
            <a:extLst>
              <a:ext uri="{FF2B5EF4-FFF2-40B4-BE49-F238E27FC236}">
                <a16:creationId xmlns:a16="http://schemas.microsoft.com/office/drawing/2014/main" id="{95FA96CE-CD18-FC13-1063-BC23A31C46C3}"/>
              </a:ext>
            </a:extLst>
          </p:cNvPr>
          <p:cNvSpPr/>
          <p:nvPr/>
        </p:nvSpPr>
        <p:spPr>
          <a:xfrm>
            <a:off x="1767075" y="411420"/>
            <a:ext cx="9586725" cy="2308324"/>
          </a:xfrm>
          <a:prstGeom prst="rect">
            <a:avLst/>
          </a:prstGeom>
        </p:spPr>
        <p:txBody>
          <a:bodyPr wrap="square">
            <a:spAutoFit/>
          </a:bodyPr>
          <a:lstStyle/>
          <a:p>
            <a:r>
              <a:rPr lang="en-US" sz="2400" b="1" dirty="0">
                <a:solidFill>
                  <a:srgbClr val="C00000"/>
                </a:solidFill>
                <a:latin typeface="Times New Roman" panose="02020603050405020304" pitchFamily="18" charset="0"/>
                <a:cs typeface="Times New Roman" panose="02020603050405020304" pitchFamily="18" charset="0"/>
              </a:rPr>
              <a:t>Text: </a:t>
            </a:r>
            <a:r>
              <a:rPr lang="en-US" sz="2400" b="1" dirty="0">
                <a:latin typeface="Times New Roman" panose="02020603050405020304" pitchFamily="18" charset="0"/>
                <a:cs typeface="Times New Roman" panose="02020603050405020304" pitchFamily="18" charset="0"/>
              </a:rPr>
              <a:t>ABCDABCD  </a:t>
            </a:r>
            <a:r>
              <a:rPr lang="en-US" sz="2400" b="1" dirty="0">
                <a:solidFill>
                  <a:srgbClr val="C00000"/>
                </a:solidFill>
                <a:latin typeface="Times New Roman" panose="02020603050405020304" pitchFamily="18" charset="0"/>
                <a:cs typeface="Times New Roman" panose="02020603050405020304" pitchFamily="18" charset="0"/>
              </a:rPr>
              <a:t>Pattern: </a:t>
            </a:r>
            <a:r>
              <a:rPr lang="en-US" sz="2400" b="1" dirty="0">
                <a:latin typeface="Times New Roman" panose="02020603050405020304" pitchFamily="18" charset="0"/>
                <a:cs typeface="Times New Roman" panose="02020603050405020304" pitchFamily="18" charset="0"/>
              </a:rPr>
              <a:t>BCD </a:t>
            </a:r>
          </a:p>
          <a:p>
            <a:r>
              <a:rPr lang="en-US" sz="2400" b="1" dirty="0">
                <a:latin typeface="Times New Roman" panose="02020603050405020304" pitchFamily="18" charset="0"/>
                <a:cs typeface="Times New Roman" panose="02020603050405020304" pitchFamily="18" charset="0"/>
              </a:rPr>
              <a:t>Consider, base  </a:t>
            </a:r>
            <a:r>
              <a:rPr lang="en-US" sz="2400" b="1" dirty="0">
                <a:solidFill>
                  <a:srgbClr val="C00000"/>
                </a:solidFill>
                <a:latin typeface="Times New Roman" panose="02020603050405020304" pitchFamily="18" charset="0"/>
                <a:cs typeface="Times New Roman" panose="02020603050405020304" pitchFamily="18" charset="0"/>
              </a:rPr>
              <a:t>d = 10 </a:t>
            </a:r>
            <a:r>
              <a:rPr lang="en-US" sz="2400" b="1" dirty="0">
                <a:latin typeface="Times New Roman" panose="02020603050405020304" pitchFamily="18" charset="0"/>
                <a:cs typeface="Times New Roman" panose="02020603050405020304" pitchFamily="18" charset="0"/>
              </a:rPr>
              <a:t>, Use two different prime numbers 101 and 103</a:t>
            </a:r>
          </a:p>
          <a:p>
            <a:r>
              <a:rPr lang="en-US" sz="2400" b="1" dirty="0">
                <a:latin typeface="Times New Roman" panose="02020603050405020304" pitchFamily="18" charset="0"/>
                <a:cs typeface="Times New Roman" panose="02020603050405020304" pitchFamily="18" charset="0"/>
              </a:rPr>
              <a:t>To calculate First hash,  </a:t>
            </a:r>
            <a:r>
              <a:rPr lang="en-US" sz="2400" b="1" dirty="0">
                <a:solidFill>
                  <a:srgbClr val="C00000"/>
                </a:solidFill>
                <a:latin typeface="Times New Roman" panose="02020603050405020304" pitchFamily="18" charset="0"/>
                <a:cs typeface="Times New Roman" panose="02020603050405020304" pitchFamily="18" charset="0"/>
              </a:rPr>
              <a:t>H1(S)=S mod 101</a:t>
            </a:r>
          </a:p>
          <a:p>
            <a:r>
              <a:rPr lang="en-US" sz="2400" b="1" dirty="0">
                <a:latin typeface="Times New Roman" panose="02020603050405020304" pitchFamily="18" charset="0"/>
                <a:cs typeface="Times New Roman" panose="02020603050405020304" pitchFamily="18" charset="0"/>
              </a:rPr>
              <a:t>To calculate Second hash, </a:t>
            </a:r>
            <a:r>
              <a:rPr lang="en-US" sz="2400" b="1" dirty="0">
                <a:solidFill>
                  <a:srgbClr val="C00000"/>
                </a:solidFill>
                <a:latin typeface="Times New Roman" panose="02020603050405020304" pitchFamily="18" charset="0"/>
                <a:cs typeface="Times New Roman" panose="02020603050405020304" pitchFamily="18" charset="0"/>
              </a:rPr>
              <a:t>H2(S)=S mod 103</a:t>
            </a:r>
          </a:p>
          <a:p>
            <a:r>
              <a:rPr lang="en-US" sz="2400" b="1" dirty="0">
                <a:latin typeface="Times New Roman" panose="02020603050405020304" pitchFamily="18" charset="0"/>
                <a:cs typeface="Times New Roman" panose="02020603050405020304" pitchFamily="18" charset="0"/>
              </a:rPr>
              <a:t>Pattern Hash BCD = 2×100+3×10+4 =234</a:t>
            </a:r>
          </a:p>
          <a:p>
            <a:r>
              <a:rPr lang="en-US" sz="2400" b="1" dirty="0">
                <a:latin typeface="Times New Roman" panose="02020603050405020304" pitchFamily="18" charset="0"/>
                <a:cs typeface="Times New Roman" panose="02020603050405020304" pitchFamily="18" charset="0"/>
              </a:rPr>
              <a:t>H1=234%101=32      H2=234%103=28</a:t>
            </a:r>
          </a:p>
        </p:txBody>
      </p:sp>
      <p:graphicFrame>
        <p:nvGraphicFramePr>
          <p:cNvPr id="7" name="Table 6">
            <a:extLst>
              <a:ext uri="{FF2B5EF4-FFF2-40B4-BE49-F238E27FC236}">
                <a16:creationId xmlns:a16="http://schemas.microsoft.com/office/drawing/2014/main" id="{42660038-8CEC-43CA-1C01-3BB2D4B23B06}"/>
              </a:ext>
            </a:extLst>
          </p:cNvPr>
          <p:cNvGraphicFramePr>
            <a:graphicFrameLocks noGrp="1"/>
          </p:cNvGraphicFramePr>
          <p:nvPr>
            <p:extLst>
              <p:ext uri="{D42A27DB-BD31-4B8C-83A1-F6EECF244321}">
                <p14:modId xmlns:p14="http://schemas.microsoft.com/office/powerpoint/2010/main" val="1502606881"/>
              </p:ext>
            </p:extLst>
          </p:nvPr>
        </p:nvGraphicFramePr>
        <p:xfrm>
          <a:off x="523392" y="2818804"/>
          <a:ext cx="10740956" cy="3322320"/>
        </p:xfrm>
        <a:graphic>
          <a:graphicData uri="http://schemas.openxmlformats.org/drawingml/2006/table">
            <a:tbl>
              <a:tblPr/>
              <a:tblGrid>
                <a:gridCol w="1204295">
                  <a:extLst>
                    <a:ext uri="{9D8B030D-6E8A-4147-A177-3AD203B41FA5}">
                      <a16:colId xmlns:a16="http://schemas.microsoft.com/office/drawing/2014/main" val="1542545065"/>
                    </a:ext>
                  </a:extLst>
                </a:gridCol>
                <a:gridCol w="901812">
                  <a:extLst>
                    <a:ext uri="{9D8B030D-6E8A-4147-A177-3AD203B41FA5}">
                      <a16:colId xmlns:a16="http://schemas.microsoft.com/office/drawing/2014/main" val="1126228908"/>
                    </a:ext>
                  </a:extLst>
                </a:gridCol>
                <a:gridCol w="1239992">
                  <a:extLst>
                    <a:ext uri="{9D8B030D-6E8A-4147-A177-3AD203B41FA5}">
                      <a16:colId xmlns:a16="http://schemas.microsoft.com/office/drawing/2014/main" val="3116823461"/>
                    </a:ext>
                  </a:extLst>
                </a:gridCol>
                <a:gridCol w="1508002">
                  <a:extLst>
                    <a:ext uri="{9D8B030D-6E8A-4147-A177-3AD203B41FA5}">
                      <a16:colId xmlns:a16="http://schemas.microsoft.com/office/drawing/2014/main" val="125883293"/>
                    </a:ext>
                  </a:extLst>
                </a:gridCol>
                <a:gridCol w="1468876">
                  <a:extLst>
                    <a:ext uri="{9D8B030D-6E8A-4147-A177-3AD203B41FA5}">
                      <a16:colId xmlns:a16="http://schemas.microsoft.com/office/drawing/2014/main" val="2992957273"/>
                    </a:ext>
                  </a:extLst>
                </a:gridCol>
                <a:gridCol w="2529192">
                  <a:extLst>
                    <a:ext uri="{9D8B030D-6E8A-4147-A177-3AD203B41FA5}">
                      <a16:colId xmlns:a16="http://schemas.microsoft.com/office/drawing/2014/main" val="3342720878"/>
                    </a:ext>
                  </a:extLst>
                </a:gridCol>
                <a:gridCol w="1888787">
                  <a:extLst>
                    <a:ext uri="{9D8B030D-6E8A-4147-A177-3AD203B41FA5}">
                      <a16:colId xmlns:a16="http://schemas.microsoft.com/office/drawing/2014/main" val="3161714349"/>
                    </a:ext>
                  </a:extLst>
                </a:gridCol>
              </a:tblGrid>
              <a:tr h="0">
                <a:tc>
                  <a:txBody>
                    <a:bodyPr/>
                    <a:lstStyle/>
                    <a:p>
                      <a:pPr algn="ctr"/>
                      <a:r>
                        <a:rPr lang="en-US" sz="2200" b="1" dirty="0">
                          <a:solidFill>
                            <a:srgbClr val="1E03BD"/>
                          </a:solidFill>
                        </a:rPr>
                        <a:t>Window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String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Numeric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Hash1</a:t>
                      </a:r>
                    </a:p>
                    <a:p>
                      <a:pPr algn="ctr"/>
                      <a:r>
                        <a:rPr lang="en-US" sz="2200" b="1" dirty="0">
                          <a:solidFill>
                            <a:srgbClr val="1E03BD"/>
                          </a:solidFill>
                        </a:rPr>
                        <a:t> (mod 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Hash2 </a:t>
                      </a:r>
                    </a:p>
                    <a:p>
                      <a:pPr algn="ctr"/>
                      <a:r>
                        <a:rPr lang="en-US" sz="2200" b="1" dirty="0">
                          <a:solidFill>
                            <a:srgbClr val="1E03BD"/>
                          </a:solidFill>
                        </a:rPr>
                        <a:t>(mod 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Hash1==H1 &amp;&amp; Hash2==H2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Decision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2548051"/>
                  </a:ext>
                </a:extLst>
              </a:tr>
              <a:tr h="0">
                <a:tc>
                  <a:txBody>
                    <a:bodyPr/>
                    <a:lstStyle/>
                    <a:p>
                      <a:pPr algn="ctr"/>
                      <a:r>
                        <a:rPr lang="en-US" sz="2200" b="1"/>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ABC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123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22==32 &amp;&amp; 20==28?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No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1729067"/>
                  </a:ext>
                </a:extLst>
              </a:tr>
              <a:tr h="0">
                <a:tc>
                  <a:txBody>
                    <a:bodyPr/>
                    <a:lstStyle/>
                    <a:p>
                      <a:pPr algn="ctr"/>
                      <a:r>
                        <a:rPr lang="en-US" sz="2200" b="1"/>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BCD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234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32==32 &amp;&amp; 28==28?</a:t>
                      </a:r>
                      <a:r>
                        <a:rPr lang="en-US" sz="2200" b="1" baseline="0" dirty="0"/>
                        <a:t> </a:t>
                      </a: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426786"/>
                  </a:ext>
                </a:extLst>
              </a:tr>
              <a:tr h="0">
                <a:tc>
                  <a:txBody>
                    <a:bodyPr/>
                    <a:lstStyle/>
                    <a:p>
                      <a:pPr algn="ctr"/>
                      <a:r>
                        <a:rPr lang="en-US" sz="2200" b="1"/>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CDA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341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38==32 &amp;&amp; 32==28?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No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4350775"/>
                  </a:ext>
                </a:extLst>
              </a:tr>
              <a:tr h="0">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4992645"/>
                  </a:ext>
                </a:extLst>
              </a:tr>
              <a:tr h="0">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6203003"/>
                  </a:ext>
                </a:extLst>
              </a:tr>
              <a:tr h="0">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893272"/>
                  </a:ext>
                </a:extLst>
              </a:tr>
            </a:tbl>
          </a:graphicData>
        </a:graphic>
      </p:graphicFrame>
    </p:spTree>
    <p:extLst>
      <p:ext uri="{BB962C8B-B14F-4D97-AF65-F5344CB8AC3E}">
        <p14:creationId xmlns:p14="http://schemas.microsoft.com/office/powerpoint/2010/main" val="346133944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7FA3B-8320-06C1-5981-6D84A209C83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BB1CFDD-7912-A5F5-2CBD-55866C87EB99}"/>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24BEC41B-8366-8620-CF28-D05C37FC8454}"/>
              </a:ext>
            </a:extLst>
          </p:cNvPr>
          <p:cNvSpPr>
            <a:spLocks noGrp="1"/>
          </p:cNvSpPr>
          <p:nvPr>
            <p:ph type="sldNum" sz="quarter" idx="12"/>
          </p:nvPr>
        </p:nvSpPr>
        <p:spPr/>
        <p:txBody>
          <a:bodyPr/>
          <a:lstStyle/>
          <a:p>
            <a:fld id="{68187FF5-4BF9-4B21-B0D2-9B7FF2B27D7F}" type="slidenum">
              <a:rPr lang="en-AU" smtClean="0"/>
              <a:pPr/>
              <a:t>89</a:t>
            </a:fld>
            <a:endParaRPr lang="en-AU"/>
          </a:p>
        </p:txBody>
      </p:sp>
      <p:sp>
        <p:nvSpPr>
          <p:cNvPr id="6" name="Rectangle 5">
            <a:extLst>
              <a:ext uri="{FF2B5EF4-FFF2-40B4-BE49-F238E27FC236}">
                <a16:creationId xmlns:a16="http://schemas.microsoft.com/office/drawing/2014/main" id="{01B48EFB-58AF-5947-ED3D-39FF14C84215}"/>
              </a:ext>
            </a:extLst>
          </p:cNvPr>
          <p:cNvSpPr/>
          <p:nvPr/>
        </p:nvSpPr>
        <p:spPr>
          <a:xfrm>
            <a:off x="1767075" y="411420"/>
            <a:ext cx="9586725" cy="2308324"/>
          </a:xfrm>
          <a:prstGeom prst="rect">
            <a:avLst/>
          </a:prstGeom>
        </p:spPr>
        <p:txBody>
          <a:bodyPr wrap="square">
            <a:spAutoFit/>
          </a:bodyPr>
          <a:lstStyle/>
          <a:p>
            <a:r>
              <a:rPr lang="en-US" sz="2400" b="1" dirty="0">
                <a:solidFill>
                  <a:srgbClr val="C00000"/>
                </a:solidFill>
                <a:latin typeface="Times New Roman" panose="02020603050405020304" pitchFamily="18" charset="0"/>
                <a:cs typeface="Times New Roman" panose="02020603050405020304" pitchFamily="18" charset="0"/>
              </a:rPr>
              <a:t>Text: </a:t>
            </a:r>
            <a:r>
              <a:rPr lang="en-US" sz="2400" b="1" dirty="0">
                <a:latin typeface="Times New Roman" panose="02020603050405020304" pitchFamily="18" charset="0"/>
                <a:cs typeface="Times New Roman" panose="02020603050405020304" pitchFamily="18" charset="0"/>
              </a:rPr>
              <a:t>ABCDABCD  </a:t>
            </a:r>
            <a:r>
              <a:rPr lang="en-US" sz="2400" b="1" dirty="0">
                <a:solidFill>
                  <a:srgbClr val="C00000"/>
                </a:solidFill>
                <a:latin typeface="Times New Roman" panose="02020603050405020304" pitchFamily="18" charset="0"/>
                <a:cs typeface="Times New Roman" panose="02020603050405020304" pitchFamily="18" charset="0"/>
              </a:rPr>
              <a:t>Pattern: </a:t>
            </a:r>
            <a:r>
              <a:rPr lang="en-US" sz="2400" b="1" dirty="0">
                <a:latin typeface="Times New Roman" panose="02020603050405020304" pitchFamily="18" charset="0"/>
                <a:cs typeface="Times New Roman" panose="02020603050405020304" pitchFamily="18" charset="0"/>
              </a:rPr>
              <a:t>BCD </a:t>
            </a:r>
          </a:p>
          <a:p>
            <a:r>
              <a:rPr lang="en-US" sz="2400" b="1" dirty="0">
                <a:latin typeface="Times New Roman" panose="02020603050405020304" pitchFamily="18" charset="0"/>
                <a:cs typeface="Times New Roman" panose="02020603050405020304" pitchFamily="18" charset="0"/>
              </a:rPr>
              <a:t>Consider, base  </a:t>
            </a:r>
            <a:r>
              <a:rPr lang="en-US" sz="2400" b="1" dirty="0">
                <a:solidFill>
                  <a:srgbClr val="C00000"/>
                </a:solidFill>
                <a:latin typeface="Times New Roman" panose="02020603050405020304" pitchFamily="18" charset="0"/>
                <a:cs typeface="Times New Roman" panose="02020603050405020304" pitchFamily="18" charset="0"/>
              </a:rPr>
              <a:t>d = 10 </a:t>
            </a:r>
            <a:r>
              <a:rPr lang="en-US" sz="2400" b="1" dirty="0">
                <a:latin typeface="Times New Roman" panose="02020603050405020304" pitchFamily="18" charset="0"/>
                <a:cs typeface="Times New Roman" panose="02020603050405020304" pitchFamily="18" charset="0"/>
              </a:rPr>
              <a:t>, Use two different prime numbers 101 and 103</a:t>
            </a:r>
          </a:p>
          <a:p>
            <a:r>
              <a:rPr lang="en-US" sz="2400" b="1" dirty="0">
                <a:latin typeface="Times New Roman" panose="02020603050405020304" pitchFamily="18" charset="0"/>
                <a:cs typeface="Times New Roman" panose="02020603050405020304" pitchFamily="18" charset="0"/>
              </a:rPr>
              <a:t>To calculate First hash,  </a:t>
            </a:r>
            <a:r>
              <a:rPr lang="en-US" sz="2400" b="1" dirty="0">
                <a:solidFill>
                  <a:srgbClr val="C00000"/>
                </a:solidFill>
                <a:latin typeface="Times New Roman" panose="02020603050405020304" pitchFamily="18" charset="0"/>
                <a:cs typeface="Times New Roman" panose="02020603050405020304" pitchFamily="18" charset="0"/>
              </a:rPr>
              <a:t>H1(S)=S mod 101</a:t>
            </a:r>
          </a:p>
          <a:p>
            <a:r>
              <a:rPr lang="en-US" sz="2400" b="1" dirty="0">
                <a:latin typeface="Times New Roman" panose="02020603050405020304" pitchFamily="18" charset="0"/>
                <a:cs typeface="Times New Roman" panose="02020603050405020304" pitchFamily="18" charset="0"/>
              </a:rPr>
              <a:t>To calculate Second hash, </a:t>
            </a:r>
            <a:r>
              <a:rPr lang="en-US" sz="2400" b="1" dirty="0">
                <a:solidFill>
                  <a:srgbClr val="C00000"/>
                </a:solidFill>
                <a:latin typeface="Times New Roman" panose="02020603050405020304" pitchFamily="18" charset="0"/>
                <a:cs typeface="Times New Roman" panose="02020603050405020304" pitchFamily="18" charset="0"/>
              </a:rPr>
              <a:t>H2(S)=S mod 103</a:t>
            </a:r>
          </a:p>
          <a:p>
            <a:r>
              <a:rPr lang="en-US" sz="2400" b="1" dirty="0">
                <a:latin typeface="Times New Roman" panose="02020603050405020304" pitchFamily="18" charset="0"/>
                <a:cs typeface="Times New Roman" panose="02020603050405020304" pitchFamily="18" charset="0"/>
              </a:rPr>
              <a:t>Pattern Hash BCD = 2×100+3×10+4 =234</a:t>
            </a:r>
          </a:p>
          <a:p>
            <a:r>
              <a:rPr lang="en-US" sz="2400" b="1" dirty="0">
                <a:latin typeface="Times New Roman" panose="02020603050405020304" pitchFamily="18" charset="0"/>
                <a:cs typeface="Times New Roman" panose="02020603050405020304" pitchFamily="18" charset="0"/>
              </a:rPr>
              <a:t>H1=234%101=32      H2=234%103=28</a:t>
            </a:r>
          </a:p>
        </p:txBody>
      </p:sp>
      <p:graphicFrame>
        <p:nvGraphicFramePr>
          <p:cNvPr id="7" name="Table 6">
            <a:extLst>
              <a:ext uri="{FF2B5EF4-FFF2-40B4-BE49-F238E27FC236}">
                <a16:creationId xmlns:a16="http://schemas.microsoft.com/office/drawing/2014/main" id="{E764447E-EC32-3C1B-036E-C132C7DFF3B5}"/>
              </a:ext>
            </a:extLst>
          </p:cNvPr>
          <p:cNvGraphicFramePr>
            <a:graphicFrameLocks noGrp="1"/>
          </p:cNvGraphicFramePr>
          <p:nvPr>
            <p:extLst>
              <p:ext uri="{D42A27DB-BD31-4B8C-83A1-F6EECF244321}">
                <p14:modId xmlns:p14="http://schemas.microsoft.com/office/powerpoint/2010/main" val="2192800726"/>
              </p:ext>
            </p:extLst>
          </p:nvPr>
        </p:nvGraphicFramePr>
        <p:xfrm>
          <a:off x="523392" y="2818804"/>
          <a:ext cx="10740956" cy="3322320"/>
        </p:xfrm>
        <a:graphic>
          <a:graphicData uri="http://schemas.openxmlformats.org/drawingml/2006/table">
            <a:tbl>
              <a:tblPr/>
              <a:tblGrid>
                <a:gridCol w="1204295">
                  <a:extLst>
                    <a:ext uri="{9D8B030D-6E8A-4147-A177-3AD203B41FA5}">
                      <a16:colId xmlns:a16="http://schemas.microsoft.com/office/drawing/2014/main" val="1542545065"/>
                    </a:ext>
                  </a:extLst>
                </a:gridCol>
                <a:gridCol w="901812">
                  <a:extLst>
                    <a:ext uri="{9D8B030D-6E8A-4147-A177-3AD203B41FA5}">
                      <a16:colId xmlns:a16="http://schemas.microsoft.com/office/drawing/2014/main" val="1126228908"/>
                    </a:ext>
                  </a:extLst>
                </a:gridCol>
                <a:gridCol w="1239992">
                  <a:extLst>
                    <a:ext uri="{9D8B030D-6E8A-4147-A177-3AD203B41FA5}">
                      <a16:colId xmlns:a16="http://schemas.microsoft.com/office/drawing/2014/main" val="3116823461"/>
                    </a:ext>
                  </a:extLst>
                </a:gridCol>
                <a:gridCol w="1508002">
                  <a:extLst>
                    <a:ext uri="{9D8B030D-6E8A-4147-A177-3AD203B41FA5}">
                      <a16:colId xmlns:a16="http://schemas.microsoft.com/office/drawing/2014/main" val="125883293"/>
                    </a:ext>
                  </a:extLst>
                </a:gridCol>
                <a:gridCol w="1468876">
                  <a:extLst>
                    <a:ext uri="{9D8B030D-6E8A-4147-A177-3AD203B41FA5}">
                      <a16:colId xmlns:a16="http://schemas.microsoft.com/office/drawing/2014/main" val="2992957273"/>
                    </a:ext>
                  </a:extLst>
                </a:gridCol>
                <a:gridCol w="2529192">
                  <a:extLst>
                    <a:ext uri="{9D8B030D-6E8A-4147-A177-3AD203B41FA5}">
                      <a16:colId xmlns:a16="http://schemas.microsoft.com/office/drawing/2014/main" val="3342720878"/>
                    </a:ext>
                  </a:extLst>
                </a:gridCol>
                <a:gridCol w="1888787">
                  <a:extLst>
                    <a:ext uri="{9D8B030D-6E8A-4147-A177-3AD203B41FA5}">
                      <a16:colId xmlns:a16="http://schemas.microsoft.com/office/drawing/2014/main" val="3161714349"/>
                    </a:ext>
                  </a:extLst>
                </a:gridCol>
              </a:tblGrid>
              <a:tr h="0">
                <a:tc>
                  <a:txBody>
                    <a:bodyPr/>
                    <a:lstStyle/>
                    <a:p>
                      <a:pPr algn="ctr"/>
                      <a:r>
                        <a:rPr lang="en-US" sz="2200" b="1" dirty="0">
                          <a:solidFill>
                            <a:srgbClr val="1E03BD"/>
                          </a:solidFill>
                        </a:rPr>
                        <a:t>Window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String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Numeric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Hash1</a:t>
                      </a:r>
                    </a:p>
                    <a:p>
                      <a:pPr algn="ctr"/>
                      <a:r>
                        <a:rPr lang="en-US" sz="2200" b="1" dirty="0">
                          <a:solidFill>
                            <a:srgbClr val="1E03BD"/>
                          </a:solidFill>
                        </a:rPr>
                        <a:t> (mod 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Hash2 </a:t>
                      </a:r>
                    </a:p>
                    <a:p>
                      <a:pPr algn="ctr"/>
                      <a:r>
                        <a:rPr lang="en-US" sz="2200" b="1" dirty="0">
                          <a:solidFill>
                            <a:srgbClr val="1E03BD"/>
                          </a:solidFill>
                        </a:rPr>
                        <a:t>(mod 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Hash1==H1 &amp;&amp; Hash2==H2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Decision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2548051"/>
                  </a:ext>
                </a:extLst>
              </a:tr>
              <a:tr h="0">
                <a:tc>
                  <a:txBody>
                    <a:bodyPr/>
                    <a:lstStyle/>
                    <a:p>
                      <a:pPr algn="ctr"/>
                      <a:r>
                        <a:rPr lang="en-US" sz="2200" b="1"/>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ABC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123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22==32 &amp;&amp; 20==28?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No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1729067"/>
                  </a:ext>
                </a:extLst>
              </a:tr>
              <a:tr h="0">
                <a:tc>
                  <a:txBody>
                    <a:bodyPr/>
                    <a:lstStyle/>
                    <a:p>
                      <a:pPr algn="ctr"/>
                      <a:r>
                        <a:rPr lang="en-US" sz="2200" b="1"/>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BCD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234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32==32 &amp;&amp; 28==28?</a:t>
                      </a:r>
                      <a:r>
                        <a:rPr lang="en-US" sz="2200" b="1" baseline="0" dirty="0"/>
                        <a:t> </a:t>
                      </a: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426786"/>
                  </a:ext>
                </a:extLst>
              </a:tr>
              <a:tr h="0">
                <a:tc>
                  <a:txBody>
                    <a:bodyPr/>
                    <a:lstStyle/>
                    <a:p>
                      <a:pPr algn="ctr"/>
                      <a:r>
                        <a:rPr lang="en-US" sz="2200" b="1"/>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CDA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341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38==32 &amp;&amp; 32==28?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No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4350775"/>
                  </a:ext>
                </a:extLst>
              </a:tr>
              <a:tr h="0">
                <a:tc>
                  <a:txBody>
                    <a:bodyPr/>
                    <a:lstStyle/>
                    <a:p>
                      <a:pPr algn="ctr"/>
                      <a:r>
                        <a:rPr lang="en-US" sz="2200" b="1"/>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DAB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412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8==32 &amp;&amp; 0==28?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No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4992645"/>
                  </a:ext>
                </a:extLst>
              </a:tr>
              <a:tr h="0">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6203003"/>
                  </a:ext>
                </a:extLst>
              </a:tr>
              <a:tr h="0">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893272"/>
                  </a:ext>
                </a:extLst>
              </a:tr>
            </a:tbl>
          </a:graphicData>
        </a:graphic>
      </p:graphicFrame>
    </p:spTree>
    <p:extLst>
      <p:ext uri="{BB962C8B-B14F-4D97-AF65-F5344CB8AC3E}">
        <p14:creationId xmlns:p14="http://schemas.microsoft.com/office/powerpoint/2010/main" val="258497661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08B1D-9205-1A61-CED6-4844BD40A0A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764A953-3702-9089-72BD-33E8ABB2EAB4}"/>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C43B169B-3C76-9273-086B-F73F178AA55B}"/>
              </a:ext>
            </a:extLst>
          </p:cNvPr>
          <p:cNvSpPr>
            <a:spLocks noGrp="1"/>
          </p:cNvSpPr>
          <p:nvPr>
            <p:ph type="sldNum" sz="quarter" idx="12"/>
          </p:nvPr>
        </p:nvSpPr>
        <p:spPr/>
        <p:txBody>
          <a:bodyPr/>
          <a:lstStyle/>
          <a:p>
            <a:fld id="{68187FF5-4BF9-4B21-B0D2-9B7FF2B27D7F}" type="slidenum">
              <a:rPr lang="en-AU" smtClean="0"/>
              <a:pPr/>
              <a:t>90</a:t>
            </a:fld>
            <a:endParaRPr lang="en-AU"/>
          </a:p>
        </p:txBody>
      </p:sp>
      <p:sp>
        <p:nvSpPr>
          <p:cNvPr id="6" name="Rectangle 5">
            <a:extLst>
              <a:ext uri="{FF2B5EF4-FFF2-40B4-BE49-F238E27FC236}">
                <a16:creationId xmlns:a16="http://schemas.microsoft.com/office/drawing/2014/main" id="{D45E65C5-B28A-2727-E544-4280C0C746F2}"/>
              </a:ext>
            </a:extLst>
          </p:cNvPr>
          <p:cNvSpPr/>
          <p:nvPr/>
        </p:nvSpPr>
        <p:spPr>
          <a:xfrm>
            <a:off x="1767075" y="411420"/>
            <a:ext cx="9586725" cy="2308324"/>
          </a:xfrm>
          <a:prstGeom prst="rect">
            <a:avLst/>
          </a:prstGeom>
        </p:spPr>
        <p:txBody>
          <a:bodyPr wrap="square">
            <a:spAutoFit/>
          </a:bodyPr>
          <a:lstStyle/>
          <a:p>
            <a:r>
              <a:rPr lang="en-US" sz="2400" b="1" dirty="0">
                <a:solidFill>
                  <a:srgbClr val="C00000"/>
                </a:solidFill>
                <a:latin typeface="Times New Roman" panose="02020603050405020304" pitchFamily="18" charset="0"/>
                <a:cs typeface="Times New Roman" panose="02020603050405020304" pitchFamily="18" charset="0"/>
              </a:rPr>
              <a:t>Text: </a:t>
            </a:r>
            <a:r>
              <a:rPr lang="en-US" sz="2400" b="1" dirty="0">
                <a:latin typeface="Times New Roman" panose="02020603050405020304" pitchFamily="18" charset="0"/>
                <a:cs typeface="Times New Roman" panose="02020603050405020304" pitchFamily="18" charset="0"/>
              </a:rPr>
              <a:t>ABCDABCD  </a:t>
            </a:r>
            <a:r>
              <a:rPr lang="en-US" sz="2400" b="1" dirty="0">
                <a:solidFill>
                  <a:srgbClr val="C00000"/>
                </a:solidFill>
                <a:latin typeface="Times New Roman" panose="02020603050405020304" pitchFamily="18" charset="0"/>
                <a:cs typeface="Times New Roman" panose="02020603050405020304" pitchFamily="18" charset="0"/>
              </a:rPr>
              <a:t>Pattern: </a:t>
            </a:r>
            <a:r>
              <a:rPr lang="en-US" sz="2400" b="1" dirty="0">
                <a:latin typeface="Times New Roman" panose="02020603050405020304" pitchFamily="18" charset="0"/>
                <a:cs typeface="Times New Roman" panose="02020603050405020304" pitchFamily="18" charset="0"/>
              </a:rPr>
              <a:t>BCD </a:t>
            </a:r>
          </a:p>
          <a:p>
            <a:r>
              <a:rPr lang="en-US" sz="2400" b="1" dirty="0">
                <a:latin typeface="Times New Roman" panose="02020603050405020304" pitchFamily="18" charset="0"/>
                <a:cs typeface="Times New Roman" panose="02020603050405020304" pitchFamily="18" charset="0"/>
              </a:rPr>
              <a:t>Consider, base  </a:t>
            </a:r>
            <a:r>
              <a:rPr lang="en-US" sz="2400" b="1" dirty="0">
                <a:solidFill>
                  <a:srgbClr val="C00000"/>
                </a:solidFill>
                <a:latin typeface="Times New Roman" panose="02020603050405020304" pitchFamily="18" charset="0"/>
                <a:cs typeface="Times New Roman" panose="02020603050405020304" pitchFamily="18" charset="0"/>
              </a:rPr>
              <a:t>d = 10 </a:t>
            </a:r>
            <a:r>
              <a:rPr lang="en-US" sz="2400" b="1" dirty="0">
                <a:latin typeface="Times New Roman" panose="02020603050405020304" pitchFamily="18" charset="0"/>
                <a:cs typeface="Times New Roman" panose="02020603050405020304" pitchFamily="18" charset="0"/>
              </a:rPr>
              <a:t>, Use two different prime numbers 101 and 103</a:t>
            </a:r>
          </a:p>
          <a:p>
            <a:r>
              <a:rPr lang="en-US" sz="2400" b="1" dirty="0">
                <a:latin typeface="Times New Roman" panose="02020603050405020304" pitchFamily="18" charset="0"/>
                <a:cs typeface="Times New Roman" panose="02020603050405020304" pitchFamily="18" charset="0"/>
              </a:rPr>
              <a:t>To calculate First hash,  </a:t>
            </a:r>
            <a:r>
              <a:rPr lang="en-US" sz="2400" b="1" dirty="0">
                <a:solidFill>
                  <a:srgbClr val="C00000"/>
                </a:solidFill>
                <a:latin typeface="Times New Roman" panose="02020603050405020304" pitchFamily="18" charset="0"/>
                <a:cs typeface="Times New Roman" panose="02020603050405020304" pitchFamily="18" charset="0"/>
              </a:rPr>
              <a:t>H1(S)=S mod 101</a:t>
            </a:r>
          </a:p>
          <a:p>
            <a:r>
              <a:rPr lang="en-US" sz="2400" b="1" dirty="0">
                <a:latin typeface="Times New Roman" panose="02020603050405020304" pitchFamily="18" charset="0"/>
                <a:cs typeface="Times New Roman" panose="02020603050405020304" pitchFamily="18" charset="0"/>
              </a:rPr>
              <a:t>To calculate Second hash, </a:t>
            </a:r>
            <a:r>
              <a:rPr lang="en-US" sz="2400" b="1" dirty="0">
                <a:solidFill>
                  <a:srgbClr val="C00000"/>
                </a:solidFill>
                <a:latin typeface="Times New Roman" panose="02020603050405020304" pitchFamily="18" charset="0"/>
                <a:cs typeface="Times New Roman" panose="02020603050405020304" pitchFamily="18" charset="0"/>
              </a:rPr>
              <a:t>H2(S)=S mod 103</a:t>
            </a:r>
          </a:p>
          <a:p>
            <a:r>
              <a:rPr lang="en-US" sz="2400" b="1" dirty="0">
                <a:latin typeface="Times New Roman" panose="02020603050405020304" pitchFamily="18" charset="0"/>
                <a:cs typeface="Times New Roman" panose="02020603050405020304" pitchFamily="18" charset="0"/>
              </a:rPr>
              <a:t>Pattern Hash BCD = 2×100+3×10+4 =234</a:t>
            </a:r>
          </a:p>
          <a:p>
            <a:r>
              <a:rPr lang="en-US" sz="2400" b="1" dirty="0">
                <a:latin typeface="Times New Roman" panose="02020603050405020304" pitchFamily="18" charset="0"/>
                <a:cs typeface="Times New Roman" panose="02020603050405020304" pitchFamily="18" charset="0"/>
              </a:rPr>
              <a:t>H1=234%101=32      H2=234%103=28</a:t>
            </a:r>
          </a:p>
        </p:txBody>
      </p:sp>
      <p:graphicFrame>
        <p:nvGraphicFramePr>
          <p:cNvPr id="7" name="Table 6">
            <a:extLst>
              <a:ext uri="{FF2B5EF4-FFF2-40B4-BE49-F238E27FC236}">
                <a16:creationId xmlns:a16="http://schemas.microsoft.com/office/drawing/2014/main" id="{E61D15E5-099D-0409-DDE9-354E1D7EC7FC}"/>
              </a:ext>
            </a:extLst>
          </p:cNvPr>
          <p:cNvGraphicFramePr>
            <a:graphicFrameLocks noGrp="1"/>
          </p:cNvGraphicFramePr>
          <p:nvPr>
            <p:extLst>
              <p:ext uri="{D42A27DB-BD31-4B8C-83A1-F6EECF244321}">
                <p14:modId xmlns:p14="http://schemas.microsoft.com/office/powerpoint/2010/main" val="792056173"/>
              </p:ext>
            </p:extLst>
          </p:nvPr>
        </p:nvGraphicFramePr>
        <p:xfrm>
          <a:off x="523392" y="2818804"/>
          <a:ext cx="10740956" cy="3322320"/>
        </p:xfrm>
        <a:graphic>
          <a:graphicData uri="http://schemas.openxmlformats.org/drawingml/2006/table">
            <a:tbl>
              <a:tblPr/>
              <a:tblGrid>
                <a:gridCol w="1204295">
                  <a:extLst>
                    <a:ext uri="{9D8B030D-6E8A-4147-A177-3AD203B41FA5}">
                      <a16:colId xmlns:a16="http://schemas.microsoft.com/office/drawing/2014/main" val="1542545065"/>
                    </a:ext>
                  </a:extLst>
                </a:gridCol>
                <a:gridCol w="901812">
                  <a:extLst>
                    <a:ext uri="{9D8B030D-6E8A-4147-A177-3AD203B41FA5}">
                      <a16:colId xmlns:a16="http://schemas.microsoft.com/office/drawing/2014/main" val="1126228908"/>
                    </a:ext>
                  </a:extLst>
                </a:gridCol>
                <a:gridCol w="1239992">
                  <a:extLst>
                    <a:ext uri="{9D8B030D-6E8A-4147-A177-3AD203B41FA5}">
                      <a16:colId xmlns:a16="http://schemas.microsoft.com/office/drawing/2014/main" val="3116823461"/>
                    </a:ext>
                  </a:extLst>
                </a:gridCol>
                <a:gridCol w="1508002">
                  <a:extLst>
                    <a:ext uri="{9D8B030D-6E8A-4147-A177-3AD203B41FA5}">
                      <a16:colId xmlns:a16="http://schemas.microsoft.com/office/drawing/2014/main" val="125883293"/>
                    </a:ext>
                  </a:extLst>
                </a:gridCol>
                <a:gridCol w="1468876">
                  <a:extLst>
                    <a:ext uri="{9D8B030D-6E8A-4147-A177-3AD203B41FA5}">
                      <a16:colId xmlns:a16="http://schemas.microsoft.com/office/drawing/2014/main" val="2992957273"/>
                    </a:ext>
                  </a:extLst>
                </a:gridCol>
                <a:gridCol w="2529192">
                  <a:extLst>
                    <a:ext uri="{9D8B030D-6E8A-4147-A177-3AD203B41FA5}">
                      <a16:colId xmlns:a16="http://schemas.microsoft.com/office/drawing/2014/main" val="3342720878"/>
                    </a:ext>
                  </a:extLst>
                </a:gridCol>
                <a:gridCol w="1888787">
                  <a:extLst>
                    <a:ext uri="{9D8B030D-6E8A-4147-A177-3AD203B41FA5}">
                      <a16:colId xmlns:a16="http://schemas.microsoft.com/office/drawing/2014/main" val="3161714349"/>
                    </a:ext>
                  </a:extLst>
                </a:gridCol>
              </a:tblGrid>
              <a:tr h="0">
                <a:tc>
                  <a:txBody>
                    <a:bodyPr/>
                    <a:lstStyle/>
                    <a:p>
                      <a:pPr algn="ctr"/>
                      <a:r>
                        <a:rPr lang="en-US" sz="2200" b="1" dirty="0">
                          <a:solidFill>
                            <a:srgbClr val="1E03BD"/>
                          </a:solidFill>
                        </a:rPr>
                        <a:t>Window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String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Numeric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Hash1</a:t>
                      </a:r>
                    </a:p>
                    <a:p>
                      <a:pPr algn="ctr"/>
                      <a:r>
                        <a:rPr lang="en-US" sz="2200" b="1" dirty="0">
                          <a:solidFill>
                            <a:srgbClr val="1E03BD"/>
                          </a:solidFill>
                        </a:rPr>
                        <a:t> (mod 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Hash2 </a:t>
                      </a:r>
                    </a:p>
                    <a:p>
                      <a:pPr algn="ctr"/>
                      <a:r>
                        <a:rPr lang="en-US" sz="2200" b="1" dirty="0">
                          <a:solidFill>
                            <a:srgbClr val="1E03BD"/>
                          </a:solidFill>
                        </a:rPr>
                        <a:t>(mod 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Hash1==H1 &amp;&amp; Hash2==H2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Decision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2548051"/>
                  </a:ext>
                </a:extLst>
              </a:tr>
              <a:tr h="0">
                <a:tc>
                  <a:txBody>
                    <a:bodyPr/>
                    <a:lstStyle/>
                    <a:p>
                      <a:pPr algn="ctr"/>
                      <a:r>
                        <a:rPr lang="en-US" sz="2200" b="1"/>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ABC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123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22==32 &amp;&amp; 20==28?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No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1729067"/>
                  </a:ext>
                </a:extLst>
              </a:tr>
              <a:tr h="0">
                <a:tc>
                  <a:txBody>
                    <a:bodyPr/>
                    <a:lstStyle/>
                    <a:p>
                      <a:pPr algn="ctr"/>
                      <a:r>
                        <a:rPr lang="en-US" sz="2200" b="1"/>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BCD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234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32==32 &amp;&amp; 28==28?</a:t>
                      </a:r>
                      <a:r>
                        <a:rPr lang="en-US" sz="2200" b="1" baseline="0" dirty="0"/>
                        <a:t> </a:t>
                      </a: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426786"/>
                  </a:ext>
                </a:extLst>
              </a:tr>
              <a:tr h="0">
                <a:tc>
                  <a:txBody>
                    <a:bodyPr/>
                    <a:lstStyle/>
                    <a:p>
                      <a:pPr algn="ctr"/>
                      <a:r>
                        <a:rPr lang="en-US" sz="2200" b="1"/>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CDA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341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38==32 &amp;&amp; 32==28?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No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4350775"/>
                  </a:ext>
                </a:extLst>
              </a:tr>
              <a:tr h="0">
                <a:tc>
                  <a:txBody>
                    <a:bodyPr/>
                    <a:lstStyle/>
                    <a:p>
                      <a:pPr algn="ctr"/>
                      <a:r>
                        <a:rPr lang="en-US" sz="2200" b="1"/>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DAB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412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8==32 &amp;&amp; 0==28?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No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4992645"/>
                  </a:ext>
                </a:extLst>
              </a:tr>
              <a:tr h="0">
                <a:tc>
                  <a:txBody>
                    <a:bodyPr/>
                    <a:lstStyle/>
                    <a:p>
                      <a:pPr algn="ctr"/>
                      <a:r>
                        <a:rPr lang="en-US" sz="2200" b="1"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ABC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123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22==32 &amp;&amp; 20==28?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No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6203003"/>
                  </a:ext>
                </a:extLst>
              </a:tr>
              <a:tr h="0">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893272"/>
                  </a:ext>
                </a:extLst>
              </a:tr>
            </a:tbl>
          </a:graphicData>
        </a:graphic>
      </p:graphicFrame>
    </p:spTree>
    <p:extLst>
      <p:ext uri="{BB962C8B-B14F-4D97-AF65-F5344CB8AC3E}">
        <p14:creationId xmlns:p14="http://schemas.microsoft.com/office/powerpoint/2010/main" val="52738707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571A7-6376-84CF-A6F6-EC1ED4A62EF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C451ABD-E473-16B8-3EE1-16A879B93DCB}"/>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0E3D2192-ADF6-DB60-71CD-7701A7B76B4A}"/>
              </a:ext>
            </a:extLst>
          </p:cNvPr>
          <p:cNvSpPr>
            <a:spLocks noGrp="1"/>
          </p:cNvSpPr>
          <p:nvPr>
            <p:ph type="sldNum" sz="quarter" idx="12"/>
          </p:nvPr>
        </p:nvSpPr>
        <p:spPr/>
        <p:txBody>
          <a:bodyPr/>
          <a:lstStyle/>
          <a:p>
            <a:fld id="{68187FF5-4BF9-4B21-B0D2-9B7FF2B27D7F}" type="slidenum">
              <a:rPr lang="en-AU" smtClean="0"/>
              <a:pPr/>
              <a:t>91</a:t>
            </a:fld>
            <a:endParaRPr lang="en-AU"/>
          </a:p>
        </p:txBody>
      </p:sp>
      <p:sp>
        <p:nvSpPr>
          <p:cNvPr id="6" name="Rectangle 5">
            <a:extLst>
              <a:ext uri="{FF2B5EF4-FFF2-40B4-BE49-F238E27FC236}">
                <a16:creationId xmlns:a16="http://schemas.microsoft.com/office/drawing/2014/main" id="{C1F7A07A-2203-B98A-CBA4-B54CB7EEF4A3}"/>
              </a:ext>
            </a:extLst>
          </p:cNvPr>
          <p:cNvSpPr/>
          <p:nvPr/>
        </p:nvSpPr>
        <p:spPr>
          <a:xfrm>
            <a:off x="1767075" y="411420"/>
            <a:ext cx="9586725" cy="2308324"/>
          </a:xfrm>
          <a:prstGeom prst="rect">
            <a:avLst/>
          </a:prstGeom>
        </p:spPr>
        <p:txBody>
          <a:bodyPr wrap="square">
            <a:spAutoFit/>
          </a:bodyPr>
          <a:lstStyle/>
          <a:p>
            <a:r>
              <a:rPr lang="en-US" sz="2400" b="1" dirty="0">
                <a:solidFill>
                  <a:srgbClr val="C00000"/>
                </a:solidFill>
                <a:latin typeface="Times New Roman" panose="02020603050405020304" pitchFamily="18" charset="0"/>
                <a:cs typeface="Times New Roman" panose="02020603050405020304" pitchFamily="18" charset="0"/>
              </a:rPr>
              <a:t>Text: </a:t>
            </a:r>
            <a:r>
              <a:rPr lang="en-US" sz="2400" b="1" dirty="0">
                <a:latin typeface="Times New Roman" panose="02020603050405020304" pitchFamily="18" charset="0"/>
                <a:cs typeface="Times New Roman" panose="02020603050405020304" pitchFamily="18" charset="0"/>
              </a:rPr>
              <a:t>ABCDABCD  </a:t>
            </a:r>
            <a:r>
              <a:rPr lang="en-US" sz="2400" b="1" dirty="0">
                <a:solidFill>
                  <a:srgbClr val="C00000"/>
                </a:solidFill>
                <a:latin typeface="Times New Roman" panose="02020603050405020304" pitchFamily="18" charset="0"/>
                <a:cs typeface="Times New Roman" panose="02020603050405020304" pitchFamily="18" charset="0"/>
              </a:rPr>
              <a:t>Pattern: </a:t>
            </a:r>
            <a:r>
              <a:rPr lang="en-US" sz="2400" b="1" dirty="0">
                <a:latin typeface="Times New Roman" panose="02020603050405020304" pitchFamily="18" charset="0"/>
                <a:cs typeface="Times New Roman" panose="02020603050405020304" pitchFamily="18" charset="0"/>
              </a:rPr>
              <a:t>BCD </a:t>
            </a:r>
          </a:p>
          <a:p>
            <a:r>
              <a:rPr lang="en-US" sz="2400" b="1" dirty="0">
                <a:latin typeface="Times New Roman" panose="02020603050405020304" pitchFamily="18" charset="0"/>
                <a:cs typeface="Times New Roman" panose="02020603050405020304" pitchFamily="18" charset="0"/>
              </a:rPr>
              <a:t>Consider, base  </a:t>
            </a:r>
            <a:r>
              <a:rPr lang="en-US" sz="2400" b="1" dirty="0">
                <a:solidFill>
                  <a:srgbClr val="C00000"/>
                </a:solidFill>
                <a:latin typeface="Times New Roman" panose="02020603050405020304" pitchFamily="18" charset="0"/>
                <a:cs typeface="Times New Roman" panose="02020603050405020304" pitchFamily="18" charset="0"/>
              </a:rPr>
              <a:t>d = 10 </a:t>
            </a:r>
            <a:r>
              <a:rPr lang="en-US" sz="2400" b="1" dirty="0">
                <a:latin typeface="Times New Roman" panose="02020603050405020304" pitchFamily="18" charset="0"/>
                <a:cs typeface="Times New Roman" panose="02020603050405020304" pitchFamily="18" charset="0"/>
              </a:rPr>
              <a:t>, Use two different prime numbers 101 and 103</a:t>
            </a:r>
          </a:p>
          <a:p>
            <a:r>
              <a:rPr lang="en-US" sz="2400" b="1" dirty="0">
                <a:latin typeface="Times New Roman" panose="02020603050405020304" pitchFamily="18" charset="0"/>
                <a:cs typeface="Times New Roman" panose="02020603050405020304" pitchFamily="18" charset="0"/>
              </a:rPr>
              <a:t>To calculate First hash,  </a:t>
            </a:r>
            <a:r>
              <a:rPr lang="en-US" sz="2400" b="1" dirty="0">
                <a:solidFill>
                  <a:srgbClr val="C00000"/>
                </a:solidFill>
                <a:latin typeface="Times New Roman" panose="02020603050405020304" pitchFamily="18" charset="0"/>
                <a:cs typeface="Times New Roman" panose="02020603050405020304" pitchFamily="18" charset="0"/>
              </a:rPr>
              <a:t>H1(S)=S mod 101</a:t>
            </a:r>
          </a:p>
          <a:p>
            <a:r>
              <a:rPr lang="en-US" sz="2400" b="1" dirty="0">
                <a:latin typeface="Times New Roman" panose="02020603050405020304" pitchFamily="18" charset="0"/>
                <a:cs typeface="Times New Roman" panose="02020603050405020304" pitchFamily="18" charset="0"/>
              </a:rPr>
              <a:t>To calculate Second hash, </a:t>
            </a:r>
            <a:r>
              <a:rPr lang="en-US" sz="2400" b="1" dirty="0">
                <a:solidFill>
                  <a:srgbClr val="C00000"/>
                </a:solidFill>
                <a:latin typeface="Times New Roman" panose="02020603050405020304" pitchFamily="18" charset="0"/>
                <a:cs typeface="Times New Roman" panose="02020603050405020304" pitchFamily="18" charset="0"/>
              </a:rPr>
              <a:t>H2(S)=S mod 103</a:t>
            </a:r>
          </a:p>
          <a:p>
            <a:r>
              <a:rPr lang="en-US" sz="2400" b="1" dirty="0">
                <a:latin typeface="Times New Roman" panose="02020603050405020304" pitchFamily="18" charset="0"/>
                <a:cs typeface="Times New Roman" panose="02020603050405020304" pitchFamily="18" charset="0"/>
              </a:rPr>
              <a:t>Pattern Hash BCD = 2×100+3×10+4 =234</a:t>
            </a:r>
          </a:p>
          <a:p>
            <a:r>
              <a:rPr lang="en-US" sz="2400" b="1" dirty="0">
                <a:latin typeface="Times New Roman" panose="02020603050405020304" pitchFamily="18" charset="0"/>
                <a:cs typeface="Times New Roman" panose="02020603050405020304" pitchFamily="18" charset="0"/>
              </a:rPr>
              <a:t>H1=234%101=32      H2=234%103=28</a:t>
            </a:r>
          </a:p>
        </p:txBody>
      </p:sp>
      <p:graphicFrame>
        <p:nvGraphicFramePr>
          <p:cNvPr id="7" name="Table 6">
            <a:extLst>
              <a:ext uri="{FF2B5EF4-FFF2-40B4-BE49-F238E27FC236}">
                <a16:creationId xmlns:a16="http://schemas.microsoft.com/office/drawing/2014/main" id="{852FA5E7-E536-5F99-482E-01124FD56572}"/>
              </a:ext>
            </a:extLst>
          </p:cNvPr>
          <p:cNvGraphicFramePr>
            <a:graphicFrameLocks noGrp="1"/>
          </p:cNvGraphicFramePr>
          <p:nvPr/>
        </p:nvGraphicFramePr>
        <p:xfrm>
          <a:off x="523392" y="2818804"/>
          <a:ext cx="10740956" cy="3322320"/>
        </p:xfrm>
        <a:graphic>
          <a:graphicData uri="http://schemas.openxmlformats.org/drawingml/2006/table">
            <a:tbl>
              <a:tblPr/>
              <a:tblGrid>
                <a:gridCol w="1204295">
                  <a:extLst>
                    <a:ext uri="{9D8B030D-6E8A-4147-A177-3AD203B41FA5}">
                      <a16:colId xmlns:a16="http://schemas.microsoft.com/office/drawing/2014/main" val="1542545065"/>
                    </a:ext>
                  </a:extLst>
                </a:gridCol>
                <a:gridCol w="901812">
                  <a:extLst>
                    <a:ext uri="{9D8B030D-6E8A-4147-A177-3AD203B41FA5}">
                      <a16:colId xmlns:a16="http://schemas.microsoft.com/office/drawing/2014/main" val="1126228908"/>
                    </a:ext>
                  </a:extLst>
                </a:gridCol>
                <a:gridCol w="1239992">
                  <a:extLst>
                    <a:ext uri="{9D8B030D-6E8A-4147-A177-3AD203B41FA5}">
                      <a16:colId xmlns:a16="http://schemas.microsoft.com/office/drawing/2014/main" val="3116823461"/>
                    </a:ext>
                  </a:extLst>
                </a:gridCol>
                <a:gridCol w="1508002">
                  <a:extLst>
                    <a:ext uri="{9D8B030D-6E8A-4147-A177-3AD203B41FA5}">
                      <a16:colId xmlns:a16="http://schemas.microsoft.com/office/drawing/2014/main" val="125883293"/>
                    </a:ext>
                  </a:extLst>
                </a:gridCol>
                <a:gridCol w="1468876">
                  <a:extLst>
                    <a:ext uri="{9D8B030D-6E8A-4147-A177-3AD203B41FA5}">
                      <a16:colId xmlns:a16="http://schemas.microsoft.com/office/drawing/2014/main" val="2992957273"/>
                    </a:ext>
                  </a:extLst>
                </a:gridCol>
                <a:gridCol w="2529192">
                  <a:extLst>
                    <a:ext uri="{9D8B030D-6E8A-4147-A177-3AD203B41FA5}">
                      <a16:colId xmlns:a16="http://schemas.microsoft.com/office/drawing/2014/main" val="3342720878"/>
                    </a:ext>
                  </a:extLst>
                </a:gridCol>
                <a:gridCol w="1888787">
                  <a:extLst>
                    <a:ext uri="{9D8B030D-6E8A-4147-A177-3AD203B41FA5}">
                      <a16:colId xmlns:a16="http://schemas.microsoft.com/office/drawing/2014/main" val="3161714349"/>
                    </a:ext>
                  </a:extLst>
                </a:gridCol>
              </a:tblGrid>
              <a:tr h="0">
                <a:tc>
                  <a:txBody>
                    <a:bodyPr/>
                    <a:lstStyle/>
                    <a:p>
                      <a:pPr algn="ctr"/>
                      <a:r>
                        <a:rPr lang="en-US" sz="2200" b="1" dirty="0">
                          <a:solidFill>
                            <a:srgbClr val="1E03BD"/>
                          </a:solidFill>
                        </a:rPr>
                        <a:t>Window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String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Numeric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Hash1</a:t>
                      </a:r>
                    </a:p>
                    <a:p>
                      <a:pPr algn="ctr"/>
                      <a:r>
                        <a:rPr lang="en-US" sz="2200" b="1" dirty="0">
                          <a:solidFill>
                            <a:srgbClr val="1E03BD"/>
                          </a:solidFill>
                        </a:rPr>
                        <a:t> (mod 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Hash2 </a:t>
                      </a:r>
                    </a:p>
                    <a:p>
                      <a:pPr algn="ctr"/>
                      <a:r>
                        <a:rPr lang="en-US" sz="2200" b="1" dirty="0">
                          <a:solidFill>
                            <a:srgbClr val="1E03BD"/>
                          </a:solidFill>
                        </a:rPr>
                        <a:t>(mod 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Hash1==H1 &amp;&amp; Hash2==H2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solidFill>
                            <a:srgbClr val="1E03BD"/>
                          </a:solidFill>
                        </a:rPr>
                        <a:t>Decision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2548051"/>
                  </a:ext>
                </a:extLst>
              </a:tr>
              <a:tr h="0">
                <a:tc>
                  <a:txBody>
                    <a:bodyPr/>
                    <a:lstStyle/>
                    <a:p>
                      <a:pPr algn="ctr"/>
                      <a:r>
                        <a:rPr lang="en-US" sz="2200" b="1"/>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ABC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123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22==32 &amp;&amp; 20==28?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No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1729067"/>
                  </a:ext>
                </a:extLst>
              </a:tr>
              <a:tr h="0">
                <a:tc>
                  <a:txBody>
                    <a:bodyPr/>
                    <a:lstStyle/>
                    <a:p>
                      <a:pPr algn="ctr"/>
                      <a:r>
                        <a:rPr lang="en-US" sz="2200" b="1"/>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BCD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234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32==32 &amp;&amp; 28==28?</a:t>
                      </a:r>
                      <a:r>
                        <a:rPr lang="en-US" sz="2200" b="1" baseline="0" dirty="0"/>
                        <a:t> </a:t>
                      </a:r>
                      <a:endParaRPr lang="en-US" sz="2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426786"/>
                  </a:ext>
                </a:extLst>
              </a:tr>
              <a:tr h="0">
                <a:tc>
                  <a:txBody>
                    <a:bodyPr/>
                    <a:lstStyle/>
                    <a:p>
                      <a:pPr algn="ctr"/>
                      <a:r>
                        <a:rPr lang="en-US" sz="2200" b="1"/>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CDA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341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38==32 &amp;&amp; 32==28?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No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4350775"/>
                  </a:ext>
                </a:extLst>
              </a:tr>
              <a:tr h="0">
                <a:tc>
                  <a:txBody>
                    <a:bodyPr/>
                    <a:lstStyle/>
                    <a:p>
                      <a:pPr algn="ctr"/>
                      <a:r>
                        <a:rPr lang="en-US" sz="2200" b="1"/>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DAB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412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8==32 &amp;&amp; 0==28?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No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4992645"/>
                  </a:ext>
                </a:extLst>
              </a:tr>
              <a:tr h="0">
                <a:tc>
                  <a:txBody>
                    <a:bodyPr/>
                    <a:lstStyle/>
                    <a:p>
                      <a:pPr algn="ctr"/>
                      <a:r>
                        <a:rPr lang="en-US" sz="2200" b="1"/>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ABC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123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22==32 &amp;&amp; 20==28?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No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6203003"/>
                  </a:ext>
                </a:extLst>
              </a:tr>
              <a:tr h="0">
                <a:tc>
                  <a:txBody>
                    <a:bodyPr/>
                    <a:lstStyle/>
                    <a:p>
                      <a:pPr algn="ctr"/>
                      <a:r>
                        <a:rPr lang="en-US" sz="2200" b="1"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BCD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234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32==32 &amp;&amp; 28==28?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dirty="0"/>
                        <a:t>✓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893272"/>
                  </a:ext>
                </a:extLst>
              </a:tr>
            </a:tbl>
          </a:graphicData>
        </a:graphic>
      </p:graphicFrame>
    </p:spTree>
    <p:extLst>
      <p:ext uri="{BB962C8B-B14F-4D97-AF65-F5344CB8AC3E}">
        <p14:creationId xmlns:p14="http://schemas.microsoft.com/office/powerpoint/2010/main" val="40549441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92</a:t>
            </a:fld>
            <a:endParaRPr lang="en-AU"/>
          </a:p>
        </p:txBody>
      </p:sp>
      <p:sp>
        <p:nvSpPr>
          <p:cNvPr id="5" name="Rectangle 1"/>
          <p:cNvSpPr>
            <a:spLocks noChangeArrowheads="1"/>
          </p:cNvSpPr>
          <p:nvPr/>
        </p:nvSpPr>
        <p:spPr bwMode="auto">
          <a:xfrm>
            <a:off x="1198665" y="871523"/>
            <a:ext cx="7294427" cy="4866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marL="285750" indent="-2857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200000"/>
              </a:lnSpc>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Searching for substrings in large texts.</a:t>
            </a:r>
          </a:p>
          <a:p>
            <a:pPr>
              <a:lnSpc>
                <a:spcPct val="200000"/>
              </a:lnSpc>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Plagiarism detection.</a:t>
            </a:r>
          </a:p>
          <a:p>
            <a:pPr>
              <a:lnSpc>
                <a:spcPct val="200000"/>
              </a:lnSpc>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Bioinformatics (e.g., searching DNA sequences).</a:t>
            </a:r>
          </a:p>
          <a:p>
            <a:pPr>
              <a:lnSpc>
                <a:spcPct val="200000"/>
              </a:lnSpc>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Database querying for strings. </a:t>
            </a:r>
          </a:p>
        </p:txBody>
      </p:sp>
      <p:sp>
        <p:nvSpPr>
          <p:cNvPr id="6" name="Rectangle 5"/>
          <p:cNvSpPr/>
          <p:nvPr/>
        </p:nvSpPr>
        <p:spPr>
          <a:xfrm>
            <a:off x="4684316" y="132090"/>
            <a:ext cx="2395207" cy="584775"/>
          </a:xfrm>
          <a:prstGeom prst="rect">
            <a:avLst/>
          </a:prstGeom>
        </p:spPr>
        <p:txBody>
          <a:bodyPr wrap="none">
            <a:spAutoFit/>
          </a:bodyPr>
          <a:lstStyle/>
          <a:p>
            <a:r>
              <a:rPr lang="en-US" sz="3200" b="1" dirty="0">
                <a:solidFill>
                  <a:srgbClr val="1E03BD"/>
                </a:solidFill>
                <a:latin typeface="Times New Roman" panose="02020603050405020304" pitchFamily="18" charset="0"/>
                <a:cs typeface="Times New Roman" panose="02020603050405020304" pitchFamily="18" charset="0"/>
              </a:rPr>
              <a:t>Applications</a:t>
            </a:r>
            <a:endParaRPr lang="en-US" sz="3200" dirty="0">
              <a:solidFill>
                <a:srgbClr val="1E03BD"/>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968915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C87DFB1-D75D-C5BE-AD9F-4D54BE47F97E}"/>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56BEC99E-A459-FEF4-A83A-C02A8B40895E}"/>
              </a:ext>
            </a:extLst>
          </p:cNvPr>
          <p:cNvSpPr>
            <a:spLocks noGrp="1"/>
          </p:cNvSpPr>
          <p:nvPr>
            <p:ph type="sldNum" sz="quarter" idx="12"/>
          </p:nvPr>
        </p:nvSpPr>
        <p:spPr/>
        <p:txBody>
          <a:bodyPr/>
          <a:lstStyle/>
          <a:p>
            <a:fld id="{68187FF5-4BF9-4B21-B0D2-9B7FF2B27D7F}" type="slidenum">
              <a:rPr lang="en-AU" smtClean="0"/>
              <a:pPr/>
              <a:t>93</a:t>
            </a:fld>
            <a:endParaRPr lang="en-AU"/>
          </a:p>
        </p:txBody>
      </p:sp>
      <p:sp>
        <p:nvSpPr>
          <p:cNvPr id="5" name="TextBox 4">
            <a:extLst>
              <a:ext uri="{FF2B5EF4-FFF2-40B4-BE49-F238E27FC236}">
                <a16:creationId xmlns:a16="http://schemas.microsoft.com/office/drawing/2014/main" id="{AF16956A-CA11-BBEE-BDA2-92F1CB6B1B47}"/>
              </a:ext>
            </a:extLst>
          </p:cNvPr>
          <p:cNvSpPr txBox="1"/>
          <p:nvPr/>
        </p:nvSpPr>
        <p:spPr>
          <a:xfrm>
            <a:off x="1017270" y="1099111"/>
            <a:ext cx="10458450" cy="4365298"/>
          </a:xfrm>
          <a:prstGeom prst="rect">
            <a:avLst/>
          </a:prstGeom>
          <a:noFill/>
        </p:spPr>
        <p:txBody>
          <a:bodyPr wrap="square">
            <a:spAutoFit/>
          </a:bodyPr>
          <a:lstStyle/>
          <a:p>
            <a:pPr marL="0" marR="0" indent="0" algn="just" rtl="0" fontAlgn="base">
              <a:spcAft>
                <a:spcPts val="750"/>
              </a:spcAft>
              <a:buNone/>
            </a:pPr>
            <a:r>
              <a:rPr lang="en-IN" sz="3200" b="1" i="0" spc="10" dirty="0">
                <a:solidFill>
                  <a:srgbClr val="273239"/>
                </a:solidFill>
                <a:effectLst/>
                <a:latin typeface="Times New Roman" panose="02020603050405020304" pitchFamily="18" charset="0"/>
                <a:cs typeface="Times New Roman" panose="02020603050405020304" pitchFamily="18" charset="0"/>
              </a:rPr>
              <a:t>Time Complexity:</a:t>
            </a:r>
            <a:endParaRPr lang="en-IN" sz="3200" b="0" i="0" spc="10" dirty="0">
              <a:solidFill>
                <a:srgbClr val="273239"/>
              </a:solidFill>
              <a:effectLst/>
              <a:latin typeface="Times New Roman" panose="02020603050405020304" pitchFamily="18" charset="0"/>
              <a:cs typeface="Times New Roman" panose="02020603050405020304" pitchFamily="18" charset="0"/>
            </a:endParaRPr>
          </a:p>
          <a:p>
            <a:pPr marL="342900" marR="0" lvl="0" indent="-342900" algn="just" fontAlgn="base">
              <a:spcAft>
                <a:spcPts val="1800"/>
              </a:spcAft>
              <a:buFont typeface="Arial" panose="020B0604020202020204" pitchFamily="34" charset="0"/>
              <a:buChar char="•"/>
            </a:pPr>
            <a:r>
              <a:rPr lang="en-IN" sz="3200" b="0" i="0" spc="12" dirty="0">
                <a:solidFill>
                  <a:srgbClr val="273239"/>
                </a:solidFill>
                <a:effectLst/>
                <a:latin typeface="Times New Roman" panose="02020603050405020304" pitchFamily="18" charset="0"/>
                <a:cs typeface="Times New Roman" panose="02020603050405020304" pitchFamily="18" charset="0"/>
              </a:rPr>
              <a:t>Average case: O(n + m) - Computing the hash of the pattern and the first substring of text takes O(m), and sliding the window over the text with hash comparisons takes O(n) on average. Character-by-character verification is rarely needed.</a:t>
            </a:r>
            <a:endParaRPr lang="en-IN" sz="3200" b="0" i="0" spc="10" dirty="0">
              <a:solidFill>
                <a:srgbClr val="273239"/>
              </a:solidFill>
              <a:effectLst/>
              <a:latin typeface="Times New Roman" panose="02020603050405020304" pitchFamily="18" charset="0"/>
              <a:cs typeface="Times New Roman" panose="02020603050405020304" pitchFamily="18" charset="0"/>
            </a:endParaRPr>
          </a:p>
          <a:p>
            <a:pPr marL="342900" marR="0" lvl="0" indent="-342900" algn="just" fontAlgn="base">
              <a:spcAft>
                <a:spcPts val="1800"/>
              </a:spcAft>
              <a:buFont typeface="Arial" panose="020B0604020202020204" pitchFamily="34" charset="0"/>
              <a:buChar char="•"/>
            </a:pPr>
            <a:r>
              <a:rPr lang="en-IN" sz="3200" b="0" i="0" spc="12" dirty="0">
                <a:solidFill>
                  <a:srgbClr val="273239"/>
                </a:solidFill>
                <a:effectLst/>
                <a:latin typeface="Times New Roman" panose="02020603050405020304" pitchFamily="18" charset="0"/>
                <a:cs typeface="Times New Roman" panose="02020603050405020304" pitchFamily="18" charset="0"/>
              </a:rPr>
              <a:t>Worst case: O(n × m) - If many hash collisions occur, each substring may require a full character comparison.</a:t>
            </a:r>
            <a:endParaRPr lang="en-IN" sz="3200" b="0" i="0" spc="10" dirty="0">
              <a:solidFill>
                <a:srgbClr val="27323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27612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61AC6DB-A38E-0C6C-A306-D1079F2536EA}"/>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1C3D5396-E319-E7CA-BA8E-1B2BC80BEE9D}"/>
              </a:ext>
            </a:extLst>
          </p:cNvPr>
          <p:cNvSpPr>
            <a:spLocks noGrp="1"/>
          </p:cNvSpPr>
          <p:nvPr>
            <p:ph type="sldNum" sz="quarter" idx="12"/>
          </p:nvPr>
        </p:nvSpPr>
        <p:spPr/>
        <p:txBody>
          <a:bodyPr/>
          <a:lstStyle/>
          <a:p>
            <a:fld id="{68187FF5-4BF9-4B21-B0D2-9B7FF2B27D7F}" type="slidenum">
              <a:rPr lang="en-AU" smtClean="0"/>
              <a:pPr/>
              <a:t>94</a:t>
            </a:fld>
            <a:endParaRPr lang="en-AU"/>
          </a:p>
        </p:txBody>
      </p:sp>
      <p:sp>
        <p:nvSpPr>
          <p:cNvPr id="5" name="TextBox 4">
            <a:extLst>
              <a:ext uri="{FF2B5EF4-FFF2-40B4-BE49-F238E27FC236}">
                <a16:creationId xmlns:a16="http://schemas.microsoft.com/office/drawing/2014/main" id="{E2103E24-EDBA-E91B-EF0A-33E1893B5BDC}"/>
              </a:ext>
            </a:extLst>
          </p:cNvPr>
          <p:cNvSpPr txBox="1"/>
          <p:nvPr/>
        </p:nvSpPr>
        <p:spPr>
          <a:xfrm>
            <a:off x="3147822" y="400063"/>
            <a:ext cx="7020306" cy="414537"/>
          </a:xfrm>
          <a:prstGeom prst="rect">
            <a:avLst/>
          </a:prstGeom>
          <a:noFill/>
        </p:spPr>
        <p:txBody>
          <a:bodyPr wrap="square">
            <a:spAutoFit/>
          </a:bodyPr>
          <a:lstStyle/>
          <a:p>
            <a:pPr marL="0" marR="0" indent="0" algn="l" fontAlgn="base">
              <a:lnSpc>
                <a:spcPts val="2100"/>
              </a:lnSpc>
              <a:spcBef>
                <a:spcPts val="1800"/>
              </a:spcBef>
              <a:spcAft>
                <a:spcPts val="1800"/>
              </a:spcAft>
              <a:buNone/>
            </a:pPr>
            <a:r>
              <a:rPr lang="en-IN" sz="4000" b="1" i="0" spc="12" dirty="0">
                <a:solidFill>
                  <a:srgbClr val="1E03BD"/>
                </a:solidFill>
                <a:effectLst/>
                <a:latin typeface="Times New Roman" panose="02020603050405020304" pitchFamily="18" charset="0"/>
                <a:cs typeface="Times New Roman" panose="02020603050405020304" pitchFamily="18" charset="0"/>
              </a:rPr>
              <a:t>Limitations of Rabin-Karp</a:t>
            </a:r>
            <a:endParaRPr lang="en-IN" sz="4000" b="1" i="0" spc="0" dirty="0">
              <a:solidFill>
                <a:srgbClr val="1E03BD"/>
              </a:solidFill>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4ABE591-A276-B15C-909E-C0AC9BB8BC46}"/>
              </a:ext>
            </a:extLst>
          </p:cNvPr>
          <p:cNvSpPr txBox="1"/>
          <p:nvPr/>
        </p:nvSpPr>
        <p:spPr>
          <a:xfrm>
            <a:off x="928532" y="951398"/>
            <a:ext cx="10425268" cy="4955203"/>
          </a:xfrm>
          <a:prstGeom prst="rect">
            <a:avLst/>
          </a:prstGeom>
          <a:noFill/>
        </p:spPr>
        <p:txBody>
          <a:bodyPr wrap="square">
            <a:spAutoFit/>
          </a:bodyPr>
          <a:lstStyle/>
          <a:p>
            <a:pPr marL="342900" marR="0" lvl="0" indent="-342900" algn="l" fontAlgn="base">
              <a:spcAft>
                <a:spcPts val="1800"/>
              </a:spcAft>
              <a:buFont typeface="Arial" panose="020B0604020202020204" pitchFamily="34" charset="0"/>
              <a:buChar char="•"/>
            </a:pPr>
            <a:r>
              <a:rPr lang="en-IN" sz="3200" b="0" i="0" spc="12" dirty="0">
                <a:solidFill>
                  <a:srgbClr val="273239"/>
                </a:solidFill>
                <a:effectLst/>
                <a:latin typeface="Times New Roman" panose="02020603050405020304" pitchFamily="18" charset="0"/>
                <a:cs typeface="Times New Roman" panose="02020603050405020304" pitchFamily="18" charset="0"/>
              </a:rPr>
              <a:t>Hash collisions may occur - different substrings can have the same hash.</a:t>
            </a:r>
            <a:endParaRPr lang="en-IN" sz="3200" b="0" i="0" spc="10" dirty="0">
              <a:solidFill>
                <a:srgbClr val="273239"/>
              </a:solidFill>
              <a:effectLst/>
              <a:latin typeface="Times New Roman" panose="02020603050405020304" pitchFamily="18" charset="0"/>
              <a:cs typeface="Times New Roman" panose="02020603050405020304" pitchFamily="18" charset="0"/>
            </a:endParaRPr>
          </a:p>
          <a:p>
            <a:pPr marL="342900" marR="0" lvl="0" indent="-342900" algn="l" fontAlgn="base">
              <a:spcAft>
                <a:spcPts val="1800"/>
              </a:spcAft>
              <a:buFont typeface="Arial" panose="020B0604020202020204" pitchFamily="34" charset="0"/>
              <a:buChar char="•"/>
            </a:pPr>
            <a:r>
              <a:rPr lang="en-IN" sz="3200" b="0" i="0" spc="12" dirty="0">
                <a:solidFill>
                  <a:srgbClr val="273239"/>
                </a:solidFill>
                <a:effectLst/>
                <a:latin typeface="Times New Roman" panose="02020603050405020304" pitchFamily="18" charset="0"/>
                <a:cs typeface="Times New Roman" panose="02020603050405020304" pitchFamily="18" charset="0"/>
              </a:rPr>
              <a:t>Requires character-by-character check to confirm matches.</a:t>
            </a:r>
            <a:endParaRPr lang="en-IN" sz="3200" b="0" i="0" spc="10" dirty="0">
              <a:solidFill>
                <a:srgbClr val="273239"/>
              </a:solidFill>
              <a:effectLst/>
              <a:latin typeface="Times New Roman" panose="02020603050405020304" pitchFamily="18" charset="0"/>
              <a:cs typeface="Times New Roman" panose="02020603050405020304" pitchFamily="18" charset="0"/>
            </a:endParaRPr>
          </a:p>
          <a:p>
            <a:pPr marL="342900" marR="0" lvl="0" indent="-342900" algn="l" fontAlgn="base">
              <a:spcAft>
                <a:spcPts val="1800"/>
              </a:spcAft>
              <a:buFont typeface="Arial" panose="020B0604020202020204" pitchFamily="34" charset="0"/>
              <a:buChar char="•"/>
            </a:pPr>
            <a:r>
              <a:rPr lang="en-IN" sz="3200" b="0" i="0" spc="12" dirty="0">
                <a:solidFill>
                  <a:srgbClr val="273239"/>
                </a:solidFill>
                <a:effectLst/>
                <a:latin typeface="Times New Roman" panose="02020603050405020304" pitchFamily="18" charset="0"/>
                <a:cs typeface="Times New Roman" panose="02020603050405020304" pitchFamily="18" charset="0"/>
              </a:rPr>
              <a:t>Risk of modulo overflow if not handled with care.</a:t>
            </a:r>
            <a:endParaRPr lang="en-IN" sz="3200" b="0" i="0" spc="10" dirty="0">
              <a:solidFill>
                <a:srgbClr val="273239"/>
              </a:solidFill>
              <a:effectLst/>
              <a:latin typeface="Times New Roman" panose="02020603050405020304" pitchFamily="18" charset="0"/>
              <a:cs typeface="Times New Roman" panose="02020603050405020304" pitchFamily="18" charset="0"/>
            </a:endParaRPr>
          </a:p>
          <a:p>
            <a:pPr marL="342900" marR="0" lvl="0" indent="-342900" algn="l" fontAlgn="base">
              <a:spcAft>
                <a:spcPts val="1800"/>
              </a:spcAft>
              <a:buFont typeface="Arial" panose="020B0604020202020204" pitchFamily="34" charset="0"/>
              <a:buChar char="•"/>
            </a:pPr>
            <a:r>
              <a:rPr lang="en-IN" sz="3200" b="0" i="0" spc="12" dirty="0">
                <a:solidFill>
                  <a:srgbClr val="273239"/>
                </a:solidFill>
                <a:effectLst/>
                <a:latin typeface="Times New Roman" panose="02020603050405020304" pitchFamily="18" charset="0"/>
                <a:cs typeface="Times New Roman" panose="02020603050405020304" pitchFamily="18" charset="0"/>
              </a:rPr>
              <a:t>Performance depends on good hash function and prime modulus.</a:t>
            </a:r>
            <a:endParaRPr lang="en-IN" sz="3200" b="0" i="0" spc="10" dirty="0">
              <a:solidFill>
                <a:srgbClr val="273239"/>
              </a:solidFill>
              <a:effectLst/>
              <a:latin typeface="Times New Roman" panose="02020603050405020304" pitchFamily="18" charset="0"/>
              <a:cs typeface="Times New Roman" panose="02020603050405020304" pitchFamily="18" charset="0"/>
            </a:endParaRPr>
          </a:p>
          <a:p>
            <a:pPr marL="342900" marR="0" lvl="0" indent="-342900" algn="l" fontAlgn="base">
              <a:spcAft>
                <a:spcPts val="1800"/>
              </a:spcAft>
              <a:buFont typeface="Arial" panose="020B0604020202020204" pitchFamily="34" charset="0"/>
              <a:buChar char="•"/>
            </a:pPr>
            <a:r>
              <a:rPr lang="en-IN" sz="3200" b="0" i="0" spc="12" dirty="0">
                <a:solidFill>
                  <a:srgbClr val="273239"/>
                </a:solidFill>
                <a:effectLst/>
                <a:latin typeface="Times New Roman" panose="02020603050405020304" pitchFamily="18" charset="0"/>
                <a:cs typeface="Times New Roman" panose="02020603050405020304" pitchFamily="18" charset="0"/>
              </a:rPr>
              <a:t>Slightly higher constant factors compared to simpler algorithms like KMP.</a:t>
            </a:r>
            <a:endParaRPr lang="en-IN" sz="3200" b="0" i="0" spc="10" dirty="0">
              <a:solidFill>
                <a:srgbClr val="27323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273208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F655C6B-DC7A-B222-3273-A7EB4521B5C6}"/>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E8C58F02-17E8-72FB-B0D0-B6C675A04316}"/>
              </a:ext>
            </a:extLst>
          </p:cNvPr>
          <p:cNvSpPr>
            <a:spLocks noGrp="1"/>
          </p:cNvSpPr>
          <p:nvPr>
            <p:ph type="sldNum" sz="quarter" idx="12"/>
          </p:nvPr>
        </p:nvSpPr>
        <p:spPr/>
        <p:txBody>
          <a:bodyPr/>
          <a:lstStyle/>
          <a:p>
            <a:fld id="{68187FF5-4BF9-4B21-B0D2-9B7FF2B27D7F}" type="slidenum">
              <a:rPr lang="en-AU" smtClean="0"/>
              <a:pPr/>
              <a:t>95</a:t>
            </a:fld>
            <a:endParaRPr lang="en-AU"/>
          </a:p>
        </p:txBody>
      </p:sp>
      <p:sp>
        <p:nvSpPr>
          <p:cNvPr id="5" name="TextBox 4">
            <a:extLst>
              <a:ext uri="{FF2B5EF4-FFF2-40B4-BE49-F238E27FC236}">
                <a16:creationId xmlns:a16="http://schemas.microsoft.com/office/drawing/2014/main" id="{A95F05C9-7AA0-1CD2-DCEE-B6FA3928F0DB}"/>
              </a:ext>
            </a:extLst>
          </p:cNvPr>
          <p:cNvSpPr txBox="1"/>
          <p:nvPr/>
        </p:nvSpPr>
        <p:spPr>
          <a:xfrm>
            <a:off x="1798320" y="428644"/>
            <a:ext cx="9555480" cy="414537"/>
          </a:xfrm>
          <a:prstGeom prst="rect">
            <a:avLst/>
          </a:prstGeom>
          <a:noFill/>
        </p:spPr>
        <p:txBody>
          <a:bodyPr wrap="square">
            <a:spAutoFit/>
          </a:bodyPr>
          <a:lstStyle/>
          <a:p>
            <a:pPr marL="0" marR="0" indent="0" algn="l" fontAlgn="base">
              <a:lnSpc>
                <a:spcPts val="2100"/>
              </a:lnSpc>
              <a:spcBef>
                <a:spcPts val="1800"/>
              </a:spcBef>
              <a:spcAft>
                <a:spcPts val="1800"/>
              </a:spcAft>
              <a:buNone/>
            </a:pPr>
            <a:r>
              <a:rPr lang="en-IN" sz="4000" b="1" i="0" spc="12" dirty="0">
                <a:solidFill>
                  <a:srgbClr val="1E03BD"/>
                </a:solidFill>
                <a:effectLst/>
                <a:latin typeface="Times New Roman" panose="02020603050405020304" pitchFamily="18" charset="0"/>
                <a:cs typeface="Times New Roman" panose="02020603050405020304" pitchFamily="18" charset="0"/>
              </a:rPr>
              <a:t>Types of Problems Rabin-Karp Can Solve</a:t>
            </a:r>
            <a:endParaRPr lang="en-IN" sz="4000" b="1" i="0" spc="0" dirty="0">
              <a:solidFill>
                <a:srgbClr val="1E03BD"/>
              </a:solidFill>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DD3817D-4054-E943-A93F-7F7536A1C149}"/>
              </a:ext>
            </a:extLst>
          </p:cNvPr>
          <p:cNvSpPr txBox="1"/>
          <p:nvPr/>
        </p:nvSpPr>
        <p:spPr>
          <a:xfrm>
            <a:off x="722376" y="1001038"/>
            <a:ext cx="10954512" cy="5355312"/>
          </a:xfrm>
          <a:prstGeom prst="rect">
            <a:avLst/>
          </a:prstGeom>
          <a:noFill/>
        </p:spPr>
        <p:txBody>
          <a:bodyPr wrap="square">
            <a:spAutoFit/>
          </a:bodyPr>
          <a:lstStyle/>
          <a:p>
            <a:pPr marL="342900" marR="0" lvl="0" indent="-342900" algn="just" fontAlgn="base">
              <a:spcAft>
                <a:spcPts val="1800"/>
              </a:spcAft>
              <a:buFont typeface="Arial" panose="020B0604020202020204" pitchFamily="34" charset="0"/>
              <a:buChar char="•"/>
            </a:pPr>
            <a:r>
              <a:rPr lang="en-IN" sz="2800" b="0" i="0" spc="12" dirty="0">
                <a:solidFill>
                  <a:srgbClr val="273239"/>
                </a:solidFill>
                <a:effectLst/>
                <a:latin typeface="Times New Roman" panose="02020603050405020304" pitchFamily="18" charset="0"/>
                <a:cs typeface="Times New Roman" panose="02020603050405020304" pitchFamily="18" charset="0"/>
              </a:rPr>
              <a:t>Pattern matching - Find all occurrences of a pattern in a large text</a:t>
            </a:r>
            <a:endParaRPr lang="en-IN" sz="2800" b="0" i="0" spc="10" dirty="0">
              <a:solidFill>
                <a:srgbClr val="273239"/>
              </a:solidFill>
              <a:effectLst/>
              <a:latin typeface="Times New Roman" panose="02020603050405020304" pitchFamily="18" charset="0"/>
              <a:cs typeface="Times New Roman" panose="02020603050405020304" pitchFamily="18" charset="0"/>
            </a:endParaRPr>
          </a:p>
          <a:p>
            <a:pPr marL="342900" marR="0" lvl="0" indent="-342900" algn="just" fontAlgn="base">
              <a:spcAft>
                <a:spcPts val="1800"/>
              </a:spcAft>
              <a:buFont typeface="Arial" panose="020B0604020202020204" pitchFamily="34" charset="0"/>
              <a:buChar char="•"/>
            </a:pPr>
            <a:r>
              <a:rPr lang="en-IN" sz="2800" b="0" i="0" spc="12" dirty="0">
                <a:solidFill>
                  <a:srgbClr val="273239"/>
                </a:solidFill>
                <a:effectLst/>
                <a:latin typeface="Times New Roman" panose="02020603050405020304" pitchFamily="18" charset="0"/>
                <a:cs typeface="Times New Roman" panose="02020603050405020304" pitchFamily="18" charset="0"/>
              </a:rPr>
              <a:t>Plagiarism detection - Compare documents by checking for common substrings</a:t>
            </a:r>
            <a:endParaRPr lang="en-IN" sz="2800" b="0" i="0" spc="10" dirty="0">
              <a:solidFill>
                <a:srgbClr val="273239"/>
              </a:solidFill>
              <a:effectLst/>
              <a:latin typeface="Times New Roman" panose="02020603050405020304" pitchFamily="18" charset="0"/>
              <a:cs typeface="Times New Roman" panose="02020603050405020304" pitchFamily="18" charset="0"/>
            </a:endParaRPr>
          </a:p>
          <a:p>
            <a:pPr marL="342900" marR="0" lvl="0" indent="-342900" algn="just" fontAlgn="base">
              <a:spcAft>
                <a:spcPts val="1800"/>
              </a:spcAft>
              <a:buFont typeface="Arial" panose="020B0604020202020204" pitchFamily="34" charset="0"/>
              <a:buChar char="•"/>
            </a:pPr>
            <a:r>
              <a:rPr lang="en-IN" sz="2800" b="0" i="0" spc="12" dirty="0">
                <a:solidFill>
                  <a:srgbClr val="273239"/>
                </a:solidFill>
                <a:effectLst/>
                <a:latin typeface="Times New Roman" panose="02020603050405020304" pitchFamily="18" charset="0"/>
                <a:cs typeface="Times New Roman" panose="02020603050405020304" pitchFamily="18" charset="0"/>
              </a:rPr>
              <a:t>Multiple pattern search - Efficiently search for several patterns at once</a:t>
            </a:r>
            <a:endParaRPr lang="en-IN" sz="2800" b="0" i="0" spc="10" dirty="0">
              <a:solidFill>
                <a:srgbClr val="273239"/>
              </a:solidFill>
              <a:effectLst/>
              <a:latin typeface="Times New Roman" panose="02020603050405020304" pitchFamily="18" charset="0"/>
              <a:cs typeface="Times New Roman" panose="02020603050405020304" pitchFamily="18" charset="0"/>
            </a:endParaRPr>
          </a:p>
          <a:p>
            <a:pPr marL="342900" marR="0" lvl="0" indent="-342900" algn="just" fontAlgn="base">
              <a:spcAft>
                <a:spcPts val="1800"/>
              </a:spcAft>
              <a:buFont typeface="Arial" panose="020B0604020202020204" pitchFamily="34" charset="0"/>
              <a:buChar char="•"/>
            </a:pPr>
            <a:r>
              <a:rPr lang="en-IN" sz="2800" b="0" i="0" spc="12" dirty="0">
                <a:solidFill>
                  <a:srgbClr val="273239"/>
                </a:solidFill>
                <a:effectLst/>
                <a:latin typeface="Times New Roman" panose="02020603050405020304" pitchFamily="18" charset="0"/>
                <a:cs typeface="Times New Roman" panose="02020603050405020304" pitchFamily="18" charset="0"/>
              </a:rPr>
              <a:t>Substring comparison - Quickly compare substrings using hashes</a:t>
            </a:r>
            <a:endParaRPr lang="en-IN" sz="2800" b="0" i="0" spc="10" dirty="0">
              <a:solidFill>
                <a:srgbClr val="273239"/>
              </a:solidFill>
              <a:effectLst/>
              <a:latin typeface="Times New Roman" panose="02020603050405020304" pitchFamily="18" charset="0"/>
              <a:cs typeface="Times New Roman" panose="02020603050405020304" pitchFamily="18" charset="0"/>
            </a:endParaRPr>
          </a:p>
          <a:p>
            <a:pPr marL="342900" marR="0" lvl="0" indent="-342900" algn="just" fontAlgn="base">
              <a:spcAft>
                <a:spcPts val="1800"/>
              </a:spcAft>
              <a:buFont typeface="Arial" panose="020B0604020202020204" pitchFamily="34" charset="0"/>
              <a:buChar char="•"/>
            </a:pPr>
            <a:r>
              <a:rPr lang="en-IN" sz="2800" b="0" i="0" spc="12" dirty="0">
                <a:solidFill>
                  <a:srgbClr val="273239"/>
                </a:solidFill>
                <a:effectLst/>
                <a:latin typeface="Times New Roman" panose="02020603050405020304" pitchFamily="18" charset="0"/>
                <a:cs typeface="Times New Roman" panose="02020603050405020304" pitchFamily="18" charset="0"/>
              </a:rPr>
              <a:t>Palindrome and DP problems - Used for hashing-based optimizations</a:t>
            </a:r>
            <a:endParaRPr lang="en-IN" sz="2800" b="0" i="0" spc="10" dirty="0">
              <a:solidFill>
                <a:srgbClr val="273239"/>
              </a:solidFill>
              <a:effectLst/>
              <a:latin typeface="Times New Roman" panose="02020603050405020304" pitchFamily="18" charset="0"/>
              <a:cs typeface="Times New Roman" panose="02020603050405020304" pitchFamily="18" charset="0"/>
            </a:endParaRPr>
          </a:p>
          <a:p>
            <a:pPr marL="342900" marR="0" lvl="0" indent="-342900" algn="just" fontAlgn="base">
              <a:spcAft>
                <a:spcPts val="1800"/>
              </a:spcAft>
              <a:buFont typeface="Arial" panose="020B0604020202020204" pitchFamily="34" charset="0"/>
              <a:buChar char="•"/>
            </a:pPr>
            <a:r>
              <a:rPr lang="en-IN" sz="2800" b="0" i="0" spc="12" dirty="0">
                <a:solidFill>
                  <a:srgbClr val="273239"/>
                </a:solidFill>
                <a:effectLst/>
                <a:latin typeface="Times New Roman" panose="02020603050405020304" pitchFamily="18" charset="0"/>
                <a:cs typeface="Times New Roman" panose="02020603050405020304" pitchFamily="18" charset="0"/>
              </a:rPr>
              <a:t>Detect duplicate substrings - Find repeated sequences in strings</a:t>
            </a:r>
            <a:endParaRPr lang="en-IN" sz="2800" b="0" i="0" spc="10" dirty="0">
              <a:solidFill>
                <a:srgbClr val="273239"/>
              </a:solidFill>
              <a:effectLst/>
              <a:latin typeface="Times New Roman" panose="02020603050405020304" pitchFamily="18" charset="0"/>
              <a:cs typeface="Times New Roman" panose="02020603050405020304" pitchFamily="18" charset="0"/>
            </a:endParaRPr>
          </a:p>
          <a:p>
            <a:pPr marL="342900" marR="0" lvl="0" indent="-342900" algn="just" fontAlgn="base">
              <a:spcAft>
                <a:spcPts val="1800"/>
              </a:spcAft>
              <a:buFont typeface="Arial" panose="020B0604020202020204" pitchFamily="34" charset="0"/>
              <a:buChar char="•"/>
            </a:pPr>
            <a:r>
              <a:rPr lang="en-IN" sz="2800" b="0" i="0" spc="12" dirty="0">
                <a:solidFill>
                  <a:srgbClr val="273239"/>
                </a:solidFill>
                <a:effectLst/>
                <a:latin typeface="Times New Roman" panose="02020603050405020304" pitchFamily="18" charset="0"/>
                <a:cs typeface="Times New Roman" panose="02020603050405020304" pitchFamily="18" charset="0"/>
              </a:rPr>
              <a:t>Longest common prefix/suffix - In constant time using precomputed hashes</a:t>
            </a:r>
            <a:endParaRPr lang="en-IN" sz="2800" b="0" i="0" spc="10" dirty="0">
              <a:solidFill>
                <a:srgbClr val="27323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815318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99C68-008F-510B-ABF1-B847157826D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68F1DF-5C39-DB42-3680-EE6B0C183AFA}"/>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4A9DE0AA-FA22-9A73-AB71-93832C1A01DE}"/>
              </a:ext>
            </a:extLst>
          </p:cNvPr>
          <p:cNvSpPr>
            <a:spLocks noGrp="1"/>
          </p:cNvSpPr>
          <p:nvPr>
            <p:ph type="sldNum" sz="quarter" idx="12"/>
          </p:nvPr>
        </p:nvSpPr>
        <p:spPr/>
        <p:txBody>
          <a:bodyPr/>
          <a:lstStyle/>
          <a:p>
            <a:fld id="{68187FF5-4BF9-4B21-B0D2-9B7FF2B27D7F}" type="slidenum">
              <a:rPr lang="en-AU" smtClean="0"/>
              <a:pPr/>
              <a:t>96</a:t>
            </a:fld>
            <a:endParaRPr lang="en-AU"/>
          </a:p>
        </p:txBody>
      </p:sp>
      <p:pic>
        <p:nvPicPr>
          <p:cNvPr id="5" name="Picture 4">
            <a:extLst>
              <a:ext uri="{FF2B5EF4-FFF2-40B4-BE49-F238E27FC236}">
                <a16:creationId xmlns:a16="http://schemas.microsoft.com/office/drawing/2014/main" id="{EC48974A-27B2-97DC-450C-D6CF43FF771B}"/>
              </a:ext>
            </a:extLst>
          </p:cNvPr>
          <p:cNvPicPr>
            <a:picLocks noChangeAspect="1"/>
          </p:cNvPicPr>
          <p:nvPr/>
        </p:nvPicPr>
        <p:blipFill>
          <a:blip r:embed="rId2"/>
          <a:stretch>
            <a:fillRect/>
          </a:stretch>
        </p:blipFill>
        <p:spPr>
          <a:xfrm>
            <a:off x="358480" y="1280161"/>
            <a:ext cx="11475040" cy="2962655"/>
          </a:xfrm>
          <a:prstGeom prst="rect">
            <a:avLst/>
          </a:prstGeom>
        </p:spPr>
      </p:pic>
      <p:sp>
        <p:nvSpPr>
          <p:cNvPr id="6" name="Rectangle 5">
            <a:extLst>
              <a:ext uri="{FF2B5EF4-FFF2-40B4-BE49-F238E27FC236}">
                <a16:creationId xmlns:a16="http://schemas.microsoft.com/office/drawing/2014/main" id="{2B57B63C-C660-968A-940E-22BFB47696FD}"/>
              </a:ext>
            </a:extLst>
          </p:cNvPr>
          <p:cNvSpPr/>
          <p:nvPr/>
        </p:nvSpPr>
        <p:spPr>
          <a:xfrm>
            <a:off x="7315200" y="2487168"/>
            <a:ext cx="603504" cy="457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BBB32B7B-554C-05C8-75E4-6B2A287E0C3A}"/>
              </a:ext>
            </a:extLst>
          </p:cNvPr>
          <p:cNvSpPr/>
          <p:nvPr/>
        </p:nvSpPr>
        <p:spPr>
          <a:xfrm>
            <a:off x="11137392" y="3657600"/>
            <a:ext cx="557784" cy="5029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4081075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847898" y="6356350"/>
            <a:ext cx="1234902" cy="365125"/>
          </a:xfrm>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97</a:t>
            </a:fld>
            <a:endParaRPr lang="en-AU"/>
          </a:p>
        </p:txBody>
      </p:sp>
      <p:sp>
        <p:nvSpPr>
          <p:cNvPr id="4" name="Rectangle 3"/>
          <p:cNvSpPr/>
          <p:nvPr/>
        </p:nvSpPr>
        <p:spPr>
          <a:xfrm>
            <a:off x="414242" y="872420"/>
            <a:ext cx="11615198" cy="5575052"/>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en-US" sz="2400" dirty="0"/>
              <a:t>The </a:t>
            </a:r>
            <a:r>
              <a:rPr lang="en-US" sz="2400" b="1" dirty="0"/>
              <a:t>Z-Function (or Z-Algorithm)</a:t>
            </a:r>
            <a:r>
              <a:rPr lang="en-US" sz="2400" dirty="0"/>
              <a:t> is a linear-time string processing algorithm used to solve the </a:t>
            </a:r>
            <a:r>
              <a:rPr lang="en-US" sz="2400" b="1" dirty="0"/>
              <a:t>string pattern matching problem</a:t>
            </a:r>
            <a:r>
              <a:rPr lang="en-US" sz="2400" dirty="0"/>
              <a:t> efficiently. </a:t>
            </a:r>
          </a:p>
          <a:p>
            <a:pPr marL="342900" indent="-342900" algn="just">
              <a:lnSpc>
                <a:spcPct val="150000"/>
              </a:lnSpc>
              <a:buFont typeface="Wingdings" panose="05000000000000000000" pitchFamily="2" charset="2"/>
              <a:buChar char="Ø"/>
            </a:pPr>
            <a:r>
              <a:rPr lang="en-US" sz="2400" dirty="0"/>
              <a:t>It computes an array called the </a:t>
            </a:r>
            <a:r>
              <a:rPr lang="en-US" sz="2400" b="1" dirty="0"/>
              <a:t>Z-array</a:t>
            </a:r>
            <a:r>
              <a:rPr lang="en-US" sz="2400" dirty="0"/>
              <a:t>, where each element indicates the length of the longest substring starting at a given position that matches the prefix of the string.</a:t>
            </a:r>
          </a:p>
          <a:p>
            <a:pPr marL="342900" indent="-342900" algn="just">
              <a:lnSpc>
                <a:spcPct val="150000"/>
              </a:lnSpc>
              <a:buFont typeface="Wingdings" panose="05000000000000000000" pitchFamily="2" charset="2"/>
              <a:buChar char="Ø"/>
            </a:pPr>
            <a:r>
              <a:rPr lang="en-US" sz="2400" dirty="0"/>
              <a:t>The algorithm was introduced by </a:t>
            </a:r>
            <a:r>
              <a:rPr lang="en-US" sz="2400" b="1" dirty="0" err="1"/>
              <a:t>Gusfield</a:t>
            </a:r>
            <a:r>
              <a:rPr lang="en-US" sz="2400" dirty="0"/>
              <a:t> and is widely used in competitive programming, text editors, plagiarism detection, DNA sequence analysis, and bioinformatics.</a:t>
            </a:r>
          </a:p>
          <a:p>
            <a:pPr marL="342900" indent="-342900" algn="just">
              <a:lnSpc>
                <a:spcPct val="150000"/>
              </a:lnSpc>
              <a:buFont typeface="Wingdings" panose="05000000000000000000" pitchFamily="2" charset="2"/>
              <a:buChar char="Ø"/>
            </a:pPr>
            <a:r>
              <a:rPr lang="en-US" sz="2400" dirty="0"/>
              <a:t>Unlike the Naïve algorithm, which compares the pattern with the text at every possible position, the Z-Algorithm avoids repeated comparisons by utilizing previously computed matching information.</a:t>
            </a:r>
          </a:p>
        </p:txBody>
      </p:sp>
      <p:sp>
        <p:nvSpPr>
          <p:cNvPr id="5" name="Rectangle 4"/>
          <p:cNvSpPr/>
          <p:nvPr/>
        </p:nvSpPr>
        <p:spPr>
          <a:xfrm>
            <a:off x="4615114" y="349200"/>
            <a:ext cx="2416047" cy="646331"/>
          </a:xfrm>
          <a:prstGeom prst="rect">
            <a:avLst/>
          </a:prstGeom>
        </p:spPr>
        <p:txBody>
          <a:bodyPr wrap="none">
            <a:spAutoFit/>
          </a:bodyPr>
          <a:lstStyle/>
          <a:p>
            <a:pPr algn="ctr"/>
            <a:r>
              <a:rPr lang="en-US" sz="3600" b="1" kern="100" dirty="0">
                <a:solidFill>
                  <a:srgbClr val="1E03BD"/>
                </a:solidFill>
                <a:latin typeface="Times New Roman" panose="02020603050405020304" pitchFamily="18" charset="0"/>
                <a:ea typeface="Times New Roman" panose="02020603050405020304" pitchFamily="18" charset="0"/>
                <a:cs typeface="Times New Roman" panose="02020603050405020304" pitchFamily="18" charset="0"/>
              </a:rPr>
              <a:t>Z-Function</a:t>
            </a:r>
            <a:endParaRPr lang="en-US" sz="3600" dirty="0">
              <a:solidFill>
                <a:srgbClr val="1E03BD"/>
              </a:solidFill>
            </a:endParaRPr>
          </a:p>
        </p:txBody>
      </p:sp>
    </p:spTree>
    <p:extLst>
      <p:ext uri="{BB962C8B-B14F-4D97-AF65-F5344CB8AC3E}">
        <p14:creationId xmlns:p14="http://schemas.microsoft.com/office/powerpoint/2010/main" val="405581705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98</a:t>
            </a:fld>
            <a:endParaRPr lang="en-AU"/>
          </a:p>
        </p:txBody>
      </p:sp>
      <p:sp>
        <p:nvSpPr>
          <p:cNvPr id="4" name="Rectangle 1"/>
          <p:cNvSpPr>
            <a:spLocks noChangeArrowheads="1"/>
          </p:cNvSpPr>
          <p:nvPr/>
        </p:nvSpPr>
        <p:spPr bwMode="auto">
          <a:xfrm>
            <a:off x="365760" y="1048942"/>
            <a:ext cx="1098804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buClrTx/>
              <a:buSzTx/>
              <a:buFontTx/>
              <a:buNone/>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a string S of length n, the Z-value at index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denoted by Z[</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the length of the longest substring beginning at position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is also a prefix of S.</a:t>
            </a:r>
          </a:p>
          <a:p>
            <a:pPr marL="0" marR="0" lvl="0" indent="0" algn="ctr" defTabSz="914400" rtl="0" eaLnBrk="0" fontAlgn="base" latinLnBrk="0" hangingPunct="0">
              <a:buClrTx/>
              <a:buSzTx/>
              <a:buFontTx/>
              <a:buNone/>
              <a:tabLst/>
            </a:pPr>
            <a:r>
              <a:rPr kumimoji="0" lang="en-US" altLang="en-US" sz="20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Z[</a:t>
            </a:r>
            <a:r>
              <a:rPr kumimoji="0" lang="en-US" altLang="en-US" sz="2000" b="1" i="0" u="none" strike="noStrike" cap="none" normalizeH="0" baseline="0" dirty="0" err="1">
                <a:ln>
                  <a:noFill/>
                </a:ln>
                <a:solidFill>
                  <a:srgbClr val="C00000"/>
                </a:solidFill>
                <a:effectLst/>
                <a:latin typeface="Times New Roman" panose="02020603050405020304" pitchFamily="18" charset="0"/>
                <a:cs typeface="Times New Roman" panose="02020603050405020304" pitchFamily="18" charset="0"/>
              </a:rPr>
              <a:t>i</a:t>
            </a:r>
            <a:r>
              <a:rPr kumimoji="0" lang="en-US" altLang="en-US" sz="20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]=Longest Common Prefix(S[0...],S[</a:t>
            </a:r>
            <a:r>
              <a:rPr kumimoji="0" lang="en-US" altLang="en-US" sz="2000" b="1" i="0" u="none" strike="noStrike" cap="none" normalizeH="0" baseline="0" dirty="0" err="1">
                <a:ln>
                  <a:noFill/>
                </a:ln>
                <a:solidFill>
                  <a:srgbClr val="C00000"/>
                </a:solidFill>
                <a:effectLst/>
                <a:latin typeface="Times New Roman" panose="02020603050405020304" pitchFamily="18" charset="0"/>
                <a:cs typeface="Times New Roman" panose="02020603050405020304" pitchFamily="18" charset="0"/>
              </a:rPr>
              <a:t>i</a:t>
            </a:r>
            <a:r>
              <a:rPr kumimoji="0" lang="en-US" altLang="en-US" sz="20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Where   </a:t>
            </a:r>
            <a:r>
              <a:rPr lang="en-IN" sz="2000" dirty="0">
                <a:latin typeface="Times New Roman" panose="02020603050405020304" pitchFamily="18" charset="0"/>
                <a:cs typeface="Times New Roman" panose="02020603050405020304" pitchFamily="18" charset="0"/>
              </a:rPr>
              <a:t>Z[0] = 0  or  n (length of the string)</a:t>
            </a:r>
          </a:p>
          <a:p>
            <a:pPr lvl="0" algn="just"/>
            <a:r>
              <a:rPr lang="en-IN" sz="2000" dirty="0">
                <a:latin typeface="Times New Roman" panose="02020603050405020304" pitchFamily="18" charset="0"/>
                <a:cs typeface="Times New Roman" panose="02020603050405020304" pitchFamily="18" charset="0"/>
              </a:rPr>
              <a:t>For every other position, Z[</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tells how many characters match the beginning of the string.</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3426820" y="235073"/>
            <a:ext cx="3986156" cy="584775"/>
          </a:xfrm>
          <a:prstGeom prst="rect">
            <a:avLst/>
          </a:prstGeom>
        </p:spPr>
        <p:txBody>
          <a:bodyPr wrap="none">
            <a:spAutoFit/>
          </a:bodyPr>
          <a:lstStyle/>
          <a:p>
            <a:pPr lvl="0" algn="just" eaLnBrk="0" fontAlgn="base" hangingPunct="0"/>
            <a:r>
              <a:rPr lang="en-US" altLang="en-US" sz="3200" b="1" u="sng" dirty="0">
                <a:solidFill>
                  <a:srgbClr val="1E03BD"/>
                </a:solidFill>
                <a:latin typeface="Times New Roman" panose="02020603050405020304" pitchFamily="18" charset="0"/>
                <a:cs typeface="Times New Roman" panose="02020603050405020304" pitchFamily="18" charset="0"/>
              </a:rPr>
              <a:t>Definition of Z-Value </a:t>
            </a:r>
          </a:p>
        </p:txBody>
      </p:sp>
      <p:sp>
        <p:nvSpPr>
          <p:cNvPr id="6" name="TextBox 5">
            <a:extLst>
              <a:ext uri="{FF2B5EF4-FFF2-40B4-BE49-F238E27FC236}">
                <a16:creationId xmlns:a16="http://schemas.microsoft.com/office/drawing/2014/main" id="{F9022D67-0557-751F-D892-1D7870DF66B0}"/>
              </a:ext>
            </a:extLst>
          </p:cNvPr>
          <p:cNvSpPr txBox="1"/>
          <p:nvPr/>
        </p:nvSpPr>
        <p:spPr>
          <a:xfrm>
            <a:off x="1894054" y="2825892"/>
            <a:ext cx="3638550" cy="1477328"/>
          </a:xfrm>
          <a:prstGeom prst="rect">
            <a:avLst/>
          </a:prstGeom>
          <a:noFill/>
          <a:ln>
            <a:solidFill>
              <a:srgbClr val="C00000"/>
            </a:solidFill>
          </a:ln>
        </p:spPr>
        <p:txBody>
          <a:bodyPr wrap="square">
            <a:spAutoFit/>
          </a:bodyPr>
          <a:lstStyle/>
          <a:p>
            <a:pPr>
              <a:buNone/>
            </a:pPr>
            <a:r>
              <a:rPr lang="en-IN" b="1" dirty="0"/>
              <a:t>Example</a:t>
            </a:r>
          </a:p>
          <a:p>
            <a:pPr>
              <a:buNone/>
            </a:pPr>
            <a:r>
              <a:rPr lang="en-IN" dirty="0"/>
              <a:t>Consider the string:</a:t>
            </a:r>
          </a:p>
          <a:p>
            <a:pPr rtl="0">
              <a:buNone/>
            </a:pPr>
            <a:r>
              <a:rPr lang="en-IN" dirty="0">
                <a:latin typeface="Courier New" panose="02070309020205020404" pitchFamily="49" charset="0"/>
              </a:rPr>
              <a:t>S = A </a:t>
            </a:r>
            <a:r>
              <a:rPr lang="en-IN" dirty="0" err="1">
                <a:latin typeface="Courier New" panose="02070309020205020404" pitchFamily="49" charset="0"/>
              </a:rPr>
              <a:t>A</a:t>
            </a:r>
            <a:r>
              <a:rPr lang="en-IN" dirty="0">
                <a:latin typeface="Courier New" panose="02070309020205020404" pitchFamily="49" charset="0"/>
              </a:rPr>
              <a:t> B C A </a:t>
            </a:r>
            <a:r>
              <a:rPr lang="en-IN" dirty="0" err="1">
                <a:latin typeface="Courier New" panose="02070309020205020404" pitchFamily="49" charset="0"/>
              </a:rPr>
              <a:t>A</a:t>
            </a:r>
            <a:r>
              <a:rPr lang="en-IN" dirty="0">
                <a:latin typeface="Courier New" panose="02070309020205020404" pitchFamily="49" charset="0"/>
              </a:rPr>
              <a:t> B X A </a:t>
            </a:r>
            <a:r>
              <a:rPr lang="en-IN" dirty="0" err="1">
                <a:latin typeface="Courier New" panose="02070309020205020404" pitchFamily="49" charset="0"/>
              </a:rPr>
              <a:t>A</a:t>
            </a:r>
            <a:r>
              <a:rPr lang="en-IN" dirty="0">
                <a:latin typeface="Courier New" panose="02070309020205020404" pitchFamily="49" charset="0"/>
              </a:rPr>
              <a:t> B</a:t>
            </a:r>
          </a:p>
          <a:p>
            <a:pPr>
              <a:buNone/>
            </a:pPr>
            <a:r>
              <a:rPr lang="en-IN" b="1" dirty="0"/>
              <a:t>Prefix of the string</a:t>
            </a:r>
          </a:p>
          <a:p>
            <a:pPr rtl="0">
              <a:buNone/>
            </a:pPr>
            <a:r>
              <a:rPr lang="en-IN" dirty="0">
                <a:latin typeface="Courier New" panose="02070309020205020404" pitchFamily="49" charset="0"/>
              </a:rPr>
              <a:t>A </a:t>
            </a:r>
            <a:r>
              <a:rPr lang="en-IN" dirty="0" err="1">
                <a:latin typeface="Courier New" panose="02070309020205020404" pitchFamily="49" charset="0"/>
              </a:rPr>
              <a:t>A</a:t>
            </a:r>
            <a:r>
              <a:rPr lang="en-IN" dirty="0">
                <a:latin typeface="Courier New" panose="02070309020205020404" pitchFamily="49" charset="0"/>
              </a:rPr>
              <a:t> B C A </a:t>
            </a:r>
            <a:r>
              <a:rPr lang="en-IN" dirty="0" err="1">
                <a:latin typeface="Courier New" panose="02070309020205020404" pitchFamily="49" charset="0"/>
              </a:rPr>
              <a:t>A</a:t>
            </a:r>
            <a:r>
              <a:rPr lang="en-IN" dirty="0">
                <a:latin typeface="Courier New" panose="02070309020205020404" pitchFamily="49" charset="0"/>
              </a:rPr>
              <a:t> B X A </a:t>
            </a:r>
            <a:r>
              <a:rPr lang="en-IN" dirty="0" err="1">
                <a:latin typeface="Courier New" panose="02070309020205020404" pitchFamily="49" charset="0"/>
              </a:rPr>
              <a:t>A</a:t>
            </a:r>
            <a:r>
              <a:rPr lang="en-IN" dirty="0">
                <a:latin typeface="Courier New" panose="02070309020205020404" pitchFamily="49" charset="0"/>
              </a:rPr>
              <a:t> B</a:t>
            </a:r>
          </a:p>
        </p:txBody>
      </p:sp>
      <p:sp>
        <p:nvSpPr>
          <p:cNvPr id="7" name="TextBox 6">
            <a:extLst>
              <a:ext uri="{FF2B5EF4-FFF2-40B4-BE49-F238E27FC236}">
                <a16:creationId xmlns:a16="http://schemas.microsoft.com/office/drawing/2014/main" id="{7E2BF942-0D28-3579-895D-64B40F4ED04C}"/>
              </a:ext>
            </a:extLst>
          </p:cNvPr>
          <p:cNvSpPr txBox="1"/>
          <p:nvPr/>
        </p:nvSpPr>
        <p:spPr>
          <a:xfrm>
            <a:off x="5862806" y="2825892"/>
            <a:ext cx="5394964" cy="369332"/>
          </a:xfrm>
          <a:prstGeom prst="rect">
            <a:avLst/>
          </a:prstGeom>
          <a:solidFill>
            <a:schemeClr val="accent2">
              <a:lumMod val="40000"/>
              <a:lumOff val="60000"/>
            </a:schemeClr>
          </a:solidFill>
          <a:ln>
            <a:solidFill>
              <a:srgbClr val="C00000"/>
            </a:solidFill>
          </a:ln>
        </p:spPr>
        <p:txBody>
          <a:bodyPr wrap="square">
            <a:spAutoFit/>
          </a:bodyPr>
          <a:lstStyle/>
          <a:p>
            <a:r>
              <a:rPr lang="en-IN" dirty="0"/>
              <a:t>Z-Array</a:t>
            </a:r>
          </a:p>
        </p:txBody>
      </p:sp>
      <p:graphicFrame>
        <p:nvGraphicFramePr>
          <p:cNvPr id="8" name="Table 7">
            <a:extLst>
              <a:ext uri="{FF2B5EF4-FFF2-40B4-BE49-F238E27FC236}">
                <a16:creationId xmlns:a16="http://schemas.microsoft.com/office/drawing/2014/main" id="{65C82E26-749D-7005-7D57-EF5A180EA706}"/>
              </a:ext>
            </a:extLst>
          </p:cNvPr>
          <p:cNvGraphicFramePr>
            <a:graphicFrameLocks noGrp="1"/>
          </p:cNvGraphicFramePr>
          <p:nvPr>
            <p:extLst>
              <p:ext uri="{D42A27DB-BD31-4B8C-83A1-F6EECF244321}">
                <p14:modId xmlns:p14="http://schemas.microsoft.com/office/powerpoint/2010/main" val="4110449660"/>
              </p:ext>
            </p:extLst>
          </p:nvPr>
        </p:nvGraphicFramePr>
        <p:xfrm>
          <a:off x="5862806" y="3195224"/>
          <a:ext cx="5394964" cy="1005840"/>
        </p:xfrm>
        <a:graphic>
          <a:graphicData uri="http://schemas.openxmlformats.org/drawingml/2006/table">
            <a:tbl>
              <a:tblPr>
                <a:tableStyleId>{5940675A-B579-460E-94D1-54222C63F5DA}</a:tableStyleId>
              </a:tblPr>
              <a:tblGrid>
                <a:gridCol w="1217930">
                  <a:extLst>
                    <a:ext uri="{9D8B030D-6E8A-4147-A177-3AD203B41FA5}">
                      <a16:colId xmlns:a16="http://schemas.microsoft.com/office/drawing/2014/main" val="4213764885"/>
                    </a:ext>
                  </a:extLst>
                </a:gridCol>
                <a:gridCol w="363855">
                  <a:extLst>
                    <a:ext uri="{9D8B030D-6E8A-4147-A177-3AD203B41FA5}">
                      <a16:colId xmlns:a16="http://schemas.microsoft.com/office/drawing/2014/main" val="2035763065"/>
                    </a:ext>
                  </a:extLst>
                </a:gridCol>
                <a:gridCol w="363855">
                  <a:extLst>
                    <a:ext uri="{9D8B030D-6E8A-4147-A177-3AD203B41FA5}">
                      <a16:colId xmlns:a16="http://schemas.microsoft.com/office/drawing/2014/main" val="533891777"/>
                    </a:ext>
                  </a:extLst>
                </a:gridCol>
                <a:gridCol w="367030">
                  <a:extLst>
                    <a:ext uri="{9D8B030D-6E8A-4147-A177-3AD203B41FA5}">
                      <a16:colId xmlns:a16="http://schemas.microsoft.com/office/drawing/2014/main" val="732400604"/>
                    </a:ext>
                  </a:extLst>
                </a:gridCol>
                <a:gridCol w="387668">
                  <a:extLst>
                    <a:ext uri="{9D8B030D-6E8A-4147-A177-3AD203B41FA5}">
                      <a16:colId xmlns:a16="http://schemas.microsoft.com/office/drawing/2014/main" val="2022013802"/>
                    </a:ext>
                  </a:extLst>
                </a:gridCol>
                <a:gridCol w="363855">
                  <a:extLst>
                    <a:ext uri="{9D8B030D-6E8A-4147-A177-3AD203B41FA5}">
                      <a16:colId xmlns:a16="http://schemas.microsoft.com/office/drawing/2014/main" val="2933123575"/>
                    </a:ext>
                  </a:extLst>
                </a:gridCol>
                <a:gridCol w="363855">
                  <a:extLst>
                    <a:ext uri="{9D8B030D-6E8A-4147-A177-3AD203B41FA5}">
                      <a16:colId xmlns:a16="http://schemas.microsoft.com/office/drawing/2014/main" val="1991804270"/>
                    </a:ext>
                  </a:extLst>
                </a:gridCol>
                <a:gridCol w="367030">
                  <a:extLst>
                    <a:ext uri="{9D8B030D-6E8A-4147-A177-3AD203B41FA5}">
                      <a16:colId xmlns:a16="http://schemas.microsoft.com/office/drawing/2014/main" val="1264650314"/>
                    </a:ext>
                  </a:extLst>
                </a:gridCol>
                <a:gridCol w="355918">
                  <a:extLst>
                    <a:ext uri="{9D8B030D-6E8A-4147-A177-3AD203B41FA5}">
                      <a16:colId xmlns:a16="http://schemas.microsoft.com/office/drawing/2014/main" val="1457121056"/>
                    </a:ext>
                  </a:extLst>
                </a:gridCol>
                <a:gridCol w="363855">
                  <a:extLst>
                    <a:ext uri="{9D8B030D-6E8A-4147-A177-3AD203B41FA5}">
                      <a16:colId xmlns:a16="http://schemas.microsoft.com/office/drawing/2014/main" val="1540776232"/>
                    </a:ext>
                  </a:extLst>
                </a:gridCol>
                <a:gridCol w="363855">
                  <a:extLst>
                    <a:ext uri="{9D8B030D-6E8A-4147-A177-3AD203B41FA5}">
                      <a16:colId xmlns:a16="http://schemas.microsoft.com/office/drawing/2014/main" val="1098098553"/>
                    </a:ext>
                  </a:extLst>
                </a:gridCol>
                <a:gridCol w="516258">
                  <a:extLst>
                    <a:ext uri="{9D8B030D-6E8A-4147-A177-3AD203B41FA5}">
                      <a16:colId xmlns:a16="http://schemas.microsoft.com/office/drawing/2014/main" val="1356419497"/>
                    </a:ext>
                  </a:extLst>
                </a:gridCol>
              </a:tblGrid>
              <a:tr h="0">
                <a:tc>
                  <a:txBody>
                    <a:bodyPr/>
                    <a:lstStyle/>
                    <a:p>
                      <a:pPr algn="r">
                        <a:buNone/>
                      </a:pPr>
                      <a:r>
                        <a:rPr lang="en-IN" sz="1600" dirty="0"/>
                        <a:t>Index (</a:t>
                      </a:r>
                      <a:r>
                        <a:rPr lang="en-IN" sz="1600" dirty="0" err="1"/>
                        <a:t>i</a:t>
                      </a:r>
                      <a:r>
                        <a:rPr lang="en-IN" sz="1600" dirty="0"/>
                        <a:t>)</a:t>
                      </a:r>
                    </a:p>
                  </a:txBody>
                  <a:tcPr anchor="ctr"/>
                </a:tc>
                <a:tc>
                  <a:txBody>
                    <a:bodyPr/>
                    <a:lstStyle/>
                    <a:p>
                      <a:pPr algn="ctr">
                        <a:buNone/>
                      </a:pPr>
                      <a:r>
                        <a:rPr lang="en-IN" sz="1600" dirty="0"/>
                        <a:t>0</a:t>
                      </a:r>
                    </a:p>
                  </a:txBody>
                  <a:tcPr anchor="ctr"/>
                </a:tc>
                <a:tc>
                  <a:txBody>
                    <a:bodyPr/>
                    <a:lstStyle/>
                    <a:p>
                      <a:pPr algn="ctr">
                        <a:buNone/>
                      </a:pPr>
                      <a:r>
                        <a:rPr lang="en-IN" sz="1600"/>
                        <a:t>1</a:t>
                      </a:r>
                    </a:p>
                  </a:txBody>
                  <a:tcPr anchor="ctr"/>
                </a:tc>
                <a:tc>
                  <a:txBody>
                    <a:bodyPr/>
                    <a:lstStyle/>
                    <a:p>
                      <a:pPr algn="ctr">
                        <a:buNone/>
                      </a:pPr>
                      <a:r>
                        <a:rPr lang="en-IN" sz="1600"/>
                        <a:t>2</a:t>
                      </a:r>
                    </a:p>
                  </a:txBody>
                  <a:tcPr anchor="ctr"/>
                </a:tc>
                <a:tc>
                  <a:txBody>
                    <a:bodyPr/>
                    <a:lstStyle/>
                    <a:p>
                      <a:pPr algn="ctr">
                        <a:buNone/>
                      </a:pPr>
                      <a:r>
                        <a:rPr lang="en-IN" sz="1600" dirty="0"/>
                        <a:t>3</a:t>
                      </a:r>
                    </a:p>
                  </a:txBody>
                  <a:tcPr anchor="ctr"/>
                </a:tc>
                <a:tc>
                  <a:txBody>
                    <a:bodyPr/>
                    <a:lstStyle/>
                    <a:p>
                      <a:pPr algn="ctr">
                        <a:buNone/>
                      </a:pPr>
                      <a:r>
                        <a:rPr lang="en-IN" sz="1600"/>
                        <a:t>4</a:t>
                      </a:r>
                    </a:p>
                  </a:txBody>
                  <a:tcPr anchor="ctr"/>
                </a:tc>
                <a:tc>
                  <a:txBody>
                    <a:bodyPr/>
                    <a:lstStyle/>
                    <a:p>
                      <a:pPr algn="ctr">
                        <a:buNone/>
                      </a:pPr>
                      <a:r>
                        <a:rPr lang="en-IN" sz="1600"/>
                        <a:t>5</a:t>
                      </a:r>
                    </a:p>
                  </a:txBody>
                  <a:tcPr anchor="ctr"/>
                </a:tc>
                <a:tc>
                  <a:txBody>
                    <a:bodyPr/>
                    <a:lstStyle/>
                    <a:p>
                      <a:pPr algn="ctr">
                        <a:buNone/>
                      </a:pPr>
                      <a:r>
                        <a:rPr lang="en-IN" sz="1600"/>
                        <a:t>6</a:t>
                      </a:r>
                    </a:p>
                  </a:txBody>
                  <a:tcPr anchor="ctr"/>
                </a:tc>
                <a:tc>
                  <a:txBody>
                    <a:bodyPr/>
                    <a:lstStyle/>
                    <a:p>
                      <a:pPr algn="ctr">
                        <a:buNone/>
                      </a:pPr>
                      <a:r>
                        <a:rPr lang="en-IN" sz="1600"/>
                        <a:t>7</a:t>
                      </a:r>
                    </a:p>
                  </a:txBody>
                  <a:tcPr anchor="ctr"/>
                </a:tc>
                <a:tc>
                  <a:txBody>
                    <a:bodyPr/>
                    <a:lstStyle/>
                    <a:p>
                      <a:pPr algn="ctr">
                        <a:buNone/>
                      </a:pPr>
                      <a:r>
                        <a:rPr lang="en-IN" sz="1600"/>
                        <a:t>8</a:t>
                      </a:r>
                    </a:p>
                  </a:txBody>
                  <a:tcPr anchor="ctr"/>
                </a:tc>
                <a:tc>
                  <a:txBody>
                    <a:bodyPr/>
                    <a:lstStyle/>
                    <a:p>
                      <a:pPr algn="ctr">
                        <a:buNone/>
                      </a:pPr>
                      <a:r>
                        <a:rPr lang="en-IN" sz="1600"/>
                        <a:t>9</a:t>
                      </a:r>
                    </a:p>
                  </a:txBody>
                  <a:tcPr anchor="ctr"/>
                </a:tc>
                <a:tc>
                  <a:txBody>
                    <a:bodyPr/>
                    <a:lstStyle/>
                    <a:p>
                      <a:pPr algn="ctr">
                        <a:buNone/>
                      </a:pPr>
                      <a:r>
                        <a:rPr lang="en-IN" sz="1600" dirty="0"/>
                        <a:t>10</a:t>
                      </a:r>
                    </a:p>
                  </a:txBody>
                  <a:tcPr anchor="ctr"/>
                </a:tc>
                <a:extLst>
                  <a:ext uri="{0D108BD9-81ED-4DB2-BD59-A6C34878D82A}">
                    <a16:rowId xmlns:a16="http://schemas.microsoft.com/office/drawing/2014/main" val="1927178644"/>
                  </a:ext>
                </a:extLst>
              </a:tr>
              <a:tr h="0">
                <a:tc>
                  <a:txBody>
                    <a:bodyPr/>
                    <a:lstStyle/>
                    <a:p>
                      <a:pPr algn="r">
                        <a:buNone/>
                      </a:pPr>
                      <a:r>
                        <a:rPr lang="en-IN" sz="1600" dirty="0"/>
                        <a:t>Character</a:t>
                      </a:r>
                    </a:p>
                  </a:txBody>
                  <a:tcPr anchor="ctr"/>
                </a:tc>
                <a:tc>
                  <a:txBody>
                    <a:bodyPr/>
                    <a:lstStyle/>
                    <a:p>
                      <a:pPr algn="ctr">
                        <a:buNone/>
                      </a:pPr>
                      <a:r>
                        <a:rPr lang="en-IN" sz="1600" dirty="0"/>
                        <a:t>A</a:t>
                      </a:r>
                    </a:p>
                  </a:txBody>
                  <a:tcPr anchor="ctr"/>
                </a:tc>
                <a:tc>
                  <a:txBody>
                    <a:bodyPr/>
                    <a:lstStyle/>
                    <a:p>
                      <a:pPr algn="ctr">
                        <a:buNone/>
                      </a:pPr>
                      <a:r>
                        <a:rPr lang="en-IN" sz="1600"/>
                        <a:t>A</a:t>
                      </a:r>
                    </a:p>
                  </a:txBody>
                  <a:tcPr anchor="ctr"/>
                </a:tc>
                <a:tc>
                  <a:txBody>
                    <a:bodyPr/>
                    <a:lstStyle/>
                    <a:p>
                      <a:pPr algn="ctr">
                        <a:buNone/>
                      </a:pPr>
                      <a:r>
                        <a:rPr lang="en-IN" sz="1600"/>
                        <a:t>B</a:t>
                      </a:r>
                    </a:p>
                  </a:txBody>
                  <a:tcPr anchor="ctr"/>
                </a:tc>
                <a:tc>
                  <a:txBody>
                    <a:bodyPr/>
                    <a:lstStyle/>
                    <a:p>
                      <a:pPr algn="ctr">
                        <a:buNone/>
                      </a:pPr>
                      <a:r>
                        <a:rPr lang="en-IN" sz="1600"/>
                        <a:t>C</a:t>
                      </a:r>
                    </a:p>
                  </a:txBody>
                  <a:tcPr anchor="ctr"/>
                </a:tc>
                <a:tc>
                  <a:txBody>
                    <a:bodyPr/>
                    <a:lstStyle/>
                    <a:p>
                      <a:pPr algn="ctr">
                        <a:buNone/>
                      </a:pPr>
                      <a:r>
                        <a:rPr lang="en-IN" sz="1600" dirty="0"/>
                        <a:t>A</a:t>
                      </a:r>
                    </a:p>
                  </a:txBody>
                  <a:tcPr anchor="ctr"/>
                </a:tc>
                <a:tc>
                  <a:txBody>
                    <a:bodyPr/>
                    <a:lstStyle/>
                    <a:p>
                      <a:pPr algn="ctr">
                        <a:buNone/>
                      </a:pPr>
                      <a:r>
                        <a:rPr lang="en-IN" sz="1600" dirty="0"/>
                        <a:t>A</a:t>
                      </a:r>
                    </a:p>
                  </a:txBody>
                  <a:tcPr anchor="ctr"/>
                </a:tc>
                <a:tc>
                  <a:txBody>
                    <a:bodyPr/>
                    <a:lstStyle/>
                    <a:p>
                      <a:pPr algn="ctr">
                        <a:buNone/>
                      </a:pPr>
                      <a:r>
                        <a:rPr lang="en-IN" sz="1600" dirty="0"/>
                        <a:t>B</a:t>
                      </a:r>
                    </a:p>
                  </a:txBody>
                  <a:tcPr anchor="ctr"/>
                </a:tc>
                <a:tc>
                  <a:txBody>
                    <a:bodyPr/>
                    <a:lstStyle/>
                    <a:p>
                      <a:pPr algn="ctr">
                        <a:buNone/>
                      </a:pPr>
                      <a:r>
                        <a:rPr lang="en-IN" sz="1600"/>
                        <a:t>X</a:t>
                      </a:r>
                    </a:p>
                  </a:txBody>
                  <a:tcPr anchor="ctr"/>
                </a:tc>
                <a:tc>
                  <a:txBody>
                    <a:bodyPr/>
                    <a:lstStyle/>
                    <a:p>
                      <a:pPr algn="ctr">
                        <a:buNone/>
                      </a:pPr>
                      <a:r>
                        <a:rPr lang="en-IN" sz="1600"/>
                        <a:t>A</a:t>
                      </a:r>
                    </a:p>
                  </a:txBody>
                  <a:tcPr anchor="ctr"/>
                </a:tc>
                <a:tc>
                  <a:txBody>
                    <a:bodyPr/>
                    <a:lstStyle/>
                    <a:p>
                      <a:pPr algn="ctr">
                        <a:buNone/>
                      </a:pPr>
                      <a:r>
                        <a:rPr lang="en-IN" sz="1600"/>
                        <a:t>A</a:t>
                      </a:r>
                    </a:p>
                  </a:txBody>
                  <a:tcPr anchor="ctr"/>
                </a:tc>
                <a:tc>
                  <a:txBody>
                    <a:bodyPr/>
                    <a:lstStyle/>
                    <a:p>
                      <a:pPr algn="ctr">
                        <a:buNone/>
                      </a:pPr>
                      <a:r>
                        <a:rPr lang="en-IN" sz="1600"/>
                        <a:t>B</a:t>
                      </a:r>
                    </a:p>
                  </a:txBody>
                  <a:tcPr anchor="ctr"/>
                </a:tc>
                <a:extLst>
                  <a:ext uri="{0D108BD9-81ED-4DB2-BD59-A6C34878D82A}">
                    <a16:rowId xmlns:a16="http://schemas.microsoft.com/office/drawing/2014/main" val="1478823661"/>
                  </a:ext>
                </a:extLst>
              </a:tr>
              <a:tr h="0">
                <a:tc>
                  <a:txBody>
                    <a:bodyPr/>
                    <a:lstStyle/>
                    <a:p>
                      <a:pPr algn="r">
                        <a:buNone/>
                      </a:pPr>
                      <a:r>
                        <a:rPr lang="en-IN" sz="1600" dirty="0"/>
                        <a:t>Z[</a:t>
                      </a:r>
                      <a:r>
                        <a:rPr lang="en-IN" sz="1600" dirty="0" err="1"/>
                        <a:t>i</a:t>
                      </a:r>
                      <a:r>
                        <a:rPr lang="en-IN" sz="1600" dirty="0"/>
                        <a:t>]</a:t>
                      </a:r>
                    </a:p>
                  </a:txBody>
                  <a:tcPr anchor="ctr"/>
                </a:tc>
                <a:tc>
                  <a:txBody>
                    <a:bodyPr/>
                    <a:lstStyle/>
                    <a:p>
                      <a:pPr algn="ctr">
                        <a:buNone/>
                      </a:pPr>
                      <a:r>
                        <a:rPr lang="en-IN" sz="1600"/>
                        <a:t>0</a:t>
                      </a:r>
                    </a:p>
                  </a:txBody>
                  <a:tcPr anchor="ctr"/>
                </a:tc>
                <a:tc>
                  <a:txBody>
                    <a:bodyPr/>
                    <a:lstStyle/>
                    <a:p>
                      <a:pPr algn="ctr">
                        <a:buNone/>
                      </a:pPr>
                      <a:r>
                        <a:rPr lang="en-IN" sz="1600"/>
                        <a:t>1</a:t>
                      </a:r>
                    </a:p>
                  </a:txBody>
                  <a:tcPr anchor="ctr"/>
                </a:tc>
                <a:tc>
                  <a:txBody>
                    <a:bodyPr/>
                    <a:lstStyle/>
                    <a:p>
                      <a:pPr algn="ctr">
                        <a:buNone/>
                      </a:pPr>
                      <a:r>
                        <a:rPr lang="en-IN" sz="1600"/>
                        <a:t>0</a:t>
                      </a:r>
                    </a:p>
                  </a:txBody>
                  <a:tcPr anchor="ctr"/>
                </a:tc>
                <a:tc>
                  <a:txBody>
                    <a:bodyPr/>
                    <a:lstStyle/>
                    <a:p>
                      <a:pPr algn="ctr">
                        <a:buNone/>
                      </a:pPr>
                      <a:r>
                        <a:rPr lang="en-IN" sz="1600"/>
                        <a:t>0</a:t>
                      </a:r>
                    </a:p>
                  </a:txBody>
                  <a:tcPr anchor="ctr"/>
                </a:tc>
                <a:tc>
                  <a:txBody>
                    <a:bodyPr/>
                    <a:lstStyle/>
                    <a:p>
                      <a:pPr algn="ctr">
                        <a:buNone/>
                      </a:pPr>
                      <a:r>
                        <a:rPr lang="en-IN" sz="1600" dirty="0"/>
                        <a:t>3</a:t>
                      </a:r>
                    </a:p>
                  </a:txBody>
                  <a:tcPr anchor="ctr"/>
                </a:tc>
                <a:tc>
                  <a:txBody>
                    <a:bodyPr/>
                    <a:lstStyle/>
                    <a:p>
                      <a:pPr algn="ctr">
                        <a:buNone/>
                      </a:pPr>
                      <a:r>
                        <a:rPr lang="en-IN" sz="1600"/>
                        <a:t>1</a:t>
                      </a:r>
                    </a:p>
                  </a:txBody>
                  <a:tcPr anchor="ctr"/>
                </a:tc>
                <a:tc>
                  <a:txBody>
                    <a:bodyPr/>
                    <a:lstStyle/>
                    <a:p>
                      <a:pPr algn="ctr">
                        <a:buNone/>
                      </a:pPr>
                      <a:r>
                        <a:rPr lang="en-IN" sz="1600"/>
                        <a:t>0</a:t>
                      </a:r>
                    </a:p>
                  </a:txBody>
                  <a:tcPr anchor="ctr"/>
                </a:tc>
                <a:tc>
                  <a:txBody>
                    <a:bodyPr/>
                    <a:lstStyle/>
                    <a:p>
                      <a:pPr algn="ctr">
                        <a:buNone/>
                      </a:pPr>
                      <a:r>
                        <a:rPr lang="en-IN" sz="1600"/>
                        <a:t>0</a:t>
                      </a:r>
                    </a:p>
                  </a:txBody>
                  <a:tcPr anchor="ctr"/>
                </a:tc>
                <a:tc>
                  <a:txBody>
                    <a:bodyPr/>
                    <a:lstStyle/>
                    <a:p>
                      <a:pPr algn="ctr">
                        <a:buNone/>
                      </a:pPr>
                      <a:r>
                        <a:rPr lang="en-IN" sz="1600"/>
                        <a:t>3</a:t>
                      </a:r>
                    </a:p>
                  </a:txBody>
                  <a:tcPr anchor="ctr"/>
                </a:tc>
                <a:tc>
                  <a:txBody>
                    <a:bodyPr/>
                    <a:lstStyle/>
                    <a:p>
                      <a:pPr algn="ctr">
                        <a:buNone/>
                      </a:pPr>
                      <a:r>
                        <a:rPr lang="en-IN" sz="1600"/>
                        <a:t>1</a:t>
                      </a:r>
                    </a:p>
                  </a:txBody>
                  <a:tcPr anchor="ctr"/>
                </a:tc>
                <a:tc>
                  <a:txBody>
                    <a:bodyPr/>
                    <a:lstStyle/>
                    <a:p>
                      <a:pPr algn="ctr">
                        <a:buNone/>
                      </a:pPr>
                      <a:r>
                        <a:rPr lang="en-IN" sz="1600" dirty="0"/>
                        <a:t>0</a:t>
                      </a:r>
                    </a:p>
                  </a:txBody>
                  <a:tcPr anchor="ctr"/>
                </a:tc>
                <a:extLst>
                  <a:ext uri="{0D108BD9-81ED-4DB2-BD59-A6C34878D82A}">
                    <a16:rowId xmlns:a16="http://schemas.microsoft.com/office/drawing/2014/main" val="817815104"/>
                  </a:ext>
                </a:extLst>
              </a:tr>
            </a:tbl>
          </a:graphicData>
        </a:graphic>
      </p:graphicFrame>
      <p:sp>
        <p:nvSpPr>
          <p:cNvPr id="9" name="Rectangle 8"/>
          <p:cNvSpPr/>
          <p:nvPr/>
        </p:nvSpPr>
        <p:spPr>
          <a:xfrm>
            <a:off x="365760" y="4418940"/>
            <a:ext cx="10287000" cy="1200329"/>
          </a:xfrm>
          <a:prstGeom prst="rect">
            <a:avLst/>
          </a:prstGeom>
        </p:spPr>
        <p:txBody>
          <a:bodyPr wrap="square">
            <a:spAutoFit/>
          </a:bodyPr>
          <a:lstStyle/>
          <a:p>
            <a:pPr algn="just">
              <a:buNone/>
            </a:pPr>
            <a:r>
              <a:rPr lang="en-IN" dirty="0">
                <a:latin typeface="Times New Roman" panose="02020603050405020304" pitchFamily="18" charset="0"/>
                <a:cs typeface="Times New Roman" panose="02020603050405020304" pitchFamily="18" charset="0"/>
              </a:rPr>
              <a:t>Explanation</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Z[1] = 1 because only the first character (A) matches the prefix. </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Z[4] = 3 because the substring starting at index 4 is AAB, which matches the prefix AAB. </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Z[8] = 3 for the same reason.</a:t>
            </a:r>
          </a:p>
        </p:txBody>
      </p:sp>
    </p:spTree>
    <p:extLst>
      <p:ext uri="{BB962C8B-B14F-4D97-AF65-F5344CB8AC3E}">
        <p14:creationId xmlns:p14="http://schemas.microsoft.com/office/powerpoint/2010/main" val="92190937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99</a:t>
            </a:fld>
            <a:endParaRPr lang="en-AU"/>
          </a:p>
        </p:txBody>
      </p:sp>
      <p:sp>
        <p:nvSpPr>
          <p:cNvPr id="5" name="Rectangle 4"/>
          <p:cNvSpPr/>
          <p:nvPr/>
        </p:nvSpPr>
        <p:spPr>
          <a:xfrm>
            <a:off x="579120" y="919887"/>
            <a:ext cx="11358880" cy="5170646"/>
          </a:xfrm>
          <a:prstGeom prst="rect">
            <a:avLst/>
          </a:prstGeom>
        </p:spPr>
        <p:txBody>
          <a:bodyPr wrap="square">
            <a:spAutoFit/>
          </a:bodyPr>
          <a:lstStyle/>
          <a:p>
            <a:pPr algn="just" fontAlgn="base">
              <a:lnSpc>
                <a:spcPct val="150000"/>
              </a:lnSpc>
            </a:pPr>
            <a:r>
              <a:rPr lang="en-IN" sz="2100" b="1" u="sng" spc="12" dirty="0">
                <a:solidFill>
                  <a:srgbClr val="273239"/>
                </a:solidFill>
                <a:latin typeface="Times New Roman" panose="02020603050405020304" pitchFamily="18" charset="0"/>
                <a:cs typeface="Times New Roman" panose="02020603050405020304" pitchFamily="18" charset="0"/>
              </a:rPr>
              <a:t>Core Idea</a:t>
            </a:r>
          </a:p>
          <a:p>
            <a:pPr marL="342900" indent="-342900" algn="just" fontAlgn="base">
              <a:lnSpc>
                <a:spcPct val="150000"/>
              </a:lnSpc>
              <a:buFont typeface="Arial" pitchFamily="34" charset="0"/>
              <a:buChar char="•"/>
            </a:pPr>
            <a:r>
              <a:rPr lang="en-IN" sz="2300" b="1" spc="12" dirty="0">
                <a:solidFill>
                  <a:srgbClr val="1E03BD"/>
                </a:solidFill>
                <a:latin typeface="Times New Roman" panose="02020603050405020304" pitchFamily="18" charset="0"/>
                <a:cs typeface="Times New Roman" panose="02020603050405020304" pitchFamily="18" charset="0"/>
              </a:rPr>
              <a:t>Create a string that is concatenation of 3 things, pattern, a separator (that should be present in pattern) and text</a:t>
            </a:r>
            <a:endParaRPr lang="en-IN" sz="2300" b="1" spc="10" dirty="0">
              <a:solidFill>
                <a:srgbClr val="1E03BD"/>
              </a:solidFill>
              <a:latin typeface="Times New Roman" panose="02020603050405020304" pitchFamily="18" charset="0"/>
              <a:cs typeface="Times New Roman" panose="02020603050405020304" pitchFamily="18" charset="0"/>
            </a:endParaRPr>
          </a:p>
          <a:p>
            <a:pPr marL="342900" indent="-342900" algn="just" fontAlgn="base">
              <a:lnSpc>
                <a:spcPct val="150000"/>
              </a:lnSpc>
              <a:buFont typeface="Arial" pitchFamily="34" charset="0"/>
              <a:buChar char="•"/>
            </a:pPr>
            <a:r>
              <a:rPr lang="en-IN" sz="2300" b="1" spc="12" dirty="0">
                <a:solidFill>
                  <a:srgbClr val="1E03BD"/>
                </a:solidFill>
                <a:latin typeface="Times New Roman" panose="02020603050405020304" pitchFamily="18" charset="0"/>
                <a:cs typeface="Times New Roman" panose="02020603050405020304" pitchFamily="18" charset="0"/>
              </a:rPr>
              <a:t>Now we consider the above created string and at any point (starting from second index), if we find a substring that is also a prefix and is of same length as pattern, then the pattern is present at that point.</a:t>
            </a:r>
          </a:p>
          <a:p>
            <a:pPr>
              <a:lnSpc>
                <a:spcPct val="150000"/>
              </a:lnSpc>
            </a:pPr>
            <a:r>
              <a:rPr lang="en-US" sz="2100" dirty="0">
                <a:latin typeface="Times New Roman" panose="02020603050405020304" pitchFamily="18" charset="0"/>
                <a:cs typeface="Times New Roman" panose="02020603050405020304" pitchFamily="18" charset="0"/>
              </a:rPr>
              <a:t>Instead of comparing characters repeatedly from scratch, the algorithm keeps track of a </a:t>
            </a:r>
            <a:r>
              <a:rPr lang="en-US" sz="2100" b="1" dirty="0">
                <a:latin typeface="Times New Roman" panose="02020603050405020304" pitchFamily="18" charset="0"/>
                <a:cs typeface="Times New Roman" panose="02020603050405020304" pitchFamily="18" charset="0"/>
              </a:rPr>
              <a:t>window</a:t>
            </a:r>
            <a:r>
              <a:rPr lang="en-US" sz="2100" dirty="0">
                <a:latin typeface="Times New Roman" panose="02020603050405020304" pitchFamily="18" charset="0"/>
                <a:cs typeface="Times New Roman" panose="02020603050405020304" pitchFamily="18" charset="0"/>
              </a:rPr>
              <a:t> called the </a:t>
            </a:r>
            <a:r>
              <a:rPr lang="en-US" sz="2100" b="1" dirty="0">
                <a:latin typeface="Times New Roman" panose="02020603050405020304" pitchFamily="18" charset="0"/>
                <a:cs typeface="Times New Roman" panose="02020603050405020304" pitchFamily="18" charset="0"/>
              </a:rPr>
              <a:t>Z-box (Z-window)</a:t>
            </a:r>
            <a:r>
              <a:rPr lang="en-US" sz="2100" dirty="0">
                <a:latin typeface="Times New Roman" panose="02020603050405020304" pitchFamily="18" charset="0"/>
                <a:cs typeface="Times New Roman" panose="02020603050405020304" pitchFamily="18" charset="0"/>
              </a:rPr>
              <a:t>.   </a:t>
            </a:r>
            <a:r>
              <a:rPr lang="en-IN" sz="2100" b="1" dirty="0">
                <a:latin typeface="Times New Roman" panose="02020603050405020304" pitchFamily="18" charset="0"/>
                <a:cs typeface="Times New Roman" panose="02020603050405020304" pitchFamily="18" charset="0"/>
              </a:rPr>
              <a:t>L</a:t>
            </a:r>
            <a:r>
              <a:rPr lang="en-IN" sz="2100" dirty="0">
                <a:latin typeface="Times New Roman" panose="02020603050405020304" pitchFamily="18" charset="0"/>
                <a:cs typeface="Times New Roman" panose="02020603050405020304" pitchFamily="18" charset="0"/>
              </a:rPr>
              <a:t> and </a:t>
            </a:r>
            <a:r>
              <a:rPr lang="en-IN" sz="2100" b="1" dirty="0">
                <a:latin typeface="Times New Roman" panose="02020603050405020304" pitchFamily="18" charset="0"/>
                <a:cs typeface="Times New Roman" panose="02020603050405020304" pitchFamily="18" charset="0"/>
              </a:rPr>
              <a:t>R</a:t>
            </a:r>
            <a:r>
              <a:rPr lang="en-IN" sz="2100" dirty="0">
                <a:latin typeface="Times New Roman" panose="02020603050405020304" pitchFamily="18" charset="0"/>
                <a:cs typeface="Times New Roman" panose="02020603050405020304" pitchFamily="18" charset="0"/>
              </a:rPr>
              <a:t> are two pointers that define the </a:t>
            </a:r>
            <a:r>
              <a:rPr lang="en-IN" sz="2100" b="1" dirty="0">
                <a:latin typeface="Times New Roman" panose="02020603050405020304" pitchFamily="18" charset="0"/>
                <a:cs typeface="Times New Roman" panose="02020603050405020304" pitchFamily="18" charset="0"/>
              </a:rPr>
              <a:t>Z-box. </a:t>
            </a:r>
            <a:endParaRPr lang="en-IN" sz="21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ü"/>
            </a:pPr>
            <a:r>
              <a:rPr lang="en-IN" sz="2100" b="1" dirty="0">
                <a:latin typeface="Times New Roman" panose="02020603050405020304" pitchFamily="18" charset="0"/>
                <a:cs typeface="Times New Roman" panose="02020603050405020304" pitchFamily="18" charset="0"/>
              </a:rPr>
              <a:t>L (Left Boundary):</a:t>
            </a:r>
            <a:r>
              <a:rPr lang="en-IN" sz="2100" dirty="0">
                <a:latin typeface="Times New Roman" panose="02020603050405020304" pitchFamily="18" charset="0"/>
                <a:cs typeface="Times New Roman" panose="02020603050405020304" pitchFamily="18" charset="0"/>
              </a:rPr>
              <a:t> The starting index of the current substring that matches the prefix of the string. </a:t>
            </a:r>
          </a:p>
          <a:p>
            <a:pPr marL="285750" indent="-285750">
              <a:lnSpc>
                <a:spcPct val="150000"/>
              </a:lnSpc>
              <a:buFont typeface="Wingdings" panose="05000000000000000000" pitchFamily="2" charset="2"/>
              <a:buChar char="ü"/>
            </a:pPr>
            <a:r>
              <a:rPr lang="en-IN" sz="2100" b="1" dirty="0">
                <a:latin typeface="Times New Roman" panose="02020603050405020304" pitchFamily="18" charset="0"/>
                <a:cs typeface="Times New Roman" panose="02020603050405020304" pitchFamily="18" charset="0"/>
              </a:rPr>
              <a:t>R (Right Boundary):</a:t>
            </a:r>
            <a:r>
              <a:rPr lang="en-IN" sz="2100" dirty="0">
                <a:latin typeface="Times New Roman" panose="02020603050405020304" pitchFamily="18" charset="0"/>
                <a:cs typeface="Times New Roman" panose="02020603050405020304" pitchFamily="18" charset="0"/>
              </a:rPr>
              <a:t> The ending index of that matching substring.</a:t>
            </a:r>
            <a:endParaRPr lang="en-IN" sz="2100" spc="10" dirty="0">
              <a:solidFill>
                <a:srgbClr val="273239"/>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12853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847898" y="6356350"/>
            <a:ext cx="1631142" cy="365125"/>
          </a:xfrm>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100</a:t>
            </a:fld>
            <a:endParaRPr lang="en-AU"/>
          </a:p>
        </p:txBody>
      </p:sp>
      <p:sp>
        <p:nvSpPr>
          <p:cNvPr id="4" name="Rectangle 3"/>
          <p:cNvSpPr/>
          <p:nvPr/>
        </p:nvSpPr>
        <p:spPr>
          <a:xfrm>
            <a:off x="1634961" y="393345"/>
            <a:ext cx="10460961" cy="421077"/>
          </a:xfrm>
          <a:prstGeom prst="rect">
            <a:avLst/>
          </a:prstGeom>
        </p:spPr>
        <p:txBody>
          <a:bodyPr wrap="square">
            <a:spAutoFit/>
          </a:bodyPr>
          <a:lstStyle/>
          <a:p>
            <a:pPr>
              <a:lnSpc>
                <a:spcPct val="107000"/>
              </a:lnSpc>
            </a:pPr>
            <a:r>
              <a:rPr lang="en-US" sz="2100" b="1" kern="0" dirty="0">
                <a:solidFill>
                  <a:srgbClr val="1E03BD"/>
                </a:solidFill>
                <a:latin typeface="Times New Roman" panose="02020603050405020304" pitchFamily="18" charset="0"/>
                <a:ea typeface="Times New Roman" panose="02020603050405020304" pitchFamily="18" charset="0"/>
                <a:cs typeface="Times New Roman" panose="02020603050405020304" pitchFamily="18" charset="0"/>
              </a:rPr>
              <a:t>Example: Search for the pattern "ABA" in the text "ABABABA" using the Z-Algorithm.</a:t>
            </a:r>
            <a:endParaRPr lang="en-US" sz="2100" b="1" kern="100" dirty="0">
              <a:solidFill>
                <a:srgbClr val="1E03BD"/>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677126" y="840903"/>
            <a:ext cx="10184929" cy="2667525"/>
          </a:xfrm>
          <a:prstGeom prst="rect">
            <a:avLst/>
          </a:prstGeom>
        </p:spPr>
        <p:txBody>
          <a:bodyPr wrap="square">
            <a:spAutoFit/>
          </a:bodyPr>
          <a:lstStyle/>
          <a:p>
            <a:pPr>
              <a:lnSpc>
                <a:spcPct val="107000"/>
              </a:lnSpc>
            </a:pP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Step 1: Given Pattern (P):   </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ABA</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Text (T):   </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ABABABA</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r>
              <a:rPr lang="en-US" sz="2000" kern="0" dirty="0">
                <a:latin typeface="Times New Roman" panose="02020603050405020304" pitchFamily="18" charset="0"/>
                <a:ea typeface="Times New Roman" panose="02020603050405020304" pitchFamily="18" charset="0"/>
              </a:rPr>
              <a:t>Pattern length = </a:t>
            </a:r>
            <a:r>
              <a:rPr lang="en-US" sz="2000" b="1" kern="0" dirty="0">
                <a:latin typeface="Times New Roman" panose="02020603050405020304" pitchFamily="18" charset="0"/>
                <a:ea typeface="Times New Roman" panose="02020603050405020304" pitchFamily="18" charset="0"/>
              </a:rPr>
              <a:t>3 </a:t>
            </a:r>
          </a:p>
          <a:p>
            <a:endParaRPr lang="en-US" sz="2000" b="1" kern="0" dirty="0">
              <a:latin typeface="Times New Roman" panose="02020603050405020304" pitchFamily="18" charset="0"/>
            </a:endParaRPr>
          </a:p>
          <a:p>
            <a:pPr>
              <a:lnSpc>
                <a:spcPct val="107000"/>
              </a:lnSpc>
            </a:pP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Step 2: Create the Combined String</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The Z-Algorithm works by combining the pattern and text with a special separator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kern="0" dirty="0">
                <a:solidFill>
                  <a:srgbClr val="1E03BD"/>
                </a:solidFill>
                <a:latin typeface="Times New Roman" panose="02020603050405020304" pitchFamily="18" charset="0"/>
                <a:ea typeface="Times New Roman" panose="02020603050405020304" pitchFamily="18" charset="0"/>
                <a:cs typeface="Times New Roman" panose="02020603050405020304" pitchFamily="18" charset="0"/>
              </a:rPr>
              <a:t>S = Pattern + "$" + Text</a:t>
            </a:r>
            <a:endParaRPr lang="en-US" b="1" kern="100" dirty="0">
              <a:solidFill>
                <a:srgbClr val="1E03BD"/>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S = ABA$ABABABA</a:t>
            </a:r>
            <a:endParaRPr lang="en-US" sz="2000" dirty="0"/>
          </a:p>
        </p:txBody>
      </p:sp>
      <p:sp>
        <p:nvSpPr>
          <p:cNvPr id="7" name="Rectangle 6"/>
          <p:cNvSpPr/>
          <p:nvPr/>
        </p:nvSpPr>
        <p:spPr>
          <a:xfrm>
            <a:off x="671494" y="3536684"/>
            <a:ext cx="3993401" cy="405367"/>
          </a:xfrm>
          <a:prstGeom prst="rect">
            <a:avLst/>
          </a:prstGeom>
        </p:spPr>
        <p:txBody>
          <a:bodyPr wrap="none">
            <a:spAutoFit/>
          </a:bodyPr>
          <a:lstStyle/>
          <a:p>
            <a:pPr>
              <a:lnSpc>
                <a:spcPct val="107000"/>
              </a:lnSpc>
            </a:pP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Step 3: Index the Combined String</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8" name="Table 7"/>
          <p:cNvGraphicFramePr>
            <a:graphicFrameLocks noGrp="1"/>
          </p:cNvGraphicFramePr>
          <p:nvPr>
            <p:extLst>
              <p:ext uri="{D42A27DB-BD31-4B8C-83A1-F6EECF244321}">
                <p14:modId xmlns:p14="http://schemas.microsoft.com/office/powerpoint/2010/main" val="1143864327"/>
              </p:ext>
            </p:extLst>
          </p:nvPr>
        </p:nvGraphicFramePr>
        <p:xfrm>
          <a:off x="941104" y="4000468"/>
          <a:ext cx="10830578" cy="812530"/>
        </p:xfrm>
        <a:graphic>
          <a:graphicData uri="http://schemas.openxmlformats.org/drawingml/2006/table">
            <a:tbl>
              <a:tblPr firstRow="1" firstCol="1" bandRow="1">
                <a:tableStyleId>{5C22544A-7EE6-4342-B048-85BDC9FD1C3A}</a:tableStyleId>
              </a:tblPr>
              <a:tblGrid>
                <a:gridCol w="1721083">
                  <a:extLst>
                    <a:ext uri="{9D8B030D-6E8A-4147-A177-3AD203B41FA5}">
                      <a16:colId xmlns:a16="http://schemas.microsoft.com/office/drawing/2014/main" val="3522161987"/>
                    </a:ext>
                  </a:extLst>
                </a:gridCol>
                <a:gridCol w="463799">
                  <a:extLst>
                    <a:ext uri="{9D8B030D-6E8A-4147-A177-3AD203B41FA5}">
                      <a16:colId xmlns:a16="http://schemas.microsoft.com/office/drawing/2014/main" val="3784545332"/>
                    </a:ext>
                  </a:extLst>
                </a:gridCol>
                <a:gridCol w="694490">
                  <a:extLst>
                    <a:ext uri="{9D8B030D-6E8A-4147-A177-3AD203B41FA5}">
                      <a16:colId xmlns:a16="http://schemas.microsoft.com/office/drawing/2014/main" val="2613111833"/>
                    </a:ext>
                  </a:extLst>
                </a:gridCol>
                <a:gridCol w="730822">
                  <a:extLst>
                    <a:ext uri="{9D8B030D-6E8A-4147-A177-3AD203B41FA5}">
                      <a16:colId xmlns:a16="http://schemas.microsoft.com/office/drawing/2014/main" val="1613998934"/>
                    </a:ext>
                  </a:extLst>
                </a:gridCol>
                <a:gridCol w="902548">
                  <a:extLst>
                    <a:ext uri="{9D8B030D-6E8A-4147-A177-3AD203B41FA5}">
                      <a16:colId xmlns:a16="http://schemas.microsoft.com/office/drawing/2014/main" val="1976703716"/>
                    </a:ext>
                  </a:extLst>
                </a:gridCol>
                <a:gridCol w="902548">
                  <a:extLst>
                    <a:ext uri="{9D8B030D-6E8A-4147-A177-3AD203B41FA5}">
                      <a16:colId xmlns:a16="http://schemas.microsoft.com/office/drawing/2014/main" val="3363312344"/>
                    </a:ext>
                  </a:extLst>
                </a:gridCol>
                <a:gridCol w="902548">
                  <a:extLst>
                    <a:ext uri="{9D8B030D-6E8A-4147-A177-3AD203B41FA5}">
                      <a16:colId xmlns:a16="http://schemas.microsoft.com/office/drawing/2014/main" val="961673164"/>
                    </a:ext>
                  </a:extLst>
                </a:gridCol>
                <a:gridCol w="902548">
                  <a:extLst>
                    <a:ext uri="{9D8B030D-6E8A-4147-A177-3AD203B41FA5}">
                      <a16:colId xmlns:a16="http://schemas.microsoft.com/office/drawing/2014/main" val="4137027985"/>
                    </a:ext>
                  </a:extLst>
                </a:gridCol>
                <a:gridCol w="902548">
                  <a:extLst>
                    <a:ext uri="{9D8B030D-6E8A-4147-A177-3AD203B41FA5}">
                      <a16:colId xmlns:a16="http://schemas.microsoft.com/office/drawing/2014/main" val="1426543293"/>
                    </a:ext>
                  </a:extLst>
                </a:gridCol>
                <a:gridCol w="902548">
                  <a:extLst>
                    <a:ext uri="{9D8B030D-6E8A-4147-A177-3AD203B41FA5}">
                      <a16:colId xmlns:a16="http://schemas.microsoft.com/office/drawing/2014/main" val="1030287276"/>
                    </a:ext>
                  </a:extLst>
                </a:gridCol>
                <a:gridCol w="902548">
                  <a:extLst>
                    <a:ext uri="{9D8B030D-6E8A-4147-A177-3AD203B41FA5}">
                      <a16:colId xmlns:a16="http://schemas.microsoft.com/office/drawing/2014/main" val="2488756131"/>
                    </a:ext>
                  </a:extLst>
                </a:gridCol>
                <a:gridCol w="902548">
                  <a:extLst>
                    <a:ext uri="{9D8B030D-6E8A-4147-A177-3AD203B41FA5}">
                      <a16:colId xmlns:a16="http://schemas.microsoft.com/office/drawing/2014/main" val="3619003548"/>
                    </a:ext>
                  </a:extLst>
                </a:gridCol>
              </a:tblGrid>
              <a:tr h="406265">
                <a:tc>
                  <a:txBody>
                    <a:bodyPr/>
                    <a:lstStyle/>
                    <a:p>
                      <a:pPr marL="0" marR="0" algn="ctr">
                        <a:lnSpc>
                          <a:spcPct val="107000"/>
                        </a:lnSpc>
                        <a:spcBef>
                          <a:spcPts val="0"/>
                        </a:spcBef>
                        <a:spcAft>
                          <a:spcPts val="0"/>
                        </a:spcAft>
                      </a:pPr>
                      <a:r>
                        <a:rPr lang="en-US" sz="2000" b="1" kern="0" dirty="0">
                          <a:effectLst/>
                        </a:rPr>
                        <a:t>Index</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b="1" kern="0" dirty="0">
                          <a:effectLst/>
                        </a:rPr>
                        <a:t>0</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b="1" kern="0" dirty="0">
                          <a:effectLst/>
                        </a:rPr>
                        <a:t>1</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b="1" kern="0">
                          <a:effectLst/>
                        </a:rPr>
                        <a:t>2</a:t>
                      </a:r>
                      <a:endParaRPr lang="en-US" sz="20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b="1" kern="0" dirty="0">
                          <a:effectLst/>
                        </a:rPr>
                        <a:t>3</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b="1" kern="0">
                          <a:effectLst/>
                        </a:rPr>
                        <a:t>4</a:t>
                      </a:r>
                      <a:endParaRPr lang="en-US" sz="20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b="1" kern="0" dirty="0">
                          <a:effectLst/>
                        </a:rPr>
                        <a:t>5</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b="1" kern="0">
                          <a:effectLst/>
                        </a:rPr>
                        <a:t>6</a:t>
                      </a:r>
                      <a:endParaRPr lang="en-US" sz="20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b="1" kern="0">
                          <a:effectLst/>
                        </a:rPr>
                        <a:t>7</a:t>
                      </a:r>
                      <a:endParaRPr lang="en-US" sz="20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b="1" kern="0">
                          <a:effectLst/>
                        </a:rPr>
                        <a:t>8</a:t>
                      </a:r>
                      <a:endParaRPr lang="en-US" sz="20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b="1" kern="0">
                          <a:effectLst/>
                        </a:rPr>
                        <a:t>9</a:t>
                      </a:r>
                      <a:endParaRPr lang="en-US" sz="20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b="1" kern="0">
                          <a:effectLst/>
                        </a:rPr>
                        <a:t>10</a:t>
                      </a:r>
                      <a:endParaRPr lang="en-US" sz="20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47624899"/>
                  </a:ext>
                </a:extLst>
              </a:tr>
              <a:tr h="406265">
                <a:tc>
                  <a:txBody>
                    <a:bodyPr/>
                    <a:lstStyle/>
                    <a:p>
                      <a:pPr marL="0" marR="0" algn="ctr">
                        <a:lnSpc>
                          <a:spcPct val="107000"/>
                        </a:lnSpc>
                        <a:spcBef>
                          <a:spcPts val="0"/>
                        </a:spcBef>
                        <a:spcAft>
                          <a:spcPts val="0"/>
                        </a:spcAft>
                      </a:pPr>
                      <a:r>
                        <a:rPr lang="en-US" sz="2000" b="1" kern="0" dirty="0">
                          <a:effectLst/>
                        </a:rPr>
                        <a:t>Character</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b="1" kern="0" dirty="0">
                          <a:effectLst/>
                        </a:rPr>
                        <a:t> A</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b="1" kern="0" dirty="0">
                          <a:effectLst/>
                        </a:rPr>
                        <a:t>B</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b="1" kern="0" dirty="0">
                          <a:effectLst/>
                        </a:rPr>
                        <a:t>A</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b="1" kern="0" dirty="0">
                          <a:effectLst/>
                        </a:rPr>
                        <a:t>$</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b="1" kern="0" dirty="0">
                          <a:effectLst/>
                        </a:rPr>
                        <a:t>A</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b="1" kern="0" dirty="0">
                          <a:effectLst/>
                        </a:rPr>
                        <a:t>B</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b="1" kern="0" dirty="0">
                          <a:effectLst/>
                        </a:rPr>
                        <a:t>A</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b="1" kern="0" dirty="0">
                          <a:effectLst/>
                        </a:rPr>
                        <a:t>B</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b="1" kern="0" dirty="0">
                          <a:effectLst/>
                        </a:rPr>
                        <a:t>A</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b="1" kern="0" dirty="0">
                          <a:effectLst/>
                        </a:rPr>
                        <a:t>B</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b="1" kern="0" dirty="0">
                          <a:effectLst/>
                        </a:rPr>
                        <a:t>A</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458432479"/>
                  </a:ext>
                </a:extLst>
              </a:tr>
            </a:tbl>
          </a:graphicData>
        </a:graphic>
      </p:graphicFrame>
      <p:sp>
        <p:nvSpPr>
          <p:cNvPr id="9" name="Rectangle 8"/>
          <p:cNvSpPr/>
          <p:nvPr/>
        </p:nvSpPr>
        <p:spPr>
          <a:xfrm>
            <a:off x="754149" y="5093962"/>
            <a:ext cx="10683702" cy="1064009"/>
          </a:xfrm>
          <a:prstGeom prst="rect">
            <a:avLst/>
          </a:prstGeom>
        </p:spPr>
        <p:txBody>
          <a:bodyPr wrap="square">
            <a:spAutoFit/>
          </a:bodyPr>
          <a:lstStyle/>
          <a:p>
            <a:pPr>
              <a:lnSpc>
                <a:spcPct val="107000"/>
              </a:lnSpc>
            </a:pPr>
            <a:r>
              <a:rPr lang="en-US" sz="2000" b="1" kern="1800" dirty="0">
                <a:latin typeface="Times New Roman" panose="02020603050405020304" pitchFamily="18" charset="0"/>
                <a:ea typeface="Times New Roman" panose="02020603050405020304" pitchFamily="18" charset="0"/>
                <a:cs typeface="Times New Roman" panose="02020603050405020304" pitchFamily="18" charset="0"/>
              </a:rPr>
              <a:t>Step 4: Compute Z-values</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The Z-value at each position ‘i’ is the length of the longest substring starting at </a:t>
            </a:r>
            <a:r>
              <a:rPr lang="en-US" sz="2000" kern="0" dirty="0" err="1">
                <a:latin typeface="Times New Roman" panose="02020603050405020304" pitchFamily="18" charset="0"/>
                <a:ea typeface="Times New Roman" panose="02020603050405020304" pitchFamily="18" charset="0"/>
                <a:cs typeface="Times New Roman" panose="02020603050405020304" pitchFamily="18" charset="0"/>
              </a:rPr>
              <a:t>i</a:t>
            </a:r>
            <a:r>
              <a:rPr lang="en-US" sz="2000" kern="0" baseline="30000" dirty="0" err="1">
                <a:latin typeface="Times New Roman" panose="02020603050405020304" pitchFamily="18" charset="0"/>
                <a:ea typeface="Times New Roman" panose="02020603050405020304" pitchFamily="18" charset="0"/>
                <a:cs typeface="Times New Roman" panose="02020603050405020304" pitchFamily="18" charset="0"/>
              </a:rPr>
              <a:t>th</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 position that matches the prefixes of </a:t>
            </a: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"ABA$ABABABA"</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2167810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839FB-A1CF-F73F-FDFB-0D8201D3216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C3C434-EFAA-9CF9-E6D0-BD015595F315}"/>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81818400-C8E7-3CE9-BC56-04E51E56BA31}"/>
              </a:ext>
            </a:extLst>
          </p:cNvPr>
          <p:cNvSpPr>
            <a:spLocks noGrp="1"/>
          </p:cNvSpPr>
          <p:nvPr>
            <p:ph type="sldNum" sz="quarter" idx="12"/>
          </p:nvPr>
        </p:nvSpPr>
        <p:spPr/>
        <p:txBody>
          <a:bodyPr/>
          <a:lstStyle/>
          <a:p>
            <a:fld id="{68187FF5-4BF9-4B21-B0D2-9B7FF2B27D7F}" type="slidenum">
              <a:rPr lang="en-AU" smtClean="0"/>
              <a:pPr/>
              <a:t>101</a:t>
            </a:fld>
            <a:endParaRPr lang="en-AU"/>
          </a:p>
        </p:txBody>
      </p:sp>
      <p:sp>
        <p:nvSpPr>
          <p:cNvPr id="5" name="TextBox 4">
            <a:extLst>
              <a:ext uri="{FF2B5EF4-FFF2-40B4-BE49-F238E27FC236}">
                <a16:creationId xmlns:a16="http://schemas.microsoft.com/office/drawing/2014/main" id="{B847A7A7-0857-881D-EEC3-00AD88DBD5EE}"/>
              </a:ext>
            </a:extLst>
          </p:cNvPr>
          <p:cNvSpPr txBox="1"/>
          <p:nvPr/>
        </p:nvSpPr>
        <p:spPr>
          <a:xfrm>
            <a:off x="718689" y="1530491"/>
            <a:ext cx="11009485" cy="2862322"/>
          </a:xfrm>
          <a:prstGeom prst="rect">
            <a:avLst/>
          </a:prstGeom>
          <a:noFill/>
        </p:spPr>
        <p:txBody>
          <a:bodyPr wrap="square" rtlCol="0">
            <a:spAutoFit/>
          </a:bodyPr>
          <a:lstStyle/>
          <a:p>
            <a:r>
              <a:rPr lang="en-US" sz="3600" b="1" kern="0" dirty="0">
                <a:solidFill>
                  <a:srgbClr val="1E03BD"/>
                </a:solidFill>
                <a:latin typeface="Times New Roman" panose="02020603050405020304" pitchFamily="18" charset="0"/>
                <a:ea typeface="Times New Roman" panose="02020603050405020304" pitchFamily="18" charset="0"/>
                <a:cs typeface="Times New Roman" panose="02020603050405020304" pitchFamily="18" charset="0"/>
              </a:rPr>
              <a:t>Prefixes of ABA$ABABABA – </a:t>
            </a:r>
          </a:p>
          <a:p>
            <a:endParaRPr lang="en-US" sz="3600" b="1" kern="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3600" b="1" kern="0" dirty="0">
                <a:latin typeface="Times New Roman" panose="02020603050405020304" pitchFamily="18" charset="0"/>
                <a:ea typeface="Times New Roman" panose="02020603050405020304" pitchFamily="18" charset="0"/>
                <a:cs typeface="Times New Roman" panose="02020603050405020304" pitchFamily="18" charset="0"/>
              </a:rPr>
              <a:t>A, AB, ABA, ABA$, ABA$A, ABA$AB, ABA$ABA, ABA$ABAB, ABA$ABABA, ABA$ABABAB, </a:t>
            </a:r>
            <a:r>
              <a:rPr lang="en-US" sz="3600" b="1" u="sng" kern="0" dirty="0">
                <a:latin typeface="Times New Roman" panose="02020603050405020304" pitchFamily="18" charset="0"/>
                <a:ea typeface="Times New Roman" panose="02020603050405020304" pitchFamily="18" charset="0"/>
                <a:cs typeface="Times New Roman" panose="02020603050405020304" pitchFamily="18" charset="0"/>
              </a:rPr>
              <a:t>ABA$ABABABA</a:t>
            </a:r>
            <a:r>
              <a:rPr lang="en-US" sz="3600" b="1" kern="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sz="3600" dirty="0"/>
          </a:p>
        </p:txBody>
      </p:sp>
    </p:spTree>
    <p:extLst>
      <p:ext uri="{BB962C8B-B14F-4D97-AF65-F5344CB8AC3E}">
        <p14:creationId xmlns:p14="http://schemas.microsoft.com/office/powerpoint/2010/main" val="298327263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9D55-9D1E-0E78-24EF-D8A75BC25D9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72A6923-60FD-F98F-CD47-32082449A8CB}"/>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CA309E4C-FF04-D303-C739-9E49A77FCE83}"/>
              </a:ext>
            </a:extLst>
          </p:cNvPr>
          <p:cNvSpPr>
            <a:spLocks noGrp="1"/>
          </p:cNvSpPr>
          <p:nvPr>
            <p:ph type="sldNum" sz="quarter" idx="12"/>
          </p:nvPr>
        </p:nvSpPr>
        <p:spPr/>
        <p:txBody>
          <a:bodyPr/>
          <a:lstStyle/>
          <a:p>
            <a:fld id="{68187FF5-4BF9-4B21-B0D2-9B7FF2B27D7F}" type="slidenum">
              <a:rPr lang="en-AU" smtClean="0"/>
              <a:pPr/>
              <a:t>102</a:t>
            </a:fld>
            <a:endParaRPr lang="en-AU"/>
          </a:p>
        </p:txBody>
      </p:sp>
      <p:graphicFrame>
        <p:nvGraphicFramePr>
          <p:cNvPr id="4" name="Table 3">
            <a:extLst>
              <a:ext uri="{FF2B5EF4-FFF2-40B4-BE49-F238E27FC236}">
                <a16:creationId xmlns:a16="http://schemas.microsoft.com/office/drawing/2014/main" id="{051B5680-6ED6-0F53-B5C5-12FE0226B4A5}"/>
              </a:ext>
            </a:extLst>
          </p:cNvPr>
          <p:cNvGraphicFramePr>
            <a:graphicFrameLocks noGrp="1"/>
          </p:cNvGraphicFramePr>
          <p:nvPr>
            <p:extLst>
              <p:ext uri="{D42A27DB-BD31-4B8C-83A1-F6EECF244321}">
                <p14:modId xmlns:p14="http://schemas.microsoft.com/office/powerpoint/2010/main" val="3333758194"/>
              </p:ext>
            </p:extLst>
          </p:nvPr>
        </p:nvGraphicFramePr>
        <p:xfrm>
          <a:off x="457548" y="1401417"/>
          <a:ext cx="11280566" cy="5272343"/>
        </p:xfrm>
        <a:graphic>
          <a:graphicData uri="http://schemas.openxmlformats.org/drawingml/2006/table">
            <a:tbl>
              <a:tblPr firstRow="1" firstCol="1" bandRow="1">
                <a:tableStyleId>{5C22544A-7EE6-4342-B048-85BDC9FD1C3A}</a:tableStyleId>
              </a:tblPr>
              <a:tblGrid>
                <a:gridCol w="1034968">
                  <a:extLst>
                    <a:ext uri="{9D8B030D-6E8A-4147-A177-3AD203B41FA5}">
                      <a16:colId xmlns:a16="http://schemas.microsoft.com/office/drawing/2014/main" val="1164717517"/>
                    </a:ext>
                  </a:extLst>
                </a:gridCol>
                <a:gridCol w="1110133">
                  <a:extLst>
                    <a:ext uri="{9D8B030D-6E8A-4147-A177-3AD203B41FA5}">
                      <a16:colId xmlns:a16="http://schemas.microsoft.com/office/drawing/2014/main" val="2647045308"/>
                    </a:ext>
                  </a:extLst>
                </a:gridCol>
                <a:gridCol w="1757710">
                  <a:extLst>
                    <a:ext uri="{9D8B030D-6E8A-4147-A177-3AD203B41FA5}">
                      <a16:colId xmlns:a16="http://schemas.microsoft.com/office/drawing/2014/main" val="2268699619"/>
                    </a:ext>
                  </a:extLst>
                </a:gridCol>
                <a:gridCol w="1272028">
                  <a:extLst>
                    <a:ext uri="{9D8B030D-6E8A-4147-A177-3AD203B41FA5}">
                      <a16:colId xmlns:a16="http://schemas.microsoft.com/office/drawing/2014/main" val="624912249"/>
                    </a:ext>
                  </a:extLst>
                </a:gridCol>
                <a:gridCol w="1029185">
                  <a:extLst>
                    <a:ext uri="{9D8B030D-6E8A-4147-A177-3AD203B41FA5}">
                      <a16:colId xmlns:a16="http://schemas.microsoft.com/office/drawing/2014/main" val="207098068"/>
                    </a:ext>
                  </a:extLst>
                </a:gridCol>
                <a:gridCol w="982930">
                  <a:extLst>
                    <a:ext uri="{9D8B030D-6E8A-4147-A177-3AD203B41FA5}">
                      <a16:colId xmlns:a16="http://schemas.microsoft.com/office/drawing/2014/main" val="1232617575"/>
                    </a:ext>
                  </a:extLst>
                </a:gridCol>
                <a:gridCol w="763217">
                  <a:extLst>
                    <a:ext uri="{9D8B030D-6E8A-4147-A177-3AD203B41FA5}">
                      <a16:colId xmlns:a16="http://schemas.microsoft.com/office/drawing/2014/main" val="3526924159"/>
                    </a:ext>
                  </a:extLst>
                </a:gridCol>
                <a:gridCol w="3330395">
                  <a:extLst>
                    <a:ext uri="{9D8B030D-6E8A-4147-A177-3AD203B41FA5}">
                      <a16:colId xmlns:a16="http://schemas.microsoft.com/office/drawing/2014/main" val="1809566418"/>
                    </a:ext>
                  </a:extLst>
                </a:gridCol>
              </a:tblGrid>
              <a:tr h="498821">
                <a:tc>
                  <a:txBody>
                    <a:bodyPr/>
                    <a:lstStyle/>
                    <a:p>
                      <a:pPr marL="0" marR="0" algn="ctr">
                        <a:lnSpc>
                          <a:spcPct val="107000"/>
                        </a:lnSpc>
                        <a:spcBef>
                          <a:spcPts val="0"/>
                        </a:spcBef>
                        <a:spcAft>
                          <a:spcPts val="0"/>
                        </a:spcAft>
                      </a:pPr>
                      <a:r>
                        <a:rPr lang="en-US" sz="1600" kern="0" dirty="0" err="1">
                          <a:effectLst/>
                          <a:latin typeface="Times New Roman" panose="02020603050405020304" pitchFamily="18" charset="0"/>
                          <a:cs typeface="Times New Roman" panose="02020603050405020304" pitchFamily="18" charset="0"/>
                        </a:rPr>
                        <a:t>i</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kern="0" dirty="0">
                          <a:effectLst/>
                          <a:latin typeface="Times New Roman" panose="02020603050405020304" pitchFamily="18" charset="0"/>
                          <a:cs typeface="Times New Roman" panose="02020603050405020304" pitchFamily="18" charset="0"/>
                        </a:rPr>
                        <a:t>Character</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kern="0" dirty="0">
                          <a:effectLst/>
                          <a:latin typeface="Times New Roman" panose="02020603050405020304" pitchFamily="18" charset="0"/>
                          <a:cs typeface="Times New Roman" panose="02020603050405020304" pitchFamily="18" charset="0"/>
                        </a:rPr>
                        <a:t>Substring starting at </a:t>
                      </a:r>
                      <a:r>
                        <a:rPr lang="en-US" sz="1600" kern="0" dirty="0" err="1">
                          <a:effectLst/>
                          <a:latin typeface="Times New Roman" panose="02020603050405020304" pitchFamily="18" charset="0"/>
                          <a:cs typeface="Times New Roman" panose="02020603050405020304" pitchFamily="18" charset="0"/>
                        </a:rPr>
                        <a:t>i</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kern="0" dirty="0">
                          <a:effectLst/>
                          <a:latin typeface="Times New Roman" panose="02020603050405020304" pitchFamily="18" charset="0"/>
                          <a:cs typeface="Times New Roman" panose="02020603050405020304" pitchFamily="18" charset="0"/>
                        </a:rPr>
                        <a:t>Matching Characters</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kern="0">
                          <a:effectLst/>
                          <a:latin typeface="Times New Roman" panose="02020603050405020304" pitchFamily="18" charset="0"/>
                          <a:cs typeface="Times New Roman" panose="02020603050405020304" pitchFamily="18" charset="0"/>
                        </a:rPr>
                        <a:t>Z[i]</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kern="0">
                          <a:effectLst/>
                          <a:latin typeface="Times New Roman" panose="02020603050405020304" pitchFamily="18" charset="0"/>
                          <a:cs typeface="Times New Roman" panose="02020603050405020304" pitchFamily="18" charset="0"/>
                        </a:rPr>
                        <a:t>L</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kern="0">
                          <a:effectLst/>
                          <a:latin typeface="Times New Roman" panose="02020603050405020304" pitchFamily="18" charset="0"/>
                          <a:cs typeface="Times New Roman" panose="02020603050405020304" pitchFamily="18" charset="0"/>
                        </a:rPr>
                        <a:t>R</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kern="0">
                          <a:effectLst/>
                          <a:latin typeface="Times New Roman" panose="02020603050405020304" pitchFamily="18" charset="0"/>
                          <a:cs typeface="Times New Roman" panose="02020603050405020304" pitchFamily="18" charset="0"/>
                        </a:rPr>
                        <a:t>Explanation</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92616642"/>
                  </a:ext>
                </a:extLst>
              </a:tr>
              <a:tr h="439119">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ABA$ABABABA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Not computed</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98584791"/>
                  </a:ext>
                </a:extLst>
              </a:tr>
              <a:tr h="522608">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89132637"/>
                  </a:ext>
                </a:extLst>
              </a:tr>
              <a:tr h="537068">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57928243"/>
                  </a:ext>
                </a:extLst>
              </a:tr>
              <a:tr h="275493">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58876379"/>
                  </a:ext>
                </a:extLst>
              </a:tr>
              <a:tr h="537068">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55711879"/>
                  </a:ext>
                </a:extLst>
              </a:tr>
              <a:tr h="275493">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08380708"/>
                  </a:ext>
                </a:extLst>
              </a:tr>
              <a:tr h="537068">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60904701"/>
                  </a:ext>
                </a:extLst>
              </a:tr>
              <a:tr h="275493">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86048712"/>
                  </a:ext>
                </a:extLst>
              </a:tr>
              <a:tr h="537068">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89187673"/>
                  </a:ext>
                </a:extLst>
              </a:tr>
              <a:tr h="275493">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99760225"/>
                  </a:ext>
                </a:extLst>
              </a:tr>
              <a:tr h="537068">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07014035"/>
                  </a:ext>
                </a:extLst>
              </a:tr>
            </a:tbl>
          </a:graphicData>
        </a:graphic>
      </p:graphicFrame>
      <p:sp>
        <p:nvSpPr>
          <p:cNvPr id="5" name="TextBox 4">
            <a:extLst>
              <a:ext uri="{FF2B5EF4-FFF2-40B4-BE49-F238E27FC236}">
                <a16:creationId xmlns:a16="http://schemas.microsoft.com/office/drawing/2014/main" id="{96A14F08-7CED-87A6-CA27-7408A134CC32}"/>
              </a:ext>
            </a:extLst>
          </p:cNvPr>
          <p:cNvSpPr txBox="1"/>
          <p:nvPr/>
        </p:nvSpPr>
        <p:spPr>
          <a:xfrm>
            <a:off x="353013" y="615938"/>
            <a:ext cx="11485974" cy="707886"/>
          </a:xfrm>
          <a:prstGeom prst="rect">
            <a:avLst/>
          </a:prstGeom>
          <a:noFill/>
        </p:spPr>
        <p:txBody>
          <a:bodyPr wrap="square" rtlCol="0">
            <a:spAutoFit/>
          </a:bodyPr>
          <a:lstStyle/>
          <a:p>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Prefixes of ABA$ABABABA – A, AB, ABA, ABA$, ABA$A, ABA$AB, ABA$ABA, ABA$ABAB, ABA$ABABA, ABA$ABABAB, </a:t>
            </a:r>
            <a:r>
              <a:rPr lang="en-US" sz="2000" b="1" u="sng" kern="0" dirty="0">
                <a:latin typeface="Times New Roman" panose="02020603050405020304" pitchFamily="18" charset="0"/>
                <a:ea typeface="Times New Roman" panose="02020603050405020304" pitchFamily="18" charset="0"/>
                <a:cs typeface="Times New Roman" panose="02020603050405020304" pitchFamily="18" charset="0"/>
              </a:rPr>
              <a:t>ABA$ABABABA</a:t>
            </a: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sz="2000" dirty="0"/>
          </a:p>
        </p:txBody>
      </p:sp>
    </p:spTree>
    <p:extLst>
      <p:ext uri="{BB962C8B-B14F-4D97-AF65-F5344CB8AC3E}">
        <p14:creationId xmlns:p14="http://schemas.microsoft.com/office/powerpoint/2010/main" val="428241594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38A57-4665-DBB2-7FE2-FB792BBC380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8C906D9-3980-8444-FD64-C7BAEBC6F5E4}"/>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48C69576-B4A3-C84C-D239-5FFD15DF45D8}"/>
              </a:ext>
            </a:extLst>
          </p:cNvPr>
          <p:cNvSpPr>
            <a:spLocks noGrp="1"/>
          </p:cNvSpPr>
          <p:nvPr>
            <p:ph type="sldNum" sz="quarter" idx="12"/>
          </p:nvPr>
        </p:nvSpPr>
        <p:spPr/>
        <p:txBody>
          <a:bodyPr/>
          <a:lstStyle/>
          <a:p>
            <a:fld id="{68187FF5-4BF9-4B21-B0D2-9B7FF2B27D7F}" type="slidenum">
              <a:rPr lang="en-AU" smtClean="0"/>
              <a:pPr/>
              <a:t>103</a:t>
            </a:fld>
            <a:endParaRPr lang="en-AU"/>
          </a:p>
        </p:txBody>
      </p:sp>
      <p:graphicFrame>
        <p:nvGraphicFramePr>
          <p:cNvPr id="4" name="Table 3">
            <a:extLst>
              <a:ext uri="{FF2B5EF4-FFF2-40B4-BE49-F238E27FC236}">
                <a16:creationId xmlns:a16="http://schemas.microsoft.com/office/drawing/2014/main" id="{29712AEF-D385-5D4F-1F27-E89941F9A7D9}"/>
              </a:ext>
            </a:extLst>
          </p:cNvPr>
          <p:cNvGraphicFramePr>
            <a:graphicFrameLocks noGrp="1"/>
          </p:cNvGraphicFramePr>
          <p:nvPr>
            <p:extLst>
              <p:ext uri="{D42A27DB-BD31-4B8C-83A1-F6EECF244321}">
                <p14:modId xmlns:p14="http://schemas.microsoft.com/office/powerpoint/2010/main" val="2972733601"/>
              </p:ext>
            </p:extLst>
          </p:nvPr>
        </p:nvGraphicFramePr>
        <p:xfrm>
          <a:off x="301486" y="1054920"/>
          <a:ext cx="11589027" cy="5666555"/>
        </p:xfrm>
        <a:graphic>
          <a:graphicData uri="http://schemas.openxmlformats.org/drawingml/2006/table">
            <a:tbl>
              <a:tblPr firstRow="1" firstCol="1" bandRow="1">
                <a:tableStyleId>{5C22544A-7EE6-4342-B048-85BDC9FD1C3A}</a:tableStyleId>
              </a:tblPr>
              <a:tblGrid>
                <a:gridCol w="1063268">
                  <a:extLst>
                    <a:ext uri="{9D8B030D-6E8A-4147-A177-3AD203B41FA5}">
                      <a16:colId xmlns:a16="http://schemas.microsoft.com/office/drawing/2014/main" val="1164717517"/>
                    </a:ext>
                  </a:extLst>
                </a:gridCol>
                <a:gridCol w="1140489">
                  <a:extLst>
                    <a:ext uri="{9D8B030D-6E8A-4147-A177-3AD203B41FA5}">
                      <a16:colId xmlns:a16="http://schemas.microsoft.com/office/drawing/2014/main" val="2647045308"/>
                    </a:ext>
                  </a:extLst>
                </a:gridCol>
                <a:gridCol w="1805774">
                  <a:extLst>
                    <a:ext uri="{9D8B030D-6E8A-4147-A177-3AD203B41FA5}">
                      <a16:colId xmlns:a16="http://schemas.microsoft.com/office/drawing/2014/main" val="2268699619"/>
                    </a:ext>
                  </a:extLst>
                </a:gridCol>
                <a:gridCol w="1306811">
                  <a:extLst>
                    <a:ext uri="{9D8B030D-6E8A-4147-A177-3AD203B41FA5}">
                      <a16:colId xmlns:a16="http://schemas.microsoft.com/office/drawing/2014/main" val="624912249"/>
                    </a:ext>
                  </a:extLst>
                </a:gridCol>
                <a:gridCol w="1057328">
                  <a:extLst>
                    <a:ext uri="{9D8B030D-6E8A-4147-A177-3AD203B41FA5}">
                      <a16:colId xmlns:a16="http://schemas.microsoft.com/office/drawing/2014/main" val="207098068"/>
                    </a:ext>
                  </a:extLst>
                </a:gridCol>
                <a:gridCol w="1009807">
                  <a:extLst>
                    <a:ext uri="{9D8B030D-6E8A-4147-A177-3AD203B41FA5}">
                      <a16:colId xmlns:a16="http://schemas.microsoft.com/office/drawing/2014/main" val="1232617575"/>
                    </a:ext>
                  </a:extLst>
                </a:gridCol>
                <a:gridCol w="784087">
                  <a:extLst>
                    <a:ext uri="{9D8B030D-6E8A-4147-A177-3AD203B41FA5}">
                      <a16:colId xmlns:a16="http://schemas.microsoft.com/office/drawing/2014/main" val="3526924159"/>
                    </a:ext>
                  </a:extLst>
                </a:gridCol>
                <a:gridCol w="3421463">
                  <a:extLst>
                    <a:ext uri="{9D8B030D-6E8A-4147-A177-3AD203B41FA5}">
                      <a16:colId xmlns:a16="http://schemas.microsoft.com/office/drawing/2014/main" val="1809566418"/>
                    </a:ext>
                  </a:extLst>
                </a:gridCol>
              </a:tblGrid>
              <a:tr h="492732">
                <a:tc>
                  <a:txBody>
                    <a:bodyPr/>
                    <a:lstStyle/>
                    <a:p>
                      <a:pPr marL="0" marR="0" algn="ctr">
                        <a:lnSpc>
                          <a:spcPct val="107000"/>
                        </a:lnSpc>
                        <a:spcBef>
                          <a:spcPts val="0"/>
                        </a:spcBef>
                        <a:spcAft>
                          <a:spcPts val="0"/>
                        </a:spcAft>
                      </a:pPr>
                      <a:r>
                        <a:rPr lang="en-US" sz="1600" kern="0" dirty="0" err="1">
                          <a:effectLst/>
                          <a:latin typeface="Times New Roman" panose="02020603050405020304" pitchFamily="18" charset="0"/>
                          <a:cs typeface="Times New Roman" panose="02020603050405020304" pitchFamily="18" charset="0"/>
                        </a:rPr>
                        <a:t>i</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kern="0">
                          <a:effectLst/>
                          <a:latin typeface="Times New Roman" panose="02020603050405020304" pitchFamily="18" charset="0"/>
                          <a:cs typeface="Times New Roman" panose="02020603050405020304" pitchFamily="18" charset="0"/>
                        </a:rPr>
                        <a:t>Character</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kern="0" dirty="0">
                          <a:effectLst/>
                          <a:latin typeface="Times New Roman" panose="02020603050405020304" pitchFamily="18" charset="0"/>
                          <a:cs typeface="Times New Roman" panose="02020603050405020304" pitchFamily="18" charset="0"/>
                        </a:rPr>
                        <a:t>Substring starting at </a:t>
                      </a:r>
                      <a:r>
                        <a:rPr lang="en-US" sz="1600" kern="0" dirty="0" err="1">
                          <a:effectLst/>
                          <a:latin typeface="Times New Roman" panose="02020603050405020304" pitchFamily="18" charset="0"/>
                          <a:cs typeface="Times New Roman" panose="02020603050405020304" pitchFamily="18" charset="0"/>
                        </a:rPr>
                        <a:t>i</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kern="0" dirty="0">
                          <a:effectLst/>
                          <a:latin typeface="Times New Roman" panose="02020603050405020304" pitchFamily="18" charset="0"/>
                          <a:cs typeface="Times New Roman" panose="02020603050405020304" pitchFamily="18" charset="0"/>
                        </a:rPr>
                        <a:t>Matching Characters</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kern="0">
                          <a:effectLst/>
                          <a:latin typeface="Times New Roman" panose="02020603050405020304" pitchFamily="18" charset="0"/>
                          <a:cs typeface="Times New Roman" panose="02020603050405020304" pitchFamily="18" charset="0"/>
                        </a:rPr>
                        <a:t>Z[i]</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kern="0">
                          <a:effectLst/>
                          <a:latin typeface="Times New Roman" panose="02020603050405020304" pitchFamily="18" charset="0"/>
                          <a:cs typeface="Times New Roman" panose="02020603050405020304" pitchFamily="18" charset="0"/>
                        </a:rPr>
                        <a:t>L</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kern="0">
                          <a:effectLst/>
                          <a:latin typeface="Times New Roman" panose="02020603050405020304" pitchFamily="18" charset="0"/>
                          <a:cs typeface="Times New Roman" panose="02020603050405020304" pitchFamily="18" charset="0"/>
                        </a:rPr>
                        <a:t>R</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kern="0">
                          <a:effectLst/>
                          <a:latin typeface="Times New Roman" panose="02020603050405020304" pitchFamily="18" charset="0"/>
                          <a:cs typeface="Times New Roman" panose="02020603050405020304" pitchFamily="18" charset="0"/>
                        </a:rPr>
                        <a:t>Explanation</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92616642"/>
                  </a:ext>
                </a:extLst>
              </a:tr>
              <a:tr h="510214">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ABA$ABABABA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Not computed</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98584791"/>
                  </a:ext>
                </a:extLst>
              </a:tr>
              <a:tr h="561789">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BA$ABABABA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None</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Starts with B, prefix starts with 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89132637"/>
                  </a:ext>
                </a:extLst>
              </a:tr>
              <a:tr h="577332">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57928243"/>
                  </a:ext>
                </a:extLst>
              </a:tr>
              <a:tr h="296147">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58876379"/>
                  </a:ext>
                </a:extLst>
              </a:tr>
              <a:tr h="577332">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55711879"/>
                  </a:ext>
                </a:extLst>
              </a:tr>
              <a:tr h="296147">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08380708"/>
                  </a:ext>
                </a:extLst>
              </a:tr>
              <a:tr h="577332">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60904701"/>
                  </a:ext>
                </a:extLst>
              </a:tr>
              <a:tr h="296147">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86048712"/>
                  </a:ext>
                </a:extLst>
              </a:tr>
              <a:tr h="577332">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89187673"/>
                  </a:ext>
                </a:extLst>
              </a:tr>
              <a:tr h="296147">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99760225"/>
                  </a:ext>
                </a:extLst>
              </a:tr>
              <a:tr h="577332">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07014035"/>
                  </a:ext>
                </a:extLst>
              </a:tr>
            </a:tbl>
          </a:graphicData>
        </a:graphic>
      </p:graphicFrame>
      <p:sp>
        <p:nvSpPr>
          <p:cNvPr id="5" name="TextBox 4">
            <a:extLst>
              <a:ext uri="{FF2B5EF4-FFF2-40B4-BE49-F238E27FC236}">
                <a16:creationId xmlns:a16="http://schemas.microsoft.com/office/drawing/2014/main" id="{42CAEAAE-C998-203F-31AC-0A74B8F217BD}"/>
              </a:ext>
            </a:extLst>
          </p:cNvPr>
          <p:cNvSpPr txBox="1"/>
          <p:nvPr/>
        </p:nvSpPr>
        <p:spPr>
          <a:xfrm>
            <a:off x="1493947" y="408589"/>
            <a:ext cx="10512523" cy="707886"/>
          </a:xfrm>
          <a:prstGeom prst="rect">
            <a:avLst/>
          </a:prstGeom>
          <a:noFill/>
        </p:spPr>
        <p:txBody>
          <a:bodyPr wrap="square" rtlCol="0">
            <a:spAutoFit/>
          </a:bodyPr>
          <a:lstStyle/>
          <a:p>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Prefixes of ABA$ABABABA – A, AB, ABA, ABA$, ABA$A, ABA$AB, ABA$ABA, ABA$ABAB, ABA$ABABA, ABA$ABABAB, </a:t>
            </a:r>
            <a:r>
              <a:rPr lang="en-US" sz="2000" b="1" u="sng" kern="0" dirty="0">
                <a:latin typeface="Times New Roman" panose="02020603050405020304" pitchFamily="18" charset="0"/>
                <a:ea typeface="Times New Roman" panose="02020603050405020304" pitchFamily="18" charset="0"/>
                <a:cs typeface="Times New Roman" panose="02020603050405020304" pitchFamily="18" charset="0"/>
              </a:rPr>
              <a:t>ABA$ABABABA</a:t>
            </a: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sz="2000" dirty="0"/>
          </a:p>
        </p:txBody>
      </p:sp>
    </p:spTree>
    <p:extLst>
      <p:ext uri="{BB962C8B-B14F-4D97-AF65-F5344CB8AC3E}">
        <p14:creationId xmlns:p14="http://schemas.microsoft.com/office/powerpoint/2010/main" val="10814660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FE30F-917D-392D-CC84-575C09451E0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319FFF8-4DE7-B0A4-96A5-7F5E34E9875C}"/>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363CE73A-EC51-90BC-510F-8C60D436F87F}"/>
              </a:ext>
            </a:extLst>
          </p:cNvPr>
          <p:cNvSpPr>
            <a:spLocks noGrp="1"/>
          </p:cNvSpPr>
          <p:nvPr>
            <p:ph type="sldNum" sz="quarter" idx="12"/>
          </p:nvPr>
        </p:nvSpPr>
        <p:spPr/>
        <p:txBody>
          <a:bodyPr/>
          <a:lstStyle/>
          <a:p>
            <a:fld id="{68187FF5-4BF9-4B21-B0D2-9B7FF2B27D7F}" type="slidenum">
              <a:rPr lang="en-AU" smtClean="0"/>
              <a:pPr/>
              <a:t>104</a:t>
            </a:fld>
            <a:endParaRPr lang="en-AU"/>
          </a:p>
        </p:txBody>
      </p:sp>
      <p:graphicFrame>
        <p:nvGraphicFramePr>
          <p:cNvPr id="4" name="Table 3">
            <a:extLst>
              <a:ext uri="{FF2B5EF4-FFF2-40B4-BE49-F238E27FC236}">
                <a16:creationId xmlns:a16="http://schemas.microsoft.com/office/drawing/2014/main" id="{64F1E5FD-E84B-3353-A6E0-F6D5CB54E41A}"/>
              </a:ext>
            </a:extLst>
          </p:cNvPr>
          <p:cNvGraphicFramePr>
            <a:graphicFrameLocks noGrp="1"/>
          </p:cNvGraphicFramePr>
          <p:nvPr>
            <p:extLst>
              <p:ext uri="{D42A27DB-BD31-4B8C-83A1-F6EECF244321}">
                <p14:modId xmlns:p14="http://schemas.microsoft.com/office/powerpoint/2010/main" val="800973188"/>
              </p:ext>
            </p:extLst>
          </p:nvPr>
        </p:nvGraphicFramePr>
        <p:xfrm>
          <a:off x="228600" y="934430"/>
          <a:ext cx="11618842" cy="5821316"/>
        </p:xfrm>
        <a:graphic>
          <a:graphicData uri="http://schemas.openxmlformats.org/drawingml/2006/table">
            <a:tbl>
              <a:tblPr firstRow="1" firstCol="1" bandRow="1">
                <a:tableStyleId>{5C22544A-7EE6-4342-B048-85BDC9FD1C3A}</a:tableStyleId>
              </a:tblPr>
              <a:tblGrid>
                <a:gridCol w="1066003">
                  <a:extLst>
                    <a:ext uri="{9D8B030D-6E8A-4147-A177-3AD203B41FA5}">
                      <a16:colId xmlns:a16="http://schemas.microsoft.com/office/drawing/2014/main" val="1164717517"/>
                    </a:ext>
                  </a:extLst>
                </a:gridCol>
                <a:gridCol w="1143423">
                  <a:extLst>
                    <a:ext uri="{9D8B030D-6E8A-4147-A177-3AD203B41FA5}">
                      <a16:colId xmlns:a16="http://schemas.microsoft.com/office/drawing/2014/main" val="2647045308"/>
                    </a:ext>
                  </a:extLst>
                </a:gridCol>
                <a:gridCol w="1810420">
                  <a:extLst>
                    <a:ext uri="{9D8B030D-6E8A-4147-A177-3AD203B41FA5}">
                      <a16:colId xmlns:a16="http://schemas.microsoft.com/office/drawing/2014/main" val="2268699619"/>
                    </a:ext>
                  </a:extLst>
                </a:gridCol>
                <a:gridCol w="1310173">
                  <a:extLst>
                    <a:ext uri="{9D8B030D-6E8A-4147-A177-3AD203B41FA5}">
                      <a16:colId xmlns:a16="http://schemas.microsoft.com/office/drawing/2014/main" val="624912249"/>
                    </a:ext>
                  </a:extLst>
                </a:gridCol>
                <a:gridCol w="1060048">
                  <a:extLst>
                    <a:ext uri="{9D8B030D-6E8A-4147-A177-3AD203B41FA5}">
                      <a16:colId xmlns:a16="http://schemas.microsoft.com/office/drawing/2014/main" val="207098068"/>
                    </a:ext>
                  </a:extLst>
                </a:gridCol>
                <a:gridCol w="1012405">
                  <a:extLst>
                    <a:ext uri="{9D8B030D-6E8A-4147-A177-3AD203B41FA5}">
                      <a16:colId xmlns:a16="http://schemas.microsoft.com/office/drawing/2014/main" val="1232617575"/>
                    </a:ext>
                  </a:extLst>
                </a:gridCol>
                <a:gridCol w="786104">
                  <a:extLst>
                    <a:ext uri="{9D8B030D-6E8A-4147-A177-3AD203B41FA5}">
                      <a16:colId xmlns:a16="http://schemas.microsoft.com/office/drawing/2014/main" val="3526924159"/>
                    </a:ext>
                  </a:extLst>
                </a:gridCol>
                <a:gridCol w="3430266">
                  <a:extLst>
                    <a:ext uri="{9D8B030D-6E8A-4147-A177-3AD203B41FA5}">
                      <a16:colId xmlns:a16="http://schemas.microsoft.com/office/drawing/2014/main" val="1809566418"/>
                    </a:ext>
                  </a:extLst>
                </a:gridCol>
              </a:tblGrid>
              <a:tr h="0">
                <a:tc>
                  <a:txBody>
                    <a:bodyPr/>
                    <a:lstStyle/>
                    <a:p>
                      <a:pPr marL="0" marR="0" algn="ctr">
                        <a:lnSpc>
                          <a:spcPct val="107000"/>
                        </a:lnSpc>
                        <a:spcBef>
                          <a:spcPts val="0"/>
                        </a:spcBef>
                        <a:spcAft>
                          <a:spcPts val="0"/>
                        </a:spcAft>
                      </a:pPr>
                      <a:r>
                        <a:rPr lang="en-US" sz="1800" kern="0" dirty="0" err="1">
                          <a:effectLst/>
                          <a:latin typeface="Times New Roman" panose="02020603050405020304" pitchFamily="18" charset="0"/>
                          <a:cs typeface="Times New Roman" panose="02020603050405020304" pitchFamily="18" charset="0"/>
                        </a:rPr>
                        <a:t>i</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kern="0" dirty="0">
                          <a:effectLst/>
                          <a:latin typeface="Times New Roman" panose="02020603050405020304" pitchFamily="18" charset="0"/>
                          <a:cs typeface="Times New Roman" panose="02020603050405020304" pitchFamily="18" charset="0"/>
                        </a:rPr>
                        <a:t>Character</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kern="0" dirty="0">
                          <a:effectLst/>
                          <a:latin typeface="Times New Roman" panose="02020603050405020304" pitchFamily="18" charset="0"/>
                          <a:cs typeface="Times New Roman" panose="02020603050405020304" pitchFamily="18" charset="0"/>
                        </a:rPr>
                        <a:t>Substring starting at </a:t>
                      </a:r>
                      <a:r>
                        <a:rPr lang="en-US" sz="1800" kern="0" dirty="0" err="1">
                          <a:effectLst/>
                          <a:latin typeface="Times New Roman" panose="02020603050405020304" pitchFamily="18" charset="0"/>
                          <a:cs typeface="Times New Roman" panose="02020603050405020304" pitchFamily="18" charset="0"/>
                        </a:rPr>
                        <a:t>i</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kern="0" dirty="0">
                          <a:effectLst/>
                          <a:latin typeface="Times New Roman" panose="02020603050405020304" pitchFamily="18" charset="0"/>
                          <a:cs typeface="Times New Roman" panose="02020603050405020304" pitchFamily="18" charset="0"/>
                        </a:rPr>
                        <a:t>Matching Characters</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kern="0">
                          <a:effectLst/>
                          <a:latin typeface="Times New Roman" panose="02020603050405020304" pitchFamily="18" charset="0"/>
                          <a:cs typeface="Times New Roman" panose="02020603050405020304" pitchFamily="18" charset="0"/>
                        </a:rPr>
                        <a:t>Z[i]</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kern="0">
                          <a:effectLst/>
                          <a:latin typeface="Times New Roman" panose="02020603050405020304" pitchFamily="18" charset="0"/>
                          <a:cs typeface="Times New Roman" panose="02020603050405020304" pitchFamily="18" charset="0"/>
                        </a:rPr>
                        <a:t>L</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kern="0">
                          <a:effectLst/>
                          <a:latin typeface="Times New Roman" panose="02020603050405020304" pitchFamily="18" charset="0"/>
                          <a:cs typeface="Times New Roman" panose="02020603050405020304" pitchFamily="18" charset="0"/>
                        </a:rPr>
                        <a:t>R</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kern="0">
                          <a:effectLst/>
                          <a:latin typeface="Times New Roman" panose="02020603050405020304" pitchFamily="18" charset="0"/>
                          <a:cs typeface="Times New Roman" panose="02020603050405020304" pitchFamily="18" charset="0"/>
                        </a:rPr>
                        <a:t>Explanation</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92616642"/>
                  </a:ext>
                </a:extLst>
              </a:tr>
              <a:tr h="314522">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ABA$ABABABA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Not computed</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98584791"/>
                  </a:ext>
                </a:extLst>
              </a:tr>
              <a:tr h="596645">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BA$ABABABA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None</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Starts with B, prefix starts with 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89132637"/>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Only first character matches</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57928243"/>
                  </a:ext>
                </a:extLst>
              </a:tr>
              <a:tr h="314522">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58876379"/>
                  </a:ext>
                </a:extLst>
              </a:tr>
              <a:tr h="613153">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55711879"/>
                  </a:ext>
                </a:extLst>
              </a:tr>
              <a:tr h="314522">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08380708"/>
                  </a:ext>
                </a:extLst>
              </a:tr>
              <a:tr h="613153">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60904701"/>
                  </a:ext>
                </a:extLst>
              </a:tr>
              <a:tr h="314522">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86048712"/>
                  </a:ext>
                </a:extLst>
              </a:tr>
              <a:tr h="613153">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89187673"/>
                  </a:ext>
                </a:extLst>
              </a:tr>
              <a:tr h="314522">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99760225"/>
                  </a:ext>
                </a:extLst>
              </a:tr>
              <a:tr h="613153">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07014035"/>
                  </a:ext>
                </a:extLst>
              </a:tr>
            </a:tbl>
          </a:graphicData>
        </a:graphic>
      </p:graphicFrame>
      <p:sp>
        <p:nvSpPr>
          <p:cNvPr id="5" name="TextBox 4">
            <a:extLst>
              <a:ext uri="{FF2B5EF4-FFF2-40B4-BE49-F238E27FC236}">
                <a16:creationId xmlns:a16="http://schemas.microsoft.com/office/drawing/2014/main" id="{C499C6D9-8C47-1093-977A-8DEDB29CC475}"/>
              </a:ext>
            </a:extLst>
          </p:cNvPr>
          <p:cNvSpPr txBox="1"/>
          <p:nvPr/>
        </p:nvSpPr>
        <p:spPr>
          <a:xfrm>
            <a:off x="1791222" y="288099"/>
            <a:ext cx="9507255" cy="646331"/>
          </a:xfrm>
          <a:prstGeom prst="rect">
            <a:avLst/>
          </a:prstGeom>
          <a:noFill/>
        </p:spPr>
        <p:txBody>
          <a:bodyPr wrap="square" rtlCol="0">
            <a:spAutoFit/>
          </a:bodyPr>
          <a:lstStyle/>
          <a:p>
            <a:r>
              <a:rPr lang="en-US" b="1" kern="0" dirty="0">
                <a:latin typeface="Times New Roman" panose="02020603050405020304" pitchFamily="18" charset="0"/>
                <a:ea typeface="Times New Roman" panose="02020603050405020304" pitchFamily="18" charset="0"/>
                <a:cs typeface="Times New Roman" panose="02020603050405020304" pitchFamily="18" charset="0"/>
              </a:rPr>
              <a:t>Prefixes of ABA$ABABABA – A, AB, ABA, ABA$, ABA$A, ABA$AB, ABA$ABA, ABA$ABAB, ABA$ABABA, ABA$ABABAB, </a:t>
            </a:r>
            <a:r>
              <a:rPr lang="en-US" b="1" u="sng" kern="0" dirty="0">
                <a:latin typeface="Times New Roman" panose="02020603050405020304" pitchFamily="18" charset="0"/>
                <a:ea typeface="Times New Roman" panose="02020603050405020304" pitchFamily="18" charset="0"/>
                <a:cs typeface="Times New Roman" panose="02020603050405020304" pitchFamily="18" charset="0"/>
              </a:rPr>
              <a:t>ABA$ABABABA</a:t>
            </a:r>
            <a:r>
              <a:rPr lang="en-US" b="1" kern="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dirty="0"/>
          </a:p>
        </p:txBody>
      </p:sp>
    </p:spTree>
    <p:extLst>
      <p:ext uri="{BB962C8B-B14F-4D97-AF65-F5344CB8AC3E}">
        <p14:creationId xmlns:p14="http://schemas.microsoft.com/office/powerpoint/2010/main" val="420784748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4E110-1E95-8D04-C7DA-A28D7D77C13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A570F45-E7CF-357B-6908-2BA02FEF0151}"/>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815283E1-CEEB-C44B-65D3-40A5A975907A}"/>
              </a:ext>
            </a:extLst>
          </p:cNvPr>
          <p:cNvSpPr>
            <a:spLocks noGrp="1"/>
          </p:cNvSpPr>
          <p:nvPr>
            <p:ph type="sldNum" sz="quarter" idx="12"/>
          </p:nvPr>
        </p:nvSpPr>
        <p:spPr/>
        <p:txBody>
          <a:bodyPr/>
          <a:lstStyle/>
          <a:p>
            <a:fld id="{68187FF5-4BF9-4B21-B0D2-9B7FF2B27D7F}" type="slidenum">
              <a:rPr lang="en-AU" smtClean="0"/>
              <a:pPr/>
              <a:t>105</a:t>
            </a:fld>
            <a:endParaRPr lang="en-AU"/>
          </a:p>
        </p:txBody>
      </p:sp>
      <p:graphicFrame>
        <p:nvGraphicFramePr>
          <p:cNvPr id="4" name="Table 3">
            <a:extLst>
              <a:ext uri="{FF2B5EF4-FFF2-40B4-BE49-F238E27FC236}">
                <a16:creationId xmlns:a16="http://schemas.microsoft.com/office/drawing/2014/main" id="{25F4BD1D-4BA8-54D1-DBDF-A722AA6BF26A}"/>
              </a:ext>
            </a:extLst>
          </p:cNvPr>
          <p:cNvGraphicFramePr>
            <a:graphicFrameLocks noGrp="1"/>
          </p:cNvGraphicFramePr>
          <p:nvPr>
            <p:extLst>
              <p:ext uri="{D42A27DB-BD31-4B8C-83A1-F6EECF244321}">
                <p14:modId xmlns:p14="http://schemas.microsoft.com/office/powerpoint/2010/main" val="1110154444"/>
              </p:ext>
            </p:extLst>
          </p:nvPr>
        </p:nvGraphicFramePr>
        <p:xfrm>
          <a:off x="377687" y="934430"/>
          <a:ext cx="11579087" cy="5821316"/>
        </p:xfrm>
        <a:graphic>
          <a:graphicData uri="http://schemas.openxmlformats.org/drawingml/2006/table">
            <a:tbl>
              <a:tblPr firstRow="1" firstCol="1" bandRow="1">
                <a:tableStyleId>{5C22544A-7EE6-4342-B048-85BDC9FD1C3A}</a:tableStyleId>
              </a:tblPr>
              <a:tblGrid>
                <a:gridCol w="1062356">
                  <a:extLst>
                    <a:ext uri="{9D8B030D-6E8A-4147-A177-3AD203B41FA5}">
                      <a16:colId xmlns:a16="http://schemas.microsoft.com/office/drawing/2014/main" val="1164717517"/>
                    </a:ext>
                  </a:extLst>
                </a:gridCol>
                <a:gridCol w="1139511">
                  <a:extLst>
                    <a:ext uri="{9D8B030D-6E8A-4147-A177-3AD203B41FA5}">
                      <a16:colId xmlns:a16="http://schemas.microsoft.com/office/drawing/2014/main" val="2647045308"/>
                    </a:ext>
                  </a:extLst>
                </a:gridCol>
                <a:gridCol w="1804225">
                  <a:extLst>
                    <a:ext uri="{9D8B030D-6E8A-4147-A177-3AD203B41FA5}">
                      <a16:colId xmlns:a16="http://schemas.microsoft.com/office/drawing/2014/main" val="2268699619"/>
                    </a:ext>
                  </a:extLst>
                </a:gridCol>
                <a:gridCol w="1305689">
                  <a:extLst>
                    <a:ext uri="{9D8B030D-6E8A-4147-A177-3AD203B41FA5}">
                      <a16:colId xmlns:a16="http://schemas.microsoft.com/office/drawing/2014/main" val="624912249"/>
                    </a:ext>
                  </a:extLst>
                </a:gridCol>
                <a:gridCol w="1056421">
                  <a:extLst>
                    <a:ext uri="{9D8B030D-6E8A-4147-A177-3AD203B41FA5}">
                      <a16:colId xmlns:a16="http://schemas.microsoft.com/office/drawing/2014/main" val="207098068"/>
                    </a:ext>
                  </a:extLst>
                </a:gridCol>
                <a:gridCol w="1008942">
                  <a:extLst>
                    <a:ext uri="{9D8B030D-6E8A-4147-A177-3AD203B41FA5}">
                      <a16:colId xmlns:a16="http://schemas.microsoft.com/office/drawing/2014/main" val="1232617575"/>
                    </a:ext>
                  </a:extLst>
                </a:gridCol>
                <a:gridCol w="783414">
                  <a:extLst>
                    <a:ext uri="{9D8B030D-6E8A-4147-A177-3AD203B41FA5}">
                      <a16:colId xmlns:a16="http://schemas.microsoft.com/office/drawing/2014/main" val="3526924159"/>
                    </a:ext>
                  </a:extLst>
                </a:gridCol>
                <a:gridCol w="3418529">
                  <a:extLst>
                    <a:ext uri="{9D8B030D-6E8A-4147-A177-3AD203B41FA5}">
                      <a16:colId xmlns:a16="http://schemas.microsoft.com/office/drawing/2014/main" val="1809566418"/>
                    </a:ext>
                  </a:extLst>
                </a:gridCol>
              </a:tblGrid>
              <a:tr h="0">
                <a:tc>
                  <a:txBody>
                    <a:bodyPr/>
                    <a:lstStyle/>
                    <a:p>
                      <a:pPr marL="0" marR="0" algn="ctr">
                        <a:lnSpc>
                          <a:spcPct val="107000"/>
                        </a:lnSpc>
                        <a:spcBef>
                          <a:spcPts val="0"/>
                        </a:spcBef>
                        <a:spcAft>
                          <a:spcPts val="0"/>
                        </a:spcAft>
                      </a:pPr>
                      <a:r>
                        <a:rPr lang="en-US" sz="1800" b="1" kern="0" dirty="0" err="1">
                          <a:effectLst/>
                          <a:latin typeface="Times New Roman" panose="02020603050405020304" pitchFamily="18" charset="0"/>
                          <a:cs typeface="Times New Roman" panose="02020603050405020304" pitchFamily="18" charset="0"/>
                        </a:rPr>
                        <a:t>i</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Character</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Substring starting at </a:t>
                      </a:r>
                      <a:r>
                        <a:rPr lang="en-US" sz="1800" b="1" kern="0" dirty="0" err="1">
                          <a:effectLst/>
                          <a:latin typeface="Times New Roman" panose="02020603050405020304" pitchFamily="18" charset="0"/>
                          <a:cs typeface="Times New Roman" panose="02020603050405020304" pitchFamily="18" charset="0"/>
                        </a:rPr>
                        <a:t>i</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Matching Characters</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Z[</a:t>
                      </a:r>
                      <a:r>
                        <a:rPr lang="en-US" sz="1800" b="1" kern="0" dirty="0" err="1">
                          <a:effectLst/>
                          <a:latin typeface="Times New Roman" panose="02020603050405020304" pitchFamily="18" charset="0"/>
                          <a:cs typeface="Times New Roman" panose="02020603050405020304" pitchFamily="18" charset="0"/>
                        </a:rPr>
                        <a:t>i</a:t>
                      </a:r>
                      <a:r>
                        <a:rPr lang="en-US" sz="1800" b="1" kern="0" dirty="0">
                          <a:effectLst/>
                          <a:latin typeface="Times New Roman" panose="02020603050405020304" pitchFamily="18" charset="0"/>
                          <a:cs typeface="Times New Roman" panose="02020603050405020304" pitchFamily="18" charset="0"/>
                        </a:rPr>
                        <a:t>]</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L</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R</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Explanation</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92616642"/>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Not computed</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98584791"/>
                  </a:ext>
                </a:extLst>
              </a:tr>
              <a:tr h="596645">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BA$ABABABA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None</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Starts with B, prefix starts with 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89132637"/>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2</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Only first character matches</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57928243"/>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None</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Separator differs</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58876379"/>
                  </a:ext>
                </a:extLst>
              </a:tr>
              <a:tr h="613153">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55711879"/>
                  </a:ext>
                </a:extLst>
              </a:tr>
              <a:tr h="314522">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08380708"/>
                  </a:ext>
                </a:extLst>
              </a:tr>
              <a:tr h="613153">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60904701"/>
                  </a:ext>
                </a:extLst>
              </a:tr>
              <a:tr h="314522">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86048712"/>
                  </a:ext>
                </a:extLst>
              </a:tr>
              <a:tr h="613153">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89187673"/>
                  </a:ext>
                </a:extLst>
              </a:tr>
              <a:tr h="314522">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99760225"/>
                  </a:ext>
                </a:extLst>
              </a:tr>
              <a:tr h="613153">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07014035"/>
                  </a:ext>
                </a:extLst>
              </a:tr>
            </a:tbl>
          </a:graphicData>
        </a:graphic>
      </p:graphicFrame>
      <p:sp>
        <p:nvSpPr>
          <p:cNvPr id="5" name="TextBox 4">
            <a:extLst>
              <a:ext uri="{FF2B5EF4-FFF2-40B4-BE49-F238E27FC236}">
                <a16:creationId xmlns:a16="http://schemas.microsoft.com/office/drawing/2014/main" id="{D6770790-F626-D5A9-52DE-AE74B01D7EA4}"/>
              </a:ext>
            </a:extLst>
          </p:cNvPr>
          <p:cNvSpPr txBox="1"/>
          <p:nvPr/>
        </p:nvSpPr>
        <p:spPr>
          <a:xfrm>
            <a:off x="1791222" y="288099"/>
            <a:ext cx="9507255" cy="646331"/>
          </a:xfrm>
          <a:prstGeom prst="rect">
            <a:avLst/>
          </a:prstGeom>
          <a:noFill/>
        </p:spPr>
        <p:txBody>
          <a:bodyPr wrap="square" rtlCol="0">
            <a:spAutoFit/>
          </a:bodyPr>
          <a:lstStyle/>
          <a:p>
            <a:r>
              <a:rPr lang="en-US" b="1" kern="0" dirty="0">
                <a:latin typeface="Times New Roman" panose="02020603050405020304" pitchFamily="18" charset="0"/>
                <a:ea typeface="Times New Roman" panose="02020603050405020304" pitchFamily="18" charset="0"/>
                <a:cs typeface="Times New Roman" panose="02020603050405020304" pitchFamily="18" charset="0"/>
              </a:rPr>
              <a:t>Prefixes of ABA$ABABABA – A, AB, ABA, ABA$, ABA$A, ABA$AB, ABA$ABA, ABA$ABAB, ABA$ABABA, ABA$ABABAB, </a:t>
            </a:r>
            <a:r>
              <a:rPr lang="en-US" b="1" u="sng" kern="0" dirty="0">
                <a:latin typeface="Times New Roman" panose="02020603050405020304" pitchFamily="18" charset="0"/>
                <a:ea typeface="Times New Roman" panose="02020603050405020304" pitchFamily="18" charset="0"/>
                <a:cs typeface="Times New Roman" panose="02020603050405020304" pitchFamily="18" charset="0"/>
              </a:rPr>
              <a:t>ABA$ABABABA</a:t>
            </a:r>
            <a:r>
              <a:rPr lang="en-US" b="1" kern="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dirty="0"/>
          </a:p>
        </p:txBody>
      </p:sp>
    </p:spTree>
    <p:extLst>
      <p:ext uri="{BB962C8B-B14F-4D97-AF65-F5344CB8AC3E}">
        <p14:creationId xmlns:p14="http://schemas.microsoft.com/office/powerpoint/2010/main" val="184500407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060E8-2566-860F-6585-410AA8B6BAE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2387D51-D0D8-540C-966E-F8578B78EBB6}"/>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48FBA572-AACD-0189-D4F2-C67939AAEB18}"/>
              </a:ext>
            </a:extLst>
          </p:cNvPr>
          <p:cNvSpPr>
            <a:spLocks noGrp="1"/>
          </p:cNvSpPr>
          <p:nvPr>
            <p:ph type="sldNum" sz="quarter" idx="12"/>
          </p:nvPr>
        </p:nvSpPr>
        <p:spPr/>
        <p:txBody>
          <a:bodyPr/>
          <a:lstStyle/>
          <a:p>
            <a:fld id="{68187FF5-4BF9-4B21-B0D2-9B7FF2B27D7F}" type="slidenum">
              <a:rPr lang="en-AU" smtClean="0"/>
              <a:pPr/>
              <a:t>106</a:t>
            </a:fld>
            <a:endParaRPr lang="en-AU"/>
          </a:p>
        </p:txBody>
      </p:sp>
      <p:graphicFrame>
        <p:nvGraphicFramePr>
          <p:cNvPr id="4" name="Table 3">
            <a:extLst>
              <a:ext uri="{FF2B5EF4-FFF2-40B4-BE49-F238E27FC236}">
                <a16:creationId xmlns:a16="http://schemas.microsoft.com/office/drawing/2014/main" id="{CFA5A61A-0E9E-6FDE-248C-B3C31049AD86}"/>
              </a:ext>
            </a:extLst>
          </p:cNvPr>
          <p:cNvGraphicFramePr>
            <a:graphicFrameLocks noGrp="1"/>
          </p:cNvGraphicFramePr>
          <p:nvPr>
            <p:extLst>
              <p:ext uri="{D42A27DB-BD31-4B8C-83A1-F6EECF244321}">
                <p14:modId xmlns:p14="http://schemas.microsoft.com/office/powerpoint/2010/main" val="3221764976"/>
              </p:ext>
            </p:extLst>
          </p:nvPr>
        </p:nvGraphicFramePr>
        <p:xfrm>
          <a:off x="367748" y="934430"/>
          <a:ext cx="11489634" cy="5821316"/>
        </p:xfrm>
        <a:graphic>
          <a:graphicData uri="http://schemas.openxmlformats.org/drawingml/2006/table">
            <a:tbl>
              <a:tblPr firstRow="1" firstCol="1" bandRow="1">
                <a:tableStyleId>{5C22544A-7EE6-4342-B048-85BDC9FD1C3A}</a:tableStyleId>
              </a:tblPr>
              <a:tblGrid>
                <a:gridCol w="1054149">
                  <a:extLst>
                    <a:ext uri="{9D8B030D-6E8A-4147-A177-3AD203B41FA5}">
                      <a16:colId xmlns:a16="http://schemas.microsoft.com/office/drawing/2014/main" val="1164717517"/>
                    </a:ext>
                  </a:extLst>
                </a:gridCol>
                <a:gridCol w="1130708">
                  <a:extLst>
                    <a:ext uri="{9D8B030D-6E8A-4147-A177-3AD203B41FA5}">
                      <a16:colId xmlns:a16="http://schemas.microsoft.com/office/drawing/2014/main" val="2647045308"/>
                    </a:ext>
                  </a:extLst>
                </a:gridCol>
                <a:gridCol w="1790286">
                  <a:extLst>
                    <a:ext uri="{9D8B030D-6E8A-4147-A177-3AD203B41FA5}">
                      <a16:colId xmlns:a16="http://schemas.microsoft.com/office/drawing/2014/main" val="2268699619"/>
                    </a:ext>
                  </a:extLst>
                </a:gridCol>
                <a:gridCol w="1295603">
                  <a:extLst>
                    <a:ext uri="{9D8B030D-6E8A-4147-A177-3AD203B41FA5}">
                      <a16:colId xmlns:a16="http://schemas.microsoft.com/office/drawing/2014/main" val="624912249"/>
                    </a:ext>
                  </a:extLst>
                </a:gridCol>
                <a:gridCol w="1048260">
                  <a:extLst>
                    <a:ext uri="{9D8B030D-6E8A-4147-A177-3AD203B41FA5}">
                      <a16:colId xmlns:a16="http://schemas.microsoft.com/office/drawing/2014/main" val="207098068"/>
                    </a:ext>
                  </a:extLst>
                </a:gridCol>
                <a:gridCol w="1001147">
                  <a:extLst>
                    <a:ext uri="{9D8B030D-6E8A-4147-A177-3AD203B41FA5}">
                      <a16:colId xmlns:a16="http://schemas.microsoft.com/office/drawing/2014/main" val="1232617575"/>
                    </a:ext>
                  </a:extLst>
                </a:gridCol>
                <a:gridCol w="777362">
                  <a:extLst>
                    <a:ext uri="{9D8B030D-6E8A-4147-A177-3AD203B41FA5}">
                      <a16:colId xmlns:a16="http://schemas.microsoft.com/office/drawing/2014/main" val="3526924159"/>
                    </a:ext>
                  </a:extLst>
                </a:gridCol>
                <a:gridCol w="3392119">
                  <a:extLst>
                    <a:ext uri="{9D8B030D-6E8A-4147-A177-3AD203B41FA5}">
                      <a16:colId xmlns:a16="http://schemas.microsoft.com/office/drawing/2014/main" val="1809566418"/>
                    </a:ext>
                  </a:extLst>
                </a:gridCol>
              </a:tblGrid>
              <a:tr h="0">
                <a:tc>
                  <a:txBody>
                    <a:bodyPr/>
                    <a:lstStyle/>
                    <a:p>
                      <a:pPr marL="0" marR="0" algn="ctr">
                        <a:lnSpc>
                          <a:spcPct val="107000"/>
                        </a:lnSpc>
                        <a:spcBef>
                          <a:spcPts val="0"/>
                        </a:spcBef>
                        <a:spcAft>
                          <a:spcPts val="0"/>
                        </a:spcAft>
                      </a:pPr>
                      <a:r>
                        <a:rPr lang="en-US" sz="1800" b="1" kern="0" dirty="0" err="1">
                          <a:effectLst/>
                          <a:latin typeface="Times New Roman" panose="02020603050405020304" pitchFamily="18" charset="0"/>
                          <a:cs typeface="Times New Roman" panose="02020603050405020304" pitchFamily="18" charset="0"/>
                        </a:rPr>
                        <a:t>i</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Character</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Substring starting at </a:t>
                      </a:r>
                      <a:r>
                        <a:rPr lang="en-US" sz="1800" b="1" kern="0" dirty="0" err="1">
                          <a:effectLst/>
                          <a:latin typeface="Times New Roman" panose="02020603050405020304" pitchFamily="18" charset="0"/>
                          <a:cs typeface="Times New Roman" panose="02020603050405020304" pitchFamily="18" charset="0"/>
                        </a:rPr>
                        <a:t>i</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Matching Characters</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Z[i]</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L</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R</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Explanation</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92616642"/>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Not computed</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98584791"/>
                  </a:ext>
                </a:extLst>
              </a:tr>
              <a:tr h="596645">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BA$ABABABA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None</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Starts with B, prefix starts with 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89132637"/>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Only first character matches</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57928243"/>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None</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Separator differs</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58876379"/>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4</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4</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Complete pattern matched</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55711879"/>
                  </a:ext>
                </a:extLst>
              </a:tr>
              <a:tr h="314522">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08380708"/>
                  </a:ext>
                </a:extLst>
              </a:tr>
              <a:tr h="613153">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60904701"/>
                  </a:ext>
                </a:extLst>
              </a:tr>
              <a:tr h="314522">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86048712"/>
                  </a:ext>
                </a:extLst>
              </a:tr>
              <a:tr h="613153">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89187673"/>
                  </a:ext>
                </a:extLst>
              </a:tr>
              <a:tr h="314522">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99760225"/>
                  </a:ext>
                </a:extLst>
              </a:tr>
              <a:tr h="613153">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07014035"/>
                  </a:ext>
                </a:extLst>
              </a:tr>
            </a:tbl>
          </a:graphicData>
        </a:graphic>
      </p:graphicFrame>
      <p:sp>
        <p:nvSpPr>
          <p:cNvPr id="5" name="TextBox 4">
            <a:extLst>
              <a:ext uri="{FF2B5EF4-FFF2-40B4-BE49-F238E27FC236}">
                <a16:creationId xmlns:a16="http://schemas.microsoft.com/office/drawing/2014/main" id="{564C608D-9E24-F4C4-DBF4-DCAC6AFE5A67}"/>
              </a:ext>
            </a:extLst>
          </p:cNvPr>
          <p:cNvSpPr txBox="1"/>
          <p:nvPr/>
        </p:nvSpPr>
        <p:spPr>
          <a:xfrm>
            <a:off x="1791222" y="288099"/>
            <a:ext cx="9507255" cy="646331"/>
          </a:xfrm>
          <a:prstGeom prst="rect">
            <a:avLst/>
          </a:prstGeom>
          <a:noFill/>
        </p:spPr>
        <p:txBody>
          <a:bodyPr wrap="square" rtlCol="0">
            <a:spAutoFit/>
          </a:bodyPr>
          <a:lstStyle/>
          <a:p>
            <a:r>
              <a:rPr lang="en-US" b="1" kern="0" dirty="0">
                <a:latin typeface="Times New Roman" panose="02020603050405020304" pitchFamily="18" charset="0"/>
                <a:ea typeface="Times New Roman" panose="02020603050405020304" pitchFamily="18" charset="0"/>
                <a:cs typeface="Times New Roman" panose="02020603050405020304" pitchFamily="18" charset="0"/>
              </a:rPr>
              <a:t>Prefixes of ABA$ABABABA – A, AB, ABA, ABA$, ABA$A, ABA$AB, ABA$ABA, ABA$ABAB, ABA$ABABA, ABA$ABABAB, </a:t>
            </a:r>
            <a:r>
              <a:rPr lang="en-US" b="1" u="sng" kern="0" dirty="0">
                <a:latin typeface="Times New Roman" panose="02020603050405020304" pitchFamily="18" charset="0"/>
                <a:ea typeface="Times New Roman" panose="02020603050405020304" pitchFamily="18" charset="0"/>
                <a:cs typeface="Times New Roman" panose="02020603050405020304" pitchFamily="18" charset="0"/>
              </a:rPr>
              <a:t>ABA$ABABABA</a:t>
            </a:r>
            <a:r>
              <a:rPr lang="en-US" b="1" kern="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dirty="0"/>
          </a:p>
        </p:txBody>
      </p:sp>
    </p:spTree>
    <p:extLst>
      <p:ext uri="{BB962C8B-B14F-4D97-AF65-F5344CB8AC3E}">
        <p14:creationId xmlns:p14="http://schemas.microsoft.com/office/powerpoint/2010/main" val="213062900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546A6-39AC-ED83-1A51-174FEA0F787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C7BE71-E9E5-F12F-54F3-A577358E67CD}"/>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E4F84307-E6F3-9D4C-47BD-2770C01485A0}"/>
              </a:ext>
            </a:extLst>
          </p:cNvPr>
          <p:cNvSpPr>
            <a:spLocks noGrp="1"/>
          </p:cNvSpPr>
          <p:nvPr>
            <p:ph type="sldNum" sz="quarter" idx="12"/>
          </p:nvPr>
        </p:nvSpPr>
        <p:spPr/>
        <p:txBody>
          <a:bodyPr/>
          <a:lstStyle/>
          <a:p>
            <a:fld id="{68187FF5-4BF9-4B21-B0D2-9B7FF2B27D7F}" type="slidenum">
              <a:rPr lang="en-AU" smtClean="0"/>
              <a:pPr/>
              <a:t>107</a:t>
            </a:fld>
            <a:endParaRPr lang="en-AU"/>
          </a:p>
        </p:txBody>
      </p:sp>
      <p:graphicFrame>
        <p:nvGraphicFramePr>
          <p:cNvPr id="4" name="Table 3">
            <a:extLst>
              <a:ext uri="{FF2B5EF4-FFF2-40B4-BE49-F238E27FC236}">
                <a16:creationId xmlns:a16="http://schemas.microsoft.com/office/drawing/2014/main" id="{18E6B94D-5725-1FB6-2B65-098EBDE8AB0E}"/>
              </a:ext>
            </a:extLst>
          </p:cNvPr>
          <p:cNvGraphicFramePr>
            <a:graphicFrameLocks noGrp="1"/>
          </p:cNvGraphicFramePr>
          <p:nvPr>
            <p:extLst>
              <p:ext uri="{D42A27DB-BD31-4B8C-83A1-F6EECF244321}">
                <p14:modId xmlns:p14="http://schemas.microsoft.com/office/powerpoint/2010/main" val="1367358568"/>
              </p:ext>
            </p:extLst>
          </p:nvPr>
        </p:nvGraphicFramePr>
        <p:xfrm>
          <a:off x="178904" y="934430"/>
          <a:ext cx="11817627" cy="5821316"/>
        </p:xfrm>
        <a:graphic>
          <a:graphicData uri="http://schemas.openxmlformats.org/drawingml/2006/table">
            <a:tbl>
              <a:tblPr firstRow="1" firstCol="1" bandRow="1">
                <a:tableStyleId>{5C22544A-7EE6-4342-B048-85BDC9FD1C3A}</a:tableStyleId>
              </a:tblPr>
              <a:tblGrid>
                <a:gridCol w="1084242">
                  <a:extLst>
                    <a:ext uri="{9D8B030D-6E8A-4147-A177-3AD203B41FA5}">
                      <a16:colId xmlns:a16="http://schemas.microsoft.com/office/drawing/2014/main" val="1164717517"/>
                    </a:ext>
                  </a:extLst>
                </a:gridCol>
                <a:gridCol w="1162986">
                  <a:extLst>
                    <a:ext uri="{9D8B030D-6E8A-4147-A177-3AD203B41FA5}">
                      <a16:colId xmlns:a16="http://schemas.microsoft.com/office/drawing/2014/main" val="2647045308"/>
                    </a:ext>
                  </a:extLst>
                </a:gridCol>
                <a:gridCol w="1841394">
                  <a:extLst>
                    <a:ext uri="{9D8B030D-6E8A-4147-A177-3AD203B41FA5}">
                      <a16:colId xmlns:a16="http://schemas.microsoft.com/office/drawing/2014/main" val="2268699619"/>
                    </a:ext>
                  </a:extLst>
                </a:gridCol>
                <a:gridCol w="1332588">
                  <a:extLst>
                    <a:ext uri="{9D8B030D-6E8A-4147-A177-3AD203B41FA5}">
                      <a16:colId xmlns:a16="http://schemas.microsoft.com/office/drawing/2014/main" val="624912249"/>
                    </a:ext>
                  </a:extLst>
                </a:gridCol>
                <a:gridCol w="1078184">
                  <a:extLst>
                    <a:ext uri="{9D8B030D-6E8A-4147-A177-3AD203B41FA5}">
                      <a16:colId xmlns:a16="http://schemas.microsoft.com/office/drawing/2014/main" val="207098068"/>
                    </a:ext>
                  </a:extLst>
                </a:gridCol>
                <a:gridCol w="1029727">
                  <a:extLst>
                    <a:ext uri="{9D8B030D-6E8A-4147-A177-3AD203B41FA5}">
                      <a16:colId xmlns:a16="http://schemas.microsoft.com/office/drawing/2014/main" val="1232617575"/>
                    </a:ext>
                  </a:extLst>
                </a:gridCol>
                <a:gridCol w="799553">
                  <a:extLst>
                    <a:ext uri="{9D8B030D-6E8A-4147-A177-3AD203B41FA5}">
                      <a16:colId xmlns:a16="http://schemas.microsoft.com/office/drawing/2014/main" val="3526924159"/>
                    </a:ext>
                  </a:extLst>
                </a:gridCol>
                <a:gridCol w="3488953">
                  <a:extLst>
                    <a:ext uri="{9D8B030D-6E8A-4147-A177-3AD203B41FA5}">
                      <a16:colId xmlns:a16="http://schemas.microsoft.com/office/drawing/2014/main" val="1809566418"/>
                    </a:ext>
                  </a:extLst>
                </a:gridCol>
              </a:tblGrid>
              <a:tr h="0">
                <a:tc>
                  <a:txBody>
                    <a:bodyPr/>
                    <a:lstStyle/>
                    <a:p>
                      <a:pPr marL="0" marR="0" algn="ctr">
                        <a:lnSpc>
                          <a:spcPct val="107000"/>
                        </a:lnSpc>
                        <a:spcBef>
                          <a:spcPts val="0"/>
                        </a:spcBef>
                        <a:spcAft>
                          <a:spcPts val="0"/>
                        </a:spcAft>
                      </a:pPr>
                      <a:r>
                        <a:rPr lang="en-US" sz="1800" b="1" kern="0" dirty="0" err="1">
                          <a:effectLst/>
                          <a:latin typeface="Times New Roman" panose="02020603050405020304" pitchFamily="18" charset="0"/>
                          <a:cs typeface="Times New Roman" panose="02020603050405020304" pitchFamily="18" charset="0"/>
                        </a:rPr>
                        <a:t>i</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Character</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Substring starting at </a:t>
                      </a:r>
                      <a:r>
                        <a:rPr lang="en-US" sz="1800" b="1" kern="0" dirty="0" err="1">
                          <a:effectLst/>
                          <a:latin typeface="Times New Roman" panose="02020603050405020304" pitchFamily="18" charset="0"/>
                          <a:cs typeface="Times New Roman" panose="02020603050405020304" pitchFamily="18" charset="0"/>
                        </a:rPr>
                        <a:t>i</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Matching Characters</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Z[</a:t>
                      </a:r>
                      <a:r>
                        <a:rPr lang="en-US" sz="1800" b="1" kern="0" dirty="0" err="1">
                          <a:effectLst/>
                          <a:latin typeface="Times New Roman" panose="02020603050405020304" pitchFamily="18" charset="0"/>
                          <a:cs typeface="Times New Roman" panose="02020603050405020304" pitchFamily="18" charset="0"/>
                        </a:rPr>
                        <a:t>i</a:t>
                      </a:r>
                      <a:r>
                        <a:rPr lang="en-US" sz="1800" b="1" kern="0" dirty="0">
                          <a:effectLst/>
                          <a:latin typeface="Times New Roman" panose="02020603050405020304" pitchFamily="18" charset="0"/>
                          <a:cs typeface="Times New Roman" panose="02020603050405020304" pitchFamily="18" charset="0"/>
                        </a:rPr>
                        <a:t>]</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L</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R</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Explanation</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92616642"/>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Not computed</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98584791"/>
                  </a:ext>
                </a:extLst>
              </a:tr>
              <a:tr h="596645">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BA$ABABABA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None</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Starts with B, prefix starts with 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89132637"/>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Only first character matches</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57928243"/>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None</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Separator differs</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58876379"/>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4</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4</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Complete pattern matched</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55711879"/>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5</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None</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4</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Starts with B</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08380708"/>
                  </a:ext>
                </a:extLst>
              </a:tr>
              <a:tr h="613153">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60904701"/>
                  </a:ext>
                </a:extLst>
              </a:tr>
              <a:tr h="314522">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86048712"/>
                  </a:ext>
                </a:extLst>
              </a:tr>
              <a:tr h="613153">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89187673"/>
                  </a:ext>
                </a:extLst>
              </a:tr>
              <a:tr h="314522">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99760225"/>
                  </a:ext>
                </a:extLst>
              </a:tr>
              <a:tr h="613153">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07014035"/>
                  </a:ext>
                </a:extLst>
              </a:tr>
            </a:tbl>
          </a:graphicData>
        </a:graphic>
      </p:graphicFrame>
      <p:sp>
        <p:nvSpPr>
          <p:cNvPr id="5" name="TextBox 4">
            <a:extLst>
              <a:ext uri="{FF2B5EF4-FFF2-40B4-BE49-F238E27FC236}">
                <a16:creationId xmlns:a16="http://schemas.microsoft.com/office/drawing/2014/main" id="{83CD780E-14B0-2516-E7DD-1404E5869180}"/>
              </a:ext>
            </a:extLst>
          </p:cNvPr>
          <p:cNvSpPr txBox="1"/>
          <p:nvPr/>
        </p:nvSpPr>
        <p:spPr>
          <a:xfrm>
            <a:off x="1791222" y="288099"/>
            <a:ext cx="9507255" cy="646331"/>
          </a:xfrm>
          <a:prstGeom prst="rect">
            <a:avLst/>
          </a:prstGeom>
          <a:noFill/>
        </p:spPr>
        <p:txBody>
          <a:bodyPr wrap="square" rtlCol="0">
            <a:spAutoFit/>
          </a:bodyPr>
          <a:lstStyle/>
          <a:p>
            <a:r>
              <a:rPr lang="en-US" b="1" kern="0" dirty="0">
                <a:latin typeface="Times New Roman" panose="02020603050405020304" pitchFamily="18" charset="0"/>
                <a:ea typeface="Times New Roman" panose="02020603050405020304" pitchFamily="18" charset="0"/>
                <a:cs typeface="Times New Roman" panose="02020603050405020304" pitchFamily="18" charset="0"/>
              </a:rPr>
              <a:t>Prefixes of ABA$ABABABA – A, AB, ABA, ABA$, ABA$A, ABA$AB, ABA$ABA, ABA$ABAB, ABA$ABABA, ABA$ABABAB, </a:t>
            </a:r>
            <a:r>
              <a:rPr lang="en-US" b="1" u="sng" kern="0" dirty="0">
                <a:latin typeface="Times New Roman" panose="02020603050405020304" pitchFamily="18" charset="0"/>
                <a:ea typeface="Times New Roman" panose="02020603050405020304" pitchFamily="18" charset="0"/>
                <a:cs typeface="Times New Roman" panose="02020603050405020304" pitchFamily="18" charset="0"/>
              </a:rPr>
              <a:t>ABA$ABABABA</a:t>
            </a:r>
            <a:r>
              <a:rPr lang="en-US" b="1" kern="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dirty="0"/>
          </a:p>
        </p:txBody>
      </p:sp>
    </p:spTree>
    <p:extLst>
      <p:ext uri="{BB962C8B-B14F-4D97-AF65-F5344CB8AC3E}">
        <p14:creationId xmlns:p14="http://schemas.microsoft.com/office/powerpoint/2010/main" val="366526996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9F701-0C0C-D2F1-C049-DE13882B984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692F5D9-2A88-B487-7EE1-D488B1213088}"/>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17909D4A-60EF-CB62-10EA-8666B872F721}"/>
              </a:ext>
            </a:extLst>
          </p:cNvPr>
          <p:cNvSpPr>
            <a:spLocks noGrp="1"/>
          </p:cNvSpPr>
          <p:nvPr>
            <p:ph type="sldNum" sz="quarter" idx="12"/>
          </p:nvPr>
        </p:nvSpPr>
        <p:spPr/>
        <p:txBody>
          <a:bodyPr/>
          <a:lstStyle/>
          <a:p>
            <a:fld id="{68187FF5-4BF9-4B21-B0D2-9B7FF2B27D7F}" type="slidenum">
              <a:rPr lang="en-AU" smtClean="0"/>
              <a:pPr/>
              <a:t>108</a:t>
            </a:fld>
            <a:endParaRPr lang="en-AU"/>
          </a:p>
        </p:txBody>
      </p:sp>
      <p:graphicFrame>
        <p:nvGraphicFramePr>
          <p:cNvPr id="4" name="Table 3">
            <a:extLst>
              <a:ext uri="{FF2B5EF4-FFF2-40B4-BE49-F238E27FC236}">
                <a16:creationId xmlns:a16="http://schemas.microsoft.com/office/drawing/2014/main" id="{88B5ED5A-8E09-49F9-A403-CBFA2C0F103D}"/>
              </a:ext>
            </a:extLst>
          </p:cNvPr>
          <p:cNvGraphicFramePr>
            <a:graphicFrameLocks noGrp="1"/>
          </p:cNvGraphicFramePr>
          <p:nvPr>
            <p:extLst>
              <p:ext uri="{D42A27DB-BD31-4B8C-83A1-F6EECF244321}">
                <p14:modId xmlns:p14="http://schemas.microsoft.com/office/powerpoint/2010/main" val="699458371"/>
              </p:ext>
            </p:extLst>
          </p:nvPr>
        </p:nvGraphicFramePr>
        <p:xfrm>
          <a:off x="278296" y="934430"/>
          <a:ext cx="11628783" cy="5821316"/>
        </p:xfrm>
        <a:graphic>
          <a:graphicData uri="http://schemas.openxmlformats.org/drawingml/2006/table">
            <a:tbl>
              <a:tblPr firstRow="1" firstCol="1" bandRow="1">
                <a:tableStyleId>{5C22544A-7EE6-4342-B048-85BDC9FD1C3A}</a:tableStyleId>
              </a:tblPr>
              <a:tblGrid>
                <a:gridCol w="1066916">
                  <a:extLst>
                    <a:ext uri="{9D8B030D-6E8A-4147-A177-3AD203B41FA5}">
                      <a16:colId xmlns:a16="http://schemas.microsoft.com/office/drawing/2014/main" val="1164717517"/>
                    </a:ext>
                  </a:extLst>
                </a:gridCol>
                <a:gridCol w="1144401">
                  <a:extLst>
                    <a:ext uri="{9D8B030D-6E8A-4147-A177-3AD203B41FA5}">
                      <a16:colId xmlns:a16="http://schemas.microsoft.com/office/drawing/2014/main" val="2647045308"/>
                    </a:ext>
                  </a:extLst>
                </a:gridCol>
                <a:gridCol w="1811969">
                  <a:extLst>
                    <a:ext uri="{9D8B030D-6E8A-4147-A177-3AD203B41FA5}">
                      <a16:colId xmlns:a16="http://schemas.microsoft.com/office/drawing/2014/main" val="2268699619"/>
                    </a:ext>
                  </a:extLst>
                </a:gridCol>
                <a:gridCol w="1311294">
                  <a:extLst>
                    <a:ext uri="{9D8B030D-6E8A-4147-A177-3AD203B41FA5}">
                      <a16:colId xmlns:a16="http://schemas.microsoft.com/office/drawing/2014/main" val="624912249"/>
                    </a:ext>
                  </a:extLst>
                </a:gridCol>
                <a:gridCol w="1060955">
                  <a:extLst>
                    <a:ext uri="{9D8B030D-6E8A-4147-A177-3AD203B41FA5}">
                      <a16:colId xmlns:a16="http://schemas.microsoft.com/office/drawing/2014/main" val="207098068"/>
                    </a:ext>
                  </a:extLst>
                </a:gridCol>
                <a:gridCol w="1013271">
                  <a:extLst>
                    <a:ext uri="{9D8B030D-6E8A-4147-A177-3AD203B41FA5}">
                      <a16:colId xmlns:a16="http://schemas.microsoft.com/office/drawing/2014/main" val="1232617575"/>
                    </a:ext>
                  </a:extLst>
                </a:gridCol>
                <a:gridCol w="786777">
                  <a:extLst>
                    <a:ext uri="{9D8B030D-6E8A-4147-A177-3AD203B41FA5}">
                      <a16:colId xmlns:a16="http://schemas.microsoft.com/office/drawing/2014/main" val="3526924159"/>
                    </a:ext>
                  </a:extLst>
                </a:gridCol>
                <a:gridCol w="3433200">
                  <a:extLst>
                    <a:ext uri="{9D8B030D-6E8A-4147-A177-3AD203B41FA5}">
                      <a16:colId xmlns:a16="http://schemas.microsoft.com/office/drawing/2014/main" val="1809566418"/>
                    </a:ext>
                  </a:extLst>
                </a:gridCol>
              </a:tblGrid>
              <a:tr h="0">
                <a:tc>
                  <a:txBody>
                    <a:bodyPr/>
                    <a:lstStyle/>
                    <a:p>
                      <a:pPr marL="0" marR="0" algn="ctr">
                        <a:lnSpc>
                          <a:spcPct val="107000"/>
                        </a:lnSpc>
                        <a:spcBef>
                          <a:spcPts val="0"/>
                        </a:spcBef>
                        <a:spcAft>
                          <a:spcPts val="0"/>
                        </a:spcAft>
                      </a:pPr>
                      <a:r>
                        <a:rPr lang="en-US" sz="1800" b="1" kern="0" dirty="0" err="1">
                          <a:effectLst/>
                          <a:latin typeface="Times New Roman" panose="02020603050405020304" pitchFamily="18" charset="0"/>
                          <a:cs typeface="Times New Roman" panose="02020603050405020304" pitchFamily="18" charset="0"/>
                        </a:rPr>
                        <a:t>i</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Character</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Substring starting at </a:t>
                      </a:r>
                      <a:r>
                        <a:rPr lang="en-US" sz="1800" b="1" kern="0" dirty="0" err="1">
                          <a:effectLst/>
                          <a:latin typeface="Times New Roman" panose="02020603050405020304" pitchFamily="18" charset="0"/>
                          <a:cs typeface="Times New Roman" panose="02020603050405020304" pitchFamily="18" charset="0"/>
                        </a:rPr>
                        <a:t>i</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Matching Characters</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Z[i]</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L</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R</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Explanation</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92616642"/>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ABA$ABABABA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Not computed</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98584791"/>
                  </a:ext>
                </a:extLst>
              </a:tr>
              <a:tr h="596645">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BA$ABABABA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None</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Starts with B, prefix starts with 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89132637"/>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1</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2</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Only first character matches</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57928243"/>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None</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Separator differs</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58876379"/>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4</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4</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6</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Complete pattern matched</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55711879"/>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5</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None</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4</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Starts with B</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08380708"/>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8</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Complete pattern matched</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60904701"/>
                  </a:ext>
                </a:extLst>
              </a:tr>
              <a:tr h="314522">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86048712"/>
                  </a:ext>
                </a:extLst>
              </a:tr>
              <a:tr h="613153">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89187673"/>
                  </a:ext>
                </a:extLst>
              </a:tr>
              <a:tr h="314522">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99760225"/>
                  </a:ext>
                </a:extLst>
              </a:tr>
              <a:tr h="613153">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07014035"/>
                  </a:ext>
                </a:extLst>
              </a:tr>
            </a:tbl>
          </a:graphicData>
        </a:graphic>
      </p:graphicFrame>
      <p:sp>
        <p:nvSpPr>
          <p:cNvPr id="5" name="TextBox 4">
            <a:extLst>
              <a:ext uri="{FF2B5EF4-FFF2-40B4-BE49-F238E27FC236}">
                <a16:creationId xmlns:a16="http://schemas.microsoft.com/office/drawing/2014/main" id="{C8F066D2-5DB9-187D-BF59-CF327E097557}"/>
              </a:ext>
            </a:extLst>
          </p:cNvPr>
          <p:cNvSpPr txBox="1"/>
          <p:nvPr/>
        </p:nvSpPr>
        <p:spPr>
          <a:xfrm>
            <a:off x="1791222" y="288099"/>
            <a:ext cx="9507255" cy="646331"/>
          </a:xfrm>
          <a:prstGeom prst="rect">
            <a:avLst/>
          </a:prstGeom>
          <a:noFill/>
        </p:spPr>
        <p:txBody>
          <a:bodyPr wrap="square" rtlCol="0">
            <a:spAutoFit/>
          </a:bodyPr>
          <a:lstStyle/>
          <a:p>
            <a:r>
              <a:rPr lang="en-US" b="1" kern="0" dirty="0">
                <a:latin typeface="Times New Roman" panose="02020603050405020304" pitchFamily="18" charset="0"/>
                <a:ea typeface="Times New Roman" panose="02020603050405020304" pitchFamily="18" charset="0"/>
                <a:cs typeface="Times New Roman" panose="02020603050405020304" pitchFamily="18" charset="0"/>
              </a:rPr>
              <a:t>Prefixes of ABA$ABABABA – A, AB, ABA, ABA$, ABA$A, ABA$AB, ABA$ABA, ABA$ABAB, ABA$ABABA, ABA$ABABAB, </a:t>
            </a:r>
            <a:r>
              <a:rPr lang="en-US" b="1" u="sng" kern="0" dirty="0">
                <a:latin typeface="Times New Roman" panose="02020603050405020304" pitchFamily="18" charset="0"/>
                <a:ea typeface="Times New Roman" panose="02020603050405020304" pitchFamily="18" charset="0"/>
                <a:cs typeface="Times New Roman" panose="02020603050405020304" pitchFamily="18" charset="0"/>
              </a:rPr>
              <a:t>ABA$ABABABA</a:t>
            </a:r>
            <a:r>
              <a:rPr lang="en-US" b="1" kern="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dirty="0"/>
          </a:p>
        </p:txBody>
      </p:sp>
    </p:spTree>
    <p:extLst>
      <p:ext uri="{BB962C8B-B14F-4D97-AF65-F5344CB8AC3E}">
        <p14:creationId xmlns:p14="http://schemas.microsoft.com/office/powerpoint/2010/main" val="194139569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5BE14-FF61-173D-2D53-7E8CD2E68B1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7335A3F-0BB1-EFB1-C118-07D119BC36D1}"/>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D83E00D9-1147-B7E1-52D4-E65029387E0C}"/>
              </a:ext>
            </a:extLst>
          </p:cNvPr>
          <p:cNvSpPr>
            <a:spLocks noGrp="1"/>
          </p:cNvSpPr>
          <p:nvPr>
            <p:ph type="sldNum" sz="quarter" idx="12"/>
          </p:nvPr>
        </p:nvSpPr>
        <p:spPr/>
        <p:txBody>
          <a:bodyPr/>
          <a:lstStyle/>
          <a:p>
            <a:fld id="{68187FF5-4BF9-4B21-B0D2-9B7FF2B27D7F}" type="slidenum">
              <a:rPr lang="en-AU" smtClean="0"/>
              <a:pPr/>
              <a:t>109</a:t>
            </a:fld>
            <a:endParaRPr lang="en-AU"/>
          </a:p>
        </p:txBody>
      </p:sp>
      <p:graphicFrame>
        <p:nvGraphicFramePr>
          <p:cNvPr id="4" name="Table 3">
            <a:extLst>
              <a:ext uri="{FF2B5EF4-FFF2-40B4-BE49-F238E27FC236}">
                <a16:creationId xmlns:a16="http://schemas.microsoft.com/office/drawing/2014/main" id="{F4683672-B5E7-480B-23A1-A3875D3A12FD}"/>
              </a:ext>
            </a:extLst>
          </p:cNvPr>
          <p:cNvGraphicFramePr>
            <a:graphicFrameLocks noGrp="1"/>
          </p:cNvGraphicFramePr>
          <p:nvPr>
            <p:extLst>
              <p:ext uri="{D42A27DB-BD31-4B8C-83A1-F6EECF244321}">
                <p14:modId xmlns:p14="http://schemas.microsoft.com/office/powerpoint/2010/main" val="2766988874"/>
              </p:ext>
            </p:extLst>
          </p:nvPr>
        </p:nvGraphicFramePr>
        <p:xfrm>
          <a:off x="218661" y="934430"/>
          <a:ext cx="11638721" cy="5821316"/>
        </p:xfrm>
        <a:graphic>
          <a:graphicData uri="http://schemas.openxmlformats.org/drawingml/2006/table">
            <a:tbl>
              <a:tblPr firstRow="1" firstCol="1" bandRow="1">
                <a:tableStyleId>{5C22544A-7EE6-4342-B048-85BDC9FD1C3A}</a:tableStyleId>
              </a:tblPr>
              <a:tblGrid>
                <a:gridCol w="1067827">
                  <a:extLst>
                    <a:ext uri="{9D8B030D-6E8A-4147-A177-3AD203B41FA5}">
                      <a16:colId xmlns:a16="http://schemas.microsoft.com/office/drawing/2014/main" val="1164717517"/>
                    </a:ext>
                  </a:extLst>
                </a:gridCol>
                <a:gridCol w="1145380">
                  <a:extLst>
                    <a:ext uri="{9D8B030D-6E8A-4147-A177-3AD203B41FA5}">
                      <a16:colId xmlns:a16="http://schemas.microsoft.com/office/drawing/2014/main" val="2647045308"/>
                    </a:ext>
                  </a:extLst>
                </a:gridCol>
                <a:gridCol w="1813517">
                  <a:extLst>
                    <a:ext uri="{9D8B030D-6E8A-4147-A177-3AD203B41FA5}">
                      <a16:colId xmlns:a16="http://schemas.microsoft.com/office/drawing/2014/main" val="2268699619"/>
                    </a:ext>
                  </a:extLst>
                </a:gridCol>
                <a:gridCol w="1312415">
                  <a:extLst>
                    <a:ext uri="{9D8B030D-6E8A-4147-A177-3AD203B41FA5}">
                      <a16:colId xmlns:a16="http://schemas.microsoft.com/office/drawing/2014/main" val="624912249"/>
                    </a:ext>
                  </a:extLst>
                </a:gridCol>
                <a:gridCol w="1061862">
                  <a:extLst>
                    <a:ext uri="{9D8B030D-6E8A-4147-A177-3AD203B41FA5}">
                      <a16:colId xmlns:a16="http://schemas.microsoft.com/office/drawing/2014/main" val="207098068"/>
                    </a:ext>
                  </a:extLst>
                </a:gridCol>
                <a:gridCol w="1014137">
                  <a:extLst>
                    <a:ext uri="{9D8B030D-6E8A-4147-A177-3AD203B41FA5}">
                      <a16:colId xmlns:a16="http://schemas.microsoft.com/office/drawing/2014/main" val="1232617575"/>
                    </a:ext>
                  </a:extLst>
                </a:gridCol>
                <a:gridCol w="787449">
                  <a:extLst>
                    <a:ext uri="{9D8B030D-6E8A-4147-A177-3AD203B41FA5}">
                      <a16:colId xmlns:a16="http://schemas.microsoft.com/office/drawing/2014/main" val="3526924159"/>
                    </a:ext>
                  </a:extLst>
                </a:gridCol>
                <a:gridCol w="3436134">
                  <a:extLst>
                    <a:ext uri="{9D8B030D-6E8A-4147-A177-3AD203B41FA5}">
                      <a16:colId xmlns:a16="http://schemas.microsoft.com/office/drawing/2014/main" val="1809566418"/>
                    </a:ext>
                  </a:extLst>
                </a:gridCol>
              </a:tblGrid>
              <a:tr h="0">
                <a:tc>
                  <a:txBody>
                    <a:bodyPr/>
                    <a:lstStyle/>
                    <a:p>
                      <a:pPr marL="0" marR="0" algn="ctr">
                        <a:lnSpc>
                          <a:spcPct val="107000"/>
                        </a:lnSpc>
                        <a:spcBef>
                          <a:spcPts val="0"/>
                        </a:spcBef>
                        <a:spcAft>
                          <a:spcPts val="0"/>
                        </a:spcAft>
                      </a:pPr>
                      <a:r>
                        <a:rPr lang="en-US" sz="1800" b="1" kern="0" dirty="0" err="1">
                          <a:effectLst/>
                          <a:latin typeface="Times New Roman" panose="02020603050405020304" pitchFamily="18" charset="0"/>
                          <a:cs typeface="Times New Roman" panose="02020603050405020304" pitchFamily="18" charset="0"/>
                        </a:rPr>
                        <a:t>i</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Character</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Substring starting at </a:t>
                      </a:r>
                      <a:r>
                        <a:rPr lang="en-US" sz="1800" b="1" kern="0" dirty="0" err="1">
                          <a:effectLst/>
                          <a:latin typeface="Times New Roman" panose="02020603050405020304" pitchFamily="18" charset="0"/>
                          <a:cs typeface="Times New Roman" panose="02020603050405020304" pitchFamily="18" charset="0"/>
                        </a:rPr>
                        <a:t>i</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Matching Characters</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Z[i]</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L</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R</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Explanation</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92616642"/>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Not computed</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98584791"/>
                  </a:ext>
                </a:extLst>
              </a:tr>
              <a:tr h="596645">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BA$ABABABA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None</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Starts with B, prefix starts with 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89132637"/>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Only first character matches</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57928243"/>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None</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Separator differs</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58876379"/>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4</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4</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Complete pattern matched</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55711879"/>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5</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None</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4</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Starts with B</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08380708"/>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8</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Complete pattern matched</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60904701"/>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7</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None</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8</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Starts with B</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86048712"/>
                  </a:ext>
                </a:extLst>
              </a:tr>
              <a:tr h="613153">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89187673"/>
                  </a:ext>
                </a:extLst>
              </a:tr>
              <a:tr h="314522">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99760225"/>
                  </a:ext>
                </a:extLst>
              </a:tr>
              <a:tr h="613153">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07014035"/>
                  </a:ext>
                </a:extLst>
              </a:tr>
            </a:tbl>
          </a:graphicData>
        </a:graphic>
      </p:graphicFrame>
      <p:sp>
        <p:nvSpPr>
          <p:cNvPr id="5" name="TextBox 4">
            <a:extLst>
              <a:ext uri="{FF2B5EF4-FFF2-40B4-BE49-F238E27FC236}">
                <a16:creationId xmlns:a16="http://schemas.microsoft.com/office/drawing/2014/main" id="{312D0FFF-AA46-9090-4649-88C6C5C0A6AF}"/>
              </a:ext>
            </a:extLst>
          </p:cNvPr>
          <p:cNvSpPr txBox="1"/>
          <p:nvPr/>
        </p:nvSpPr>
        <p:spPr>
          <a:xfrm>
            <a:off x="1791222" y="288099"/>
            <a:ext cx="9507255" cy="646331"/>
          </a:xfrm>
          <a:prstGeom prst="rect">
            <a:avLst/>
          </a:prstGeom>
          <a:noFill/>
        </p:spPr>
        <p:txBody>
          <a:bodyPr wrap="square" rtlCol="0">
            <a:spAutoFit/>
          </a:bodyPr>
          <a:lstStyle/>
          <a:p>
            <a:r>
              <a:rPr lang="en-US" b="1" kern="0" dirty="0">
                <a:latin typeface="Times New Roman" panose="02020603050405020304" pitchFamily="18" charset="0"/>
                <a:ea typeface="Times New Roman" panose="02020603050405020304" pitchFamily="18" charset="0"/>
                <a:cs typeface="Times New Roman" panose="02020603050405020304" pitchFamily="18" charset="0"/>
              </a:rPr>
              <a:t>Prefixes of ABA$ABABABA – A, AB, ABA, ABA$, ABA$A, ABA$AB, ABA$ABA, ABA$ABAB, ABA$ABABA, ABA$ABABAB, </a:t>
            </a:r>
            <a:r>
              <a:rPr lang="en-US" b="1" u="sng" kern="0" dirty="0">
                <a:latin typeface="Times New Roman" panose="02020603050405020304" pitchFamily="18" charset="0"/>
                <a:ea typeface="Times New Roman" panose="02020603050405020304" pitchFamily="18" charset="0"/>
                <a:cs typeface="Times New Roman" panose="02020603050405020304" pitchFamily="18" charset="0"/>
              </a:rPr>
              <a:t>ABA$ABABABA</a:t>
            </a:r>
            <a:r>
              <a:rPr lang="en-US" b="1" kern="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dirty="0"/>
          </a:p>
        </p:txBody>
      </p:sp>
    </p:spTree>
    <p:extLst>
      <p:ext uri="{BB962C8B-B14F-4D97-AF65-F5344CB8AC3E}">
        <p14:creationId xmlns:p14="http://schemas.microsoft.com/office/powerpoint/2010/main" val="17433116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FA009-1428-0F5A-F1E0-26FE9DA359F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A0FEC52-15C2-CD5D-972B-5F6E8B17C56A}"/>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CD8DC9DD-54DA-2EB9-FB7C-DF669DFD7CBB}"/>
              </a:ext>
            </a:extLst>
          </p:cNvPr>
          <p:cNvSpPr>
            <a:spLocks noGrp="1"/>
          </p:cNvSpPr>
          <p:nvPr>
            <p:ph type="sldNum" sz="quarter" idx="12"/>
          </p:nvPr>
        </p:nvSpPr>
        <p:spPr/>
        <p:txBody>
          <a:bodyPr/>
          <a:lstStyle/>
          <a:p>
            <a:fld id="{68187FF5-4BF9-4B21-B0D2-9B7FF2B27D7F}" type="slidenum">
              <a:rPr lang="en-AU" smtClean="0"/>
              <a:pPr/>
              <a:t>110</a:t>
            </a:fld>
            <a:endParaRPr lang="en-AU"/>
          </a:p>
        </p:txBody>
      </p:sp>
      <p:graphicFrame>
        <p:nvGraphicFramePr>
          <p:cNvPr id="4" name="Table 3">
            <a:extLst>
              <a:ext uri="{FF2B5EF4-FFF2-40B4-BE49-F238E27FC236}">
                <a16:creationId xmlns:a16="http://schemas.microsoft.com/office/drawing/2014/main" id="{DEB2C2F8-3891-8F8D-5BFC-AF6D8216E8DA}"/>
              </a:ext>
            </a:extLst>
          </p:cNvPr>
          <p:cNvGraphicFramePr>
            <a:graphicFrameLocks noGrp="1"/>
          </p:cNvGraphicFramePr>
          <p:nvPr>
            <p:extLst>
              <p:ext uri="{D42A27DB-BD31-4B8C-83A1-F6EECF244321}">
                <p14:modId xmlns:p14="http://schemas.microsoft.com/office/powerpoint/2010/main" val="3713951397"/>
              </p:ext>
            </p:extLst>
          </p:nvPr>
        </p:nvGraphicFramePr>
        <p:xfrm>
          <a:off x="178904" y="934430"/>
          <a:ext cx="11867322" cy="5821316"/>
        </p:xfrm>
        <a:graphic>
          <a:graphicData uri="http://schemas.openxmlformats.org/drawingml/2006/table">
            <a:tbl>
              <a:tblPr firstRow="1" firstCol="1" bandRow="1">
                <a:tableStyleId>{5C22544A-7EE6-4342-B048-85BDC9FD1C3A}</a:tableStyleId>
              </a:tblPr>
              <a:tblGrid>
                <a:gridCol w="1088801">
                  <a:extLst>
                    <a:ext uri="{9D8B030D-6E8A-4147-A177-3AD203B41FA5}">
                      <a16:colId xmlns:a16="http://schemas.microsoft.com/office/drawing/2014/main" val="1164717517"/>
                    </a:ext>
                  </a:extLst>
                </a:gridCol>
                <a:gridCol w="1167877">
                  <a:extLst>
                    <a:ext uri="{9D8B030D-6E8A-4147-A177-3AD203B41FA5}">
                      <a16:colId xmlns:a16="http://schemas.microsoft.com/office/drawing/2014/main" val="2647045308"/>
                    </a:ext>
                  </a:extLst>
                </a:gridCol>
                <a:gridCol w="1849137">
                  <a:extLst>
                    <a:ext uri="{9D8B030D-6E8A-4147-A177-3AD203B41FA5}">
                      <a16:colId xmlns:a16="http://schemas.microsoft.com/office/drawing/2014/main" val="2268699619"/>
                    </a:ext>
                  </a:extLst>
                </a:gridCol>
                <a:gridCol w="1338192">
                  <a:extLst>
                    <a:ext uri="{9D8B030D-6E8A-4147-A177-3AD203B41FA5}">
                      <a16:colId xmlns:a16="http://schemas.microsoft.com/office/drawing/2014/main" val="624912249"/>
                    </a:ext>
                  </a:extLst>
                </a:gridCol>
                <a:gridCol w="1082718">
                  <a:extLst>
                    <a:ext uri="{9D8B030D-6E8A-4147-A177-3AD203B41FA5}">
                      <a16:colId xmlns:a16="http://schemas.microsoft.com/office/drawing/2014/main" val="207098068"/>
                    </a:ext>
                  </a:extLst>
                </a:gridCol>
                <a:gridCol w="1034057">
                  <a:extLst>
                    <a:ext uri="{9D8B030D-6E8A-4147-A177-3AD203B41FA5}">
                      <a16:colId xmlns:a16="http://schemas.microsoft.com/office/drawing/2014/main" val="1232617575"/>
                    </a:ext>
                  </a:extLst>
                </a:gridCol>
                <a:gridCol w="802915">
                  <a:extLst>
                    <a:ext uri="{9D8B030D-6E8A-4147-A177-3AD203B41FA5}">
                      <a16:colId xmlns:a16="http://schemas.microsoft.com/office/drawing/2014/main" val="3526924159"/>
                    </a:ext>
                  </a:extLst>
                </a:gridCol>
                <a:gridCol w="3503625">
                  <a:extLst>
                    <a:ext uri="{9D8B030D-6E8A-4147-A177-3AD203B41FA5}">
                      <a16:colId xmlns:a16="http://schemas.microsoft.com/office/drawing/2014/main" val="1809566418"/>
                    </a:ext>
                  </a:extLst>
                </a:gridCol>
              </a:tblGrid>
              <a:tr h="0">
                <a:tc>
                  <a:txBody>
                    <a:bodyPr/>
                    <a:lstStyle/>
                    <a:p>
                      <a:pPr marL="0" marR="0" algn="ctr">
                        <a:lnSpc>
                          <a:spcPct val="107000"/>
                        </a:lnSpc>
                        <a:spcBef>
                          <a:spcPts val="0"/>
                        </a:spcBef>
                        <a:spcAft>
                          <a:spcPts val="0"/>
                        </a:spcAft>
                      </a:pPr>
                      <a:r>
                        <a:rPr lang="en-US" sz="1800" b="1" kern="0" dirty="0" err="1">
                          <a:effectLst/>
                          <a:latin typeface="Times New Roman" panose="02020603050405020304" pitchFamily="18" charset="0"/>
                          <a:cs typeface="Times New Roman" panose="02020603050405020304" pitchFamily="18" charset="0"/>
                        </a:rPr>
                        <a:t>i</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Character</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Substring starting at </a:t>
                      </a:r>
                      <a:r>
                        <a:rPr lang="en-US" sz="1800" b="1" kern="0" dirty="0" err="1">
                          <a:effectLst/>
                          <a:latin typeface="Times New Roman" panose="02020603050405020304" pitchFamily="18" charset="0"/>
                          <a:cs typeface="Times New Roman" panose="02020603050405020304" pitchFamily="18" charset="0"/>
                        </a:rPr>
                        <a:t>i</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Matching Characters</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Z[i]</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L</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R</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Explanation</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92616642"/>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Not computed</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98584791"/>
                  </a:ext>
                </a:extLst>
              </a:tr>
              <a:tr h="596645">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BA$ABABABA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None</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Starts with B, prefix starts with 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89132637"/>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Only first character matches</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57928243"/>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None</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Separator differs</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58876379"/>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4</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4</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Complete pattern matched</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55711879"/>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5</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None</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4</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Starts with B</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08380708"/>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8</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Complete pattern matched</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60904701"/>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7</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None</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8</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Starts with B</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86048712"/>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8</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ABA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8</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Complete pattern matched</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89187673"/>
                  </a:ext>
                </a:extLst>
              </a:tr>
              <a:tr h="314522">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99760225"/>
                  </a:ext>
                </a:extLst>
              </a:tr>
              <a:tr h="613153">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07014035"/>
                  </a:ext>
                </a:extLst>
              </a:tr>
            </a:tbl>
          </a:graphicData>
        </a:graphic>
      </p:graphicFrame>
      <p:sp>
        <p:nvSpPr>
          <p:cNvPr id="5" name="TextBox 4">
            <a:extLst>
              <a:ext uri="{FF2B5EF4-FFF2-40B4-BE49-F238E27FC236}">
                <a16:creationId xmlns:a16="http://schemas.microsoft.com/office/drawing/2014/main" id="{F559899A-C3DB-70C1-C3E7-55832967AA38}"/>
              </a:ext>
            </a:extLst>
          </p:cNvPr>
          <p:cNvSpPr txBox="1"/>
          <p:nvPr/>
        </p:nvSpPr>
        <p:spPr>
          <a:xfrm>
            <a:off x="1791222" y="288099"/>
            <a:ext cx="9507255" cy="646331"/>
          </a:xfrm>
          <a:prstGeom prst="rect">
            <a:avLst/>
          </a:prstGeom>
          <a:noFill/>
        </p:spPr>
        <p:txBody>
          <a:bodyPr wrap="square" rtlCol="0">
            <a:spAutoFit/>
          </a:bodyPr>
          <a:lstStyle/>
          <a:p>
            <a:r>
              <a:rPr lang="en-US" b="1" kern="0" dirty="0">
                <a:latin typeface="Times New Roman" panose="02020603050405020304" pitchFamily="18" charset="0"/>
                <a:ea typeface="Times New Roman" panose="02020603050405020304" pitchFamily="18" charset="0"/>
                <a:cs typeface="Times New Roman" panose="02020603050405020304" pitchFamily="18" charset="0"/>
              </a:rPr>
              <a:t>Prefixes of ABA$ABABABA – A, AB, ABA, ABA$, ABA$A, ABA$AB, ABA$ABA, ABA$ABAB, ABA$ABABA, ABA$ABABAB, </a:t>
            </a:r>
            <a:r>
              <a:rPr lang="en-US" b="1" u="sng" kern="0" dirty="0">
                <a:latin typeface="Times New Roman" panose="02020603050405020304" pitchFamily="18" charset="0"/>
                <a:ea typeface="Times New Roman" panose="02020603050405020304" pitchFamily="18" charset="0"/>
                <a:cs typeface="Times New Roman" panose="02020603050405020304" pitchFamily="18" charset="0"/>
              </a:rPr>
              <a:t>ABA$ABABABA</a:t>
            </a:r>
            <a:r>
              <a:rPr lang="en-US" b="1" kern="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dirty="0"/>
          </a:p>
        </p:txBody>
      </p:sp>
    </p:spTree>
    <p:extLst>
      <p:ext uri="{BB962C8B-B14F-4D97-AF65-F5344CB8AC3E}">
        <p14:creationId xmlns:p14="http://schemas.microsoft.com/office/powerpoint/2010/main" val="211864469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CD172-062B-AF90-1C84-8FF2F137E0B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0C01342-7B33-807D-44EB-82DA2DDE60B7}"/>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FE4D1DA3-A46C-8921-730F-F4D39D304A02}"/>
              </a:ext>
            </a:extLst>
          </p:cNvPr>
          <p:cNvSpPr>
            <a:spLocks noGrp="1"/>
          </p:cNvSpPr>
          <p:nvPr>
            <p:ph type="sldNum" sz="quarter" idx="12"/>
          </p:nvPr>
        </p:nvSpPr>
        <p:spPr/>
        <p:txBody>
          <a:bodyPr/>
          <a:lstStyle/>
          <a:p>
            <a:fld id="{68187FF5-4BF9-4B21-B0D2-9B7FF2B27D7F}" type="slidenum">
              <a:rPr lang="en-AU" smtClean="0"/>
              <a:pPr/>
              <a:t>111</a:t>
            </a:fld>
            <a:endParaRPr lang="en-AU"/>
          </a:p>
        </p:txBody>
      </p:sp>
      <p:graphicFrame>
        <p:nvGraphicFramePr>
          <p:cNvPr id="4" name="Table 3">
            <a:extLst>
              <a:ext uri="{FF2B5EF4-FFF2-40B4-BE49-F238E27FC236}">
                <a16:creationId xmlns:a16="http://schemas.microsoft.com/office/drawing/2014/main" id="{BB351360-6177-DE60-E6D6-5DA435C84342}"/>
              </a:ext>
            </a:extLst>
          </p:cNvPr>
          <p:cNvGraphicFramePr>
            <a:graphicFrameLocks noGrp="1"/>
          </p:cNvGraphicFramePr>
          <p:nvPr>
            <p:extLst>
              <p:ext uri="{D42A27DB-BD31-4B8C-83A1-F6EECF244321}">
                <p14:modId xmlns:p14="http://schemas.microsoft.com/office/powerpoint/2010/main" val="2189148200"/>
              </p:ext>
            </p:extLst>
          </p:nvPr>
        </p:nvGraphicFramePr>
        <p:xfrm>
          <a:off x="168965" y="934430"/>
          <a:ext cx="11777867" cy="5821316"/>
        </p:xfrm>
        <a:graphic>
          <a:graphicData uri="http://schemas.openxmlformats.org/drawingml/2006/table">
            <a:tbl>
              <a:tblPr firstRow="1" firstCol="1" bandRow="1">
                <a:tableStyleId>{5C22544A-7EE6-4342-B048-85BDC9FD1C3A}</a:tableStyleId>
              </a:tblPr>
              <a:tblGrid>
                <a:gridCol w="1080594">
                  <a:extLst>
                    <a:ext uri="{9D8B030D-6E8A-4147-A177-3AD203B41FA5}">
                      <a16:colId xmlns:a16="http://schemas.microsoft.com/office/drawing/2014/main" val="1164717517"/>
                    </a:ext>
                  </a:extLst>
                </a:gridCol>
                <a:gridCol w="1159074">
                  <a:extLst>
                    <a:ext uri="{9D8B030D-6E8A-4147-A177-3AD203B41FA5}">
                      <a16:colId xmlns:a16="http://schemas.microsoft.com/office/drawing/2014/main" val="2647045308"/>
                    </a:ext>
                  </a:extLst>
                </a:gridCol>
                <a:gridCol w="1835198">
                  <a:extLst>
                    <a:ext uri="{9D8B030D-6E8A-4147-A177-3AD203B41FA5}">
                      <a16:colId xmlns:a16="http://schemas.microsoft.com/office/drawing/2014/main" val="2268699619"/>
                    </a:ext>
                  </a:extLst>
                </a:gridCol>
                <a:gridCol w="1328104">
                  <a:extLst>
                    <a:ext uri="{9D8B030D-6E8A-4147-A177-3AD203B41FA5}">
                      <a16:colId xmlns:a16="http://schemas.microsoft.com/office/drawing/2014/main" val="624912249"/>
                    </a:ext>
                  </a:extLst>
                </a:gridCol>
                <a:gridCol w="1074557">
                  <a:extLst>
                    <a:ext uri="{9D8B030D-6E8A-4147-A177-3AD203B41FA5}">
                      <a16:colId xmlns:a16="http://schemas.microsoft.com/office/drawing/2014/main" val="207098068"/>
                    </a:ext>
                  </a:extLst>
                </a:gridCol>
                <a:gridCol w="1026262">
                  <a:extLst>
                    <a:ext uri="{9D8B030D-6E8A-4147-A177-3AD203B41FA5}">
                      <a16:colId xmlns:a16="http://schemas.microsoft.com/office/drawing/2014/main" val="1232617575"/>
                    </a:ext>
                  </a:extLst>
                </a:gridCol>
                <a:gridCol w="796863">
                  <a:extLst>
                    <a:ext uri="{9D8B030D-6E8A-4147-A177-3AD203B41FA5}">
                      <a16:colId xmlns:a16="http://schemas.microsoft.com/office/drawing/2014/main" val="3526924159"/>
                    </a:ext>
                  </a:extLst>
                </a:gridCol>
                <a:gridCol w="3477215">
                  <a:extLst>
                    <a:ext uri="{9D8B030D-6E8A-4147-A177-3AD203B41FA5}">
                      <a16:colId xmlns:a16="http://schemas.microsoft.com/office/drawing/2014/main" val="1809566418"/>
                    </a:ext>
                  </a:extLst>
                </a:gridCol>
              </a:tblGrid>
              <a:tr h="0">
                <a:tc>
                  <a:txBody>
                    <a:bodyPr/>
                    <a:lstStyle/>
                    <a:p>
                      <a:pPr marL="0" marR="0" algn="ctr">
                        <a:lnSpc>
                          <a:spcPct val="107000"/>
                        </a:lnSpc>
                        <a:spcBef>
                          <a:spcPts val="0"/>
                        </a:spcBef>
                        <a:spcAft>
                          <a:spcPts val="0"/>
                        </a:spcAft>
                      </a:pPr>
                      <a:r>
                        <a:rPr lang="en-US" sz="1800" b="1" kern="0" dirty="0" err="1">
                          <a:effectLst/>
                          <a:latin typeface="Times New Roman" panose="02020603050405020304" pitchFamily="18" charset="0"/>
                          <a:cs typeface="Times New Roman" panose="02020603050405020304" pitchFamily="18" charset="0"/>
                        </a:rPr>
                        <a:t>i</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Character</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Substring starting at </a:t>
                      </a:r>
                      <a:r>
                        <a:rPr lang="en-US" sz="1800" b="1" kern="0" dirty="0" err="1">
                          <a:effectLst/>
                          <a:latin typeface="Times New Roman" panose="02020603050405020304" pitchFamily="18" charset="0"/>
                          <a:cs typeface="Times New Roman" panose="02020603050405020304" pitchFamily="18" charset="0"/>
                        </a:rPr>
                        <a:t>i</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Matching Characters</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Z[i]</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L</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R</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Explanation</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92616642"/>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Not computed</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98584791"/>
                  </a:ext>
                </a:extLst>
              </a:tr>
              <a:tr h="596645">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BA$ABABABA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None</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Starts with B, prefix starts with 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89132637"/>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2</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Only first character matches</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57928243"/>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None</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Separator differs</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58876379"/>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4</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4</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Complete pattern matched</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55711879"/>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5</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None</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4</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Starts with B</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08380708"/>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8</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Complete pattern matched</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60904701"/>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7</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None</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8</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Starts with B</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86048712"/>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8</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ABA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8</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Complete pattern matched</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89187673"/>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9</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None</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8</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Starts with B</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99760225"/>
                  </a:ext>
                </a:extLst>
              </a:tr>
              <a:tr h="613153">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07014035"/>
                  </a:ext>
                </a:extLst>
              </a:tr>
            </a:tbl>
          </a:graphicData>
        </a:graphic>
      </p:graphicFrame>
      <p:sp>
        <p:nvSpPr>
          <p:cNvPr id="5" name="TextBox 4">
            <a:extLst>
              <a:ext uri="{FF2B5EF4-FFF2-40B4-BE49-F238E27FC236}">
                <a16:creationId xmlns:a16="http://schemas.microsoft.com/office/drawing/2014/main" id="{89918FC2-30C8-578A-B662-0ACF16C92A48}"/>
              </a:ext>
            </a:extLst>
          </p:cNvPr>
          <p:cNvSpPr txBox="1"/>
          <p:nvPr/>
        </p:nvSpPr>
        <p:spPr>
          <a:xfrm>
            <a:off x="1791222" y="288099"/>
            <a:ext cx="9507255" cy="646331"/>
          </a:xfrm>
          <a:prstGeom prst="rect">
            <a:avLst/>
          </a:prstGeom>
          <a:noFill/>
        </p:spPr>
        <p:txBody>
          <a:bodyPr wrap="square" rtlCol="0">
            <a:spAutoFit/>
          </a:bodyPr>
          <a:lstStyle/>
          <a:p>
            <a:r>
              <a:rPr lang="en-US" b="1" kern="0" dirty="0">
                <a:latin typeface="Times New Roman" panose="02020603050405020304" pitchFamily="18" charset="0"/>
                <a:ea typeface="Times New Roman" panose="02020603050405020304" pitchFamily="18" charset="0"/>
                <a:cs typeface="Times New Roman" panose="02020603050405020304" pitchFamily="18" charset="0"/>
              </a:rPr>
              <a:t>Prefixes of ABA$ABABABA – A, AB, ABA, ABA$, ABA$A, ABA$AB, ABA$ABA, ABA$ABAB, ABA$ABABA, ABA$ABABAB, </a:t>
            </a:r>
            <a:r>
              <a:rPr lang="en-US" b="1" u="sng" kern="0" dirty="0">
                <a:latin typeface="Times New Roman" panose="02020603050405020304" pitchFamily="18" charset="0"/>
                <a:ea typeface="Times New Roman" panose="02020603050405020304" pitchFamily="18" charset="0"/>
                <a:cs typeface="Times New Roman" panose="02020603050405020304" pitchFamily="18" charset="0"/>
              </a:rPr>
              <a:t>ABA$ABABABA</a:t>
            </a:r>
            <a:r>
              <a:rPr lang="en-US" b="1" kern="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dirty="0"/>
          </a:p>
        </p:txBody>
      </p:sp>
    </p:spTree>
    <p:extLst>
      <p:ext uri="{BB962C8B-B14F-4D97-AF65-F5344CB8AC3E}">
        <p14:creationId xmlns:p14="http://schemas.microsoft.com/office/powerpoint/2010/main" val="233298024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3080F-8023-8622-E630-E41DC5125D3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31FBF91-E9F1-A5AE-CA75-CEE331035909}"/>
              </a:ext>
            </a:extLst>
          </p:cNvPr>
          <p:cNvSpPr>
            <a:spLocks noGrp="1"/>
          </p:cNvSpPr>
          <p:nvPr>
            <p:ph type="ftr" sz="quarter" idx="11"/>
          </p:nvPr>
        </p:nvSpPr>
        <p:spPr/>
        <p:txBody>
          <a:bodyPr/>
          <a:lstStyle/>
          <a:p>
            <a:r>
              <a:rPr lang="en-AU">
                <a:solidFill>
                  <a:srgbClr val="C00000"/>
                </a:solidFill>
              </a:rPr>
              <a:t>DSA-3 </a:t>
            </a:r>
          </a:p>
        </p:txBody>
      </p:sp>
      <p:sp>
        <p:nvSpPr>
          <p:cNvPr id="3" name="Slide Number Placeholder 2">
            <a:extLst>
              <a:ext uri="{FF2B5EF4-FFF2-40B4-BE49-F238E27FC236}">
                <a16:creationId xmlns:a16="http://schemas.microsoft.com/office/drawing/2014/main" id="{9945D553-3D44-B2D8-9DCC-BD4D11401C63}"/>
              </a:ext>
            </a:extLst>
          </p:cNvPr>
          <p:cNvSpPr>
            <a:spLocks noGrp="1"/>
          </p:cNvSpPr>
          <p:nvPr>
            <p:ph type="sldNum" sz="quarter" idx="12"/>
          </p:nvPr>
        </p:nvSpPr>
        <p:spPr/>
        <p:txBody>
          <a:bodyPr/>
          <a:lstStyle/>
          <a:p>
            <a:fld id="{68187FF5-4BF9-4B21-B0D2-9B7FF2B27D7F}" type="slidenum">
              <a:rPr lang="en-AU" smtClean="0"/>
              <a:pPr/>
              <a:t>112</a:t>
            </a:fld>
            <a:endParaRPr lang="en-AU"/>
          </a:p>
        </p:txBody>
      </p:sp>
      <p:graphicFrame>
        <p:nvGraphicFramePr>
          <p:cNvPr id="4" name="Table 3">
            <a:extLst>
              <a:ext uri="{FF2B5EF4-FFF2-40B4-BE49-F238E27FC236}">
                <a16:creationId xmlns:a16="http://schemas.microsoft.com/office/drawing/2014/main" id="{7357260C-9338-C5CA-1B0D-EECCC87AE62F}"/>
              </a:ext>
            </a:extLst>
          </p:cNvPr>
          <p:cNvGraphicFramePr>
            <a:graphicFrameLocks noGrp="1"/>
          </p:cNvGraphicFramePr>
          <p:nvPr>
            <p:extLst>
              <p:ext uri="{D42A27DB-BD31-4B8C-83A1-F6EECF244321}">
                <p14:modId xmlns:p14="http://schemas.microsoft.com/office/powerpoint/2010/main" val="4060198135"/>
              </p:ext>
            </p:extLst>
          </p:nvPr>
        </p:nvGraphicFramePr>
        <p:xfrm>
          <a:off x="337930" y="934430"/>
          <a:ext cx="11598967" cy="5821316"/>
        </p:xfrm>
        <a:graphic>
          <a:graphicData uri="http://schemas.openxmlformats.org/drawingml/2006/table">
            <a:tbl>
              <a:tblPr firstRow="1" firstCol="1" bandRow="1">
                <a:tableStyleId>{5C22544A-7EE6-4342-B048-85BDC9FD1C3A}</a:tableStyleId>
              </a:tblPr>
              <a:tblGrid>
                <a:gridCol w="1064181">
                  <a:extLst>
                    <a:ext uri="{9D8B030D-6E8A-4147-A177-3AD203B41FA5}">
                      <a16:colId xmlns:a16="http://schemas.microsoft.com/office/drawing/2014/main" val="1164717517"/>
                    </a:ext>
                  </a:extLst>
                </a:gridCol>
                <a:gridCol w="1141468">
                  <a:extLst>
                    <a:ext uri="{9D8B030D-6E8A-4147-A177-3AD203B41FA5}">
                      <a16:colId xmlns:a16="http://schemas.microsoft.com/office/drawing/2014/main" val="2647045308"/>
                    </a:ext>
                  </a:extLst>
                </a:gridCol>
                <a:gridCol w="1807323">
                  <a:extLst>
                    <a:ext uri="{9D8B030D-6E8A-4147-A177-3AD203B41FA5}">
                      <a16:colId xmlns:a16="http://schemas.microsoft.com/office/drawing/2014/main" val="2268699619"/>
                    </a:ext>
                  </a:extLst>
                </a:gridCol>
                <a:gridCol w="1307931">
                  <a:extLst>
                    <a:ext uri="{9D8B030D-6E8A-4147-A177-3AD203B41FA5}">
                      <a16:colId xmlns:a16="http://schemas.microsoft.com/office/drawing/2014/main" val="624912249"/>
                    </a:ext>
                  </a:extLst>
                </a:gridCol>
                <a:gridCol w="1058234">
                  <a:extLst>
                    <a:ext uri="{9D8B030D-6E8A-4147-A177-3AD203B41FA5}">
                      <a16:colId xmlns:a16="http://schemas.microsoft.com/office/drawing/2014/main" val="207098068"/>
                    </a:ext>
                  </a:extLst>
                </a:gridCol>
                <a:gridCol w="1010674">
                  <a:extLst>
                    <a:ext uri="{9D8B030D-6E8A-4147-A177-3AD203B41FA5}">
                      <a16:colId xmlns:a16="http://schemas.microsoft.com/office/drawing/2014/main" val="1232617575"/>
                    </a:ext>
                  </a:extLst>
                </a:gridCol>
                <a:gridCol w="784759">
                  <a:extLst>
                    <a:ext uri="{9D8B030D-6E8A-4147-A177-3AD203B41FA5}">
                      <a16:colId xmlns:a16="http://schemas.microsoft.com/office/drawing/2014/main" val="3526924159"/>
                    </a:ext>
                  </a:extLst>
                </a:gridCol>
                <a:gridCol w="3424397">
                  <a:extLst>
                    <a:ext uri="{9D8B030D-6E8A-4147-A177-3AD203B41FA5}">
                      <a16:colId xmlns:a16="http://schemas.microsoft.com/office/drawing/2014/main" val="1809566418"/>
                    </a:ext>
                  </a:extLst>
                </a:gridCol>
              </a:tblGrid>
              <a:tr h="0">
                <a:tc>
                  <a:txBody>
                    <a:bodyPr/>
                    <a:lstStyle/>
                    <a:p>
                      <a:pPr marL="0" marR="0" algn="ctr">
                        <a:lnSpc>
                          <a:spcPct val="107000"/>
                        </a:lnSpc>
                        <a:spcBef>
                          <a:spcPts val="0"/>
                        </a:spcBef>
                        <a:spcAft>
                          <a:spcPts val="0"/>
                        </a:spcAft>
                      </a:pPr>
                      <a:r>
                        <a:rPr lang="en-US" sz="1800" b="1" kern="0" dirty="0" err="1">
                          <a:effectLst/>
                          <a:latin typeface="Times New Roman" panose="02020603050405020304" pitchFamily="18" charset="0"/>
                          <a:cs typeface="Times New Roman" panose="02020603050405020304" pitchFamily="18" charset="0"/>
                        </a:rPr>
                        <a:t>i</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Character</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Substring starting at </a:t>
                      </a:r>
                      <a:r>
                        <a:rPr lang="en-US" sz="1800" b="1" kern="0" dirty="0" err="1">
                          <a:effectLst/>
                          <a:latin typeface="Times New Roman" panose="02020603050405020304" pitchFamily="18" charset="0"/>
                          <a:cs typeface="Times New Roman" panose="02020603050405020304" pitchFamily="18" charset="0"/>
                        </a:rPr>
                        <a:t>i</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Matching Characters</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Z[i]</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L</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R</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Explanation</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92616642"/>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ABA$ABABABA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Not computed</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98584791"/>
                  </a:ext>
                </a:extLst>
              </a:tr>
              <a:tr h="596645">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BA$ABABABA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None</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Starts with B, prefix starts with 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89132637"/>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2</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2</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Only first character matches</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57928243"/>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None</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2</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2</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Separator differs</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58876379"/>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4</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4</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Complete pattern matched</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55711879"/>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5</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None</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4</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Starts with 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08380708"/>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8</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Complete pattern matched</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60904701"/>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7</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None</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6</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8</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Starts with B</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86048712"/>
                  </a:ext>
                </a:extLst>
              </a:tr>
              <a:tr h="613153">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8</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ABA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3</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8</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Complete pattern matched</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89187673"/>
                  </a:ext>
                </a:extLst>
              </a:tr>
              <a:tr h="314522">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9</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BA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None</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8</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10</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Starts with B</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99760225"/>
                  </a:ext>
                </a:extLst>
              </a:tr>
              <a:tr h="613153">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10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a:effectLst/>
                          <a:latin typeface="Times New Roman" panose="02020603050405020304" pitchFamily="18" charset="0"/>
                          <a:cs typeface="Times New Roman" panose="02020603050405020304" pitchFamily="18" charset="0"/>
                        </a:rPr>
                        <a:t>A</a:t>
                      </a:r>
                      <a:endParaRPr lang="en-US"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A</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1</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10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10</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Single character match</a:t>
                      </a: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07014035"/>
                  </a:ext>
                </a:extLst>
              </a:tr>
            </a:tbl>
          </a:graphicData>
        </a:graphic>
      </p:graphicFrame>
      <p:sp>
        <p:nvSpPr>
          <p:cNvPr id="5" name="TextBox 4">
            <a:extLst>
              <a:ext uri="{FF2B5EF4-FFF2-40B4-BE49-F238E27FC236}">
                <a16:creationId xmlns:a16="http://schemas.microsoft.com/office/drawing/2014/main" id="{A03E7685-DD3C-230C-8B73-FBBAFA8833FD}"/>
              </a:ext>
            </a:extLst>
          </p:cNvPr>
          <p:cNvSpPr txBox="1"/>
          <p:nvPr/>
        </p:nvSpPr>
        <p:spPr>
          <a:xfrm>
            <a:off x="1791222" y="288099"/>
            <a:ext cx="9507255" cy="646331"/>
          </a:xfrm>
          <a:prstGeom prst="rect">
            <a:avLst/>
          </a:prstGeom>
          <a:noFill/>
        </p:spPr>
        <p:txBody>
          <a:bodyPr wrap="square" rtlCol="0">
            <a:spAutoFit/>
          </a:bodyPr>
          <a:lstStyle/>
          <a:p>
            <a:r>
              <a:rPr lang="en-US" b="1" kern="0" dirty="0">
                <a:latin typeface="Times New Roman" panose="02020603050405020304" pitchFamily="18" charset="0"/>
                <a:ea typeface="Times New Roman" panose="02020603050405020304" pitchFamily="18" charset="0"/>
                <a:cs typeface="Times New Roman" panose="02020603050405020304" pitchFamily="18" charset="0"/>
              </a:rPr>
              <a:t>Prefixes of ABA$ABABABA – A, AB, ABA, ABA$, ABA$A, ABA$AB, ABA$ABA, ABA$ABAB, ABA$ABABA, ABA$ABABAB, </a:t>
            </a:r>
            <a:r>
              <a:rPr lang="en-US" b="1" u="sng" kern="0" dirty="0">
                <a:latin typeface="Times New Roman" panose="02020603050405020304" pitchFamily="18" charset="0"/>
                <a:ea typeface="Times New Roman" panose="02020603050405020304" pitchFamily="18" charset="0"/>
                <a:cs typeface="Times New Roman" panose="02020603050405020304" pitchFamily="18" charset="0"/>
              </a:rPr>
              <a:t>ABA$ABABABA</a:t>
            </a:r>
            <a:r>
              <a:rPr lang="en-US" b="1" kern="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dirty="0"/>
          </a:p>
        </p:txBody>
      </p:sp>
    </p:spTree>
    <p:extLst>
      <p:ext uri="{BB962C8B-B14F-4D97-AF65-F5344CB8AC3E}">
        <p14:creationId xmlns:p14="http://schemas.microsoft.com/office/powerpoint/2010/main" val="368716842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C75FF5-6E3D-21E6-BA5E-E21FD93EECE1}"/>
              </a:ext>
            </a:extLst>
          </p:cNvPr>
          <p:cNvSpPr>
            <a:spLocks noGrp="1"/>
          </p:cNvSpPr>
          <p:nvPr>
            <p:ph type="ftr" sz="quarter" idx="11"/>
          </p:nvPr>
        </p:nvSpPr>
        <p:spPr/>
        <p:txBody>
          <a:bodyPr/>
          <a:lstStyle/>
          <a:p>
            <a:r>
              <a:rPr lang="en-AU" dirty="0">
                <a:solidFill>
                  <a:srgbClr val="C00000"/>
                </a:solidFill>
              </a:rPr>
              <a:t>DSA-3 </a:t>
            </a:r>
          </a:p>
        </p:txBody>
      </p:sp>
      <p:sp>
        <p:nvSpPr>
          <p:cNvPr id="3" name="Slide Number Placeholder 2">
            <a:extLst>
              <a:ext uri="{FF2B5EF4-FFF2-40B4-BE49-F238E27FC236}">
                <a16:creationId xmlns:a16="http://schemas.microsoft.com/office/drawing/2014/main" id="{0B0F0B17-A3DA-82B3-84F6-7CB84CD01711}"/>
              </a:ext>
            </a:extLst>
          </p:cNvPr>
          <p:cNvSpPr>
            <a:spLocks noGrp="1"/>
          </p:cNvSpPr>
          <p:nvPr>
            <p:ph type="sldNum" sz="quarter" idx="12"/>
          </p:nvPr>
        </p:nvSpPr>
        <p:spPr/>
        <p:txBody>
          <a:bodyPr/>
          <a:lstStyle/>
          <a:p>
            <a:fld id="{68187FF5-4BF9-4B21-B0D2-9B7FF2B27D7F}" type="slidenum">
              <a:rPr lang="en-AU" smtClean="0"/>
              <a:pPr/>
              <a:t>113</a:t>
            </a:fld>
            <a:endParaRPr lang="en-AU"/>
          </a:p>
        </p:txBody>
      </p:sp>
      <p:sp>
        <p:nvSpPr>
          <p:cNvPr id="5" name="TextBox 4">
            <a:extLst>
              <a:ext uri="{FF2B5EF4-FFF2-40B4-BE49-F238E27FC236}">
                <a16:creationId xmlns:a16="http://schemas.microsoft.com/office/drawing/2014/main" id="{AF3EFB1A-D483-FEAC-B32B-3F9D0F32C40B}"/>
              </a:ext>
            </a:extLst>
          </p:cNvPr>
          <p:cNvSpPr txBox="1"/>
          <p:nvPr/>
        </p:nvSpPr>
        <p:spPr>
          <a:xfrm>
            <a:off x="1575054" y="478315"/>
            <a:ext cx="10083546" cy="954107"/>
          </a:xfrm>
          <a:prstGeom prst="rect">
            <a:avLst/>
          </a:prstGeom>
          <a:noFill/>
        </p:spPr>
        <p:txBody>
          <a:bodyPr wrap="square">
            <a:spAutoFit/>
          </a:bodyPr>
          <a:lstStyle/>
          <a:p>
            <a:r>
              <a:rPr lang="en-IN" sz="2800" b="1" dirty="0"/>
              <a:t>Z[</a:t>
            </a:r>
            <a:r>
              <a:rPr lang="en-IN" sz="2800" b="1" dirty="0" err="1"/>
              <a:t>i</a:t>
            </a:r>
            <a:r>
              <a:rPr lang="en-IN" sz="2800" b="1" dirty="0"/>
              <a:t>] = number of characters starting at position </a:t>
            </a:r>
            <a:r>
              <a:rPr lang="en-IN" sz="2800" b="1" dirty="0" err="1"/>
              <a:t>i</a:t>
            </a:r>
            <a:r>
              <a:rPr lang="en-IN" sz="2800" b="1" dirty="0"/>
              <a:t> that match the prefix of the entire string.</a:t>
            </a:r>
          </a:p>
        </p:txBody>
      </p:sp>
      <p:sp>
        <p:nvSpPr>
          <p:cNvPr id="7" name="TextBox 6">
            <a:extLst>
              <a:ext uri="{FF2B5EF4-FFF2-40B4-BE49-F238E27FC236}">
                <a16:creationId xmlns:a16="http://schemas.microsoft.com/office/drawing/2014/main" id="{A29F4E1F-B0C9-062C-6098-137AB53CF9F3}"/>
              </a:ext>
            </a:extLst>
          </p:cNvPr>
          <p:cNvSpPr txBox="1"/>
          <p:nvPr/>
        </p:nvSpPr>
        <p:spPr>
          <a:xfrm>
            <a:off x="1146812" y="1511103"/>
            <a:ext cx="4597146" cy="830997"/>
          </a:xfrm>
          <a:prstGeom prst="rect">
            <a:avLst/>
          </a:prstGeom>
          <a:noFill/>
        </p:spPr>
        <p:txBody>
          <a:bodyPr wrap="square">
            <a:spAutoFit/>
          </a:bodyPr>
          <a:lstStyle/>
          <a:p>
            <a:r>
              <a:rPr lang="en-IN" sz="2400" dirty="0"/>
              <a:t>S = A B A $ A B A B A B A </a:t>
            </a:r>
          </a:p>
          <a:p>
            <a:r>
              <a:rPr lang="en-IN" sz="2400" dirty="0"/>
              <a:t>       0 1 2 3 4 5 6 7 8 9 10</a:t>
            </a:r>
          </a:p>
        </p:txBody>
      </p:sp>
      <p:sp>
        <p:nvSpPr>
          <p:cNvPr id="9" name="TextBox 8">
            <a:extLst>
              <a:ext uri="{FF2B5EF4-FFF2-40B4-BE49-F238E27FC236}">
                <a16:creationId xmlns:a16="http://schemas.microsoft.com/office/drawing/2014/main" id="{6E79833C-C76A-803D-77C4-79333F45FD94}"/>
              </a:ext>
            </a:extLst>
          </p:cNvPr>
          <p:cNvSpPr txBox="1"/>
          <p:nvPr/>
        </p:nvSpPr>
        <p:spPr>
          <a:xfrm>
            <a:off x="1146812" y="2420781"/>
            <a:ext cx="9908284" cy="707886"/>
          </a:xfrm>
          <a:prstGeom prst="rect">
            <a:avLst/>
          </a:prstGeom>
          <a:noFill/>
        </p:spPr>
        <p:txBody>
          <a:bodyPr wrap="square">
            <a:spAutoFit/>
          </a:bodyPr>
          <a:lstStyle/>
          <a:p>
            <a:r>
              <a:rPr lang="en-IN" sz="2000" b="1" dirty="0"/>
              <a:t>The prefix is:      A B A $ A B A B A B A                 Z[0] = 0    L = 0    R = 0</a:t>
            </a:r>
          </a:p>
          <a:p>
            <a:endParaRPr lang="en-IN" sz="2000" b="1" dirty="0"/>
          </a:p>
        </p:txBody>
      </p:sp>
      <p:sp>
        <p:nvSpPr>
          <p:cNvPr id="15" name="TextBox 14">
            <a:extLst>
              <a:ext uri="{FF2B5EF4-FFF2-40B4-BE49-F238E27FC236}">
                <a16:creationId xmlns:a16="http://schemas.microsoft.com/office/drawing/2014/main" id="{7C2A5420-0EA3-CBD1-880D-795D53B604AF}"/>
              </a:ext>
            </a:extLst>
          </p:cNvPr>
          <p:cNvSpPr txBox="1"/>
          <p:nvPr/>
        </p:nvSpPr>
        <p:spPr>
          <a:xfrm>
            <a:off x="481584" y="2774724"/>
            <a:ext cx="11533632" cy="4524315"/>
          </a:xfrm>
          <a:prstGeom prst="rect">
            <a:avLst/>
          </a:prstGeom>
          <a:noFill/>
        </p:spPr>
        <p:txBody>
          <a:bodyPr wrap="square">
            <a:spAutoFit/>
          </a:bodyPr>
          <a:lstStyle/>
          <a:p>
            <a:r>
              <a:rPr lang="en-IN" sz="2400" b="1" dirty="0" err="1"/>
              <a:t>i</a:t>
            </a:r>
            <a:r>
              <a:rPr lang="en-IN" sz="2400" b="1" dirty="0"/>
              <a:t> = 1</a:t>
            </a:r>
          </a:p>
          <a:p>
            <a:r>
              <a:rPr lang="en-IN" sz="2400" dirty="0"/>
              <a:t>S[1...] = BA$ABABABA </a:t>
            </a:r>
          </a:p>
          <a:p>
            <a:r>
              <a:rPr lang="en-IN" sz="2400" dirty="0"/>
              <a:t>Prefix = ABA$ABABABA</a:t>
            </a:r>
          </a:p>
          <a:p>
            <a:r>
              <a:rPr lang="en-IN" sz="2400" dirty="0"/>
              <a:t>Compare first character: B ≠ A, So there is no match, Z[1] = 0</a:t>
            </a:r>
          </a:p>
          <a:p>
            <a:endParaRPr lang="en-IN" sz="2400" b="1" dirty="0"/>
          </a:p>
          <a:p>
            <a:r>
              <a:rPr lang="en-IN" sz="2400" b="1" dirty="0" err="1"/>
              <a:t>i</a:t>
            </a:r>
            <a:r>
              <a:rPr lang="en-IN" sz="2400" b="1" dirty="0"/>
              <a:t> = 2</a:t>
            </a:r>
          </a:p>
          <a:p>
            <a:r>
              <a:rPr lang="en-IN" sz="2400" dirty="0"/>
              <a:t>S[2...] = A$ABABABA </a:t>
            </a:r>
          </a:p>
          <a:p>
            <a:r>
              <a:rPr lang="en-IN" sz="2400" dirty="0"/>
              <a:t>Prefix = ABA$ABABABA</a:t>
            </a:r>
          </a:p>
          <a:p>
            <a:r>
              <a:rPr lang="en-IN" sz="2400" dirty="0"/>
              <a:t>Compare first character: A = A ✓, $ ≠ B ✗ ,  Z[2] = 1</a:t>
            </a:r>
          </a:p>
          <a:p>
            <a:r>
              <a:rPr lang="en-IN" sz="2400" dirty="0"/>
              <a:t>We have found a match from position 2 to position 2., So the new Z-box is: L = 2 R = 2</a:t>
            </a:r>
          </a:p>
          <a:p>
            <a:endParaRPr lang="en-IN" sz="2400" dirty="0"/>
          </a:p>
          <a:p>
            <a:endParaRPr lang="en-IN" sz="2400" dirty="0"/>
          </a:p>
        </p:txBody>
      </p:sp>
    </p:spTree>
    <p:extLst>
      <p:ext uri="{BB962C8B-B14F-4D97-AF65-F5344CB8AC3E}">
        <p14:creationId xmlns:p14="http://schemas.microsoft.com/office/powerpoint/2010/main" val="68562214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114</a:t>
            </a:fld>
            <a:endParaRPr lang="en-AU"/>
          </a:p>
        </p:txBody>
      </p:sp>
      <p:sp>
        <p:nvSpPr>
          <p:cNvPr id="4" name="Rectangle 3"/>
          <p:cNvSpPr/>
          <p:nvPr/>
        </p:nvSpPr>
        <p:spPr>
          <a:xfrm>
            <a:off x="4862048" y="2757"/>
            <a:ext cx="2890535" cy="655885"/>
          </a:xfrm>
          <a:prstGeom prst="rect">
            <a:avLst/>
          </a:prstGeom>
        </p:spPr>
        <p:txBody>
          <a:bodyPr wrap="none">
            <a:spAutoFit/>
          </a:bodyPr>
          <a:lstStyle/>
          <a:p>
            <a:pPr>
              <a:lnSpc>
                <a:spcPct val="107000"/>
              </a:lnSpc>
            </a:pPr>
            <a:r>
              <a:rPr lang="en-US" sz="3600" b="1" kern="0" dirty="0">
                <a:solidFill>
                  <a:srgbClr val="1E03BD"/>
                </a:solidFill>
                <a:latin typeface="Times New Roman" panose="02020603050405020304" pitchFamily="18" charset="0"/>
                <a:ea typeface="Times New Roman" panose="02020603050405020304" pitchFamily="18" charset="0"/>
                <a:cs typeface="Times New Roman" panose="02020603050405020304" pitchFamily="18" charset="0"/>
              </a:rPr>
              <a:t>Final Z-array</a:t>
            </a:r>
            <a:endParaRPr lang="en-US" sz="3600" kern="100" dirty="0">
              <a:solidFill>
                <a:srgbClr val="1E03BD"/>
              </a:solidFill>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110839899"/>
              </p:ext>
            </p:extLst>
          </p:nvPr>
        </p:nvGraphicFramePr>
        <p:xfrm>
          <a:off x="2479034" y="651478"/>
          <a:ext cx="8919650" cy="969456"/>
        </p:xfrm>
        <a:graphic>
          <a:graphicData uri="http://schemas.openxmlformats.org/drawingml/2006/table">
            <a:tbl>
              <a:tblPr firstRow="1" firstCol="1" bandRow="1">
                <a:tableStyleId>{5C22544A-7EE6-4342-B048-85BDC9FD1C3A}</a:tableStyleId>
              </a:tblPr>
              <a:tblGrid>
                <a:gridCol w="1163909">
                  <a:extLst>
                    <a:ext uri="{9D8B030D-6E8A-4147-A177-3AD203B41FA5}">
                      <a16:colId xmlns:a16="http://schemas.microsoft.com/office/drawing/2014/main" val="3407615695"/>
                    </a:ext>
                  </a:extLst>
                </a:gridCol>
                <a:gridCol w="534941">
                  <a:extLst>
                    <a:ext uri="{9D8B030D-6E8A-4147-A177-3AD203B41FA5}">
                      <a16:colId xmlns:a16="http://schemas.microsoft.com/office/drawing/2014/main" val="4233507950"/>
                    </a:ext>
                  </a:extLst>
                </a:gridCol>
                <a:gridCol w="722080">
                  <a:extLst>
                    <a:ext uri="{9D8B030D-6E8A-4147-A177-3AD203B41FA5}">
                      <a16:colId xmlns:a16="http://schemas.microsoft.com/office/drawing/2014/main" val="3611188859"/>
                    </a:ext>
                  </a:extLst>
                </a:gridCol>
                <a:gridCol w="722080">
                  <a:extLst>
                    <a:ext uri="{9D8B030D-6E8A-4147-A177-3AD203B41FA5}">
                      <a16:colId xmlns:a16="http://schemas.microsoft.com/office/drawing/2014/main" val="3515646404"/>
                    </a:ext>
                  </a:extLst>
                </a:gridCol>
                <a:gridCol w="722080">
                  <a:extLst>
                    <a:ext uri="{9D8B030D-6E8A-4147-A177-3AD203B41FA5}">
                      <a16:colId xmlns:a16="http://schemas.microsoft.com/office/drawing/2014/main" val="498882294"/>
                    </a:ext>
                  </a:extLst>
                </a:gridCol>
                <a:gridCol w="722080">
                  <a:extLst>
                    <a:ext uri="{9D8B030D-6E8A-4147-A177-3AD203B41FA5}">
                      <a16:colId xmlns:a16="http://schemas.microsoft.com/office/drawing/2014/main" val="2566939893"/>
                    </a:ext>
                  </a:extLst>
                </a:gridCol>
                <a:gridCol w="722080">
                  <a:extLst>
                    <a:ext uri="{9D8B030D-6E8A-4147-A177-3AD203B41FA5}">
                      <a16:colId xmlns:a16="http://schemas.microsoft.com/office/drawing/2014/main" val="3396188903"/>
                    </a:ext>
                  </a:extLst>
                </a:gridCol>
                <a:gridCol w="722080">
                  <a:extLst>
                    <a:ext uri="{9D8B030D-6E8A-4147-A177-3AD203B41FA5}">
                      <a16:colId xmlns:a16="http://schemas.microsoft.com/office/drawing/2014/main" val="4008843498"/>
                    </a:ext>
                  </a:extLst>
                </a:gridCol>
                <a:gridCol w="722080">
                  <a:extLst>
                    <a:ext uri="{9D8B030D-6E8A-4147-A177-3AD203B41FA5}">
                      <a16:colId xmlns:a16="http://schemas.microsoft.com/office/drawing/2014/main" val="2432881006"/>
                    </a:ext>
                  </a:extLst>
                </a:gridCol>
                <a:gridCol w="722080">
                  <a:extLst>
                    <a:ext uri="{9D8B030D-6E8A-4147-A177-3AD203B41FA5}">
                      <a16:colId xmlns:a16="http://schemas.microsoft.com/office/drawing/2014/main" val="3646381175"/>
                    </a:ext>
                  </a:extLst>
                </a:gridCol>
                <a:gridCol w="722080">
                  <a:extLst>
                    <a:ext uri="{9D8B030D-6E8A-4147-A177-3AD203B41FA5}">
                      <a16:colId xmlns:a16="http://schemas.microsoft.com/office/drawing/2014/main" val="3462207693"/>
                    </a:ext>
                  </a:extLst>
                </a:gridCol>
                <a:gridCol w="722080">
                  <a:extLst>
                    <a:ext uri="{9D8B030D-6E8A-4147-A177-3AD203B41FA5}">
                      <a16:colId xmlns:a16="http://schemas.microsoft.com/office/drawing/2014/main" val="3600467258"/>
                    </a:ext>
                  </a:extLst>
                </a:gridCol>
              </a:tblGrid>
              <a:tr h="0">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Index</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0</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1</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a:solidFill>
                            <a:schemeClr val="tx1"/>
                          </a:solidFill>
                          <a:effectLst/>
                          <a:latin typeface="Times New Roman" panose="02020603050405020304" pitchFamily="18" charset="0"/>
                          <a:cs typeface="Times New Roman" panose="02020603050405020304" pitchFamily="18" charset="0"/>
                        </a:rPr>
                        <a:t>2</a:t>
                      </a:r>
                      <a:endParaRPr lang="en-US" sz="2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a:solidFill>
                            <a:schemeClr val="tx1"/>
                          </a:solidFill>
                          <a:effectLst/>
                          <a:latin typeface="Times New Roman" panose="02020603050405020304" pitchFamily="18" charset="0"/>
                          <a:cs typeface="Times New Roman" panose="02020603050405020304" pitchFamily="18" charset="0"/>
                        </a:rPr>
                        <a:t>3</a:t>
                      </a:r>
                      <a:endParaRPr lang="en-US" sz="2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a:solidFill>
                            <a:schemeClr val="tx1"/>
                          </a:solidFill>
                          <a:effectLst/>
                          <a:latin typeface="Times New Roman" panose="02020603050405020304" pitchFamily="18" charset="0"/>
                          <a:cs typeface="Times New Roman" panose="02020603050405020304" pitchFamily="18" charset="0"/>
                        </a:rPr>
                        <a:t>4</a:t>
                      </a:r>
                      <a:endParaRPr lang="en-US" sz="2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a:solidFill>
                            <a:schemeClr val="tx1"/>
                          </a:solidFill>
                          <a:effectLst/>
                          <a:latin typeface="Times New Roman" panose="02020603050405020304" pitchFamily="18" charset="0"/>
                          <a:cs typeface="Times New Roman" panose="02020603050405020304" pitchFamily="18" charset="0"/>
                        </a:rPr>
                        <a:t>5</a:t>
                      </a:r>
                      <a:endParaRPr lang="en-US" sz="2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a:solidFill>
                            <a:schemeClr val="tx1"/>
                          </a:solidFill>
                          <a:effectLst/>
                          <a:latin typeface="Times New Roman" panose="02020603050405020304" pitchFamily="18" charset="0"/>
                          <a:cs typeface="Times New Roman" panose="02020603050405020304" pitchFamily="18" charset="0"/>
                        </a:rPr>
                        <a:t>6</a:t>
                      </a:r>
                      <a:endParaRPr lang="en-US" sz="2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a:solidFill>
                            <a:schemeClr val="tx1"/>
                          </a:solidFill>
                          <a:effectLst/>
                          <a:latin typeface="Times New Roman" panose="02020603050405020304" pitchFamily="18" charset="0"/>
                          <a:cs typeface="Times New Roman" panose="02020603050405020304" pitchFamily="18" charset="0"/>
                        </a:rPr>
                        <a:t>7</a:t>
                      </a:r>
                      <a:endParaRPr lang="en-US" sz="2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a:solidFill>
                            <a:schemeClr val="tx1"/>
                          </a:solidFill>
                          <a:effectLst/>
                          <a:latin typeface="Times New Roman" panose="02020603050405020304" pitchFamily="18" charset="0"/>
                          <a:cs typeface="Times New Roman" panose="02020603050405020304" pitchFamily="18" charset="0"/>
                        </a:rPr>
                        <a:t>8</a:t>
                      </a:r>
                      <a:endParaRPr lang="en-US" sz="2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a:solidFill>
                            <a:schemeClr val="tx1"/>
                          </a:solidFill>
                          <a:effectLst/>
                          <a:latin typeface="Times New Roman" panose="02020603050405020304" pitchFamily="18" charset="0"/>
                          <a:cs typeface="Times New Roman" panose="02020603050405020304" pitchFamily="18" charset="0"/>
                        </a:rPr>
                        <a:t>9</a:t>
                      </a:r>
                      <a:endParaRPr lang="en-US" sz="2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a:solidFill>
                            <a:schemeClr val="tx1"/>
                          </a:solidFill>
                          <a:effectLst/>
                          <a:latin typeface="Times New Roman" panose="02020603050405020304" pitchFamily="18" charset="0"/>
                          <a:cs typeface="Times New Roman" panose="02020603050405020304" pitchFamily="18" charset="0"/>
                        </a:rPr>
                        <a:t>10</a:t>
                      </a:r>
                      <a:endParaRPr lang="en-US" sz="2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21571647"/>
                  </a:ext>
                </a:extLst>
              </a:tr>
              <a:tr h="0">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ea typeface="+mn-ea"/>
                          <a:cs typeface="Times New Roman" panose="02020603050405020304" pitchFamily="18" charset="0"/>
                        </a:rPr>
                        <a:t>String</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A</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B</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A</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A</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B</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A</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B</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A</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a:solidFill>
                            <a:schemeClr val="tx1"/>
                          </a:solidFill>
                          <a:effectLst/>
                          <a:latin typeface="Times New Roman" panose="02020603050405020304" pitchFamily="18" charset="0"/>
                          <a:cs typeface="Times New Roman" panose="02020603050405020304" pitchFamily="18" charset="0"/>
                        </a:rPr>
                        <a:t>B</a:t>
                      </a:r>
                      <a:endParaRPr lang="en-US" sz="2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a:solidFill>
                            <a:schemeClr val="tx1"/>
                          </a:solidFill>
                          <a:effectLst/>
                          <a:latin typeface="Times New Roman" panose="02020603050405020304" pitchFamily="18" charset="0"/>
                          <a:cs typeface="Times New Roman" panose="02020603050405020304" pitchFamily="18" charset="0"/>
                        </a:rPr>
                        <a:t>A</a:t>
                      </a:r>
                      <a:endParaRPr lang="en-US" sz="2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74146083"/>
                  </a:ext>
                </a:extLst>
              </a:tr>
              <a:tr h="0">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Z-value</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0</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0</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1</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0</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3</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0</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3</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0</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3</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0</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1</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80721197"/>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18028176"/>
              </p:ext>
            </p:extLst>
          </p:nvPr>
        </p:nvGraphicFramePr>
        <p:xfrm>
          <a:off x="6143882" y="1816895"/>
          <a:ext cx="5254802" cy="1618744"/>
        </p:xfrm>
        <a:graphic>
          <a:graphicData uri="http://schemas.openxmlformats.org/drawingml/2006/table">
            <a:tbl>
              <a:tblPr firstRow="1" firstCol="1" bandRow="1">
                <a:tableStyleId>{5C22544A-7EE6-4342-B048-85BDC9FD1C3A}</a:tableStyleId>
              </a:tblPr>
              <a:tblGrid>
                <a:gridCol w="2252727">
                  <a:extLst>
                    <a:ext uri="{9D8B030D-6E8A-4147-A177-3AD203B41FA5}">
                      <a16:colId xmlns:a16="http://schemas.microsoft.com/office/drawing/2014/main" val="1444918858"/>
                    </a:ext>
                  </a:extLst>
                </a:gridCol>
                <a:gridCol w="1070166">
                  <a:extLst>
                    <a:ext uri="{9D8B030D-6E8A-4147-A177-3AD203B41FA5}">
                      <a16:colId xmlns:a16="http://schemas.microsoft.com/office/drawing/2014/main" val="3995675608"/>
                    </a:ext>
                  </a:extLst>
                </a:gridCol>
                <a:gridCol w="1931909">
                  <a:extLst>
                    <a:ext uri="{9D8B030D-6E8A-4147-A177-3AD203B41FA5}">
                      <a16:colId xmlns:a16="http://schemas.microsoft.com/office/drawing/2014/main" val="1307587682"/>
                    </a:ext>
                  </a:extLst>
                </a:gridCol>
              </a:tblGrid>
              <a:tr h="0">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Index in Combined String</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Z-value</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Pattern Found?</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41340819"/>
                  </a:ext>
                </a:extLst>
              </a:tr>
              <a:tr h="0">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4</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effectLst/>
                          <a:latin typeface="Times New Roman" panose="02020603050405020304" pitchFamily="18" charset="0"/>
                          <a:cs typeface="Times New Roman" panose="02020603050405020304" pitchFamily="18" charset="0"/>
                        </a:rPr>
                        <a:t>3</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a:effectLst/>
                          <a:latin typeface="Times New Roman" panose="02020603050405020304" pitchFamily="18" charset="0"/>
                          <a:cs typeface="Times New Roman" panose="02020603050405020304" pitchFamily="18" charset="0"/>
                        </a:rPr>
                        <a:t>Yes</a:t>
                      </a:r>
                      <a:endParaRPr lang="en-US"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30691949"/>
                  </a:ext>
                </a:extLst>
              </a:tr>
              <a:tr h="0">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6</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effectLst/>
                          <a:latin typeface="Times New Roman" panose="02020603050405020304" pitchFamily="18" charset="0"/>
                          <a:cs typeface="Times New Roman" panose="02020603050405020304" pitchFamily="18" charset="0"/>
                        </a:rPr>
                        <a:t>3</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a:effectLst/>
                          <a:latin typeface="Times New Roman" panose="02020603050405020304" pitchFamily="18" charset="0"/>
                          <a:cs typeface="Times New Roman" panose="02020603050405020304" pitchFamily="18" charset="0"/>
                        </a:rPr>
                        <a:t>Yes</a:t>
                      </a:r>
                      <a:endParaRPr lang="en-US"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94403723"/>
                  </a:ext>
                </a:extLst>
              </a:tr>
              <a:tr h="0">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8</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effectLst/>
                          <a:latin typeface="Times New Roman" panose="02020603050405020304" pitchFamily="18" charset="0"/>
                          <a:cs typeface="Times New Roman" panose="02020603050405020304" pitchFamily="18" charset="0"/>
                        </a:rPr>
                        <a:t>3</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effectLst/>
                          <a:latin typeface="Times New Roman" panose="02020603050405020304" pitchFamily="18" charset="0"/>
                          <a:cs typeface="Times New Roman" panose="02020603050405020304" pitchFamily="18" charset="0"/>
                        </a:rPr>
                        <a:t>Yes</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74175739"/>
                  </a:ext>
                </a:extLst>
              </a:tr>
            </a:tbl>
          </a:graphicData>
        </a:graphic>
      </p:graphicFrame>
      <p:sp>
        <p:nvSpPr>
          <p:cNvPr id="8" name="Rectangle 7"/>
          <p:cNvSpPr/>
          <p:nvPr/>
        </p:nvSpPr>
        <p:spPr>
          <a:xfrm>
            <a:off x="178904" y="1816895"/>
            <a:ext cx="4271176" cy="1058751"/>
          </a:xfrm>
          <a:prstGeom prst="rect">
            <a:avLst/>
          </a:prstGeom>
        </p:spPr>
        <p:txBody>
          <a:bodyPr wrap="square">
            <a:spAutoFit/>
          </a:bodyPr>
          <a:lstStyle/>
          <a:p>
            <a:pPr>
              <a:lnSpc>
                <a:spcPct val="107000"/>
              </a:lnSpc>
            </a:pPr>
            <a:r>
              <a:rPr lang="en-US" sz="2000" b="1" kern="1800" dirty="0">
                <a:latin typeface="Times New Roman" panose="02020603050405020304" pitchFamily="18" charset="0"/>
                <a:ea typeface="Times New Roman" panose="02020603050405020304" pitchFamily="18" charset="0"/>
                <a:cs typeface="Times New Roman" panose="02020603050405020304" pitchFamily="18" charset="0"/>
              </a:rPr>
              <a:t>Step 5: Identify Pattern Matches</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The </a:t>
            </a: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pattern length = 3</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a:p>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Whenever </a:t>
            </a: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Z[</a:t>
            </a:r>
            <a:r>
              <a:rPr lang="en-US" sz="2000" b="1" kern="0" dirty="0" err="1">
                <a:latin typeface="Times New Roman" panose="02020603050405020304" pitchFamily="18" charset="0"/>
                <a:ea typeface="Times New Roman" panose="02020603050405020304" pitchFamily="18" charset="0"/>
                <a:cs typeface="Times New Roman" panose="02020603050405020304" pitchFamily="18" charset="0"/>
              </a:rPr>
              <a:t>i</a:t>
            </a: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 = 3</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 the pattern is found</a:t>
            </a:r>
            <a:endParaRPr lang="en-US" sz="2000" dirty="0">
              <a:latin typeface="Times New Roman" panose="02020603050405020304" pitchFamily="18" charset="0"/>
              <a:cs typeface="Times New Roman" panose="02020603050405020304" pitchFamily="18" charset="0"/>
            </a:endParaRPr>
          </a:p>
        </p:txBody>
      </p:sp>
      <p:sp>
        <p:nvSpPr>
          <p:cNvPr id="9" name="Rectangle 8"/>
          <p:cNvSpPr/>
          <p:nvPr/>
        </p:nvSpPr>
        <p:spPr>
          <a:xfrm>
            <a:off x="191191" y="3164681"/>
            <a:ext cx="5254802" cy="3034677"/>
          </a:xfrm>
          <a:prstGeom prst="rect">
            <a:avLst/>
          </a:prstGeom>
        </p:spPr>
        <p:txBody>
          <a:bodyPr wrap="square">
            <a:spAutoFit/>
          </a:bodyPr>
          <a:lstStyle/>
          <a:p>
            <a:pPr>
              <a:lnSpc>
                <a:spcPct val="107000"/>
              </a:lnSpc>
            </a:pPr>
            <a:r>
              <a:rPr lang="en-US" sz="2000" b="1" kern="1800" dirty="0">
                <a:latin typeface="Times New Roman" panose="02020603050405020304" pitchFamily="18" charset="0"/>
                <a:ea typeface="Times New Roman" panose="02020603050405020304" pitchFamily="18" charset="0"/>
                <a:cs typeface="Times New Roman" panose="02020603050405020304" pitchFamily="18" charset="0"/>
              </a:rPr>
              <a:t>Step 6: Convert to Text Positions</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The combined string is:</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A B A $ A B A B A B A</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0  1  2 3  4  5  6 7  8  9 10</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The text starts at index </a:t>
            </a: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4</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 in the combined string.</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The corresponding position in the original text is:</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US" sz="2000" kern="100" dirty="0">
                <a:latin typeface="Times New Roman" panose="02020603050405020304" pitchFamily="18" charset="0"/>
                <a:ea typeface="Calibri" panose="020F0502020204030204" pitchFamily="34" charset="0"/>
                <a:cs typeface="Times New Roman" panose="02020603050405020304" pitchFamily="18" charset="0"/>
              </a:rPr>
              <a:t>Text Position=</a:t>
            </a:r>
            <a:r>
              <a:rPr lang="en-US" sz="2000" kern="100" dirty="0" err="1">
                <a:latin typeface="Times New Roman" panose="02020603050405020304" pitchFamily="18" charset="0"/>
                <a:ea typeface="Calibri" panose="020F0502020204030204" pitchFamily="34" charset="0"/>
                <a:cs typeface="Times New Roman" panose="02020603050405020304" pitchFamily="18" charset="0"/>
              </a:rPr>
              <a:t>i</a:t>
            </a:r>
            <a:r>
              <a:rPr lang="en-US" sz="2000" kern="100" dirty="0">
                <a:latin typeface="Times New Roman" panose="02020603050405020304" pitchFamily="18" charset="0"/>
                <a:ea typeface="Calibri" panose="020F0502020204030204" pitchFamily="34" charset="0"/>
                <a:cs typeface="Times New Roman" panose="02020603050405020304" pitchFamily="18" charset="0"/>
              </a:rPr>
              <a:t>−(Pattern Length+1)</a:t>
            </a:r>
          </a:p>
          <a:p>
            <a:pPr>
              <a:lnSpc>
                <a:spcPct val="107000"/>
              </a:lnSpc>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Since Pattern Length = 3,</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a:p>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Text Position=i−4 </a:t>
            </a:r>
            <a:endParaRPr lang="en-US" sz="20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1588990988"/>
              </p:ext>
            </p:extLst>
          </p:nvPr>
        </p:nvGraphicFramePr>
        <p:xfrm>
          <a:off x="5638843" y="3673937"/>
          <a:ext cx="3364500" cy="1944880"/>
        </p:xfrm>
        <a:graphic>
          <a:graphicData uri="http://schemas.openxmlformats.org/drawingml/2006/table">
            <a:tbl>
              <a:tblPr firstRow="1" firstCol="1" bandRow="1">
                <a:tableStyleId>{5C22544A-7EE6-4342-B048-85BDC9FD1C3A}</a:tableStyleId>
              </a:tblPr>
              <a:tblGrid>
                <a:gridCol w="1242584">
                  <a:extLst>
                    <a:ext uri="{9D8B030D-6E8A-4147-A177-3AD203B41FA5}">
                      <a16:colId xmlns:a16="http://schemas.microsoft.com/office/drawing/2014/main" val="113987814"/>
                    </a:ext>
                  </a:extLst>
                </a:gridCol>
                <a:gridCol w="1095756">
                  <a:extLst>
                    <a:ext uri="{9D8B030D-6E8A-4147-A177-3AD203B41FA5}">
                      <a16:colId xmlns:a16="http://schemas.microsoft.com/office/drawing/2014/main" val="1120683710"/>
                    </a:ext>
                  </a:extLst>
                </a:gridCol>
                <a:gridCol w="1026160">
                  <a:extLst>
                    <a:ext uri="{9D8B030D-6E8A-4147-A177-3AD203B41FA5}">
                      <a16:colId xmlns:a16="http://schemas.microsoft.com/office/drawing/2014/main" val="4029619938"/>
                    </a:ext>
                  </a:extLst>
                </a:gridCol>
              </a:tblGrid>
              <a:tr h="0">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Combined String Index (</a:t>
                      </a:r>
                      <a:r>
                        <a:rPr lang="en-US" sz="2000" kern="0" dirty="0" err="1">
                          <a:solidFill>
                            <a:schemeClr val="tx1"/>
                          </a:solidFill>
                          <a:effectLst/>
                          <a:latin typeface="Times New Roman" panose="02020603050405020304" pitchFamily="18" charset="0"/>
                          <a:cs typeface="Times New Roman" panose="02020603050405020304" pitchFamily="18" charset="0"/>
                        </a:rPr>
                        <a:t>i</a:t>
                      </a:r>
                      <a:r>
                        <a:rPr lang="en-US" sz="2000" kern="0" dirty="0">
                          <a:solidFill>
                            <a:schemeClr val="tx1"/>
                          </a:solidFill>
                          <a:effectLst/>
                          <a:latin typeface="Times New Roman" panose="02020603050405020304" pitchFamily="18" charset="0"/>
                          <a:cs typeface="Times New Roman" panose="02020603050405020304" pitchFamily="18" charset="0"/>
                        </a:rPr>
                        <a:t>)</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Formula</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Position in Text</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46022471"/>
                  </a:ext>
                </a:extLst>
              </a:tr>
              <a:tr h="0">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4</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4 − 4</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0</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74295692"/>
                  </a:ext>
                </a:extLst>
              </a:tr>
              <a:tr h="0">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6</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6 − 4</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2</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77413348"/>
                  </a:ext>
                </a:extLst>
              </a:tr>
              <a:tr h="0">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8</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8 − 4</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kern="0" dirty="0">
                          <a:solidFill>
                            <a:schemeClr val="tx1"/>
                          </a:solidFill>
                          <a:effectLst/>
                          <a:latin typeface="Times New Roman" panose="02020603050405020304" pitchFamily="18" charset="0"/>
                          <a:cs typeface="Times New Roman" panose="02020603050405020304" pitchFamily="18" charset="0"/>
                        </a:rPr>
                        <a:t>4</a:t>
                      </a:r>
                      <a:endPar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07502394"/>
                  </a:ext>
                </a:extLst>
              </a:tr>
            </a:tbl>
          </a:graphicData>
        </a:graphic>
      </p:graphicFrame>
      <p:sp>
        <p:nvSpPr>
          <p:cNvPr id="11" name="Rectangle 10"/>
          <p:cNvSpPr/>
          <p:nvPr/>
        </p:nvSpPr>
        <p:spPr>
          <a:xfrm>
            <a:off x="9003342" y="3592631"/>
            <a:ext cx="3188657" cy="2710614"/>
          </a:xfrm>
          <a:prstGeom prst="rect">
            <a:avLst/>
          </a:prstGeom>
        </p:spPr>
        <p:txBody>
          <a:bodyPr wrap="square">
            <a:spAutoFit/>
          </a:bodyPr>
          <a:lstStyle/>
          <a:p>
            <a:pPr>
              <a:lnSpc>
                <a:spcPct val="107000"/>
              </a:lnSpc>
            </a:pPr>
            <a:r>
              <a:rPr lang="en-US" sz="2000" b="1" kern="1800" dirty="0">
                <a:latin typeface="Times New Roman" panose="02020603050405020304" pitchFamily="18" charset="0"/>
                <a:ea typeface="Times New Roman" panose="02020603050405020304" pitchFamily="18" charset="0"/>
                <a:cs typeface="Times New Roman" panose="02020603050405020304" pitchFamily="18" charset="0"/>
              </a:rPr>
              <a:t>Final Result</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Text:</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A B A B A B A</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0 1 2 3 4 5 6</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Pattern </a:t>
            </a: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"ABA"</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 occurs at:</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SzPts val="1000"/>
              <a:buFont typeface="Symbol" panose="05050102010706020507" pitchFamily="18" charset="2"/>
              <a:buChar char=""/>
              <a:tabLst>
                <a:tab pos="45720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Position </a:t>
            </a: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0</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SzPts val="1000"/>
              <a:buFont typeface="Symbol" panose="05050102010706020507" pitchFamily="18" charset="2"/>
              <a:buChar char=""/>
              <a:tabLst>
                <a:tab pos="45720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Position </a:t>
            </a: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2</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SzPts val="1000"/>
              <a:buFont typeface="Symbol" panose="05050102010706020507" pitchFamily="18" charset="2"/>
              <a:buChar char=""/>
              <a:tabLst>
                <a:tab pos="45720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Position </a:t>
            </a: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4</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1028482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115</a:t>
            </a:fld>
            <a:endParaRPr lang="en-AU"/>
          </a:p>
        </p:txBody>
      </p:sp>
      <p:sp>
        <p:nvSpPr>
          <p:cNvPr id="4" name="Rectangle 3"/>
          <p:cNvSpPr/>
          <p:nvPr/>
        </p:nvSpPr>
        <p:spPr>
          <a:xfrm>
            <a:off x="294640" y="1008041"/>
            <a:ext cx="11623039" cy="4567917"/>
          </a:xfrm>
          <a:prstGeom prst="rect">
            <a:avLst/>
          </a:prstGeom>
        </p:spPr>
        <p:txBody>
          <a:bodyPr wrap="square">
            <a:spAutoFit/>
          </a:bodyPr>
          <a:lstStyle/>
          <a:p>
            <a:pPr algn="just">
              <a:lnSpc>
                <a:spcPct val="115000"/>
              </a:lnSpc>
              <a:spcAft>
                <a:spcPts val="700"/>
              </a:spcAft>
            </a:pPr>
            <a:r>
              <a:rPr lang="en-US" dirty="0">
                <a:latin typeface="Times New Roman" panose="02020603050405020304" pitchFamily="18" charset="0"/>
                <a:ea typeface="Calibri" panose="020F0502020204030204" pitchFamily="34" charset="0"/>
                <a:cs typeface="Times New Roman" panose="02020603050405020304" pitchFamily="18" charset="0"/>
              </a:rPr>
              <a:t>The algorithm maintains a window </a:t>
            </a:r>
            <a:r>
              <a:rPr lang="en-US" dirty="0">
                <a:latin typeface="Times New Roman" panose="02020603050405020304" pitchFamily="18" charset="0"/>
                <a:ea typeface="Consolas" panose="020B0609020204030204" pitchFamily="49" charset="0"/>
                <a:cs typeface="Times New Roman" panose="02020603050405020304" pitchFamily="18" charset="0"/>
              </a:rPr>
              <a:t>[L, R]</a:t>
            </a:r>
            <a:r>
              <a:rPr lang="en-US" dirty="0">
                <a:latin typeface="Times New Roman" panose="02020603050405020304" pitchFamily="18" charset="0"/>
                <a:ea typeface="Calibri" panose="020F0502020204030204" pitchFamily="34" charset="0"/>
                <a:cs typeface="Times New Roman" panose="02020603050405020304" pitchFamily="18" charset="0"/>
              </a:rPr>
              <a:t> — the </a:t>
            </a:r>
            <a:r>
              <a:rPr lang="en-US" b="1" dirty="0">
                <a:latin typeface="Times New Roman" panose="02020603050405020304" pitchFamily="18" charset="0"/>
                <a:ea typeface="Calibri" panose="020F0502020204030204" pitchFamily="34" charset="0"/>
                <a:cs typeface="Times New Roman" panose="02020603050405020304" pitchFamily="18" charset="0"/>
              </a:rPr>
              <a:t>Z-box</a:t>
            </a:r>
            <a:r>
              <a:rPr lang="en-US" dirty="0">
                <a:latin typeface="Times New Roman" panose="02020603050405020304" pitchFamily="18" charset="0"/>
                <a:ea typeface="Calibri" panose="020F0502020204030204" pitchFamily="34" charset="0"/>
                <a:cs typeface="Times New Roman" panose="02020603050405020304" pitchFamily="18" charset="0"/>
              </a:rPr>
              <a:t> — the interval with the </a:t>
            </a:r>
            <a:r>
              <a:rPr lang="en-US" i="1" dirty="0">
                <a:latin typeface="Times New Roman" panose="02020603050405020304" pitchFamily="18" charset="0"/>
                <a:ea typeface="Calibri" panose="020F0502020204030204" pitchFamily="34" charset="0"/>
                <a:cs typeface="Times New Roman" panose="02020603050405020304" pitchFamily="18" charset="0"/>
              </a:rPr>
              <a:t>rightmost</a:t>
            </a:r>
            <a:r>
              <a:rPr lang="en-US" dirty="0">
                <a:latin typeface="Times New Roman" panose="02020603050405020304" pitchFamily="18" charset="0"/>
                <a:ea typeface="Calibri" panose="020F0502020204030204" pitchFamily="34" charset="0"/>
                <a:cs typeface="Times New Roman" panose="02020603050405020304" pitchFamily="18" charset="0"/>
              </a:rPr>
              <a:t> right endpoint </a:t>
            </a:r>
            <a:r>
              <a:rPr lang="en-US" dirty="0">
                <a:latin typeface="Times New Roman" panose="02020603050405020304" pitchFamily="18" charset="0"/>
                <a:ea typeface="Consolas" panose="020B0609020204030204" pitchFamily="49" charset="0"/>
                <a:cs typeface="Times New Roman" panose="02020603050405020304" pitchFamily="18" charset="0"/>
              </a:rPr>
              <a:t>R</a:t>
            </a:r>
            <a:r>
              <a:rPr lang="en-US" dirty="0">
                <a:latin typeface="Times New Roman" panose="02020603050405020304" pitchFamily="18" charset="0"/>
                <a:ea typeface="Calibri" panose="020F0502020204030204" pitchFamily="34" charset="0"/>
                <a:cs typeface="Times New Roman" panose="02020603050405020304" pitchFamily="18" charset="0"/>
              </a:rPr>
              <a:t> seen so far, such that </a:t>
            </a:r>
            <a:r>
              <a:rPr lang="en-US" dirty="0">
                <a:latin typeface="Times New Roman" panose="02020603050405020304" pitchFamily="18" charset="0"/>
                <a:ea typeface="Consolas" panose="020B0609020204030204" pitchFamily="49" charset="0"/>
                <a:cs typeface="Times New Roman" panose="02020603050405020304" pitchFamily="18" charset="0"/>
              </a:rPr>
              <a:t>S[L..R]</a:t>
            </a:r>
            <a:r>
              <a:rPr lang="en-US" dirty="0">
                <a:latin typeface="Times New Roman" panose="02020603050405020304" pitchFamily="18" charset="0"/>
                <a:ea typeface="Calibri" panose="020F0502020204030204" pitchFamily="34" charset="0"/>
                <a:cs typeface="Times New Roman" panose="02020603050405020304" pitchFamily="18" charset="0"/>
              </a:rPr>
              <a:t> is a prefix of </a:t>
            </a:r>
            <a:r>
              <a:rPr lang="en-US" dirty="0">
                <a:latin typeface="Times New Roman" panose="02020603050405020304" pitchFamily="18" charset="0"/>
                <a:ea typeface="Consolas" panose="020B0609020204030204" pitchFamily="49" charset="0"/>
                <a:cs typeface="Times New Roman" panose="02020603050405020304" pitchFamily="18" charset="0"/>
              </a:rPr>
              <a:t>S</a:t>
            </a:r>
            <a:r>
              <a:rPr lang="en-US" dirty="0">
                <a:latin typeface="Times New Roman" panose="02020603050405020304" pitchFamily="18" charset="0"/>
                <a:ea typeface="Calibri" panose="020F0502020204030204" pitchFamily="34" charset="0"/>
                <a:cs typeface="Times New Roman" panose="02020603050405020304" pitchFamily="18" charset="0"/>
              </a:rPr>
              <a:t>. As </a:t>
            </a:r>
            <a:r>
              <a:rPr lang="en-US" b="1" dirty="0" err="1">
                <a:latin typeface="Times New Roman" panose="02020603050405020304" pitchFamily="18" charset="0"/>
                <a:ea typeface="Consolas" panose="020B0609020204030204" pitchFamily="49" charset="0"/>
                <a:cs typeface="Times New Roman" panose="02020603050405020304" pitchFamily="18" charset="0"/>
              </a:rPr>
              <a:t>i</a:t>
            </a:r>
            <a:r>
              <a:rPr lang="en-US" dirty="0">
                <a:latin typeface="Times New Roman" panose="02020603050405020304" pitchFamily="18" charset="0"/>
                <a:ea typeface="Calibri" panose="020F0502020204030204" pitchFamily="34" charset="0"/>
                <a:cs typeface="Times New Roman" panose="02020603050405020304" pitchFamily="18" charset="0"/>
              </a:rPr>
              <a:t> sweeps left to right, two cases arise for each new index.</a:t>
            </a:r>
          </a:p>
          <a:p>
            <a:pPr>
              <a:spcBef>
                <a:spcPts val="1200"/>
              </a:spcBef>
              <a:spcAft>
                <a:spcPts val="500"/>
              </a:spcAft>
            </a:pPr>
            <a:r>
              <a:rPr lang="en-US" b="1" dirty="0">
                <a:latin typeface="Times New Roman" panose="02020603050405020304" pitchFamily="18" charset="0"/>
                <a:cs typeface="Times New Roman" panose="02020603050405020304" pitchFamily="18" charset="0"/>
              </a:rPr>
              <a:t>Case 1 :  </a:t>
            </a:r>
            <a:r>
              <a:rPr lang="en-US" b="1" dirty="0" err="1">
                <a:latin typeface="Times New Roman" panose="02020603050405020304" pitchFamily="18" charset="0"/>
                <a:cs typeface="Times New Roman" panose="02020603050405020304" pitchFamily="18" charset="0"/>
              </a:rPr>
              <a:t>i</a:t>
            </a:r>
            <a:r>
              <a:rPr lang="en-US" b="1" dirty="0">
                <a:latin typeface="Times New Roman" panose="02020603050405020304" pitchFamily="18" charset="0"/>
                <a:cs typeface="Times New Roman" panose="02020603050405020304" pitchFamily="18" charset="0"/>
              </a:rPr>
              <a:t> &gt; R (outside the box)</a:t>
            </a:r>
          </a:p>
          <a:p>
            <a:pPr algn="just">
              <a:lnSpc>
                <a:spcPct val="115000"/>
              </a:lnSpc>
              <a:spcAft>
                <a:spcPts val="700"/>
              </a:spcAft>
            </a:pPr>
            <a:r>
              <a:rPr lang="en-US" dirty="0">
                <a:latin typeface="Times New Roman" panose="02020603050405020304" pitchFamily="18" charset="0"/>
                <a:ea typeface="Calibri" panose="020F0502020204030204" pitchFamily="34" charset="0"/>
                <a:cs typeface="Times New Roman" panose="02020603050405020304" pitchFamily="18" charset="0"/>
              </a:rPr>
              <a:t>We have no useful prior information. Compare </a:t>
            </a:r>
            <a:r>
              <a:rPr lang="en-US" dirty="0">
                <a:latin typeface="Times New Roman" panose="02020603050405020304" pitchFamily="18" charset="0"/>
                <a:ea typeface="Consolas" panose="020B0609020204030204" pitchFamily="49" charset="0"/>
                <a:cs typeface="Times New Roman" panose="02020603050405020304" pitchFamily="18" charset="0"/>
              </a:rPr>
              <a:t>S[</a:t>
            </a:r>
            <a:r>
              <a:rPr lang="en-US" dirty="0" err="1">
                <a:latin typeface="Times New Roman" panose="02020603050405020304" pitchFamily="18" charset="0"/>
                <a:ea typeface="Consolas" panose="020B0609020204030204" pitchFamily="49" charset="0"/>
                <a:cs typeface="Times New Roman" panose="02020603050405020304" pitchFamily="18" charset="0"/>
              </a:rPr>
              <a:t>i</a:t>
            </a:r>
            <a:r>
              <a:rPr lang="en-US" dirty="0">
                <a:latin typeface="Times New Roman" panose="02020603050405020304" pitchFamily="18" charset="0"/>
                <a:ea typeface="Consolas" panose="020B0609020204030204" pitchFamily="49" charset="0"/>
                <a:cs typeface="Times New Roman" panose="02020603050405020304" pitchFamily="18" charset="0"/>
              </a:rPr>
              <a:t>..]</a:t>
            </a:r>
            <a:r>
              <a:rPr lang="en-US" dirty="0">
                <a:latin typeface="Times New Roman" panose="02020603050405020304" pitchFamily="18" charset="0"/>
                <a:ea typeface="Calibri" panose="020F0502020204030204" pitchFamily="34" charset="0"/>
                <a:cs typeface="Times New Roman" panose="02020603050405020304" pitchFamily="18" charset="0"/>
              </a:rPr>
              <a:t> against </a:t>
            </a:r>
            <a:r>
              <a:rPr lang="en-US" dirty="0">
                <a:latin typeface="Times New Roman" panose="02020603050405020304" pitchFamily="18" charset="0"/>
                <a:ea typeface="Consolas" panose="020B0609020204030204" pitchFamily="49" charset="0"/>
                <a:cs typeface="Times New Roman" panose="02020603050405020304" pitchFamily="18" charset="0"/>
              </a:rPr>
              <a:t>S[0..]</a:t>
            </a:r>
            <a:r>
              <a:rPr lang="en-US" dirty="0">
                <a:latin typeface="Times New Roman" panose="02020603050405020304" pitchFamily="18" charset="0"/>
                <a:ea typeface="Calibri" panose="020F0502020204030204" pitchFamily="34" charset="0"/>
                <a:cs typeface="Times New Roman" panose="02020603050405020304" pitchFamily="18" charset="0"/>
              </a:rPr>
              <a:t> directly, character by character, to compute </a:t>
            </a:r>
            <a:r>
              <a:rPr lang="en-US" dirty="0">
                <a:latin typeface="Times New Roman" panose="02020603050405020304" pitchFamily="18" charset="0"/>
                <a:ea typeface="Consolas" panose="020B0609020204030204" pitchFamily="49" charset="0"/>
                <a:cs typeface="Times New Roman" panose="02020603050405020304" pitchFamily="18" charset="0"/>
              </a:rPr>
              <a:t>Z[</a:t>
            </a:r>
            <a:r>
              <a:rPr lang="en-US" dirty="0" err="1">
                <a:latin typeface="Times New Roman" panose="02020603050405020304" pitchFamily="18" charset="0"/>
                <a:ea typeface="Consolas" panose="020B0609020204030204" pitchFamily="49" charset="0"/>
                <a:cs typeface="Times New Roman" panose="02020603050405020304" pitchFamily="18" charset="0"/>
              </a:rPr>
              <a:t>i</a:t>
            </a:r>
            <a:r>
              <a:rPr lang="en-US" dirty="0">
                <a:latin typeface="Times New Roman" panose="02020603050405020304" pitchFamily="18" charset="0"/>
                <a:ea typeface="Consolas" panose="020B0609020204030204" pitchFamily="49" charset="0"/>
                <a:cs typeface="Times New Roman" panose="02020603050405020304" pitchFamily="18" charset="0"/>
              </a:rPr>
              <a:t>]</a:t>
            </a:r>
            <a:r>
              <a:rPr lang="en-US" dirty="0">
                <a:latin typeface="Times New Roman" panose="02020603050405020304" pitchFamily="18" charset="0"/>
                <a:ea typeface="Calibri" panose="020F0502020204030204" pitchFamily="34" charset="0"/>
                <a:cs typeface="Times New Roman" panose="02020603050405020304" pitchFamily="18" charset="0"/>
              </a:rPr>
              <a:t>. If </a:t>
            </a:r>
            <a:r>
              <a:rPr lang="en-US" dirty="0">
                <a:latin typeface="Times New Roman" panose="02020603050405020304" pitchFamily="18" charset="0"/>
                <a:ea typeface="Consolas" panose="020B0609020204030204" pitchFamily="49" charset="0"/>
                <a:cs typeface="Times New Roman" panose="02020603050405020304" pitchFamily="18" charset="0"/>
              </a:rPr>
              <a:t>Z[</a:t>
            </a:r>
            <a:r>
              <a:rPr lang="en-US" dirty="0" err="1">
                <a:latin typeface="Times New Roman" panose="02020603050405020304" pitchFamily="18" charset="0"/>
                <a:ea typeface="Consolas" panose="020B0609020204030204" pitchFamily="49" charset="0"/>
                <a:cs typeface="Times New Roman" panose="02020603050405020304" pitchFamily="18" charset="0"/>
              </a:rPr>
              <a:t>i</a:t>
            </a:r>
            <a:r>
              <a:rPr lang="en-US" dirty="0">
                <a:latin typeface="Times New Roman" panose="02020603050405020304" pitchFamily="18" charset="0"/>
                <a:ea typeface="Consolas" panose="020B0609020204030204" pitchFamily="49" charset="0"/>
                <a:cs typeface="Times New Roman" panose="02020603050405020304" pitchFamily="18" charset="0"/>
              </a:rPr>
              <a:t>] &gt; 0</a:t>
            </a:r>
            <a:r>
              <a:rPr lang="en-US" dirty="0">
                <a:latin typeface="Times New Roman" panose="02020603050405020304" pitchFamily="18" charset="0"/>
                <a:ea typeface="Calibri" panose="020F0502020204030204" pitchFamily="34" charset="0"/>
                <a:cs typeface="Times New Roman" panose="02020603050405020304" pitchFamily="18" charset="0"/>
              </a:rPr>
              <a:t>, update the box to </a:t>
            </a:r>
            <a:r>
              <a:rPr lang="en-US" dirty="0">
                <a:latin typeface="Times New Roman" panose="02020603050405020304" pitchFamily="18" charset="0"/>
                <a:ea typeface="Consolas" panose="020B0609020204030204" pitchFamily="49" charset="0"/>
                <a:cs typeface="Times New Roman" panose="02020603050405020304" pitchFamily="18" charset="0"/>
              </a:rPr>
              <a:t>[</a:t>
            </a:r>
            <a:r>
              <a:rPr lang="en-US" dirty="0" err="1">
                <a:latin typeface="Times New Roman" panose="02020603050405020304" pitchFamily="18" charset="0"/>
                <a:ea typeface="Consolas" panose="020B0609020204030204" pitchFamily="49" charset="0"/>
                <a:cs typeface="Times New Roman" panose="02020603050405020304" pitchFamily="18" charset="0"/>
              </a:rPr>
              <a:t>i</a:t>
            </a:r>
            <a:r>
              <a:rPr lang="en-US" dirty="0">
                <a:latin typeface="Times New Roman" panose="02020603050405020304" pitchFamily="18" charset="0"/>
                <a:ea typeface="Consolas" panose="020B0609020204030204" pitchFamily="49" charset="0"/>
                <a:cs typeface="Times New Roman" panose="02020603050405020304" pitchFamily="18" charset="0"/>
              </a:rPr>
              <a:t>, </a:t>
            </a:r>
            <a:r>
              <a:rPr lang="en-US" dirty="0" err="1">
                <a:latin typeface="Times New Roman" panose="02020603050405020304" pitchFamily="18" charset="0"/>
                <a:ea typeface="Consolas" panose="020B0609020204030204" pitchFamily="49" charset="0"/>
                <a:cs typeface="Times New Roman" panose="02020603050405020304" pitchFamily="18" charset="0"/>
              </a:rPr>
              <a:t>i</a:t>
            </a:r>
            <a:r>
              <a:rPr lang="en-US" dirty="0">
                <a:latin typeface="Times New Roman" panose="02020603050405020304" pitchFamily="18" charset="0"/>
                <a:ea typeface="Consolas" panose="020B0609020204030204" pitchFamily="49" charset="0"/>
                <a:cs typeface="Times New Roman" panose="02020603050405020304" pitchFamily="18" charset="0"/>
              </a:rPr>
              <a:t> + Z[</a:t>
            </a:r>
            <a:r>
              <a:rPr lang="en-US" dirty="0" err="1">
                <a:latin typeface="Times New Roman" panose="02020603050405020304" pitchFamily="18" charset="0"/>
                <a:ea typeface="Consolas" panose="020B0609020204030204" pitchFamily="49" charset="0"/>
                <a:cs typeface="Times New Roman" panose="02020603050405020304" pitchFamily="18" charset="0"/>
              </a:rPr>
              <a:t>i</a:t>
            </a:r>
            <a:r>
              <a:rPr lang="en-US" dirty="0">
                <a:latin typeface="Times New Roman" panose="02020603050405020304" pitchFamily="18" charset="0"/>
                <a:ea typeface="Consolas" panose="020B0609020204030204" pitchFamily="49" charset="0"/>
                <a:cs typeface="Times New Roman" panose="02020603050405020304" pitchFamily="18" charset="0"/>
              </a:rPr>
              <a:t>] − 1]</a:t>
            </a:r>
            <a:r>
              <a:rPr lang="en-US" dirty="0">
                <a:latin typeface="Times New Roman" panose="02020603050405020304" pitchFamily="18" charset="0"/>
                <a:ea typeface="Calibri" panose="020F0502020204030204" pitchFamily="34" charset="0"/>
                <a:cs typeface="Times New Roman" panose="02020603050405020304" pitchFamily="18" charset="0"/>
              </a:rPr>
              <a:t>.</a:t>
            </a:r>
          </a:p>
          <a:p>
            <a:pPr>
              <a:spcBef>
                <a:spcPts val="1200"/>
              </a:spcBef>
              <a:spcAft>
                <a:spcPts val="500"/>
              </a:spcAft>
            </a:pPr>
            <a:r>
              <a:rPr lang="en-US" b="1" dirty="0">
                <a:latin typeface="Times New Roman" panose="02020603050405020304" pitchFamily="18" charset="0"/>
                <a:cs typeface="Times New Roman" panose="02020603050405020304" pitchFamily="18" charset="0"/>
              </a:rPr>
              <a:t>Case 2 : </a:t>
            </a:r>
            <a:r>
              <a:rPr lang="en-US" b="1" dirty="0" err="1">
                <a:latin typeface="Times New Roman" panose="02020603050405020304" pitchFamily="18" charset="0"/>
                <a:cs typeface="Times New Roman" panose="02020603050405020304" pitchFamily="18" charset="0"/>
              </a:rPr>
              <a:t>i</a:t>
            </a:r>
            <a:r>
              <a:rPr lang="en-US" b="1" dirty="0">
                <a:latin typeface="Times New Roman" panose="02020603050405020304" pitchFamily="18" charset="0"/>
                <a:cs typeface="Times New Roman" panose="02020603050405020304" pitchFamily="18" charset="0"/>
              </a:rPr>
              <a:t> ≤ R (inside the box)</a:t>
            </a:r>
          </a:p>
          <a:p>
            <a:pPr algn="just">
              <a:lnSpc>
                <a:spcPct val="115000"/>
              </a:lnSpc>
              <a:spcAft>
                <a:spcPts val="700"/>
              </a:spcAft>
            </a:pPr>
            <a:r>
              <a:rPr lang="en-US" dirty="0">
                <a:latin typeface="Times New Roman" panose="02020603050405020304" pitchFamily="18" charset="0"/>
                <a:ea typeface="Calibri" panose="020F0502020204030204" pitchFamily="34" charset="0"/>
                <a:cs typeface="Times New Roman" panose="02020603050405020304" pitchFamily="18" charset="0"/>
              </a:rPr>
              <a:t>Because </a:t>
            </a:r>
            <a:r>
              <a:rPr lang="en-US" dirty="0">
                <a:latin typeface="Times New Roman" panose="02020603050405020304" pitchFamily="18" charset="0"/>
                <a:ea typeface="Consolas" panose="020B0609020204030204" pitchFamily="49" charset="0"/>
                <a:cs typeface="Times New Roman" panose="02020603050405020304" pitchFamily="18" charset="0"/>
              </a:rPr>
              <a:t>S[L..R]</a:t>
            </a:r>
            <a:r>
              <a:rPr lang="en-US" dirty="0">
                <a:latin typeface="Times New Roman" panose="02020603050405020304" pitchFamily="18" charset="0"/>
                <a:ea typeface="Calibri" panose="020F0502020204030204" pitchFamily="34" charset="0"/>
                <a:cs typeface="Times New Roman" panose="02020603050405020304" pitchFamily="18" charset="0"/>
              </a:rPr>
              <a:t> equals a prefix, position </a:t>
            </a:r>
            <a:r>
              <a:rPr lang="en-US" dirty="0" err="1">
                <a:latin typeface="Times New Roman" panose="02020603050405020304" pitchFamily="18" charset="0"/>
                <a:ea typeface="Consolas" panose="020B0609020204030204" pitchFamily="49" charset="0"/>
                <a:cs typeface="Times New Roman" panose="02020603050405020304" pitchFamily="18" charset="0"/>
              </a:rPr>
              <a:t>i</a:t>
            </a:r>
            <a:r>
              <a:rPr lang="en-US" dirty="0">
                <a:latin typeface="Times New Roman" panose="02020603050405020304" pitchFamily="18" charset="0"/>
                <a:ea typeface="Calibri" panose="020F0502020204030204" pitchFamily="34" charset="0"/>
                <a:cs typeface="Times New Roman" panose="02020603050405020304" pitchFamily="18" charset="0"/>
              </a:rPr>
              <a:t> inside the box corresponds to a mirror position </a:t>
            </a:r>
            <a:r>
              <a:rPr lang="en-US" dirty="0">
                <a:latin typeface="Times New Roman" panose="02020603050405020304" pitchFamily="18" charset="0"/>
                <a:ea typeface="Consolas" panose="020B0609020204030204" pitchFamily="49" charset="0"/>
                <a:cs typeface="Times New Roman" panose="02020603050405020304" pitchFamily="18" charset="0"/>
              </a:rPr>
              <a:t>k = </a:t>
            </a:r>
            <a:r>
              <a:rPr lang="en-US" dirty="0" err="1">
                <a:latin typeface="Times New Roman" panose="02020603050405020304" pitchFamily="18" charset="0"/>
                <a:ea typeface="Consolas" panose="020B0609020204030204" pitchFamily="49" charset="0"/>
                <a:cs typeface="Times New Roman" panose="02020603050405020304" pitchFamily="18" charset="0"/>
              </a:rPr>
              <a:t>i</a:t>
            </a:r>
            <a:r>
              <a:rPr lang="en-US" dirty="0">
                <a:latin typeface="Times New Roman" panose="02020603050405020304" pitchFamily="18" charset="0"/>
                <a:ea typeface="Consolas" panose="020B0609020204030204" pitchFamily="49" charset="0"/>
                <a:cs typeface="Times New Roman" panose="02020603050405020304" pitchFamily="18" charset="0"/>
              </a:rPr>
              <a:t> − L</a:t>
            </a:r>
            <a:r>
              <a:rPr lang="en-US" dirty="0">
                <a:latin typeface="Times New Roman" panose="02020603050405020304" pitchFamily="18" charset="0"/>
                <a:ea typeface="Calibri" panose="020F0502020204030204" pitchFamily="34" charset="0"/>
                <a:cs typeface="Times New Roman" panose="02020603050405020304" pitchFamily="18" charset="0"/>
              </a:rPr>
              <a:t> near the front of the string, whose value </a:t>
            </a:r>
            <a:r>
              <a:rPr lang="en-US" dirty="0">
                <a:latin typeface="Times New Roman" panose="02020603050405020304" pitchFamily="18" charset="0"/>
                <a:ea typeface="Consolas" panose="020B0609020204030204" pitchFamily="49" charset="0"/>
                <a:cs typeface="Times New Roman" panose="02020603050405020304" pitchFamily="18" charset="0"/>
              </a:rPr>
              <a:t>Z[k]</a:t>
            </a:r>
            <a:r>
              <a:rPr lang="en-US" dirty="0">
                <a:latin typeface="Times New Roman" panose="02020603050405020304" pitchFamily="18" charset="0"/>
                <a:ea typeface="Calibri" panose="020F0502020204030204" pitchFamily="34" charset="0"/>
                <a:cs typeface="Times New Roman" panose="02020603050405020304" pitchFamily="18" charset="0"/>
              </a:rPr>
              <a:t> is already known. Let </a:t>
            </a:r>
            <a:r>
              <a:rPr lang="en-US" dirty="0">
                <a:latin typeface="Times New Roman" panose="02020603050405020304" pitchFamily="18" charset="0"/>
                <a:ea typeface="Consolas" panose="020B0609020204030204" pitchFamily="49" charset="0"/>
                <a:cs typeface="Times New Roman" panose="02020603050405020304" pitchFamily="18" charset="0"/>
              </a:rPr>
              <a:t>remaining = R − </a:t>
            </a:r>
            <a:r>
              <a:rPr lang="en-US" dirty="0" err="1">
                <a:latin typeface="Times New Roman" panose="02020603050405020304" pitchFamily="18" charset="0"/>
                <a:ea typeface="Consolas" panose="020B0609020204030204" pitchFamily="49" charset="0"/>
                <a:cs typeface="Times New Roman" panose="02020603050405020304" pitchFamily="18" charset="0"/>
              </a:rPr>
              <a:t>i</a:t>
            </a:r>
            <a:r>
              <a:rPr lang="en-US" dirty="0">
                <a:latin typeface="Times New Roman" panose="02020603050405020304" pitchFamily="18" charset="0"/>
                <a:ea typeface="Consolas" panose="020B0609020204030204" pitchFamily="49" charset="0"/>
                <a:cs typeface="Times New Roman" panose="02020603050405020304" pitchFamily="18" charset="0"/>
              </a:rPr>
              <a:t> + 1</a:t>
            </a:r>
            <a:r>
              <a:rPr lang="en-US" dirty="0">
                <a:latin typeface="Times New Roman" panose="02020603050405020304" pitchFamily="18" charset="0"/>
                <a:ea typeface="Calibri" panose="020F0502020204030204" pitchFamily="34" charset="0"/>
                <a:cs typeface="Times New Roman" panose="02020603050405020304" pitchFamily="18" charset="0"/>
              </a:rPr>
              <a:t> (how much of the box is left from </a:t>
            </a:r>
            <a:r>
              <a:rPr lang="en-US" dirty="0" err="1">
                <a:latin typeface="Times New Roman" panose="02020603050405020304" pitchFamily="18" charset="0"/>
                <a:ea typeface="Consolas" panose="020B0609020204030204" pitchFamily="49" charset="0"/>
                <a:cs typeface="Times New Roman" panose="02020603050405020304" pitchFamily="18" charset="0"/>
              </a:rPr>
              <a:t>i</a:t>
            </a:r>
            <a:r>
              <a:rPr lang="en-US" dirty="0">
                <a:latin typeface="Times New Roman" panose="02020603050405020304" pitchFamily="18" charset="0"/>
                <a:ea typeface="Calibri" panose="020F0502020204030204" pitchFamily="34" charset="0"/>
                <a:cs typeface="Times New Roman" panose="02020603050405020304" pitchFamily="18" charset="0"/>
              </a:rPr>
              <a:t>). Then:</a:t>
            </a:r>
          </a:p>
          <a:p>
            <a:pPr marL="342900" marR="0" lvl="0" indent="-342900">
              <a:lnSpc>
                <a:spcPct val="112000"/>
              </a:lnSpc>
              <a:spcBef>
                <a:spcPts val="0"/>
              </a:spcBef>
              <a:spcAft>
                <a:spcPts val="450"/>
              </a:spcAft>
              <a:buFont typeface="Arial" panose="020B0604020202020204"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If </a:t>
            </a:r>
            <a:r>
              <a:rPr lang="en-US" dirty="0">
                <a:latin typeface="Times New Roman" panose="02020603050405020304" pitchFamily="18" charset="0"/>
                <a:ea typeface="Consolas" panose="020B0609020204030204" pitchFamily="49" charset="0"/>
                <a:cs typeface="Times New Roman" panose="02020603050405020304" pitchFamily="18" charset="0"/>
              </a:rPr>
              <a:t>Z[k] &lt; remaining</a:t>
            </a:r>
            <a:r>
              <a:rPr lang="en-US" dirty="0">
                <a:latin typeface="Times New Roman" panose="02020603050405020304" pitchFamily="18" charset="0"/>
                <a:ea typeface="Calibri" panose="020F0502020204030204" pitchFamily="34" charset="0"/>
                <a:cs typeface="Times New Roman" panose="02020603050405020304" pitchFamily="18" charset="0"/>
              </a:rPr>
              <a:t>: the mirror's match is fully contained in the box, so nothing new lies beyond </a:t>
            </a:r>
            <a:r>
              <a:rPr lang="en-US" dirty="0">
                <a:latin typeface="Times New Roman" panose="02020603050405020304" pitchFamily="18" charset="0"/>
                <a:ea typeface="Consolas" panose="020B0609020204030204" pitchFamily="49" charset="0"/>
                <a:cs typeface="Times New Roman" panose="02020603050405020304" pitchFamily="18" charset="0"/>
              </a:rPr>
              <a:t>R</a:t>
            </a:r>
            <a:r>
              <a:rPr lang="en-US" dirty="0">
                <a:latin typeface="Times New Roman" panose="02020603050405020304" pitchFamily="18" charset="0"/>
                <a:ea typeface="Calibri" panose="020F0502020204030204" pitchFamily="34" charset="0"/>
                <a:cs typeface="Times New Roman" panose="02020603050405020304" pitchFamily="18" charset="0"/>
              </a:rPr>
              <a:t>. Safely set </a:t>
            </a:r>
            <a:r>
              <a:rPr lang="en-US" dirty="0">
                <a:latin typeface="Times New Roman" panose="02020603050405020304" pitchFamily="18" charset="0"/>
                <a:ea typeface="Consolas" panose="020B0609020204030204" pitchFamily="49" charset="0"/>
                <a:cs typeface="Times New Roman" panose="02020603050405020304" pitchFamily="18" charset="0"/>
              </a:rPr>
              <a:t>Z[</a:t>
            </a:r>
            <a:r>
              <a:rPr lang="en-US" dirty="0" err="1">
                <a:latin typeface="Times New Roman" panose="02020603050405020304" pitchFamily="18" charset="0"/>
                <a:ea typeface="Consolas" panose="020B0609020204030204" pitchFamily="49" charset="0"/>
                <a:cs typeface="Times New Roman" panose="02020603050405020304" pitchFamily="18" charset="0"/>
              </a:rPr>
              <a:t>i</a:t>
            </a:r>
            <a:r>
              <a:rPr lang="en-US" dirty="0">
                <a:latin typeface="Times New Roman" panose="02020603050405020304" pitchFamily="18" charset="0"/>
                <a:ea typeface="Consolas" panose="020B0609020204030204" pitchFamily="49" charset="0"/>
                <a:cs typeface="Times New Roman" panose="02020603050405020304" pitchFamily="18" charset="0"/>
              </a:rPr>
              <a:t>] = Z[k]</a:t>
            </a:r>
            <a:r>
              <a:rPr lang="en-US" dirty="0">
                <a:latin typeface="Times New Roman" panose="02020603050405020304" pitchFamily="18" charset="0"/>
                <a:ea typeface="Calibri" panose="020F0502020204030204" pitchFamily="34" charset="0"/>
                <a:cs typeface="Times New Roman" panose="02020603050405020304" pitchFamily="18" charset="0"/>
              </a:rPr>
              <a:t>.</a:t>
            </a:r>
          </a:p>
          <a:p>
            <a:pPr marL="342900" marR="0" lvl="0" indent="-342900">
              <a:lnSpc>
                <a:spcPct val="112000"/>
              </a:lnSpc>
              <a:spcBef>
                <a:spcPts val="0"/>
              </a:spcBef>
              <a:spcAft>
                <a:spcPts val="450"/>
              </a:spcAft>
              <a:buFont typeface="Arial" panose="020B0604020202020204"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If </a:t>
            </a:r>
            <a:r>
              <a:rPr lang="en-US" dirty="0">
                <a:latin typeface="Times New Roman" panose="02020603050405020304" pitchFamily="18" charset="0"/>
                <a:ea typeface="Consolas" panose="020B0609020204030204" pitchFamily="49" charset="0"/>
                <a:cs typeface="Times New Roman" panose="02020603050405020304" pitchFamily="18" charset="0"/>
              </a:rPr>
              <a:t>Z[k] ≥ remaining</a:t>
            </a:r>
            <a:r>
              <a:rPr lang="en-US" dirty="0">
                <a:latin typeface="Times New Roman" panose="02020603050405020304" pitchFamily="18" charset="0"/>
                <a:ea typeface="Calibri" panose="020F0502020204030204" pitchFamily="34" charset="0"/>
                <a:cs typeface="Times New Roman" panose="02020603050405020304" pitchFamily="18" charset="0"/>
              </a:rPr>
              <a:t>: the mirror's match runs to (or past) the box edge, so beyond </a:t>
            </a:r>
            <a:r>
              <a:rPr lang="en-US" dirty="0">
                <a:latin typeface="Times New Roman" panose="02020603050405020304" pitchFamily="18" charset="0"/>
                <a:ea typeface="Consolas" panose="020B0609020204030204" pitchFamily="49" charset="0"/>
                <a:cs typeface="Times New Roman" panose="02020603050405020304" pitchFamily="18" charset="0"/>
              </a:rPr>
              <a:t>R</a:t>
            </a:r>
            <a:r>
              <a:rPr lang="en-US" dirty="0">
                <a:latin typeface="Times New Roman" panose="02020603050405020304" pitchFamily="18" charset="0"/>
                <a:ea typeface="Calibri" panose="020F0502020204030204" pitchFamily="34" charset="0"/>
                <a:cs typeface="Times New Roman" panose="02020603050405020304" pitchFamily="18" charset="0"/>
              </a:rPr>
              <a:t> is unknown. Set </a:t>
            </a:r>
            <a:r>
              <a:rPr lang="en-US" dirty="0">
                <a:latin typeface="Times New Roman" panose="02020603050405020304" pitchFamily="18" charset="0"/>
                <a:ea typeface="Consolas" panose="020B0609020204030204" pitchFamily="49" charset="0"/>
                <a:cs typeface="Times New Roman" panose="02020603050405020304" pitchFamily="18" charset="0"/>
              </a:rPr>
              <a:t>Z[</a:t>
            </a:r>
            <a:r>
              <a:rPr lang="en-US" dirty="0" err="1">
                <a:latin typeface="Times New Roman" panose="02020603050405020304" pitchFamily="18" charset="0"/>
                <a:ea typeface="Consolas" panose="020B0609020204030204" pitchFamily="49" charset="0"/>
                <a:cs typeface="Times New Roman" panose="02020603050405020304" pitchFamily="18" charset="0"/>
              </a:rPr>
              <a:t>i</a:t>
            </a:r>
            <a:r>
              <a:rPr lang="en-US" dirty="0">
                <a:latin typeface="Times New Roman" panose="02020603050405020304" pitchFamily="18" charset="0"/>
                <a:ea typeface="Consolas" panose="020B0609020204030204" pitchFamily="49" charset="0"/>
                <a:cs typeface="Times New Roman" panose="02020603050405020304" pitchFamily="18" charset="0"/>
              </a:rPr>
              <a:t>] = remaining</a:t>
            </a:r>
            <a:r>
              <a:rPr lang="en-US" dirty="0">
                <a:latin typeface="Times New Roman" panose="02020603050405020304" pitchFamily="18" charset="0"/>
                <a:ea typeface="Calibri" panose="020F0502020204030204" pitchFamily="34" charset="0"/>
                <a:cs typeface="Times New Roman" panose="02020603050405020304" pitchFamily="18" charset="0"/>
              </a:rPr>
              <a:t> as a guaranteed floor, then </a:t>
            </a:r>
            <a:r>
              <a:rPr lang="en-US" b="1" dirty="0">
                <a:latin typeface="Times New Roman" panose="02020603050405020304" pitchFamily="18" charset="0"/>
                <a:ea typeface="Calibri" panose="020F0502020204030204" pitchFamily="34" charset="0"/>
                <a:cs typeface="Times New Roman" panose="02020603050405020304" pitchFamily="18" charset="0"/>
              </a:rPr>
              <a:t>extend</a:t>
            </a:r>
            <a:r>
              <a:rPr lang="en-US" dirty="0">
                <a:latin typeface="Times New Roman" panose="02020603050405020304" pitchFamily="18" charset="0"/>
                <a:ea typeface="Calibri" panose="020F0502020204030204" pitchFamily="34" charset="0"/>
                <a:cs typeface="Times New Roman" panose="02020603050405020304" pitchFamily="18" charset="0"/>
              </a:rPr>
              <a:t> by comparing </a:t>
            </a:r>
            <a:r>
              <a:rPr lang="en-US" dirty="0">
                <a:latin typeface="Times New Roman" panose="02020603050405020304" pitchFamily="18" charset="0"/>
                <a:ea typeface="Consolas" panose="020B0609020204030204" pitchFamily="49" charset="0"/>
                <a:cs typeface="Times New Roman" panose="02020603050405020304" pitchFamily="18" charset="0"/>
              </a:rPr>
              <a:t>S[R+1..]</a:t>
            </a:r>
            <a:r>
              <a:rPr lang="en-US" dirty="0">
                <a:latin typeface="Times New Roman" panose="02020603050405020304" pitchFamily="18" charset="0"/>
                <a:ea typeface="Calibri" panose="020F0502020204030204" pitchFamily="34" charset="0"/>
                <a:cs typeface="Times New Roman" panose="02020603050405020304" pitchFamily="18" charset="0"/>
              </a:rPr>
              <a:t> against </a:t>
            </a:r>
            <a:r>
              <a:rPr lang="en-US" dirty="0">
                <a:latin typeface="Times New Roman" panose="02020603050405020304" pitchFamily="18" charset="0"/>
                <a:ea typeface="Consolas" panose="020B0609020204030204" pitchFamily="49" charset="0"/>
                <a:cs typeface="Times New Roman" panose="02020603050405020304" pitchFamily="18" charset="0"/>
              </a:rPr>
              <a:t>S[remaining..]</a:t>
            </a:r>
            <a:r>
              <a:rPr lang="en-US" dirty="0">
                <a:latin typeface="Times New Roman" panose="02020603050405020304" pitchFamily="18" charset="0"/>
                <a:ea typeface="Calibri" panose="020F0502020204030204" pitchFamily="34" charset="0"/>
                <a:cs typeface="Times New Roman" panose="02020603050405020304" pitchFamily="18" charset="0"/>
              </a:rPr>
              <a:t> character by character, and update the box.</a:t>
            </a:r>
          </a:p>
        </p:txBody>
      </p:sp>
      <p:sp>
        <p:nvSpPr>
          <p:cNvPr id="6" name="Rectangle 5">
            <a:extLst>
              <a:ext uri="{FF2B5EF4-FFF2-40B4-BE49-F238E27FC236}">
                <a16:creationId xmlns:a16="http://schemas.microsoft.com/office/drawing/2014/main" id="{80089283-D32C-C5E8-ADEF-6CDD0E79D201}"/>
              </a:ext>
            </a:extLst>
          </p:cNvPr>
          <p:cNvSpPr/>
          <p:nvPr/>
        </p:nvSpPr>
        <p:spPr>
          <a:xfrm>
            <a:off x="4862048" y="2757"/>
            <a:ext cx="2698175" cy="655885"/>
          </a:xfrm>
          <a:prstGeom prst="rect">
            <a:avLst/>
          </a:prstGeom>
        </p:spPr>
        <p:txBody>
          <a:bodyPr wrap="none">
            <a:spAutoFit/>
          </a:bodyPr>
          <a:lstStyle/>
          <a:p>
            <a:pPr>
              <a:lnSpc>
                <a:spcPct val="107000"/>
              </a:lnSpc>
            </a:pPr>
            <a:r>
              <a:rPr lang="en-US" sz="3600" b="1" kern="0" dirty="0">
                <a:solidFill>
                  <a:srgbClr val="1E03BD"/>
                </a:solidFill>
                <a:latin typeface="Times New Roman" panose="02020603050405020304" pitchFamily="18" charset="0"/>
                <a:ea typeface="Times New Roman" panose="02020603050405020304" pitchFamily="18" charset="0"/>
                <a:cs typeface="Times New Roman" panose="02020603050405020304" pitchFamily="18" charset="0"/>
              </a:rPr>
              <a:t>Z-Algorithm</a:t>
            </a:r>
            <a:endParaRPr lang="en-US" sz="3600" kern="100" dirty="0">
              <a:solidFill>
                <a:srgbClr val="1E03BD"/>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4376743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116</a:t>
            </a:fld>
            <a:endParaRPr lang="en-AU"/>
          </a:p>
        </p:txBody>
      </p:sp>
      <p:sp>
        <p:nvSpPr>
          <p:cNvPr id="5" name="Rectangle 4"/>
          <p:cNvSpPr/>
          <p:nvPr/>
        </p:nvSpPr>
        <p:spPr>
          <a:xfrm>
            <a:off x="1610140" y="258167"/>
            <a:ext cx="6012632" cy="6463308"/>
          </a:xfrm>
          <a:prstGeom prst="rect">
            <a:avLst/>
          </a:prstGeom>
        </p:spPr>
        <p:txBody>
          <a:bodyPr wrap="square">
            <a:spAutoFit/>
          </a:bodyPr>
          <a:lstStyle/>
          <a:p>
            <a:r>
              <a:rPr lang="en-US" dirty="0"/>
              <a:t>Input: String S</a:t>
            </a:r>
          </a:p>
          <a:p>
            <a:r>
              <a:rPr lang="en-US" dirty="0"/>
              <a:t>Compute length n</a:t>
            </a:r>
          </a:p>
          <a:p>
            <a:r>
              <a:rPr lang="en-US" dirty="0"/>
              <a:t>Initialize Z[0...n−1] = 0</a:t>
            </a:r>
          </a:p>
          <a:p>
            <a:r>
              <a:rPr lang="en-US" dirty="0"/>
              <a:t>L = 0</a:t>
            </a:r>
          </a:p>
          <a:p>
            <a:r>
              <a:rPr lang="en-US" dirty="0"/>
              <a:t>R = 0</a:t>
            </a:r>
          </a:p>
          <a:p>
            <a:r>
              <a:rPr lang="en-US" dirty="0"/>
              <a:t>For </a:t>
            </a:r>
            <a:r>
              <a:rPr lang="en-US" dirty="0" err="1"/>
              <a:t>i</a:t>
            </a:r>
            <a:r>
              <a:rPr lang="en-US" dirty="0"/>
              <a:t> = 1 to n−1</a:t>
            </a:r>
          </a:p>
          <a:p>
            <a:r>
              <a:rPr lang="en-US" dirty="0"/>
              <a:t>    If </a:t>
            </a:r>
            <a:r>
              <a:rPr lang="en-US" dirty="0" err="1"/>
              <a:t>i</a:t>
            </a:r>
            <a:r>
              <a:rPr lang="en-US" dirty="0"/>
              <a:t> &gt; R</a:t>
            </a:r>
          </a:p>
          <a:p>
            <a:r>
              <a:rPr lang="en-US" dirty="0"/>
              <a:t>        L = R = </a:t>
            </a:r>
            <a:r>
              <a:rPr lang="en-US" dirty="0" err="1"/>
              <a:t>i</a:t>
            </a:r>
            <a:endParaRPr lang="en-US" dirty="0"/>
          </a:p>
          <a:p>
            <a:r>
              <a:rPr lang="en-US" dirty="0"/>
              <a:t>        While R &lt; n and S[R−L] == S[R]</a:t>
            </a:r>
          </a:p>
          <a:p>
            <a:r>
              <a:rPr lang="en-US" dirty="0"/>
              <a:t>            R++</a:t>
            </a:r>
          </a:p>
          <a:p>
            <a:r>
              <a:rPr lang="en-US" dirty="0"/>
              <a:t>        Z[</a:t>
            </a:r>
            <a:r>
              <a:rPr lang="en-US" dirty="0" err="1"/>
              <a:t>i</a:t>
            </a:r>
            <a:r>
              <a:rPr lang="en-US" dirty="0"/>
              <a:t>] = R−L</a:t>
            </a:r>
          </a:p>
          <a:p>
            <a:r>
              <a:rPr lang="en-US" dirty="0"/>
              <a:t>        R--</a:t>
            </a:r>
          </a:p>
          <a:p>
            <a:r>
              <a:rPr lang="en-US" dirty="0"/>
              <a:t>    Else</a:t>
            </a:r>
          </a:p>
          <a:p>
            <a:r>
              <a:rPr lang="en-US" dirty="0"/>
              <a:t>        k = </a:t>
            </a:r>
            <a:r>
              <a:rPr lang="en-US" dirty="0" err="1"/>
              <a:t>i</a:t>
            </a:r>
            <a:r>
              <a:rPr lang="en-US" dirty="0"/>
              <a:t>−L</a:t>
            </a:r>
          </a:p>
          <a:p>
            <a:r>
              <a:rPr lang="en-US" dirty="0"/>
              <a:t>        If Z[k] &lt; R−i+1</a:t>
            </a:r>
          </a:p>
          <a:p>
            <a:r>
              <a:rPr lang="en-US" dirty="0"/>
              <a:t>            Z[</a:t>
            </a:r>
            <a:r>
              <a:rPr lang="en-US" dirty="0" err="1"/>
              <a:t>i</a:t>
            </a:r>
            <a:r>
              <a:rPr lang="en-US" dirty="0"/>
              <a:t>] = Z[k]</a:t>
            </a:r>
          </a:p>
          <a:p>
            <a:r>
              <a:rPr lang="en-US" dirty="0"/>
              <a:t>        Else</a:t>
            </a:r>
          </a:p>
          <a:p>
            <a:r>
              <a:rPr lang="en-US" dirty="0"/>
              <a:t>            L = </a:t>
            </a:r>
            <a:r>
              <a:rPr lang="en-US" dirty="0" err="1"/>
              <a:t>i</a:t>
            </a:r>
            <a:endParaRPr lang="en-US" dirty="0"/>
          </a:p>
          <a:p>
            <a:r>
              <a:rPr lang="en-US" dirty="0"/>
              <a:t>            While R &lt; n and S[R−L] == S[R]</a:t>
            </a:r>
          </a:p>
          <a:p>
            <a:r>
              <a:rPr lang="en-US" dirty="0"/>
              <a:t>                R++</a:t>
            </a:r>
          </a:p>
          <a:p>
            <a:r>
              <a:rPr lang="en-US" dirty="0"/>
              <a:t>            Z[</a:t>
            </a:r>
            <a:r>
              <a:rPr lang="en-US" dirty="0" err="1"/>
              <a:t>i</a:t>
            </a:r>
            <a:r>
              <a:rPr lang="en-US" dirty="0"/>
              <a:t>] = R−L</a:t>
            </a:r>
          </a:p>
          <a:p>
            <a:r>
              <a:rPr lang="en-US" dirty="0"/>
              <a:t>            R--</a:t>
            </a:r>
          </a:p>
          <a:p>
            <a:r>
              <a:rPr lang="en-US" dirty="0"/>
              <a:t>Return Z</a:t>
            </a:r>
          </a:p>
        </p:txBody>
      </p:sp>
      <p:sp>
        <p:nvSpPr>
          <p:cNvPr id="6" name="TextBox 5">
            <a:extLst>
              <a:ext uri="{FF2B5EF4-FFF2-40B4-BE49-F238E27FC236}">
                <a16:creationId xmlns:a16="http://schemas.microsoft.com/office/drawing/2014/main" id="{73C345D5-42B3-F666-B60F-7BD3920488A8}"/>
              </a:ext>
            </a:extLst>
          </p:cNvPr>
          <p:cNvSpPr txBox="1"/>
          <p:nvPr/>
        </p:nvSpPr>
        <p:spPr>
          <a:xfrm>
            <a:off x="6287678" y="114439"/>
            <a:ext cx="5904322" cy="6740307"/>
          </a:xfrm>
          <a:prstGeom prst="rect">
            <a:avLst/>
          </a:prstGeom>
          <a:noFill/>
          <a:ln>
            <a:solidFill>
              <a:schemeClr val="accent1"/>
            </a:solidFill>
          </a:ln>
        </p:spPr>
        <p:txBody>
          <a:bodyPr wrap="square">
            <a:spAutoFit/>
          </a:bodyPr>
          <a:lstStyle/>
          <a:p>
            <a:pPr>
              <a:buNone/>
            </a:pPr>
            <a:r>
              <a:rPr lang="en-IN" sz="1600" b="1" dirty="0"/>
              <a:t>Algorithm: Z-Function (Z-Algorithm)</a:t>
            </a:r>
          </a:p>
          <a:p>
            <a:pPr>
              <a:buNone/>
            </a:pPr>
            <a:r>
              <a:rPr lang="en-IN" sz="1600" b="1" dirty="0"/>
              <a:t>Input:</a:t>
            </a:r>
            <a:r>
              <a:rPr lang="en-IN" sz="1600" dirty="0"/>
              <a:t> String </a:t>
            </a:r>
            <a:r>
              <a:rPr lang="en-IN" sz="1600" dirty="0">
                <a:latin typeface="Courier New" panose="02070309020205020404" pitchFamily="49" charset="0"/>
              </a:rPr>
              <a:t>S</a:t>
            </a:r>
            <a:r>
              <a:rPr lang="en-IN" sz="1600" dirty="0"/>
              <a:t> (For pattern matching, </a:t>
            </a:r>
            <a:r>
              <a:rPr lang="en-IN" sz="1600" dirty="0">
                <a:latin typeface="Courier New" panose="02070309020205020404" pitchFamily="49" charset="0"/>
              </a:rPr>
              <a:t>S = Pattern + "" + Text</a:t>
            </a:r>
            <a:r>
              <a:rPr lang="en-IN" sz="1600" dirty="0"/>
              <a:t>)</a:t>
            </a:r>
            <a:br>
              <a:rPr lang="en-IN" sz="1600" dirty="0"/>
            </a:br>
            <a:r>
              <a:rPr lang="en-IN" sz="1600" b="1" dirty="0"/>
              <a:t>Output:</a:t>
            </a:r>
            <a:r>
              <a:rPr lang="en-IN" sz="1600" dirty="0"/>
              <a:t> Z-array</a:t>
            </a:r>
          </a:p>
          <a:p>
            <a:pPr>
              <a:buFont typeface="+mj-lt"/>
              <a:buAutoNum type="arabicPeriod"/>
            </a:pPr>
            <a:r>
              <a:rPr lang="en-IN" sz="1600" dirty="0"/>
              <a:t>Compute the length of the string </a:t>
            </a:r>
            <a:r>
              <a:rPr lang="en-IN" sz="1600" dirty="0">
                <a:latin typeface="Courier New" panose="02070309020205020404" pitchFamily="49" charset="0"/>
              </a:rPr>
              <a:t>n</a:t>
            </a:r>
            <a:r>
              <a:rPr lang="en-IN" sz="1600" dirty="0"/>
              <a:t>. </a:t>
            </a:r>
          </a:p>
          <a:p>
            <a:pPr>
              <a:buFont typeface="+mj-lt"/>
              <a:buAutoNum type="arabicPeriod"/>
            </a:pPr>
            <a:r>
              <a:rPr lang="en-IN" sz="1600" dirty="0"/>
              <a:t>Create an array </a:t>
            </a:r>
            <a:r>
              <a:rPr lang="en-IN" sz="1600" dirty="0">
                <a:latin typeface="Courier New" panose="02070309020205020404" pitchFamily="49" charset="0"/>
              </a:rPr>
              <a:t>Z[0...n−1]</a:t>
            </a:r>
            <a:r>
              <a:rPr lang="en-IN" sz="1600" dirty="0"/>
              <a:t> and initialize all elements to </a:t>
            </a:r>
            <a:r>
              <a:rPr lang="en-IN" sz="1600" dirty="0">
                <a:latin typeface="Courier New" panose="02070309020205020404" pitchFamily="49" charset="0"/>
              </a:rPr>
              <a:t>0</a:t>
            </a:r>
            <a:r>
              <a:rPr lang="en-IN" sz="1600" dirty="0"/>
              <a:t>. </a:t>
            </a:r>
          </a:p>
          <a:p>
            <a:pPr>
              <a:buFont typeface="+mj-lt"/>
              <a:buAutoNum type="arabicPeriod"/>
            </a:pPr>
            <a:r>
              <a:rPr lang="en-IN" sz="1600" dirty="0"/>
              <a:t>Initialize </a:t>
            </a:r>
            <a:r>
              <a:rPr lang="en-IN" sz="1600" dirty="0">
                <a:latin typeface="Courier New" panose="02070309020205020404" pitchFamily="49" charset="0"/>
              </a:rPr>
              <a:t>L = 0</a:t>
            </a:r>
            <a:r>
              <a:rPr lang="en-IN" sz="1600" dirty="0"/>
              <a:t> and </a:t>
            </a:r>
            <a:r>
              <a:rPr lang="en-IN" sz="1600" dirty="0">
                <a:latin typeface="Courier New" panose="02070309020205020404" pitchFamily="49" charset="0"/>
              </a:rPr>
              <a:t>R = 0</a:t>
            </a:r>
            <a:r>
              <a:rPr lang="en-IN" sz="1600" dirty="0"/>
              <a:t>. </a:t>
            </a:r>
          </a:p>
          <a:p>
            <a:pPr>
              <a:buFont typeface="+mj-lt"/>
              <a:buAutoNum type="arabicPeriod"/>
            </a:pPr>
            <a:r>
              <a:rPr lang="en-IN" sz="1600" dirty="0"/>
              <a:t>For each position </a:t>
            </a:r>
            <a:r>
              <a:rPr lang="en-IN" sz="1600" dirty="0" err="1">
                <a:latin typeface="Courier New" panose="02070309020205020404" pitchFamily="49" charset="0"/>
              </a:rPr>
              <a:t>i</a:t>
            </a:r>
            <a:r>
              <a:rPr lang="en-IN" sz="1600" dirty="0"/>
              <a:t> from </a:t>
            </a:r>
            <a:r>
              <a:rPr lang="en-IN" sz="1600" dirty="0">
                <a:latin typeface="Courier New" panose="02070309020205020404" pitchFamily="49" charset="0"/>
              </a:rPr>
              <a:t>1</a:t>
            </a:r>
            <a:r>
              <a:rPr lang="en-IN" sz="1600" dirty="0"/>
              <a:t> to </a:t>
            </a:r>
            <a:r>
              <a:rPr lang="en-IN" sz="1600" dirty="0">
                <a:latin typeface="Courier New" panose="02070309020205020404" pitchFamily="49" charset="0"/>
              </a:rPr>
              <a:t>n−1</a:t>
            </a:r>
            <a:r>
              <a:rPr lang="en-IN" sz="1600" dirty="0"/>
              <a:t>, do the following: </a:t>
            </a:r>
          </a:p>
          <a:p>
            <a:pPr marL="742950" lvl="1" indent="-285750">
              <a:buFont typeface="+mj-lt"/>
              <a:buAutoNum type="arabicPeriod"/>
            </a:pPr>
            <a:r>
              <a:rPr lang="en-IN" sz="1600" b="1" dirty="0"/>
              <a:t>Case 1: If </a:t>
            </a:r>
            <a:r>
              <a:rPr lang="en-IN" sz="1600" b="1" dirty="0" err="1">
                <a:latin typeface="Courier New" panose="02070309020205020404" pitchFamily="49" charset="0"/>
              </a:rPr>
              <a:t>i</a:t>
            </a:r>
            <a:r>
              <a:rPr lang="en-IN" sz="1600" b="1" dirty="0">
                <a:latin typeface="Courier New" panose="02070309020205020404" pitchFamily="49" charset="0"/>
              </a:rPr>
              <a:t> &gt; R</a:t>
            </a:r>
            <a:r>
              <a:rPr lang="en-IN" sz="1600" b="1" dirty="0"/>
              <a:t> (outside the current Z-box):</a:t>
            </a:r>
            <a:r>
              <a:rPr lang="en-IN" sz="1600" dirty="0"/>
              <a:t> </a:t>
            </a:r>
          </a:p>
          <a:p>
            <a:pPr marL="1143000" lvl="2" indent="-228600">
              <a:buFont typeface="+mj-lt"/>
              <a:buAutoNum type="arabicPeriod"/>
            </a:pPr>
            <a:r>
              <a:rPr lang="en-IN" sz="1600" dirty="0"/>
              <a:t>Set </a:t>
            </a:r>
            <a:r>
              <a:rPr lang="en-IN" sz="1600" dirty="0">
                <a:latin typeface="Courier New" panose="02070309020205020404" pitchFamily="49" charset="0"/>
              </a:rPr>
              <a:t>L = R = </a:t>
            </a:r>
            <a:r>
              <a:rPr lang="en-IN" sz="1600" dirty="0" err="1">
                <a:latin typeface="Courier New" panose="02070309020205020404" pitchFamily="49" charset="0"/>
              </a:rPr>
              <a:t>i</a:t>
            </a:r>
            <a:r>
              <a:rPr lang="en-IN" sz="1600" dirty="0"/>
              <a:t>. </a:t>
            </a:r>
          </a:p>
          <a:p>
            <a:pPr marL="1143000" lvl="2" indent="-228600">
              <a:buFont typeface="+mj-lt"/>
              <a:buAutoNum type="arabicPeriod"/>
            </a:pPr>
            <a:r>
              <a:rPr lang="en-IN" sz="1600" dirty="0"/>
              <a:t>Compare characters </a:t>
            </a:r>
            <a:r>
              <a:rPr lang="en-IN" sz="1600" dirty="0">
                <a:latin typeface="Courier New" panose="02070309020205020404" pitchFamily="49" charset="0"/>
              </a:rPr>
              <a:t>S[R−L]</a:t>
            </a:r>
            <a:r>
              <a:rPr lang="en-IN" sz="1600" dirty="0"/>
              <a:t> and </a:t>
            </a:r>
            <a:r>
              <a:rPr lang="en-IN" sz="1600" dirty="0">
                <a:latin typeface="Courier New" panose="02070309020205020404" pitchFamily="49" charset="0"/>
              </a:rPr>
              <a:t>S[R]</a:t>
            </a:r>
            <a:r>
              <a:rPr lang="en-IN" sz="1600" dirty="0"/>
              <a:t> while they match, incrementing </a:t>
            </a:r>
            <a:r>
              <a:rPr lang="en-IN" sz="1600" dirty="0">
                <a:latin typeface="Courier New" panose="02070309020205020404" pitchFamily="49" charset="0"/>
              </a:rPr>
              <a:t>R</a:t>
            </a:r>
            <a:r>
              <a:rPr lang="en-IN" sz="1600" dirty="0"/>
              <a:t> each time. </a:t>
            </a:r>
          </a:p>
          <a:p>
            <a:pPr marL="1143000" lvl="2" indent="-228600">
              <a:buFont typeface="+mj-lt"/>
              <a:buAutoNum type="arabicPeriod"/>
            </a:pPr>
            <a:r>
              <a:rPr lang="en-IN" sz="1600" dirty="0"/>
              <a:t>Set </a:t>
            </a:r>
            <a:r>
              <a:rPr lang="en-IN" sz="1600" dirty="0">
                <a:latin typeface="Courier New" panose="02070309020205020404" pitchFamily="49" charset="0"/>
              </a:rPr>
              <a:t>Z[</a:t>
            </a:r>
            <a:r>
              <a:rPr lang="en-IN" sz="1600" dirty="0" err="1">
                <a:latin typeface="Courier New" panose="02070309020205020404" pitchFamily="49" charset="0"/>
              </a:rPr>
              <a:t>i</a:t>
            </a:r>
            <a:r>
              <a:rPr lang="en-IN" sz="1600" dirty="0">
                <a:latin typeface="Courier New" panose="02070309020205020404" pitchFamily="49" charset="0"/>
              </a:rPr>
              <a:t>] = R − L</a:t>
            </a:r>
            <a:r>
              <a:rPr lang="en-IN" sz="1600" dirty="0"/>
              <a:t>. </a:t>
            </a:r>
          </a:p>
          <a:p>
            <a:pPr marL="1143000" lvl="2" indent="-228600">
              <a:buFont typeface="+mj-lt"/>
              <a:buAutoNum type="arabicPeriod"/>
            </a:pPr>
            <a:r>
              <a:rPr lang="en-IN" sz="1600" dirty="0"/>
              <a:t>Decrement </a:t>
            </a:r>
            <a:r>
              <a:rPr lang="en-IN" sz="1600" dirty="0">
                <a:latin typeface="Courier New" panose="02070309020205020404" pitchFamily="49" charset="0"/>
              </a:rPr>
              <a:t>R</a:t>
            </a:r>
            <a:r>
              <a:rPr lang="en-IN" sz="1600" dirty="0"/>
              <a:t> by 1. </a:t>
            </a:r>
          </a:p>
          <a:p>
            <a:pPr marL="742950" lvl="1" indent="-285750">
              <a:buFont typeface="+mj-lt"/>
              <a:buAutoNum type="arabicPeriod"/>
            </a:pPr>
            <a:r>
              <a:rPr lang="en-IN" sz="1600" b="1" dirty="0"/>
              <a:t>Case 2: If </a:t>
            </a:r>
            <a:r>
              <a:rPr lang="en-IN" sz="1600" b="1" dirty="0" err="1">
                <a:latin typeface="Courier New" panose="02070309020205020404" pitchFamily="49" charset="0"/>
              </a:rPr>
              <a:t>i</a:t>
            </a:r>
            <a:r>
              <a:rPr lang="en-IN" sz="1600" b="1" dirty="0">
                <a:latin typeface="Courier New" panose="02070309020205020404" pitchFamily="49" charset="0"/>
              </a:rPr>
              <a:t> ≤ R</a:t>
            </a:r>
            <a:r>
              <a:rPr lang="en-IN" sz="1600" b="1" dirty="0"/>
              <a:t> (inside the current Z-box):</a:t>
            </a:r>
            <a:r>
              <a:rPr lang="en-IN" sz="1600" dirty="0"/>
              <a:t> </a:t>
            </a:r>
          </a:p>
          <a:p>
            <a:pPr marL="1143000" lvl="2" indent="-228600">
              <a:buFont typeface="+mj-lt"/>
              <a:buAutoNum type="arabicPeriod"/>
            </a:pPr>
            <a:r>
              <a:rPr lang="en-IN" sz="1600" dirty="0"/>
              <a:t>Compute </a:t>
            </a:r>
            <a:r>
              <a:rPr lang="en-IN" sz="1600" dirty="0">
                <a:latin typeface="Courier New" panose="02070309020205020404" pitchFamily="49" charset="0"/>
              </a:rPr>
              <a:t>k = </a:t>
            </a:r>
            <a:r>
              <a:rPr lang="en-IN" sz="1600" dirty="0" err="1">
                <a:latin typeface="Courier New" panose="02070309020205020404" pitchFamily="49" charset="0"/>
              </a:rPr>
              <a:t>i</a:t>
            </a:r>
            <a:r>
              <a:rPr lang="en-IN" sz="1600" dirty="0">
                <a:latin typeface="Courier New" panose="02070309020205020404" pitchFamily="49" charset="0"/>
              </a:rPr>
              <a:t> − L</a:t>
            </a:r>
            <a:r>
              <a:rPr lang="en-IN" sz="1600" dirty="0"/>
              <a:t>. </a:t>
            </a:r>
          </a:p>
          <a:p>
            <a:pPr marL="1143000" lvl="2" indent="-228600">
              <a:buFont typeface="+mj-lt"/>
              <a:buAutoNum type="arabicPeriod"/>
            </a:pPr>
            <a:r>
              <a:rPr lang="en-IN" sz="1600" dirty="0"/>
              <a:t>If </a:t>
            </a:r>
            <a:r>
              <a:rPr lang="en-IN" sz="1600" dirty="0">
                <a:latin typeface="Courier New" panose="02070309020205020404" pitchFamily="49" charset="0"/>
              </a:rPr>
              <a:t>Z[k] &lt; R − </a:t>
            </a:r>
            <a:r>
              <a:rPr lang="en-IN" sz="1600" dirty="0" err="1">
                <a:latin typeface="Courier New" panose="02070309020205020404" pitchFamily="49" charset="0"/>
              </a:rPr>
              <a:t>i</a:t>
            </a:r>
            <a:r>
              <a:rPr lang="en-IN" sz="1600" dirty="0">
                <a:latin typeface="Courier New" panose="02070309020205020404" pitchFamily="49" charset="0"/>
              </a:rPr>
              <a:t> + 1</a:t>
            </a:r>
            <a:r>
              <a:rPr lang="en-IN" sz="1600" dirty="0"/>
              <a:t>, set </a:t>
            </a:r>
            <a:r>
              <a:rPr lang="en-IN" sz="1600" dirty="0">
                <a:latin typeface="Courier New" panose="02070309020205020404" pitchFamily="49" charset="0"/>
              </a:rPr>
              <a:t>Z[</a:t>
            </a:r>
            <a:r>
              <a:rPr lang="en-IN" sz="1600" dirty="0" err="1">
                <a:latin typeface="Courier New" panose="02070309020205020404" pitchFamily="49" charset="0"/>
              </a:rPr>
              <a:t>i</a:t>
            </a:r>
            <a:r>
              <a:rPr lang="en-IN" sz="1600" dirty="0">
                <a:latin typeface="Courier New" panose="02070309020205020404" pitchFamily="49" charset="0"/>
              </a:rPr>
              <a:t>] = Z[k]</a:t>
            </a:r>
            <a:r>
              <a:rPr lang="en-IN" sz="1600" dirty="0"/>
              <a:t>. </a:t>
            </a:r>
          </a:p>
          <a:p>
            <a:pPr marL="1143000" lvl="2" indent="-228600">
              <a:buFont typeface="+mj-lt"/>
              <a:buAutoNum type="arabicPeriod"/>
            </a:pPr>
            <a:r>
              <a:rPr lang="en-IN" sz="1600" dirty="0"/>
              <a:t>Otherwise: </a:t>
            </a:r>
          </a:p>
          <a:p>
            <a:pPr marL="1600200" lvl="3" indent="-228600">
              <a:buFont typeface="+mj-lt"/>
              <a:buAutoNum type="arabicPeriod"/>
            </a:pPr>
            <a:r>
              <a:rPr lang="en-IN" sz="1600" dirty="0"/>
              <a:t>Set </a:t>
            </a:r>
            <a:r>
              <a:rPr lang="en-IN" sz="1600" dirty="0">
                <a:latin typeface="Courier New" panose="02070309020205020404" pitchFamily="49" charset="0"/>
              </a:rPr>
              <a:t>L = </a:t>
            </a:r>
            <a:r>
              <a:rPr lang="en-IN" sz="1600" dirty="0" err="1">
                <a:latin typeface="Courier New" panose="02070309020205020404" pitchFamily="49" charset="0"/>
              </a:rPr>
              <a:t>i</a:t>
            </a:r>
            <a:r>
              <a:rPr lang="en-IN" sz="1600" dirty="0"/>
              <a:t>. </a:t>
            </a:r>
          </a:p>
          <a:p>
            <a:pPr marL="1600200" lvl="3" indent="-228600">
              <a:buFont typeface="+mj-lt"/>
              <a:buAutoNum type="arabicPeriod"/>
            </a:pPr>
            <a:r>
              <a:rPr lang="en-IN" sz="1600" dirty="0"/>
              <a:t>Continue comparing characters beyond </a:t>
            </a:r>
            <a:r>
              <a:rPr lang="en-IN" sz="1600" dirty="0">
                <a:latin typeface="Courier New" panose="02070309020205020404" pitchFamily="49" charset="0"/>
              </a:rPr>
              <a:t>R</a:t>
            </a:r>
            <a:r>
              <a:rPr lang="en-IN" sz="1600" dirty="0"/>
              <a:t> while they match, incrementing </a:t>
            </a:r>
            <a:r>
              <a:rPr lang="en-IN" sz="1600" dirty="0">
                <a:latin typeface="Courier New" panose="02070309020205020404" pitchFamily="49" charset="0"/>
              </a:rPr>
              <a:t>R</a:t>
            </a:r>
            <a:r>
              <a:rPr lang="en-IN" sz="1600" dirty="0"/>
              <a:t>. </a:t>
            </a:r>
          </a:p>
          <a:p>
            <a:pPr marL="1600200" lvl="3" indent="-228600">
              <a:buFont typeface="+mj-lt"/>
              <a:buAutoNum type="arabicPeriod"/>
            </a:pPr>
            <a:r>
              <a:rPr lang="en-IN" sz="1600" dirty="0"/>
              <a:t>Set </a:t>
            </a:r>
            <a:r>
              <a:rPr lang="en-IN" sz="1600" dirty="0">
                <a:latin typeface="Courier New" panose="02070309020205020404" pitchFamily="49" charset="0"/>
              </a:rPr>
              <a:t>Z[</a:t>
            </a:r>
            <a:r>
              <a:rPr lang="en-IN" sz="1600" dirty="0" err="1">
                <a:latin typeface="Courier New" panose="02070309020205020404" pitchFamily="49" charset="0"/>
              </a:rPr>
              <a:t>i</a:t>
            </a:r>
            <a:r>
              <a:rPr lang="en-IN" sz="1600" dirty="0">
                <a:latin typeface="Courier New" panose="02070309020205020404" pitchFamily="49" charset="0"/>
              </a:rPr>
              <a:t>] = R − L</a:t>
            </a:r>
            <a:r>
              <a:rPr lang="en-IN" sz="1600" dirty="0"/>
              <a:t>. </a:t>
            </a:r>
          </a:p>
          <a:p>
            <a:pPr marL="1600200" lvl="3" indent="-228600">
              <a:buFont typeface="+mj-lt"/>
              <a:buAutoNum type="arabicPeriod"/>
            </a:pPr>
            <a:r>
              <a:rPr lang="en-IN" sz="1600" dirty="0"/>
              <a:t>Decrement </a:t>
            </a:r>
            <a:r>
              <a:rPr lang="en-IN" sz="1600" dirty="0">
                <a:latin typeface="Courier New" panose="02070309020205020404" pitchFamily="49" charset="0"/>
              </a:rPr>
              <a:t>R</a:t>
            </a:r>
            <a:r>
              <a:rPr lang="en-IN" sz="1600" dirty="0"/>
              <a:t> by 1. </a:t>
            </a:r>
          </a:p>
          <a:p>
            <a:pPr>
              <a:buFont typeface="+mj-lt"/>
              <a:buAutoNum type="arabicPeriod"/>
            </a:pPr>
            <a:r>
              <a:rPr lang="en-IN" sz="1600" dirty="0"/>
              <a:t>Repeat Step 4 until all positions have been processed. </a:t>
            </a:r>
          </a:p>
          <a:p>
            <a:pPr>
              <a:buFont typeface="+mj-lt"/>
              <a:buAutoNum type="arabicPeriod"/>
            </a:pPr>
            <a:r>
              <a:rPr lang="en-IN" sz="1600" dirty="0"/>
              <a:t>Return the Z-array. </a:t>
            </a:r>
          </a:p>
          <a:p>
            <a:pPr>
              <a:buFont typeface="+mj-lt"/>
              <a:buAutoNum type="arabicPeriod"/>
            </a:pPr>
            <a:r>
              <a:rPr lang="en-IN" sz="1600" dirty="0"/>
              <a:t>For pattern matching, if </a:t>
            </a:r>
            <a:r>
              <a:rPr lang="en-IN" sz="1600" dirty="0">
                <a:latin typeface="Courier New" panose="02070309020205020404" pitchFamily="49" charset="0"/>
              </a:rPr>
              <a:t>Z[</a:t>
            </a:r>
            <a:r>
              <a:rPr lang="en-IN" sz="1600" dirty="0" err="1">
                <a:latin typeface="Courier New" panose="02070309020205020404" pitchFamily="49" charset="0"/>
              </a:rPr>
              <a:t>i</a:t>
            </a:r>
            <a:r>
              <a:rPr lang="en-IN" sz="1600" dirty="0">
                <a:latin typeface="Courier New" panose="02070309020205020404" pitchFamily="49" charset="0"/>
              </a:rPr>
              <a:t>]</a:t>
            </a:r>
            <a:r>
              <a:rPr lang="en-IN" sz="1600" dirty="0"/>
              <a:t> equals the pattern length, then the pattern occurs in the text at position:</a:t>
            </a:r>
          </a:p>
        </p:txBody>
      </p:sp>
    </p:spTree>
    <p:extLst>
      <p:ext uri="{BB962C8B-B14F-4D97-AF65-F5344CB8AC3E}">
        <p14:creationId xmlns:p14="http://schemas.microsoft.com/office/powerpoint/2010/main" val="143226095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117</a:t>
            </a:fld>
            <a:endParaRPr lang="en-AU"/>
          </a:p>
        </p:txBody>
      </p:sp>
      <p:sp>
        <p:nvSpPr>
          <p:cNvPr id="4" name="Rectangle 3"/>
          <p:cNvSpPr/>
          <p:nvPr/>
        </p:nvSpPr>
        <p:spPr>
          <a:xfrm>
            <a:off x="1886653" y="185469"/>
            <a:ext cx="9668416" cy="593304"/>
          </a:xfrm>
          <a:prstGeom prst="rect">
            <a:avLst/>
          </a:prstGeom>
        </p:spPr>
        <p:txBody>
          <a:bodyPr wrap="none">
            <a:spAutoFit/>
          </a:bodyPr>
          <a:lstStyle/>
          <a:p>
            <a:pPr>
              <a:lnSpc>
                <a:spcPct val="107000"/>
              </a:lnSpc>
            </a:pPr>
            <a:r>
              <a:rPr lang="en-US" sz="3200" b="1" kern="1800" dirty="0">
                <a:solidFill>
                  <a:srgbClr val="1E03BD"/>
                </a:solidFill>
                <a:latin typeface="Times New Roman" panose="02020603050405020304" pitchFamily="18" charset="0"/>
                <a:ea typeface="Times New Roman" panose="02020603050405020304" pitchFamily="18" charset="0"/>
                <a:cs typeface="Times New Roman" panose="02020603050405020304" pitchFamily="18" charset="0"/>
              </a:rPr>
              <a:t>Role of the Z-Function Algorithm in String Processing</a:t>
            </a:r>
            <a:endParaRPr lang="en-US" sz="3200" kern="100" dirty="0">
              <a:solidFill>
                <a:srgbClr val="1E03BD"/>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610524" y="1124162"/>
            <a:ext cx="11073476" cy="2376035"/>
          </a:xfrm>
          <a:prstGeom prst="rect">
            <a:avLst/>
          </a:prstGeom>
        </p:spPr>
        <p:txBody>
          <a:bodyPr wrap="square">
            <a:spAutoFit/>
          </a:bodyPr>
          <a:lstStyle/>
          <a:p>
            <a:pPr>
              <a:lnSpc>
                <a:spcPct val="107000"/>
              </a:lnSpc>
            </a:pP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1. Exact Pattern Matching</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The Z-Algorithm is widely used to search for a pattern in a text efficiently.</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Construct a new string:</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marL="914400" lvl="1">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Pattern + "$" + Text</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Compute the Z-array. </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If </a:t>
            </a: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Z[</a:t>
            </a:r>
            <a:r>
              <a:rPr lang="en-US" sz="2000" b="1" kern="0" dirty="0" err="1">
                <a:latin typeface="Times New Roman" panose="02020603050405020304" pitchFamily="18" charset="0"/>
                <a:ea typeface="Times New Roman" panose="02020603050405020304" pitchFamily="18" charset="0"/>
                <a:cs typeface="Times New Roman" panose="02020603050405020304" pitchFamily="18" charset="0"/>
              </a:rPr>
              <a:t>i</a:t>
            </a: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 = Pattern Length</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 the pattern occurs at that position in the text. </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lvl="1"/>
            <a:r>
              <a:rPr lang="en-US" sz="2000" b="1" kern="0" dirty="0">
                <a:latin typeface="Times New Roman" panose="02020603050405020304" pitchFamily="18" charset="0"/>
                <a:ea typeface="Times New Roman" panose="02020603050405020304" pitchFamily="18" charset="0"/>
              </a:rPr>
              <a:t>Application:</a:t>
            </a:r>
            <a:r>
              <a:rPr lang="en-US" sz="2000" kern="0" dirty="0">
                <a:latin typeface="Times New Roman" panose="02020603050405020304" pitchFamily="18" charset="0"/>
                <a:ea typeface="Times New Roman" panose="02020603050405020304" pitchFamily="18" charset="0"/>
              </a:rPr>
              <a:t> Text editors, search engines, document search</a:t>
            </a:r>
            <a:endParaRPr lang="en-US" sz="2000" dirty="0"/>
          </a:p>
        </p:txBody>
      </p:sp>
      <p:sp>
        <p:nvSpPr>
          <p:cNvPr id="7" name="Rectangle 6"/>
          <p:cNvSpPr/>
          <p:nvPr/>
        </p:nvSpPr>
        <p:spPr>
          <a:xfrm>
            <a:off x="610524" y="3488635"/>
            <a:ext cx="10038080" cy="3039935"/>
          </a:xfrm>
          <a:prstGeom prst="rect">
            <a:avLst/>
          </a:prstGeom>
        </p:spPr>
        <p:txBody>
          <a:bodyPr wrap="square">
            <a:spAutoFit/>
          </a:bodyPr>
          <a:lstStyle/>
          <a:p>
            <a:pPr>
              <a:lnSpc>
                <a:spcPct val="107000"/>
              </a:lnSpc>
            </a:pP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2. Finding Repeated Substrings</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The Z-array identifies repeated occurrences of the prefix within the string.</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pP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Example</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String = "</a:t>
            </a:r>
            <a:r>
              <a:rPr lang="en-US" sz="2000" kern="0" dirty="0" err="1">
                <a:latin typeface="Times New Roman" panose="02020603050405020304" pitchFamily="18" charset="0"/>
                <a:ea typeface="Times New Roman" panose="02020603050405020304" pitchFamily="18" charset="0"/>
                <a:cs typeface="Times New Roman" panose="02020603050405020304" pitchFamily="18" charset="0"/>
              </a:rPr>
              <a:t>abcabcabc</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The Z-array contains large values at positions where </a:t>
            </a: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a:t>
            </a:r>
            <a:r>
              <a:rPr lang="en-US" sz="2000" b="1" kern="0" dirty="0" err="1">
                <a:latin typeface="Times New Roman" panose="02020603050405020304" pitchFamily="18" charset="0"/>
                <a:ea typeface="Times New Roman" panose="02020603050405020304" pitchFamily="18" charset="0"/>
                <a:cs typeface="Times New Roman" panose="02020603050405020304" pitchFamily="18" charset="0"/>
              </a:rPr>
              <a:t>abc</a:t>
            </a: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 repeats.</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pP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Applications:</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Data compression </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Duplicate detection </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Repeated sequence analysis </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8473062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dirty="0">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118</a:t>
            </a:fld>
            <a:endParaRPr lang="en-AU"/>
          </a:p>
        </p:txBody>
      </p:sp>
      <p:sp>
        <p:nvSpPr>
          <p:cNvPr id="5" name="Rectangle 4"/>
          <p:cNvSpPr/>
          <p:nvPr/>
        </p:nvSpPr>
        <p:spPr>
          <a:xfrm>
            <a:off x="665480" y="1035695"/>
            <a:ext cx="10982960" cy="3039935"/>
          </a:xfrm>
          <a:prstGeom prst="rect">
            <a:avLst/>
          </a:prstGeom>
        </p:spPr>
        <p:txBody>
          <a:bodyPr wrap="square">
            <a:spAutoFit/>
          </a:bodyPr>
          <a:lstStyle/>
          <a:p>
            <a:pPr>
              <a:lnSpc>
                <a:spcPct val="107000"/>
              </a:lnSpc>
            </a:pP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3. String Periodicity Detection</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The Z-Algorithm can determine whether a string is formed by repeating a smaller substring.</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pP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Example</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String = "</a:t>
            </a:r>
            <a:r>
              <a:rPr lang="en-US" sz="2000" kern="0" dirty="0" err="1">
                <a:latin typeface="Times New Roman" panose="02020603050405020304" pitchFamily="18" charset="0"/>
                <a:ea typeface="Times New Roman" panose="02020603050405020304" pitchFamily="18" charset="0"/>
                <a:cs typeface="Times New Roman" panose="02020603050405020304" pitchFamily="18" charset="0"/>
              </a:rPr>
              <a:t>abcabcabc</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The algorithm detects that  "</a:t>
            </a:r>
            <a:r>
              <a:rPr lang="en-US" sz="2000" kern="0" dirty="0" err="1">
                <a:latin typeface="Times New Roman" panose="02020603050405020304" pitchFamily="18" charset="0"/>
                <a:ea typeface="Times New Roman" panose="02020603050405020304" pitchFamily="18" charset="0"/>
                <a:cs typeface="Times New Roman" panose="02020603050405020304" pitchFamily="18" charset="0"/>
              </a:rPr>
              <a:t>abc</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 is repeated three times.</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pP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Applications:</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Compression algorithms </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Pattern recognition </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Sequence analysis </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p:cNvSpPr/>
          <p:nvPr/>
        </p:nvSpPr>
        <p:spPr>
          <a:xfrm>
            <a:off x="665480" y="4075630"/>
            <a:ext cx="11160760" cy="2381293"/>
          </a:xfrm>
          <a:prstGeom prst="rect">
            <a:avLst/>
          </a:prstGeom>
        </p:spPr>
        <p:txBody>
          <a:bodyPr wrap="square">
            <a:spAutoFit/>
          </a:bodyPr>
          <a:lstStyle/>
          <a:p>
            <a:pPr>
              <a:lnSpc>
                <a:spcPct val="107000"/>
              </a:lnSpc>
            </a:pP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4. Plagiarism Detection</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Documents can be represented as strings. The algorithm efficiently finds common substrings between documents.</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pPr>
            <a:r>
              <a:rPr lang="en-US" sz="2000" b="1" kern="0" dirty="0">
                <a:latin typeface="Times New Roman" panose="02020603050405020304" pitchFamily="18" charset="0"/>
                <a:ea typeface="Times New Roman" panose="02020603050405020304" pitchFamily="18" charset="0"/>
                <a:cs typeface="Times New Roman" panose="02020603050405020304" pitchFamily="18" charset="0"/>
              </a:rPr>
              <a:t>Applications:</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Academic plagiarism detection </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Code similarity detection </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Document comparison </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0573695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FC820-9968-41CE-DE53-6AF3E909DFF5}"/>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75EE1283-9282-0463-69C2-5FA53105CCFE}"/>
              </a:ext>
            </a:extLst>
          </p:cNvPr>
          <p:cNvGraphicFramePr/>
          <p:nvPr>
            <p:extLst>
              <p:ext uri="{D42A27DB-BD31-4B8C-83A1-F6EECF244321}">
                <p14:modId xmlns:p14="http://schemas.microsoft.com/office/powerpoint/2010/main" val="3939706944"/>
              </p:ext>
            </p:extLst>
          </p:nvPr>
        </p:nvGraphicFramePr>
        <p:xfrm>
          <a:off x="490894" y="730388"/>
          <a:ext cx="11498893" cy="58684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p:cNvSpPr txBox="1"/>
          <p:nvPr/>
        </p:nvSpPr>
        <p:spPr>
          <a:xfrm>
            <a:off x="4446739" y="127771"/>
            <a:ext cx="4258849" cy="1077218"/>
          </a:xfrm>
          <a:prstGeom prst="rect">
            <a:avLst/>
          </a:prstGeom>
          <a:noFill/>
        </p:spPr>
        <p:txBody>
          <a:bodyPr wrap="square" rtlCol="0">
            <a:spAutoFit/>
          </a:bodyPr>
          <a:lstStyle/>
          <a:p>
            <a:pPr lvl="0"/>
            <a:r>
              <a:rPr lang="en-IN" sz="3200" b="1" dirty="0" err="1">
                <a:solidFill>
                  <a:srgbClr val="1E03BD"/>
                </a:solidFill>
              </a:rPr>
              <a:t>Aho-Corasick</a:t>
            </a:r>
            <a:r>
              <a:rPr lang="en-IN" sz="3200" b="1" dirty="0">
                <a:solidFill>
                  <a:srgbClr val="1E03BD"/>
                </a:solidFill>
              </a:rPr>
              <a:t> Algorithm</a:t>
            </a:r>
            <a:r>
              <a:rPr lang="en-IN" sz="3200" dirty="0">
                <a:solidFill>
                  <a:srgbClr val="1E03BD"/>
                </a:solidFill>
              </a:rPr>
              <a:t> </a:t>
            </a:r>
            <a:endParaRPr lang="en-IN" sz="3200" dirty="0"/>
          </a:p>
          <a:p>
            <a:endParaRPr lang="en-IN" sz="3200" dirty="0"/>
          </a:p>
        </p:txBody>
      </p:sp>
    </p:spTree>
    <p:extLst>
      <p:ext uri="{BB962C8B-B14F-4D97-AF65-F5344CB8AC3E}">
        <p14:creationId xmlns:p14="http://schemas.microsoft.com/office/powerpoint/2010/main" val="203923116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5CC4C-B439-2110-41E6-4C3A67189FEC}"/>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69B97EE-E77B-3E61-B59E-C51E34F5FB5E}"/>
              </a:ext>
            </a:extLst>
          </p:cNvPr>
          <p:cNvGraphicFramePr/>
          <p:nvPr>
            <p:extLst>
              <p:ext uri="{D42A27DB-BD31-4B8C-83A1-F6EECF244321}">
                <p14:modId xmlns:p14="http://schemas.microsoft.com/office/powerpoint/2010/main" val="4136029732"/>
              </p:ext>
            </p:extLst>
          </p:nvPr>
        </p:nvGraphicFramePr>
        <p:xfrm>
          <a:off x="850900" y="1634067"/>
          <a:ext cx="6607175" cy="46714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A6D3CC3F-DE4B-878C-C7DA-BD60CDAF48FD}"/>
              </a:ext>
            </a:extLst>
          </p:cNvPr>
          <p:cNvSpPr txBox="1"/>
          <p:nvPr/>
        </p:nvSpPr>
        <p:spPr>
          <a:xfrm>
            <a:off x="8061445" y="723498"/>
            <a:ext cx="3487553" cy="2759730"/>
          </a:xfrm>
          <a:prstGeom prst="rect">
            <a:avLst/>
          </a:prstGeom>
          <a:noFill/>
          <a:ln>
            <a:solidFill>
              <a:srgbClr val="C00000"/>
            </a:solidFill>
          </a:ln>
        </p:spPr>
        <p:txBody>
          <a:bodyPr wrap="square">
            <a:spAutoFit/>
          </a:bodyPr>
          <a:lstStyle/>
          <a:p>
            <a:pPr algn="just">
              <a:lnSpc>
                <a:spcPts val="2625"/>
              </a:lnSpc>
            </a:pPr>
            <a:r>
              <a:rPr lang="en-IN" sz="2200" b="1" i="0" dirty="0">
                <a:effectLst/>
                <a:latin typeface="Times New Roman" panose="02020603050405020304" pitchFamily="18" charset="0"/>
                <a:cs typeface="Times New Roman" panose="02020603050405020304" pitchFamily="18" charset="0"/>
              </a:rPr>
              <a:t>Trie Data Structure : </a:t>
            </a:r>
            <a:r>
              <a:rPr lang="en-IN" sz="2200" dirty="0">
                <a:latin typeface="Times New Roman" panose="02020603050405020304" pitchFamily="18" charset="0"/>
                <a:cs typeface="Times New Roman" panose="02020603050405020304" pitchFamily="18" charset="0"/>
              </a:rPr>
              <a:t>The Trie data structure is used to store a set of keys represented as strings. It allows for efficient retrieval and storage of keys, making it highly effective in handling large datasets.</a:t>
            </a:r>
            <a:endParaRPr lang="en-IN" sz="2200" b="1" i="0" dirty="0">
              <a:solidFill>
                <a:srgbClr val="273239"/>
              </a:solidFill>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3CF30D9-F853-BB78-DC1F-BB5E6B59545C}"/>
              </a:ext>
            </a:extLst>
          </p:cNvPr>
          <p:cNvSpPr txBox="1"/>
          <p:nvPr/>
        </p:nvSpPr>
        <p:spPr>
          <a:xfrm>
            <a:off x="8061445" y="3970444"/>
            <a:ext cx="3487553" cy="2123658"/>
          </a:xfrm>
          <a:prstGeom prst="rect">
            <a:avLst/>
          </a:prstGeom>
          <a:noFill/>
          <a:ln>
            <a:solidFill>
              <a:srgbClr val="C00000"/>
            </a:solidFill>
          </a:ln>
        </p:spPr>
        <p:txBody>
          <a:bodyPr wrap="square">
            <a:spAutoFit/>
          </a:bodyPr>
          <a:lstStyle/>
          <a:p>
            <a:pPr marL="0" marR="0" indent="0" algn="just">
              <a:spcAft>
                <a:spcPts val="1050"/>
              </a:spcAft>
            </a:pPr>
            <a:r>
              <a:rPr lang="en-IN" sz="2200" b="1" i="0" dirty="0">
                <a:solidFill>
                  <a:srgbClr val="000000"/>
                </a:solidFill>
                <a:effectLst/>
                <a:latin typeface="Times New Roman" panose="02020603050405020304" pitchFamily="18" charset="0"/>
                <a:cs typeface="Times New Roman" panose="02020603050405020304" pitchFamily="18" charset="0"/>
              </a:rPr>
              <a:t>Output Array :</a:t>
            </a:r>
            <a:r>
              <a:rPr lang="en-IN" sz="2200" b="0" i="0" dirty="0">
                <a:solidFill>
                  <a:srgbClr val="000000"/>
                </a:solidFill>
                <a:effectLst/>
                <a:latin typeface="Times New Roman" panose="02020603050405020304" pitchFamily="18" charset="0"/>
                <a:cs typeface="Times New Roman" panose="02020603050405020304" pitchFamily="18" charset="0"/>
              </a:rPr>
              <a:t> At this stage, the algorithm stores the indexes of all the patterns that end at a given state. It is also represented by a one-dimensional array.</a:t>
            </a:r>
          </a:p>
        </p:txBody>
      </p:sp>
      <p:grpSp>
        <p:nvGrpSpPr>
          <p:cNvPr id="3" name="Group 2">
            <a:extLst>
              <a:ext uri="{FF2B5EF4-FFF2-40B4-BE49-F238E27FC236}">
                <a16:creationId xmlns:a16="http://schemas.microsoft.com/office/drawing/2014/main" id="{3B3D0D57-CDF3-B93C-76D4-64DFEFD5C991}"/>
              </a:ext>
            </a:extLst>
          </p:cNvPr>
          <p:cNvGrpSpPr/>
          <p:nvPr/>
        </p:nvGrpSpPr>
        <p:grpSpPr>
          <a:xfrm>
            <a:off x="850901" y="943057"/>
            <a:ext cx="7047706" cy="466830"/>
            <a:chOff x="0" y="105034"/>
            <a:chExt cx="8353425" cy="466830"/>
          </a:xfrm>
          <a:solidFill>
            <a:schemeClr val="bg1"/>
          </a:solidFill>
        </p:grpSpPr>
        <p:sp>
          <p:nvSpPr>
            <p:cNvPr id="5" name="Rectangle: Rounded Corners 4">
              <a:extLst>
                <a:ext uri="{FF2B5EF4-FFF2-40B4-BE49-F238E27FC236}">
                  <a16:creationId xmlns:a16="http://schemas.microsoft.com/office/drawing/2014/main" id="{BD352FD7-F421-7811-606D-041D2B7B76B6}"/>
                </a:ext>
              </a:extLst>
            </p:cNvPr>
            <p:cNvSpPr/>
            <p:nvPr/>
          </p:nvSpPr>
          <p:spPr>
            <a:xfrm>
              <a:off x="0" y="105034"/>
              <a:ext cx="8353425" cy="466830"/>
            </a:xfrm>
            <a:prstGeom prst="roundRect">
              <a:avLst/>
            </a:prstGeom>
            <a:grpFill/>
            <a:ln>
              <a:solidFill>
                <a:schemeClr val="accent1"/>
              </a:solid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IN"/>
            </a:p>
          </p:txBody>
        </p:sp>
        <p:sp>
          <p:nvSpPr>
            <p:cNvPr id="7" name="Rectangle: Rounded Corners 4">
              <a:extLst>
                <a:ext uri="{FF2B5EF4-FFF2-40B4-BE49-F238E27FC236}">
                  <a16:creationId xmlns:a16="http://schemas.microsoft.com/office/drawing/2014/main" id="{1C49E911-D392-65BA-424D-A0FB0B8DD136}"/>
                </a:ext>
              </a:extLst>
            </p:cNvPr>
            <p:cNvSpPr txBox="1"/>
            <p:nvPr/>
          </p:nvSpPr>
          <p:spPr>
            <a:xfrm>
              <a:off x="22789" y="127823"/>
              <a:ext cx="8307847" cy="421252"/>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2800" b="1" kern="1200" dirty="0">
                  <a:solidFill>
                    <a:srgbClr val="1E03BD"/>
                  </a:solidFill>
                </a:rPr>
                <a:t>Aho-</a:t>
              </a:r>
              <a:r>
                <a:rPr lang="en-IN" sz="2800" b="1" kern="1200" dirty="0" err="1">
                  <a:solidFill>
                    <a:srgbClr val="1E03BD"/>
                  </a:solidFill>
                </a:rPr>
                <a:t>Corasick</a:t>
              </a:r>
              <a:r>
                <a:rPr lang="en-IN" sz="2800" b="1" kern="1200" dirty="0">
                  <a:solidFill>
                    <a:srgbClr val="1E03BD"/>
                  </a:solidFill>
                </a:rPr>
                <a:t> Algorithm</a:t>
              </a:r>
            </a:p>
          </p:txBody>
        </p:sp>
      </p:grpSp>
    </p:spTree>
    <p:extLst>
      <p:ext uri="{BB962C8B-B14F-4D97-AF65-F5344CB8AC3E}">
        <p14:creationId xmlns:p14="http://schemas.microsoft.com/office/powerpoint/2010/main" val="172927303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B5248-D4D2-076E-AACD-F86CCB4CCAE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2D0D1D4-1D9E-8E21-1054-17440EC3995C}"/>
              </a:ext>
            </a:extLst>
          </p:cNvPr>
          <p:cNvSpPr txBox="1"/>
          <p:nvPr/>
        </p:nvSpPr>
        <p:spPr>
          <a:xfrm>
            <a:off x="140208" y="708288"/>
            <a:ext cx="5748528" cy="369332"/>
          </a:xfrm>
          <a:prstGeom prst="rect">
            <a:avLst/>
          </a:prstGeom>
          <a:solidFill>
            <a:schemeClr val="accent2">
              <a:lumMod val="20000"/>
              <a:lumOff val="80000"/>
            </a:schemeClr>
          </a:solidFill>
          <a:ln>
            <a:solidFill>
              <a:srgbClr val="C00000"/>
            </a:solidFill>
          </a:ln>
        </p:spPr>
        <p:txBody>
          <a:bodyPr wrap="square">
            <a:spAutoFit/>
          </a:bodyPr>
          <a:lstStyle/>
          <a:p>
            <a:r>
              <a:rPr lang="en-IN" b="1" dirty="0"/>
              <a:t>Example</a:t>
            </a:r>
          </a:p>
        </p:txBody>
      </p:sp>
      <p:sp>
        <p:nvSpPr>
          <p:cNvPr id="5" name="TextBox 4">
            <a:extLst>
              <a:ext uri="{FF2B5EF4-FFF2-40B4-BE49-F238E27FC236}">
                <a16:creationId xmlns:a16="http://schemas.microsoft.com/office/drawing/2014/main" id="{3A3827CF-AA1B-CE51-6D2D-FB969C629682}"/>
              </a:ext>
            </a:extLst>
          </p:cNvPr>
          <p:cNvSpPr txBox="1"/>
          <p:nvPr/>
        </p:nvSpPr>
        <p:spPr>
          <a:xfrm>
            <a:off x="140208" y="1181907"/>
            <a:ext cx="5748528" cy="1015663"/>
          </a:xfrm>
          <a:prstGeom prst="rect">
            <a:avLst/>
          </a:prstGeom>
          <a:noFill/>
          <a:ln>
            <a:solidFill>
              <a:srgbClr val="C00000"/>
            </a:solidFill>
          </a:ln>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Input</a:t>
            </a:r>
          </a:p>
          <a:p>
            <a:pPr rtl="0">
              <a:buNone/>
            </a:pPr>
            <a:r>
              <a:rPr lang="en-IN" sz="2000" b="1" dirty="0">
                <a:latin typeface="Times New Roman" panose="02020603050405020304" pitchFamily="18" charset="0"/>
                <a:cs typeface="Times New Roman" panose="02020603050405020304" pitchFamily="18" charset="0"/>
              </a:rPr>
              <a:t>Text     = "</a:t>
            </a:r>
            <a:r>
              <a:rPr lang="en-IN" sz="2000" b="1" dirty="0" err="1">
                <a:latin typeface="Times New Roman" panose="02020603050405020304" pitchFamily="18" charset="0"/>
                <a:cs typeface="Times New Roman" panose="02020603050405020304" pitchFamily="18" charset="0"/>
              </a:rPr>
              <a:t>ahishers</a:t>
            </a:r>
            <a:r>
              <a:rPr lang="en-IN" sz="2000" b="1" dirty="0">
                <a:latin typeface="Times New Roman" panose="02020603050405020304" pitchFamily="18" charset="0"/>
                <a:cs typeface="Times New Roman" panose="02020603050405020304" pitchFamily="18" charset="0"/>
              </a:rPr>
              <a:t>"</a:t>
            </a:r>
          </a:p>
          <a:p>
            <a:pPr rtl="0">
              <a:buNone/>
            </a:pPr>
            <a:r>
              <a:rPr lang="en-IN" sz="2000" b="1" dirty="0">
                <a:latin typeface="Times New Roman" panose="02020603050405020304" pitchFamily="18" charset="0"/>
                <a:cs typeface="Times New Roman" panose="02020603050405020304" pitchFamily="18" charset="0"/>
              </a:rPr>
              <a:t>Patterns = {"he", "she", "hers", "his"}</a:t>
            </a:r>
          </a:p>
        </p:txBody>
      </p:sp>
      <p:sp>
        <p:nvSpPr>
          <p:cNvPr id="7" name="TextBox 6">
            <a:extLst>
              <a:ext uri="{FF2B5EF4-FFF2-40B4-BE49-F238E27FC236}">
                <a16:creationId xmlns:a16="http://schemas.microsoft.com/office/drawing/2014/main" id="{82D77FDC-C4AC-66D8-B501-F93AC04B0E4E}"/>
              </a:ext>
            </a:extLst>
          </p:cNvPr>
          <p:cNvSpPr txBox="1"/>
          <p:nvPr/>
        </p:nvSpPr>
        <p:spPr>
          <a:xfrm>
            <a:off x="140208" y="2206299"/>
            <a:ext cx="5748528" cy="369332"/>
          </a:xfrm>
          <a:prstGeom prst="rect">
            <a:avLst/>
          </a:prstGeom>
          <a:solidFill>
            <a:schemeClr val="accent2">
              <a:lumMod val="20000"/>
              <a:lumOff val="80000"/>
            </a:schemeClr>
          </a:solidFill>
          <a:ln>
            <a:solidFill>
              <a:srgbClr val="C00000"/>
            </a:solidFill>
          </a:ln>
        </p:spPr>
        <p:txBody>
          <a:bodyPr wrap="square">
            <a:spAutoFit/>
          </a:bodyPr>
          <a:lstStyle/>
          <a:p>
            <a:r>
              <a:rPr lang="en-IN" b="1" dirty="0"/>
              <a:t>Step 1: Build the Trie</a:t>
            </a:r>
          </a:p>
        </p:txBody>
      </p:sp>
      <p:sp>
        <p:nvSpPr>
          <p:cNvPr id="11" name="TextBox 10">
            <a:extLst>
              <a:ext uri="{FF2B5EF4-FFF2-40B4-BE49-F238E27FC236}">
                <a16:creationId xmlns:a16="http://schemas.microsoft.com/office/drawing/2014/main" id="{FFBD259D-2B72-BB21-10E1-26BFD0716290}"/>
              </a:ext>
            </a:extLst>
          </p:cNvPr>
          <p:cNvSpPr txBox="1"/>
          <p:nvPr/>
        </p:nvSpPr>
        <p:spPr>
          <a:xfrm>
            <a:off x="5964554" y="196785"/>
            <a:ext cx="6087237" cy="461665"/>
          </a:xfrm>
          <a:prstGeom prst="rect">
            <a:avLst/>
          </a:prstGeom>
          <a:solidFill>
            <a:schemeClr val="accent2">
              <a:lumMod val="20000"/>
              <a:lumOff val="80000"/>
            </a:schemeClr>
          </a:solidFill>
          <a:ln>
            <a:solidFill>
              <a:srgbClr val="C00000"/>
            </a:solidFill>
          </a:ln>
        </p:spPr>
        <p:txBody>
          <a:bodyPr wrap="square">
            <a:spAutoFit/>
          </a:bodyPr>
          <a:lstStyle/>
          <a:p>
            <a:r>
              <a:rPr lang="en-IN" sz="2400" b="1" dirty="0"/>
              <a:t>Step 2: Number Every Node</a:t>
            </a:r>
          </a:p>
        </p:txBody>
      </p:sp>
      <p:graphicFrame>
        <p:nvGraphicFramePr>
          <p:cNvPr id="12" name="Table 11">
            <a:extLst>
              <a:ext uri="{FF2B5EF4-FFF2-40B4-BE49-F238E27FC236}">
                <a16:creationId xmlns:a16="http://schemas.microsoft.com/office/drawing/2014/main" id="{6D368230-D23E-BF59-9B84-8210975D32B5}"/>
              </a:ext>
            </a:extLst>
          </p:cNvPr>
          <p:cNvGraphicFramePr>
            <a:graphicFrameLocks noGrp="1"/>
          </p:cNvGraphicFramePr>
          <p:nvPr>
            <p:extLst>
              <p:ext uri="{D42A27DB-BD31-4B8C-83A1-F6EECF244321}">
                <p14:modId xmlns:p14="http://schemas.microsoft.com/office/powerpoint/2010/main" val="549744857"/>
              </p:ext>
            </p:extLst>
          </p:nvPr>
        </p:nvGraphicFramePr>
        <p:xfrm>
          <a:off x="5964555" y="708288"/>
          <a:ext cx="6087237" cy="6085100"/>
        </p:xfrm>
        <a:graphic>
          <a:graphicData uri="http://schemas.openxmlformats.org/drawingml/2006/table">
            <a:tbl>
              <a:tblPr>
                <a:tableStyleId>{5940675A-B579-460E-94D1-54222C63F5DA}</a:tableStyleId>
              </a:tblPr>
              <a:tblGrid>
                <a:gridCol w="1406629">
                  <a:extLst>
                    <a:ext uri="{9D8B030D-6E8A-4147-A177-3AD203B41FA5}">
                      <a16:colId xmlns:a16="http://schemas.microsoft.com/office/drawing/2014/main" val="634932285"/>
                    </a:ext>
                  </a:extLst>
                </a:gridCol>
                <a:gridCol w="2560125">
                  <a:extLst>
                    <a:ext uri="{9D8B030D-6E8A-4147-A177-3AD203B41FA5}">
                      <a16:colId xmlns:a16="http://schemas.microsoft.com/office/drawing/2014/main" val="2105613434"/>
                    </a:ext>
                  </a:extLst>
                </a:gridCol>
                <a:gridCol w="2120483">
                  <a:extLst>
                    <a:ext uri="{9D8B030D-6E8A-4147-A177-3AD203B41FA5}">
                      <a16:colId xmlns:a16="http://schemas.microsoft.com/office/drawing/2014/main" val="586860855"/>
                    </a:ext>
                  </a:extLst>
                </a:gridCol>
              </a:tblGrid>
              <a:tr h="526214">
                <a:tc>
                  <a:txBody>
                    <a:bodyPr/>
                    <a:lstStyle/>
                    <a:p>
                      <a:pPr>
                        <a:buNone/>
                      </a:pPr>
                      <a:r>
                        <a:rPr lang="en-IN" sz="2400" b="1" dirty="0"/>
                        <a:t>Node No.</a:t>
                      </a:r>
                    </a:p>
                  </a:txBody>
                  <a:tcPr anchor="ctr">
                    <a:solidFill>
                      <a:schemeClr val="accent5">
                        <a:lumMod val="20000"/>
                        <a:lumOff val="80000"/>
                      </a:schemeClr>
                    </a:solidFill>
                  </a:tcPr>
                </a:tc>
                <a:tc>
                  <a:txBody>
                    <a:bodyPr/>
                    <a:lstStyle/>
                    <a:p>
                      <a:pPr>
                        <a:buNone/>
                      </a:pPr>
                      <a:r>
                        <a:rPr lang="en-IN" sz="2400" b="1" dirty="0"/>
                        <a:t>String Represented</a:t>
                      </a:r>
                    </a:p>
                  </a:txBody>
                  <a:tcPr anchor="ctr">
                    <a:solidFill>
                      <a:schemeClr val="accent5">
                        <a:lumMod val="20000"/>
                        <a:lumOff val="80000"/>
                      </a:schemeClr>
                    </a:solidFill>
                  </a:tcPr>
                </a:tc>
                <a:tc>
                  <a:txBody>
                    <a:bodyPr/>
                    <a:lstStyle/>
                    <a:p>
                      <a:pPr>
                        <a:buNone/>
                      </a:pPr>
                      <a:r>
                        <a:rPr lang="en-IN" sz="2400" b="1" dirty="0"/>
                        <a:t>End of Pattern?</a:t>
                      </a:r>
                    </a:p>
                  </a:txBody>
                  <a:tcPr anchor="ctr">
                    <a:solidFill>
                      <a:schemeClr val="accent5">
                        <a:lumMod val="20000"/>
                        <a:lumOff val="80000"/>
                      </a:schemeClr>
                    </a:solidFill>
                  </a:tcPr>
                </a:tc>
                <a:extLst>
                  <a:ext uri="{0D108BD9-81ED-4DB2-BD59-A6C34878D82A}">
                    <a16:rowId xmlns:a16="http://schemas.microsoft.com/office/drawing/2014/main" val="2567107738"/>
                  </a:ext>
                </a:extLst>
              </a:tr>
              <a:tr h="526214">
                <a:tc>
                  <a:txBody>
                    <a:bodyPr/>
                    <a:lstStyle/>
                    <a:p>
                      <a:pPr>
                        <a:buNone/>
                      </a:pPr>
                      <a:r>
                        <a:rPr lang="en-IN" sz="2400" dirty="0"/>
                        <a:t>0</a:t>
                      </a:r>
                    </a:p>
                  </a:txBody>
                  <a:tcPr anchor="ctr"/>
                </a:tc>
                <a:tc>
                  <a:txBody>
                    <a:bodyPr/>
                    <a:lstStyle/>
                    <a:p>
                      <a:pPr>
                        <a:buNone/>
                      </a:pPr>
                      <a:r>
                        <a:rPr lang="en-IN" sz="2400" dirty="0"/>
                        <a:t>root</a:t>
                      </a:r>
                    </a:p>
                  </a:txBody>
                  <a:tcPr anchor="ctr"/>
                </a:tc>
                <a:tc>
                  <a:txBody>
                    <a:bodyPr/>
                    <a:lstStyle/>
                    <a:p>
                      <a:pPr>
                        <a:buNone/>
                      </a:pPr>
                      <a:r>
                        <a:rPr lang="en-IN" sz="2400" dirty="0"/>
                        <a:t>No</a:t>
                      </a:r>
                    </a:p>
                  </a:txBody>
                  <a:tcPr anchor="ctr"/>
                </a:tc>
                <a:extLst>
                  <a:ext uri="{0D108BD9-81ED-4DB2-BD59-A6C34878D82A}">
                    <a16:rowId xmlns:a16="http://schemas.microsoft.com/office/drawing/2014/main" val="4118169123"/>
                  </a:ext>
                </a:extLst>
              </a:tr>
              <a:tr h="526214">
                <a:tc>
                  <a:txBody>
                    <a:bodyPr/>
                    <a:lstStyle/>
                    <a:p>
                      <a:pPr>
                        <a:buNone/>
                      </a:pPr>
                      <a:r>
                        <a:rPr lang="en-IN" sz="2400"/>
                        <a:t>1</a:t>
                      </a:r>
                    </a:p>
                  </a:txBody>
                  <a:tcPr anchor="ctr"/>
                </a:tc>
                <a:tc>
                  <a:txBody>
                    <a:bodyPr/>
                    <a:lstStyle/>
                    <a:p>
                      <a:pPr>
                        <a:buNone/>
                      </a:pPr>
                      <a:r>
                        <a:rPr lang="en-IN" sz="2400" dirty="0"/>
                        <a:t>h</a:t>
                      </a:r>
                    </a:p>
                  </a:txBody>
                  <a:tcPr anchor="ctr"/>
                </a:tc>
                <a:tc>
                  <a:txBody>
                    <a:bodyPr/>
                    <a:lstStyle/>
                    <a:p>
                      <a:pPr>
                        <a:buNone/>
                      </a:pPr>
                      <a:r>
                        <a:rPr lang="en-IN" sz="2400"/>
                        <a:t>No</a:t>
                      </a:r>
                    </a:p>
                  </a:txBody>
                  <a:tcPr anchor="ctr"/>
                </a:tc>
                <a:extLst>
                  <a:ext uri="{0D108BD9-81ED-4DB2-BD59-A6C34878D82A}">
                    <a16:rowId xmlns:a16="http://schemas.microsoft.com/office/drawing/2014/main" val="1000473999"/>
                  </a:ext>
                </a:extLst>
              </a:tr>
              <a:tr h="526214">
                <a:tc>
                  <a:txBody>
                    <a:bodyPr/>
                    <a:lstStyle/>
                    <a:p>
                      <a:pPr>
                        <a:buNone/>
                      </a:pPr>
                      <a:r>
                        <a:rPr lang="en-IN" sz="2400"/>
                        <a:t>2</a:t>
                      </a:r>
                    </a:p>
                  </a:txBody>
                  <a:tcPr anchor="ctr"/>
                </a:tc>
                <a:tc>
                  <a:txBody>
                    <a:bodyPr/>
                    <a:lstStyle/>
                    <a:p>
                      <a:pPr>
                        <a:buNone/>
                      </a:pPr>
                      <a:r>
                        <a:rPr lang="en-IN" sz="2400"/>
                        <a:t>he</a:t>
                      </a:r>
                    </a:p>
                  </a:txBody>
                  <a:tcPr anchor="ctr"/>
                </a:tc>
                <a:tc>
                  <a:txBody>
                    <a:bodyPr/>
                    <a:lstStyle/>
                    <a:p>
                      <a:pPr>
                        <a:buNone/>
                      </a:pPr>
                      <a:r>
                        <a:rPr lang="en-IN" sz="2400" dirty="0"/>
                        <a:t>Yes ("he")</a:t>
                      </a:r>
                    </a:p>
                  </a:txBody>
                  <a:tcPr anchor="ctr"/>
                </a:tc>
                <a:extLst>
                  <a:ext uri="{0D108BD9-81ED-4DB2-BD59-A6C34878D82A}">
                    <a16:rowId xmlns:a16="http://schemas.microsoft.com/office/drawing/2014/main" val="2105239072"/>
                  </a:ext>
                </a:extLst>
              </a:tr>
              <a:tr h="526214">
                <a:tc>
                  <a:txBody>
                    <a:bodyPr/>
                    <a:lstStyle/>
                    <a:p>
                      <a:pPr>
                        <a:buNone/>
                      </a:pPr>
                      <a:r>
                        <a:rPr lang="en-IN" sz="2400"/>
                        <a:t>3</a:t>
                      </a:r>
                    </a:p>
                  </a:txBody>
                  <a:tcPr anchor="ctr"/>
                </a:tc>
                <a:tc>
                  <a:txBody>
                    <a:bodyPr/>
                    <a:lstStyle/>
                    <a:p>
                      <a:pPr>
                        <a:buNone/>
                      </a:pPr>
                      <a:r>
                        <a:rPr lang="en-IN" sz="2400" dirty="0"/>
                        <a:t>her</a:t>
                      </a:r>
                    </a:p>
                  </a:txBody>
                  <a:tcPr anchor="ctr"/>
                </a:tc>
                <a:tc>
                  <a:txBody>
                    <a:bodyPr/>
                    <a:lstStyle/>
                    <a:p>
                      <a:pPr>
                        <a:buNone/>
                      </a:pPr>
                      <a:r>
                        <a:rPr lang="en-IN" sz="2400" dirty="0"/>
                        <a:t>No</a:t>
                      </a:r>
                    </a:p>
                  </a:txBody>
                  <a:tcPr anchor="ctr"/>
                </a:tc>
                <a:extLst>
                  <a:ext uri="{0D108BD9-81ED-4DB2-BD59-A6C34878D82A}">
                    <a16:rowId xmlns:a16="http://schemas.microsoft.com/office/drawing/2014/main" val="2304807773"/>
                  </a:ext>
                </a:extLst>
              </a:tr>
              <a:tr h="526214">
                <a:tc>
                  <a:txBody>
                    <a:bodyPr/>
                    <a:lstStyle/>
                    <a:p>
                      <a:pPr>
                        <a:buNone/>
                      </a:pPr>
                      <a:r>
                        <a:rPr lang="en-IN" sz="2400"/>
                        <a:t>4</a:t>
                      </a:r>
                    </a:p>
                  </a:txBody>
                  <a:tcPr anchor="ctr"/>
                </a:tc>
                <a:tc>
                  <a:txBody>
                    <a:bodyPr/>
                    <a:lstStyle/>
                    <a:p>
                      <a:pPr>
                        <a:buNone/>
                      </a:pPr>
                      <a:r>
                        <a:rPr lang="en-IN" sz="2400" dirty="0"/>
                        <a:t>Hers</a:t>
                      </a:r>
                    </a:p>
                  </a:txBody>
                  <a:tcPr anchor="ctr"/>
                </a:tc>
                <a:tc>
                  <a:txBody>
                    <a:bodyPr/>
                    <a:lstStyle/>
                    <a:p>
                      <a:pPr>
                        <a:buNone/>
                      </a:pPr>
                      <a:r>
                        <a:rPr lang="en-IN" sz="2400" dirty="0"/>
                        <a:t>Yes ("hers")</a:t>
                      </a:r>
                    </a:p>
                  </a:txBody>
                  <a:tcPr anchor="ctr"/>
                </a:tc>
                <a:extLst>
                  <a:ext uri="{0D108BD9-81ED-4DB2-BD59-A6C34878D82A}">
                    <a16:rowId xmlns:a16="http://schemas.microsoft.com/office/drawing/2014/main" val="4172531869"/>
                  </a:ext>
                </a:extLst>
              </a:tr>
              <a:tr h="526214">
                <a:tc>
                  <a:txBody>
                    <a:bodyPr/>
                    <a:lstStyle/>
                    <a:p>
                      <a:pPr>
                        <a:buNone/>
                      </a:pPr>
                      <a:r>
                        <a:rPr lang="en-IN" sz="2400"/>
                        <a:t>5</a:t>
                      </a:r>
                    </a:p>
                  </a:txBody>
                  <a:tcPr anchor="ctr"/>
                </a:tc>
                <a:tc>
                  <a:txBody>
                    <a:bodyPr/>
                    <a:lstStyle/>
                    <a:p>
                      <a:pPr>
                        <a:buNone/>
                      </a:pPr>
                      <a:r>
                        <a:rPr lang="en-IN" sz="2400" dirty="0"/>
                        <a:t>Hi</a:t>
                      </a:r>
                    </a:p>
                  </a:txBody>
                  <a:tcPr anchor="ctr"/>
                </a:tc>
                <a:tc>
                  <a:txBody>
                    <a:bodyPr/>
                    <a:lstStyle/>
                    <a:p>
                      <a:pPr>
                        <a:buNone/>
                      </a:pPr>
                      <a:r>
                        <a:rPr lang="en-IN" sz="2400" dirty="0"/>
                        <a:t>No</a:t>
                      </a:r>
                    </a:p>
                  </a:txBody>
                  <a:tcPr anchor="ctr"/>
                </a:tc>
                <a:extLst>
                  <a:ext uri="{0D108BD9-81ED-4DB2-BD59-A6C34878D82A}">
                    <a16:rowId xmlns:a16="http://schemas.microsoft.com/office/drawing/2014/main" val="2307408093"/>
                  </a:ext>
                </a:extLst>
              </a:tr>
              <a:tr h="526214">
                <a:tc>
                  <a:txBody>
                    <a:bodyPr/>
                    <a:lstStyle/>
                    <a:p>
                      <a:pPr>
                        <a:buNone/>
                      </a:pPr>
                      <a:r>
                        <a:rPr lang="en-IN" sz="2400"/>
                        <a:t>6</a:t>
                      </a:r>
                    </a:p>
                  </a:txBody>
                  <a:tcPr anchor="ctr"/>
                </a:tc>
                <a:tc>
                  <a:txBody>
                    <a:bodyPr/>
                    <a:lstStyle/>
                    <a:p>
                      <a:pPr>
                        <a:buNone/>
                      </a:pPr>
                      <a:r>
                        <a:rPr lang="en-IN" sz="2400" dirty="0"/>
                        <a:t>His</a:t>
                      </a:r>
                    </a:p>
                  </a:txBody>
                  <a:tcPr anchor="ctr"/>
                </a:tc>
                <a:tc>
                  <a:txBody>
                    <a:bodyPr/>
                    <a:lstStyle/>
                    <a:p>
                      <a:pPr>
                        <a:buNone/>
                      </a:pPr>
                      <a:r>
                        <a:rPr lang="en-IN" sz="2400" dirty="0"/>
                        <a:t>Yes ("his")</a:t>
                      </a:r>
                    </a:p>
                  </a:txBody>
                  <a:tcPr anchor="ctr"/>
                </a:tc>
                <a:extLst>
                  <a:ext uri="{0D108BD9-81ED-4DB2-BD59-A6C34878D82A}">
                    <a16:rowId xmlns:a16="http://schemas.microsoft.com/office/drawing/2014/main" val="1843280191"/>
                  </a:ext>
                </a:extLst>
              </a:tr>
              <a:tr h="526214">
                <a:tc>
                  <a:txBody>
                    <a:bodyPr/>
                    <a:lstStyle/>
                    <a:p>
                      <a:pPr>
                        <a:buNone/>
                      </a:pPr>
                      <a:r>
                        <a:rPr lang="en-IN" sz="2400"/>
                        <a:t>7</a:t>
                      </a:r>
                    </a:p>
                  </a:txBody>
                  <a:tcPr anchor="ctr"/>
                </a:tc>
                <a:tc>
                  <a:txBody>
                    <a:bodyPr/>
                    <a:lstStyle/>
                    <a:p>
                      <a:pPr>
                        <a:buNone/>
                      </a:pPr>
                      <a:r>
                        <a:rPr lang="en-IN" sz="2400" dirty="0"/>
                        <a:t>S</a:t>
                      </a:r>
                    </a:p>
                  </a:txBody>
                  <a:tcPr anchor="ctr"/>
                </a:tc>
                <a:tc>
                  <a:txBody>
                    <a:bodyPr/>
                    <a:lstStyle/>
                    <a:p>
                      <a:pPr>
                        <a:buNone/>
                      </a:pPr>
                      <a:r>
                        <a:rPr lang="en-IN" sz="2400" dirty="0"/>
                        <a:t>No</a:t>
                      </a:r>
                    </a:p>
                  </a:txBody>
                  <a:tcPr anchor="ctr"/>
                </a:tc>
                <a:extLst>
                  <a:ext uri="{0D108BD9-81ED-4DB2-BD59-A6C34878D82A}">
                    <a16:rowId xmlns:a16="http://schemas.microsoft.com/office/drawing/2014/main" val="970808228"/>
                  </a:ext>
                </a:extLst>
              </a:tr>
              <a:tr h="526214">
                <a:tc>
                  <a:txBody>
                    <a:bodyPr/>
                    <a:lstStyle/>
                    <a:p>
                      <a:pPr>
                        <a:buNone/>
                      </a:pPr>
                      <a:r>
                        <a:rPr lang="en-IN" sz="2400"/>
                        <a:t>8</a:t>
                      </a:r>
                    </a:p>
                  </a:txBody>
                  <a:tcPr anchor="ctr"/>
                </a:tc>
                <a:tc>
                  <a:txBody>
                    <a:bodyPr/>
                    <a:lstStyle/>
                    <a:p>
                      <a:pPr>
                        <a:buNone/>
                      </a:pPr>
                      <a:r>
                        <a:rPr lang="en-IN" sz="2400" dirty="0" err="1"/>
                        <a:t>Sh</a:t>
                      </a:r>
                      <a:endParaRPr lang="en-IN" sz="2400" dirty="0"/>
                    </a:p>
                  </a:txBody>
                  <a:tcPr anchor="ctr"/>
                </a:tc>
                <a:tc>
                  <a:txBody>
                    <a:bodyPr/>
                    <a:lstStyle/>
                    <a:p>
                      <a:pPr>
                        <a:buNone/>
                      </a:pPr>
                      <a:r>
                        <a:rPr lang="en-IN" sz="2400" dirty="0"/>
                        <a:t>No</a:t>
                      </a:r>
                    </a:p>
                  </a:txBody>
                  <a:tcPr anchor="ctr"/>
                </a:tc>
                <a:extLst>
                  <a:ext uri="{0D108BD9-81ED-4DB2-BD59-A6C34878D82A}">
                    <a16:rowId xmlns:a16="http://schemas.microsoft.com/office/drawing/2014/main" val="2711933520"/>
                  </a:ext>
                </a:extLst>
              </a:tr>
              <a:tr h="526214">
                <a:tc>
                  <a:txBody>
                    <a:bodyPr/>
                    <a:lstStyle/>
                    <a:p>
                      <a:pPr>
                        <a:buNone/>
                      </a:pPr>
                      <a:r>
                        <a:rPr lang="en-IN" sz="2400"/>
                        <a:t>9</a:t>
                      </a:r>
                    </a:p>
                  </a:txBody>
                  <a:tcPr anchor="ctr"/>
                </a:tc>
                <a:tc>
                  <a:txBody>
                    <a:bodyPr/>
                    <a:lstStyle/>
                    <a:p>
                      <a:pPr>
                        <a:buNone/>
                      </a:pPr>
                      <a:r>
                        <a:rPr lang="en-IN" sz="2400" dirty="0"/>
                        <a:t>She</a:t>
                      </a:r>
                    </a:p>
                  </a:txBody>
                  <a:tcPr anchor="ctr"/>
                </a:tc>
                <a:tc>
                  <a:txBody>
                    <a:bodyPr/>
                    <a:lstStyle/>
                    <a:p>
                      <a:pPr>
                        <a:buNone/>
                      </a:pPr>
                      <a:r>
                        <a:rPr lang="en-IN" sz="2400" dirty="0"/>
                        <a:t>Yes ("she")</a:t>
                      </a:r>
                    </a:p>
                  </a:txBody>
                  <a:tcPr anchor="ctr"/>
                </a:tc>
                <a:extLst>
                  <a:ext uri="{0D108BD9-81ED-4DB2-BD59-A6C34878D82A}">
                    <a16:rowId xmlns:a16="http://schemas.microsoft.com/office/drawing/2014/main" val="3775293793"/>
                  </a:ext>
                </a:extLst>
              </a:tr>
            </a:tbl>
          </a:graphicData>
        </a:graphic>
      </p:graphicFrame>
      <p:pic>
        <p:nvPicPr>
          <p:cNvPr id="18" name="Picture 17">
            <a:extLst>
              <a:ext uri="{FF2B5EF4-FFF2-40B4-BE49-F238E27FC236}">
                <a16:creationId xmlns:a16="http://schemas.microsoft.com/office/drawing/2014/main" id="{27564BDB-D0C7-5E46-FAC3-A6ABA426D579}"/>
              </a:ext>
            </a:extLst>
          </p:cNvPr>
          <p:cNvPicPr>
            <a:picLocks noChangeAspect="1"/>
          </p:cNvPicPr>
          <p:nvPr/>
        </p:nvPicPr>
        <p:blipFill>
          <a:blip r:embed="rId3"/>
          <a:srcRect l="14688" t="9641" r="28906" b="18641"/>
          <a:stretch>
            <a:fillRect/>
          </a:stretch>
        </p:blipFill>
        <p:spPr>
          <a:xfrm>
            <a:off x="140208" y="2679918"/>
            <a:ext cx="5556504" cy="3848898"/>
          </a:xfrm>
          <a:prstGeom prst="rect">
            <a:avLst/>
          </a:prstGeom>
          <a:ln>
            <a:solidFill>
              <a:srgbClr val="C00000"/>
            </a:solidFill>
          </a:ln>
        </p:spPr>
      </p:pic>
    </p:spTree>
    <p:extLst>
      <p:ext uri="{BB962C8B-B14F-4D97-AF65-F5344CB8AC3E}">
        <p14:creationId xmlns:p14="http://schemas.microsoft.com/office/powerpoint/2010/main" val="30769236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433B905-117D-DC54-431A-76DA7D28E062}"/>
              </a:ext>
            </a:extLst>
          </p:cNvPr>
          <p:cNvSpPr>
            <a:spLocks noGrp="1"/>
          </p:cNvSpPr>
          <p:nvPr>
            <p:ph type="ftr" sz="quarter" idx="11"/>
          </p:nvPr>
        </p:nvSpPr>
        <p:spPr/>
        <p:txBody>
          <a:bodyPr/>
          <a:lstStyle/>
          <a:p>
            <a:r>
              <a:rPr lang="en-AU"/>
              <a:t>DSA-3 </a:t>
            </a:r>
          </a:p>
        </p:txBody>
      </p:sp>
      <p:sp>
        <p:nvSpPr>
          <p:cNvPr id="5" name="Slide Number Placeholder 4">
            <a:extLst>
              <a:ext uri="{FF2B5EF4-FFF2-40B4-BE49-F238E27FC236}">
                <a16:creationId xmlns:a16="http://schemas.microsoft.com/office/drawing/2014/main" id="{73FCFA21-37DD-E7B8-DF32-53B10DF9024C}"/>
              </a:ext>
            </a:extLst>
          </p:cNvPr>
          <p:cNvSpPr>
            <a:spLocks noGrp="1"/>
          </p:cNvSpPr>
          <p:nvPr>
            <p:ph type="sldNum" sz="quarter" idx="12"/>
          </p:nvPr>
        </p:nvSpPr>
        <p:spPr/>
        <p:txBody>
          <a:bodyPr/>
          <a:lstStyle/>
          <a:p>
            <a:fld id="{68187FF5-4BF9-4B21-B0D2-9B7FF2B27D7F}" type="slidenum">
              <a:rPr lang="en-AU" smtClean="0"/>
              <a:pPr/>
              <a:t>122</a:t>
            </a:fld>
            <a:endParaRPr lang="en-AU"/>
          </a:p>
        </p:txBody>
      </p:sp>
      <p:pic>
        <p:nvPicPr>
          <p:cNvPr id="7" name="Picture 6">
            <a:extLst>
              <a:ext uri="{FF2B5EF4-FFF2-40B4-BE49-F238E27FC236}">
                <a16:creationId xmlns:a16="http://schemas.microsoft.com/office/drawing/2014/main" id="{5F8B6CA3-272C-6A05-2982-1877555442B2}"/>
              </a:ext>
            </a:extLst>
          </p:cNvPr>
          <p:cNvPicPr>
            <a:picLocks noChangeAspect="1"/>
          </p:cNvPicPr>
          <p:nvPr/>
        </p:nvPicPr>
        <p:blipFill>
          <a:blip r:embed="rId2"/>
          <a:srcRect l="14688" t="9641" r="28906" b="18641"/>
          <a:stretch>
            <a:fillRect/>
          </a:stretch>
        </p:blipFill>
        <p:spPr>
          <a:xfrm>
            <a:off x="746206" y="824815"/>
            <a:ext cx="10254996" cy="5562236"/>
          </a:xfrm>
          <a:prstGeom prst="rect">
            <a:avLst/>
          </a:prstGeom>
          <a:ln>
            <a:solidFill>
              <a:srgbClr val="C00000"/>
            </a:solidFill>
          </a:ln>
        </p:spPr>
      </p:pic>
      <p:sp>
        <p:nvSpPr>
          <p:cNvPr id="10" name="TextBox 9">
            <a:extLst>
              <a:ext uri="{FF2B5EF4-FFF2-40B4-BE49-F238E27FC236}">
                <a16:creationId xmlns:a16="http://schemas.microsoft.com/office/drawing/2014/main" id="{80307ED4-867F-B525-123A-9F1293D37FAD}"/>
              </a:ext>
            </a:extLst>
          </p:cNvPr>
          <p:cNvSpPr txBox="1"/>
          <p:nvPr/>
        </p:nvSpPr>
        <p:spPr>
          <a:xfrm>
            <a:off x="5079492" y="947926"/>
            <a:ext cx="777240" cy="523220"/>
          </a:xfrm>
          <a:prstGeom prst="rect">
            <a:avLst/>
          </a:prstGeom>
          <a:noFill/>
        </p:spPr>
        <p:txBody>
          <a:bodyPr wrap="square" rtlCol="0">
            <a:spAutoFit/>
          </a:bodyPr>
          <a:lstStyle/>
          <a:p>
            <a:r>
              <a:rPr lang="en-US" sz="2800" b="1" dirty="0">
                <a:solidFill>
                  <a:srgbClr val="FF0000"/>
                </a:solidFill>
              </a:rPr>
              <a:t>0</a:t>
            </a:r>
            <a:endParaRPr lang="en-IN" sz="2800" b="1" dirty="0">
              <a:solidFill>
                <a:srgbClr val="FF0000"/>
              </a:solidFill>
            </a:endParaRPr>
          </a:p>
        </p:txBody>
      </p:sp>
      <p:sp>
        <p:nvSpPr>
          <p:cNvPr id="27" name="TextBox 26">
            <a:extLst>
              <a:ext uri="{FF2B5EF4-FFF2-40B4-BE49-F238E27FC236}">
                <a16:creationId xmlns:a16="http://schemas.microsoft.com/office/drawing/2014/main" id="{1BA13B72-73D1-17FE-D0F4-DCC0F720D1C3}"/>
              </a:ext>
            </a:extLst>
          </p:cNvPr>
          <p:cNvSpPr txBox="1"/>
          <p:nvPr/>
        </p:nvSpPr>
        <p:spPr>
          <a:xfrm>
            <a:off x="3538728" y="178484"/>
            <a:ext cx="3858768" cy="646331"/>
          </a:xfrm>
          <a:prstGeom prst="rect">
            <a:avLst/>
          </a:prstGeom>
          <a:noFill/>
        </p:spPr>
        <p:txBody>
          <a:bodyPr wrap="square" rtlCol="0">
            <a:spAutoFit/>
          </a:bodyPr>
          <a:lstStyle/>
          <a:p>
            <a:pPr algn="ctr"/>
            <a:r>
              <a:rPr lang="en-US" sz="3600" b="1" dirty="0">
                <a:solidFill>
                  <a:srgbClr val="1E03BD"/>
                </a:solidFill>
              </a:rPr>
              <a:t>Failure Function</a:t>
            </a:r>
            <a:endParaRPr lang="en-IN" sz="3600" b="1" dirty="0">
              <a:solidFill>
                <a:srgbClr val="1E03BD"/>
              </a:solidFill>
            </a:endParaRPr>
          </a:p>
        </p:txBody>
      </p:sp>
    </p:spTree>
    <p:extLst>
      <p:ext uri="{BB962C8B-B14F-4D97-AF65-F5344CB8AC3E}">
        <p14:creationId xmlns:p14="http://schemas.microsoft.com/office/powerpoint/2010/main" val="13983729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C8D5F-4B47-317E-B271-ED5C55816D49}"/>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1CCE8467-51BF-2E19-DED8-D16D68513214}"/>
              </a:ext>
            </a:extLst>
          </p:cNvPr>
          <p:cNvSpPr>
            <a:spLocks noGrp="1"/>
          </p:cNvSpPr>
          <p:nvPr>
            <p:ph type="ftr" sz="quarter" idx="11"/>
          </p:nvPr>
        </p:nvSpPr>
        <p:spPr/>
        <p:txBody>
          <a:bodyPr/>
          <a:lstStyle/>
          <a:p>
            <a:r>
              <a:rPr lang="en-AU"/>
              <a:t>DSA-3 </a:t>
            </a:r>
          </a:p>
        </p:txBody>
      </p:sp>
      <p:sp>
        <p:nvSpPr>
          <p:cNvPr id="5" name="Slide Number Placeholder 4">
            <a:extLst>
              <a:ext uri="{FF2B5EF4-FFF2-40B4-BE49-F238E27FC236}">
                <a16:creationId xmlns:a16="http://schemas.microsoft.com/office/drawing/2014/main" id="{9B016F1F-00DE-51CB-F302-05BAA93F160E}"/>
              </a:ext>
            </a:extLst>
          </p:cNvPr>
          <p:cNvSpPr>
            <a:spLocks noGrp="1"/>
          </p:cNvSpPr>
          <p:nvPr>
            <p:ph type="sldNum" sz="quarter" idx="12"/>
          </p:nvPr>
        </p:nvSpPr>
        <p:spPr/>
        <p:txBody>
          <a:bodyPr/>
          <a:lstStyle/>
          <a:p>
            <a:fld id="{68187FF5-4BF9-4B21-B0D2-9B7FF2B27D7F}" type="slidenum">
              <a:rPr lang="en-AU" smtClean="0"/>
              <a:pPr/>
              <a:t>123</a:t>
            </a:fld>
            <a:endParaRPr lang="en-AU"/>
          </a:p>
        </p:txBody>
      </p:sp>
      <p:pic>
        <p:nvPicPr>
          <p:cNvPr id="7" name="Picture 6">
            <a:extLst>
              <a:ext uri="{FF2B5EF4-FFF2-40B4-BE49-F238E27FC236}">
                <a16:creationId xmlns:a16="http://schemas.microsoft.com/office/drawing/2014/main" id="{016F42DF-2227-3FA3-1BA1-C2E5F5DC1DF8}"/>
              </a:ext>
            </a:extLst>
          </p:cNvPr>
          <p:cNvPicPr>
            <a:picLocks noChangeAspect="1"/>
          </p:cNvPicPr>
          <p:nvPr/>
        </p:nvPicPr>
        <p:blipFill>
          <a:blip r:embed="rId2"/>
          <a:srcRect l="14688" t="9641" r="28906" b="18641"/>
          <a:stretch>
            <a:fillRect/>
          </a:stretch>
        </p:blipFill>
        <p:spPr>
          <a:xfrm>
            <a:off x="1684712" y="1340640"/>
            <a:ext cx="9745287" cy="5015710"/>
          </a:xfrm>
          <a:prstGeom prst="rect">
            <a:avLst/>
          </a:prstGeom>
          <a:ln>
            <a:solidFill>
              <a:srgbClr val="C00000"/>
            </a:solidFill>
          </a:ln>
        </p:spPr>
      </p:pic>
      <p:sp>
        <p:nvSpPr>
          <p:cNvPr id="10" name="TextBox 9">
            <a:extLst>
              <a:ext uri="{FF2B5EF4-FFF2-40B4-BE49-F238E27FC236}">
                <a16:creationId xmlns:a16="http://schemas.microsoft.com/office/drawing/2014/main" id="{C6F9527E-B640-FECE-D5A0-12775FAE4B5B}"/>
              </a:ext>
            </a:extLst>
          </p:cNvPr>
          <p:cNvSpPr txBox="1"/>
          <p:nvPr/>
        </p:nvSpPr>
        <p:spPr>
          <a:xfrm>
            <a:off x="5827776" y="1487424"/>
            <a:ext cx="926592" cy="523220"/>
          </a:xfrm>
          <a:prstGeom prst="rect">
            <a:avLst/>
          </a:prstGeom>
          <a:noFill/>
        </p:spPr>
        <p:txBody>
          <a:bodyPr wrap="square" rtlCol="0">
            <a:spAutoFit/>
          </a:bodyPr>
          <a:lstStyle/>
          <a:p>
            <a:r>
              <a:rPr lang="en-US" sz="2800" b="1" dirty="0">
                <a:solidFill>
                  <a:srgbClr val="FF0000"/>
                </a:solidFill>
              </a:rPr>
              <a:t>0</a:t>
            </a:r>
            <a:endParaRPr lang="en-IN" sz="2800" b="1" dirty="0">
              <a:solidFill>
                <a:srgbClr val="FF0000"/>
              </a:solidFill>
            </a:endParaRPr>
          </a:p>
        </p:txBody>
      </p:sp>
      <p:sp>
        <p:nvSpPr>
          <p:cNvPr id="14" name="TextBox 13">
            <a:extLst>
              <a:ext uri="{FF2B5EF4-FFF2-40B4-BE49-F238E27FC236}">
                <a16:creationId xmlns:a16="http://schemas.microsoft.com/office/drawing/2014/main" id="{4EF6D8C8-FDEA-F6AB-14C4-1A4FD0CD2A27}"/>
              </a:ext>
            </a:extLst>
          </p:cNvPr>
          <p:cNvSpPr txBox="1"/>
          <p:nvPr/>
        </p:nvSpPr>
        <p:spPr>
          <a:xfrm>
            <a:off x="2724912" y="2344436"/>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27" name="TextBox 26">
            <a:extLst>
              <a:ext uri="{FF2B5EF4-FFF2-40B4-BE49-F238E27FC236}">
                <a16:creationId xmlns:a16="http://schemas.microsoft.com/office/drawing/2014/main" id="{D690E783-1843-2822-609A-639BB0B8AA4B}"/>
              </a:ext>
            </a:extLst>
          </p:cNvPr>
          <p:cNvSpPr txBox="1"/>
          <p:nvPr/>
        </p:nvSpPr>
        <p:spPr>
          <a:xfrm>
            <a:off x="3547872" y="438388"/>
            <a:ext cx="3858768" cy="646331"/>
          </a:xfrm>
          <a:prstGeom prst="rect">
            <a:avLst/>
          </a:prstGeom>
          <a:noFill/>
        </p:spPr>
        <p:txBody>
          <a:bodyPr wrap="square" rtlCol="0">
            <a:spAutoFit/>
          </a:bodyPr>
          <a:lstStyle/>
          <a:p>
            <a:pPr algn="ctr"/>
            <a:r>
              <a:rPr lang="en-US" sz="3600" b="1" dirty="0">
                <a:solidFill>
                  <a:srgbClr val="1E03BD"/>
                </a:solidFill>
              </a:rPr>
              <a:t>Failure Function</a:t>
            </a:r>
            <a:endParaRPr lang="en-IN" sz="3600" b="1" dirty="0">
              <a:solidFill>
                <a:srgbClr val="1E03BD"/>
              </a:solidFill>
            </a:endParaRPr>
          </a:p>
        </p:txBody>
      </p:sp>
    </p:spTree>
    <p:extLst>
      <p:ext uri="{BB962C8B-B14F-4D97-AF65-F5344CB8AC3E}">
        <p14:creationId xmlns:p14="http://schemas.microsoft.com/office/powerpoint/2010/main" val="57604990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AB2AA-2283-5175-4247-9898F957A652}"/>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8E26391E-1634-F68F-5FE0-48D2A4EA5DD5}"/>
              </a:ext>
            </a:extLst>
          </p:cNvPr>
          <p:cNvSpPr>
            <a:spLocks noGrp="1"/>
          </p:cNvSpPr>
          <p:nvPr>
            <p:ph type="ftr" sz="quarter" idx="11"/>
          </p:nvPr>
        </p:nvSpPr>
        <p:spPr/>
        <p:txBody>
          <a:bodyPr/>
          <a:lstStyle/>
          <a:p>
            <a:r>
              <a:rPr lang="en-AU"/>
              <a:t>DSA-3 </a:t>
            </a:r>
          </a:p>
        </p:txBody>
      </p:sp>
      <p:sp>
        <p:nvSpPr>
          <p:cNvPr id="5" name="Slide Number Placeholder 4">
            <a:extLst>
              <a:ext uri="{FF2B5EF4-FFF2-40B4-BE49-F238E27FC236}">
                <a16:creationId xmlns:a16="http://schemas.microsoft.com/office/drawing/2014/main" id="{D965E9A0-8D11-7533-5A2C-AE831B1B852F}"/>
              </a:ext>
            </a:extLst>
          </p:cNvPr>
          <p:cNvSpPr>
            <a:spLocks noGrp="1"/>
          </p:cNvSpPr>
          <p:nvPr>
            <p:ph type="sldNum" sz="quarter" idx="12"/>
          </p:nvPr>
        </p:nvSpPr>
        <p:spPr/>
        <p:txBody>
          <a:bodyPr/>
          <a:lstStyle/>
          <a:p>
            <a:fld id="{68187FF5-4BF9-4B21-B0D2-9B7FF2B27D7F}" type="slidenum">
              <a:rPr lang="en-AU" smtClean="0"/>
              <a:pPr/>
              <a:t>124</a:t>
            </a:fld>
            <a:endParaRPr lang="en-AU"/>
          </a:p>
        </p:txBody>
      </p:sp>
      <p:pic>
        <p:nvPicPr>
          <p:cNvPr id="7" name="Picture 6">
            <a:extLst>
              <a:ext uri="{FF2B5EF4-FFF2-40B4-BE49-F238E27FC236}">
                <a16:creationId xmlns:a16="http://schemas.microsoft.com/office/drawing/2014/main" id="{3C25DF49-062B-3AC1-312C-43A8EAB04932}"/>
              </a:ext>
            </a:extLst>
          </p:cNvPr>
          <p:cNvPicPr>
            <a:picLocks noChangeAspect="1"/>
          </p:cNvPicPr>
          <p:nvPr/>
        </p:nvPicPr>
        <p:blipFill>
          <a:blip r:embed="rId2"/>
          <a:srcRect l="14688" t="9641" r="28906" b="18641"/>
          <a:stretch>
            <a:fillRect/>
          </a:stretch>
        </p:blipFill>
        <p:spPr>
          <a:xfrm>
            <a:off x="727502" y="1416610"/>
            <a:ext cx="10412938" cy="5015710"/>
          </a:xfrm>
          <a:prstGeom prst="rect">
            <a:avLst/>
          </a:prstGeom>
          <a:ln>
            <a:solidFill>
              <a:srgbClr val="C00000"/>
            </a:solidFill>
          </a:ln>
        </p:spPr>
      </p:pic>
      <p:sp>
        <p:nvSpPr>
          <p:cNvPr id="10" name="TextBox 9">
            <a:extLst>
              <a:ext uri="{FF2B5EF4-FFF2-40B4-BE49-F238E27FC236}">
                <a16:creationId xmlns:a16="http://schemas.microsoft.com/office/drawing/2014/main" id="{3C10A9D8-1A0F-6CF6-CDF5-5953AF786507}"/>
              </a:ext>
            </a:extLst>
          </p:cNvPr>
          <p:cNvSpPr txBox="1"/>
          <p:nvPr/>
        </p:nvSpPr>
        <p:spPr>
          <a:xfrm>
            <a:off x="5209447" y="1430028"/>
            <a:ext cx="926592" cy="523220"/>
          </a:xfrm>
          <a:prstGeom prst="rect">
            <a:avLst/>
          </a:prstGeom>
          <a:noFill/>
        </p:spPr>
        <p:txBody>
          <a:bodyPr wrap="square" rtlCol="0">
            <a:spAutoFit/>
          </a:bodyPr>
          <a:lstStyle/>
          <a:p>
            <a:r>
              <a:rPr lang="en-US" sz="2800" b="1" dirty="0">
                <a:solidFill>
                  <a:srgbClr val="FF0000"/>
                </a:solidFill>
              </a:rPr>
              <a:t>0</a:t>
            </a:r>
            <a:endParaRPr lang="en-IN" sz="2800" b="1" dirty="0">
              <a:solidFill>
                <a:srgbClr val="FF0000"/>
              </a:solidFill>
            </a:endParaRPr>
          </a:p>
        </p:txBody>
      </p:sp>
      <p:sp>
        <p:nvSpPr>
          <p:cNvPr id="12" name="TextBox 11">
            <a:extLst>
              <a:ext uri="{FF2B5EF4-FFF2-40B4-BE49-F238E27FC236}">
                <a16:creationId xmlns:a16="http://schemas.microsoft.com/office/drawing/2014/main" id="{DD717ECD-58F2-77CF-D4B4-0A92D24EE889}"/>
              </a:ext>
            </a:extLst>
          </p:cNvPr>
          <p:cNvSpPr txBox="1"/>
          <p:nvPr/>
        </p:nvSpPr>
        <p:spPr>
          <a:xfrm>
            <a:off x="2161032" y="2152515"/>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27" name="TextBox 26">
            <a:extLst>
              <a:ext uri="{FF2B5EF4-FFF2-40B4-BE49-F238E27FC236}">
                <a16:creationId xmlns:a16="http://schemas.microsoft.com/office/drawing/2014/main" id="{2CAB6CE7-16C4-D40C-8308-704AF27ACD58}"/>
              </a:ext>
            </a:extLst>
          </p:cNvPr>
          <p:cNvSpPr txBox="1"/>
          <p:nvPr/>
        </p:nvSpPr>
        <p:spPr>
          <a:xfrm>
            <a:off x="3547872" y="438388"/>
            <a:ext cx="3858768" cy="646331"/>
          </a:xfrm>
          <a:prstGeom prst="rect">
            <a:avLst/>
          </a:prstGeom>
          <a:noFill/>
        </p:spPr>
        <p:txBody>
          <a:bodyPr wrap="square" rtlCol="0">
            <a:spAutoFit/>
          </a:bodyPr>
          <a:lstStyle/>
          <a:p>
            <a:pPr algn="ctr"/>
            <a:r>
              <a:rPr lang="en-US" sz="3600" b="1" dirty="0">
                <a:solidFill>
                  <a:srgbClr val="1E03BD"/>
                </a:solidFill>
              </a:rPr>
              <a:t>Failure Function</a:t>
            </a:r>
            <a:endParaRPr lang="en-IN" sz="3600" b="1" dirty="0">
              <a:solidFill>
                <a:srgbClr val="1E03BD"/>
              </a:solidFill>
            </a:endParaRPr>
          </a:p>
        </p:txBody>
      </p:sp>
      <p:sp>
        <p:nvSpPr>
          <p:cNvPr id="3" name="TextBox 2">
            <a:extLst>
              <a:ext uri="{FF2B5EF4-FFF2-40B4-BE49-F238E27FC236}">
                <a16:creationId xmlns:a16="http://schemas.microsoft.com/office/drawing/2014/main" id="{1B06A383-95A3-04A2-17E0-9D4E8FE5DC62}"/>
              </a:ext>
            </a:extLst>
          </p:cNvPr>
          <p:cNvSpPr txBox="1"/>
          <p:nvPr/>
        </p:nvSpPr>
        <p:spPr>
          <a:xfrm>
            <a:off x="10808208" y="2174478"/>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Tree>
    <p:extLst>
      <p:ext uri="{BB962C8B-B14F-4D97-AF65-F5344CB8AC3E}">
        <p14:creationId xmlns:p14="http://schemas.microsoft.com/office/powerpoint/2010/main" val="53426586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8E26E-9E2E-BA21-46E5-7D4543906BF2}"/>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F3291F8E-2FDB-B499-ACA0-D20F408949A2}"/>
              </a:ext>
            </a:extLst>
          </p:cNvPr>
          <p:cNvSpPr>
            <a:spLocks noGrp="1"/>
          </p:cNvSpPr>
          <p:nvPr>
            <p:ph type="ftr" sz="quarter" idx="11"/>
          </p:nvPr>
        </p:nvSpPr>
        <p:spPr/>
        <p:txBody>
          <a:bodyPr/>
          <a:lstStyle/>
          <a:p>
            <a:r>
              <a:rPr lang="en-AU"/>
              <a:t>DSA-3 </a:t>
            </a:r>
          </a:p>
        </p:txBody>
      </p:sp>
      <p:sp>
        <p:nvSpPr>
          <p:cNvPr id="5" name="Slide Number Placeholder 4">
            <a:extLst>
              <a:ext uri="{FF2B5EF4-FFF2-40B4-BE49-F238E27FC236}">
                <a16:creationId xmlns:a16="http://schemas.microsoft.com/office/drawing/2014/main" id="{4E0BF97F-41E4-079D-6063-74ED21097511}"/>
              </a:ext>
            </a:extLst>
          </p:cNvPr>
          <p:cNvSpPr>
            <a:spLocks noGrp="1"/>
          </p:cNvSpPr>
          <p:nvPr>
            <p:ph type="sldNum" sz="quarter" idx="12"/>
          </p:nvPr>
        </p:nvSpPr>
        <p:spPr/>
        <p:txBody>
          <a:bodyPr/>
          <a:lstStyle/>
          <a:p>
            <a:fld id="{68187FF5-4BF9-4B21-B0D2-9B7FF2B27D7F}" type="slidenum">
              <a:rPr lang="en-AU" smtClean="0"/>
              <a:pPr/>
              <a:t>125</a:t>
            </a:fld>
            <a:endParaRPr lang="en-AU"/>
          </a:p>
        </p:txBody>
      </p:sp>
      <p:pic>
        <p:nvPicPr>
          <p:cNvPr id="7" name="Picture 6">
            <a:extLst>
              <a:ext uri="{FF2B5EF4-FFF2-40B4-BE49-F238E27FC236}">
                <a16:creationId xmlns:a16="http://schemas.microsoft.com/office/drawing/2014/main" id="{6E3CC43B-E98B-E4B5-4710-480B527239A8}"/>
              </a:ext>
            </a:extLst>
          </p:cNvPr>
          <p:cNvPicPr>
            <a:picLocks noChangeAspect="1"/>
          </p:cNvPicPr>
          <p:nvPr/>
        </p:nvPicPr>
        <p:blipFill>
          <a:blip r:embed="rId2"/>
          <a:srcRect l="14688" t="9641" r="28906" b="18641"/>
          <a:stretch>
            <a:fillRect/>
          </a:stretch>
        </p:blipFill>
        <p:spPr>
          <a:xfrm>
            <a:off x="603504" y="1340640"/>
            <a:ext cx="10750296" cy="5015710"/>
          </a:xfrm>
          <a:prstGeom prst="rect">
            <a:avLst/>
          </a:prstGeom>
          <a:ln>
            <a:solidFill>
              <a:srgbClr val="C00000"/>
            </a:solidFill>
          </a:ln>
        </p:spPr>
      </p:pic>
      <p:sp>
        <p:nvSpPr>
          <p:cNvPr id="8" name="TextBox 7">
            <a:extLst>
              <a:ext uri="{FF2B5EF4-FFF2-40B4-BE49-F238E27FC236}">
                <a16:creationId xmlns:a16="http://schemas.microsoft.com/office/drawing/2014/main" id="{1F3AB374-6A89-E4B2-AF7C-A2531457D3F2}"/>
              </a:ext>
            </a:extLst>
          </p:cNvPr>
          <p:cNvSpPr txBox="1"/>
          <p:nvPr/>
        </p:nvSpPr>
        <p:spPr>
          <a:xfrm>
            <a:off x="603504" y="3058539"/>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10" name="TextBox 9">
            <a:extLst>
              <a:ext uri="{FF2B5EF4-FFF2-40B4-BE49-F238E27FC236}">
                <a16:creationId xmlns:a16="http://schemas.microsoft.com/office/drawing/2014/main" id="{5B7C38C1-02AC-3349-C3C1-6ECE538F81C6}"/>
              </a:ext>
            </a:extLst>
          </p:cNvPr>
          <p:cNvSpPr txBox="1"/>
          <p:nvPr/>
        </p:nvSpPr>
        <p:spPr>
          <a:xfrm>
            <a:off x="5312664" y="1414272"/>
            <a:ext cx="665988" cy="523220"/>
          </a:xfrm>
          <a:prstGeom prst="rect">
            <a:avLst/>
          </a:prstGeom>
          <a:noFill/>
        </p:spPr>
        <p:txBody>
          <a:bodyPr wrap="square" rtlCol="0">
            <a:spAutoFit/>
          </a:bodyPr>
          <a:lstStyle/>
          <a:p>
            <a:r>
              <a:rPr lang="en-US" sz="2800" b="1" dirty="0">
                <a:solidFill>
                  <a:srgbClr val="FF0000"/>
                </a:solidFill>
              </a:rPr>
              <a:t>0</a:t>
            </a:r>
            <a:endParaRPr lang="en-IN" sz="2800" b="1" dirty="0">
              <a:solidFill>
                <a:srgbClr val="FF0000"/>
              </a:solidFill>
            </a:endParaRPr>
          </a:p>
        </p:txBody>
      </p:sp>
      <p:sp>
        <p:nvSpPr>
          <p:cNvPr id="14" name="TextBox 13">
            <a:extLst>
              <a:ext uri="{FF2B5EF4-FFF2-40B4-BE49-F238E27FC236}">
                <a16:creationId xmlns:a16="http://schemas.microsoft.com/office/drawing/2014/main" id="{E17E0851-7FB4-A95B-56A4-0F4CCA98F248}"/>
              </a:ext>
            </a:extLst>
          </p:cNvPr>
          <p:cNvSpPr txBox="1"/>
          <p:nvPr/>
        </p:nvSpPr>
        <p:spPr>
          <a:xfrm>
            <a:off x="1865376" y="2258568"/>
            <a:ext cx="106375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27" name="TextBox 26">
            <a:extLst>
              <a:ext uri="{FF2B5EF4-FFF2-40B4-BE49-F238E27FC236}">
                <a16:creationId xmlns:a16="http://schemas.microsoft.com/office/drawing/2014/main" id="{11C27E8C-AC3B-6DB1-5360-6E16E7465708}"/>
              </a:ext>
            </a:extLst>
          </p:cNvPr>
          <p:cNvSpPr txBox="1"/>
          <p:nvPr/>
        </p:nvSpPr>
        <p:spPr>
          <a:xfrm>
            <a:off x="3547872" y="438388"/>
            <a:ext cx="3858768" cy="646331"/>
          </a:xfrm>
          <a:prstGeom prst="rect">
            <a:avLst/>
          </a:prstGeom>
          <a:noFill/>
        </p:spPr>
        <p:txBody>
          <a:bodyPr wrap="square" rtlCol="0">
            <a:spAutoFit/>
          </a:bodyPr>
          <a:lstStyle/>
          <a:p>
            <a:pPr algn="ctr"/>
            <a:r>
              <a:rPr lang="en-US" sz="3600" b="1" dirty="0">
                <a:solidFill>
                  <a:srgbClr val="1E03BD"/>
                </a:solidFill>
              </a:rPr>
              <a:t>Failure Function</a:t>
            </a:r>
            <a:endParaRPr lang="en-IN" sz="3600" b="1" dirty="0">
              <a:solidFill>
                <a:srgbClr val="1E03BD"/>
              </a:solidFill>
            </a:endParaRPr>
          </a:p>
        </p:txBody>
      </p:sp>
      <p:sp>
        <p:nvSpPr>
          <p:cNvPr id="3" name="TextBox 2">
            <a:extLst>
              <a:ext uri="{FF2B5EF4-FFF2-40B4-BE49-F238E27FC236}">
                <a16:creationId xmlns:a16="http://schemas.microsoft.com/office/drawing/2014/main" id="{2C6F4D0F-AA53-DA8A-CEFB-B0C966F3E524}"/>
              </a:ext>
            </a:extLst>
          </p:cNvPr>
          <p:cNvSpPr txBox="1"/>
          <p:nvPr/>
        </p:nvSpPr>
        <p:spPr>
          <a:xfrm>
            <a:off x="11001202" y="1996958"/>
            <a:ext cx="106375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Tree>
    <p:extLst>
      <p:ext uri="{BB962C8B-B14F-4D97-AF65-F5344CB8AC3E}">
        <p14:creationId xmlns:p14="http://schemas.microsoft.com/office/powerpoint/2010/main" val="331794607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B8585-BB7A-4401-0A93-24739DE9923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5D8E1EFC-829C-7AF0-7795-8D38B71E8B5D}"/>
              </a:ext>
            </a:extLst>
          </p:cNvPr>
          <p:cNvSpPr>
            <a:spLocks noGrp="1"/>
          </p:cNvSpPr>
          <p:nvPr>
            <p:ph type="ftr" sz="quarter" idx="11"/>
          </p:nvPr>
        </p:nvSpPr>
        <p:spPr/>
        <p:txBody>
          <a:bodyPr/>
          <a:lstStyle/>
          <a:p>
            <a:r>
              <a:rPr lang="en-AU"/>
              <a:t>DSA-3 </a:t>
            </a:r>
          </a:p>
        </p:txBody>
      </p:sp>
      <p:sp>
        <p:nvSpPr>
          <p:cNvPr id="5" name="Slide Number Placeholder 4">
            <a:extLst>
              <a:ext uri="{FF2B5EF4-FFF2-40B4-BE49-F238E27FC236}">
                <a16:creationId xmlns:a16="http://schemas.microsoft.com/office/drawing/2014/main" id="{B608AAB3-3C96-DA34-442D-31CCD287EB2B}"/>
              </a:ext>
            </a:extLst>
          </p:cNvPr>
          <p:cNvSpPr>
            <a:spLocks noGrp="1"/>
          </p:cNvSpPr>
          <p:nvPr>
            <p:ph type="sldNum" sz="quarter" idx="12"/>
          </p:nvPr>
        </p:nvSpPr>
        <p:spPr/>
        <p:txBody>
          <a:bodyPr/>
          <a:lstStyle/>
          <a:p>
            <a:fld id="{68187FF5-4BF9-4B21-B0D2-9B7FF2B27D7F}" type="slidenum">
              <a:rPr lang="en-AU" smtClean="0"/>
              <a:pPr/>
              <a:t>126</a:t>
            </a:fld>
            <a:endParaRPr lang="en-AU"/>
          </a:p>
        </p:txBody>
      </p:sp>
      <p:pic>
        <p:nvPicPr>
          <p:cNvPr id="7" name="Picture 6">
            <a:extLst>
              <a:ext uri="{FF2B5EF4-FFF2-40B4-BE49-F238E27FC236}">
                <a16:creationId xmlns:a16="http://schemas.microsoft.com/office/drawing/2014/main" id="{EAF817FF-FCAD-2E99-E88B-5581B76397E2}"/>
              </a:ext>
            </a:extLst>
          </p:cNvPr>
          <p:cNvPicPr>
            <a:picLocks noChangeAspect="1"/>
          </p:cNvPicPr>
          <p:nvPr/>
        </p:nvPicPr>
        <p:blipFill>
          <a:blip r:embed="rId2"/>
          <a:srcRect l="14688" t="9641" r="28906" b="18641"/>
          <a:stretch>
            <a:fillRect/>
          </a:stretch>
        </p:blipFill>
        <p:spPr>
          <a:xfrm>
            <a:off x="1454866" y="1340640"/>
            <a:ext cx="9546336" cy="5015710"/>
          </a:xfrm>
          <a:prstGeom prst="rect">
            <a:avLst/>
          </a:prstGeom>
          <a:ln>
            <a:solidFill>
              <a:srgbClr val="C00000"/>
            </a:solidFill>
          </a:ln>
        </p:spPr>
      </p:pic>
      <p:sp>
        <p:nvSpPr>
          <p:cNvPr id="8" name="TextBox 7">
            <a:extLst>
              <a:ext uri="{FF2B5EF4-FFF2-40B4-BE49-F238E27FC236}">
                <a16:creationId xmlns:a16="http://schemas.microsoft.com/office/drawing/2014/main" id="{3C32E52E-E243-3AD8-451D-1E7F883B87E3}"/>
              </a:ext>
            </a:extLst>
          </p:cNvPr>
          <p:cNvSpPr txBox="1"/>
          <p:nvPr/>
        </p:nvSpPr>
        <p:spPr>
          <a:xfrm>
            <a:off x="1389888" y="3167390"/>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10" name="TextBox 9">
            <a:extLst>
              <a:ext uri="{FF2B5EF4-FFF2-40B4-BE49-F238E27FC236}">
                <a16:creationId xmlns:a16="http://schemas.microsoft.com/office/drawing/2014/main" id="{FB793345-717D-9122-3708-60615E263BC6}"/>
              </a:ext>
            </a:extLst>
          </p:cNvPr>
          <p:cNvSpPr txBox="1"/>
          <p:nvPr/>
        </p:nvSpPr>
        <p:spPr>
          <a:xfrm>
            <a:off x="5632704" y="1403902"/>
            <a:ext cx="926592" cy="523220"/>
          </a:xfrm>
          <a:prstGeom prst="rect">
            <a:avLst/>
          </a:prstGeom>
          <a:noFill/>
        </p:spPr>
        <p:txBody>
          <a:bodyPr wrap="square" rtlCol="0">
            <a:spAutoFit/>
          </a:bodyPr>
          <a:lstStyle/>
          <a:p>
            <a:r>
              <a:rPr lang="en-US" sz="2800" b="1" dirty="0">
                <a:solidFill>
                  <a:srgbClr val="FF0000"/>
                </a:solidFill>
              </a:rPr>
              <a:t>0</a:t>
            </a:r>
            <a:endParaRPr lang="en-IN" sz="2800" b="1" dirty="0">
              <a:solidFill>
                <a:srgbClr val="FF0000"/>
              </a:solidFill>
            </a:endParaRPr>
          </a:p>
        </p:txBody>
      </p:sp>
      <p:sp>
        <p:nvSpPr>
          <p:cNvPr id="14" name="TextBox 13">
            <a:extLst>
              <a:ext uri="{FF2B5EF4-FFF2-40B4-BE49-F238E27FC236}">
                <a16:creationId xmlns:a16="http://schemas.microsoft.com/office/drawing/2014/main" id="{28419659-EF51-70C9-8DE2-31D8F9A7B409}"/>
              </a:ext>
            </a:extLst>
          </p:cNvPr>
          <p:cNvSpPr txBox="1"/>
          <p:nvPr/>
        </p:nvSpPr>
        <p:spPr>
          <a:xfrm>
            <a:off x="2392680" y="2310743"/>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16" name="TextBox 15">
            <a:extLst>
              <a:ext uri="{FF2B5EF4-FFF2-40B4-BE49-F238E27FC236}">
                <a16:creationId xmlns:a16="http://schemas.microsoft.com/office/drawing/2014/main" id="{EE2EBEC4-F989-E483-A008-011F613B51B6}"/>
              </a:ext>
            </a:extLst>
          </p:cNvPr>
          <p:cNvSpPr txBox="1"/>
          <p:nvPr/>
        </p:nvSpPr>
        <p:spPr>
          <a:xfrm>
            <a:off x="6480048" y="3145961"/>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27" name="TextBox 26">
            <a:extLst>
              <a:ext uri="{FF2B5EF4-FFF2-40B4-BE49-F238E27FC236}">
                <a16:creationId xmlns:a16="http://schemas.microsoft.com/office/drawing/2014/main" id="{BD94AFF5-2990-4D80-49ED-DE08605B218B}"/>
              </a:ext>
            </a:extLst>
          </p:cNvPr>
          <p:cNvSpPr txBox="1"/>
          <p:nvPr/>
        </p:nvSpPr>
        <p:spPr>
          <a:xfrm>
            <a:off x="3547872" y="438388"/>
            <a:ext cx="3858768" cy="646331"/>
          </a:xfrm>
          <a:prstGeom prst="rect">
            <a:avLst/>
          </a:prstGeom>
          <a:noFill/>
        </p:spPr>
        <p:txBody>
          <a:bodyPr wrap="square" rtlCol="0">
            <a:spAutoFit/>
          </a:bodyPr>
          <a:lstStyle/>
          <a:p>
            <a:pPr algn="ctr"/>
            <a:r>
              <a:rPr lang="en-US" sz="3600" b="1" dirty="0">
                <a:solidFill>
                  <a:srgbClr val="1E03BD"/>
                </a:solidFill>
              </a:rPr>
              <a:t>Failure Function</a:t>
            </a:r>
            <a:endParaRPr lang="en-IN" sz="3600" b="1" dirty="0">
              <a:solidFill>
                <a:srgbClr val="1E03BD"/>
              </a:solidFill>
            </a:endParaRPr>
          </a:p>
        </p:txBody>
      </p:sp>
      <p:sp>
        <p:nvSpPr>
          <p:cNvPr id="9" name="TextBox 8">
            <a:extLst>
              <a:ext uri="{FF2B5EF4-FFF2-40B4-BE49-F238E27FC236}">
                <a16:creationId xmlns:a16="http://schemas.microsoft.com/office/drawing/2014/main" id="{E1FF2F20-D2A7-7E75-20BF-F87194E956C3}"/>
              </a:ext>
            </a:extLst>
          </p:cNvPr>
          <p:cNvSpPr txBox="1"/>
          <p:nvPr/>
        </p:nvSpPr>
        <p:spPr>
          <a:xfrm>
            <a:off x="10648604" y="2049133"/>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Tree>
    <p:extLst>
      <p:ext uri="{BB962C8B-B14F-4D97-AF65-F5344CB8AC3E}">
        <p14:creationId xmlns:p14="http://schemas.microsoft.com/office/powerpoint/2010/main" val="303293764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A6580-346A-3D98-78A5-3774E5415B66}"/>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DA83B11C-04B4-92FF-F08E-D83D8010F859}"/>
              </a:ext>
            </a:extLst>
          </p:cNvPr>
          <p:cNvSpPr>
            <a:spLocks noGrp="1"/>
          </p:cNvSpPr>
          <p:nvPr>
            <p:ph type="ftr" sz="quarter" idx="11"/>
          </p:nvPr>
        </p:nvSpPr>
        <p:spPr/>
        <p:txBody>
          <a:bodyPr/>
          <a:lstStyle/>
          <a:p>
            <a:r>
              <a:rPr lang="en-AU"/>
              <a:t>DSA-3 </a:t>
            </a:r>
          </a:p>
        </p:txBody>
      </p:sp>
      <p:sp>
        <p:nvSpPr>
          <p:cNvPr id="5" name="Slide Number Placeholder 4">
            <a:extLst>
              <a:ext uri="{FF2B5EF4-FFF2-40B4-BE49-F238E27FC236}">
                <a16:creationId xmlns:a16="http://schemas.microsoft.com/office/drawing/2014/main" id="{F394D545-3E4A-261F-BEDE-062E97E715EC}"/>
              </a:ext>
            </a:extLst>
          </p:cNvPr>
          <p:cNvSpPr>
            <a:spLocks noGrp="1"/>
          </p:cNvSpPr>
          <p:nvPr>
            <p:ph type="sldNum" sz="quarter" idx="12"/>
          </p:nvPr>
        </p:nvSpPr>
        <p:spPr/>
        <p:txBody>
          <a:bodyPr/>
          <a:lstStyle/>
          <a:p>
            <a:fld id="{68187FF5-4BF9-4B21-B0D2-9B7FF2B27D7F}" type="slidenum">
              <a:rPr lang="en-AU" smtClean="0"/>
              <a:pPr/>
              <a:t>127</a:t>
            </a:fld>
            <a:endParaRPr lang="en-AU"/>
          </a:p>
        </p:txBody>
      </p:sp>
      <p:pic>
        <p:nvPicPr>
          <p:cNvPr id="7" name="Picture 6">
            <a:extLst>
              <a:ext uri="{FF2B5EF4-FFF2-40B4-BE49-F238E27FC236}">
                <a16:creationId xmlns:a16="http://schemas.microsoft.com/office/drawing/2014/main" id="{B8769C2C-E157-A763-A131-6C5F2FDBFBE2}"/>
              </a:ext>
            </a:extLst>
          </p:cNvPr>
          <p:cNvPicPr>
            <a:picLocks noChangeAspect="1"/>
          </p:cNvPicPr>
          <p:nvPr/>
        </p:nvPicPr>
        <p:blipFill>
          <a:blip r:embed="rId2"/>
          <a:srcRect l="14688" t="9641" r="28906" b="18641"/>
          <a:stretch>
            <a:fillRect/>
          </a:stretch>
        </p:blipFill>
        <p:spPr>
          <a:xfrm>
            <a:off x="1572768" y="1324364"/>
            <a:ext cx="9285732" cy="5015710"/>
          </a:xfrm>
          <a:prstGeom prst="rect">
            <a:avLst/>
          </a:prstGeom>
          <a:ln>
            <a:solidFill>
              <a:srgbClr val="C00000"/>
            </a:solidFill>
          </a:ln>
        </p:spPr>
      </p:pic>
      <p:sp>
        <p:nvSpPr>
          <p:cNvPr id="8" name="TextBox 7">
            <a:extLst>
              <a:ext uri="{FF2B5EF4-FFF2-40B4-BE49-F238E27FC236}">
                <a16:creationId xmlns:a16="http://schemas.microsoft.com/office/drawing/2014/main" id="{586EA8BB-23BE-E458-BF68-3236541E4C3A}"/>
              </a:ext>
            </a:extLst>
          </p:cNvPr>
          <p:cNvSpPr txBox="1"/>
          <p:nvPr/>
        </p:nvSpPr>
        <p:spPr>
          <a:xfrm>
            <a:off x="972312" y="3429000"/>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10" name="TextBox 9">
            <a:extLst>
              <a:ext uri="{FF2B5EF4-FFF2-40B4-BE49-F238E27FC236}">
                <a16:creationId xmlns:a16="http://schemas.microsoft.com/office/drawing/2014/main" id="{DA182640-A088-4952-7635-4D388B54BB19}"/>
              </a:ext>
            </a:extLst>
          </p:cNvPr>
          <p:cNvSpPr txBox="1"/>
          <p:nvPr/>
        </p:nvSpPr>
        <p:spPr>
          <a:xfrm>
            <a:off x="5477256" y="1403902"/>
            <a:ext cx="926592" cy="523220"/>
          </a:xfrm>
          <a:prstGeom prst="rect">
            <a:avLst/>
          </a:prstGeom>
          <a:noFill/>
        </p:spPr>
        <p:txBody>
          <a:bodyPr wrap="square" rtlCol="0">
            <a:spAutoFit/>
          </a:bodyPr>
          <a:lstStyle/>
          <a:p>
            <a:r>
              <a:rPr lang="en-US" sz="2800" b="1" dirty="0">
                <a:solidFill>
                  <a:srgbClr val="FF0000"/>
                </a:solidFill>
              </a:rPr>
              <a:t>0</a:t>
            </a:r>
            <a:endParaRPr lang="en-IN" sz="2800" b="1" dirty="0">
              <a:solidFill>
                <a:srgbClr val="FF0000"/>
              </a:solidFill>
            </a:endParaRPr>
          </a:p>
        </p:txBody>
      </p:sp>
      <p:sp>
        <p:nvSpPr>
          <p:cNvPr id="14" name="TextBox 13">
            <a:extLst>
              <a:ext uri="{FF2B5EF4-FFF2-40B4-BE49-F238E27FC236}">
                <a16:creationId xmlns:a16="http://schemas.microsoft.com/office/drawing/2014/main" id="{50AC4851-E156-3091-4330-4B62AA828151}"/>
              </a:ext>
            </a:extLst>
          </p:cNvPr>
          <p:cNvSpPr txBox="1"/>
          <p:nvPr/>
        </p:nvSpPr>
        <p:spPr>
          <a:xfrm>
            <a:off x="2572512" y="2486569"/>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16" name="TextBox 15">
            <a:extLst>
              <a:ext uri="{FF2B5EF4-FFF2-40B4-BE49-F238E27FC236}">
                <a16:creationId xmlns:a16="http://schemas.microsoft.com/office/drawing/2014/main" id="{0125F3E3-8C8C-E267-A474-301BA88B337F}"/>
              </a:ext>
            </a:extLst>
          </p:cNvPr>
          <p:cNvSpPr txBox="1"/>
          <p:nvPr/>
        </p:nvSpPr>
        <p:spPr>
          <a:xfrm>
            <a:off x="10648604" y="2224959"/>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27" name="TextBox 26">
            <a:extLst>
              <a:ext uri="{FF2B5EF4-FFF2-40B4-BE49-F238E27FC236}">
                <a16:creationId xmlns:a16="http://schemas.microsoft.com/office/drawing/2014/main" id="{D532BAAE-AA80-DD0A-031A-6A0F607EDD6F}"/>
              </a:ext>
            </a:extLst>
          </p:cNvPr>
          <p:cNvSpPr txBox="1"/>
          <p:nvPr/>
        </p:nvSpPr>
        <p:spPr>
          <a:xfrm>
            <a:off x="3547872" y="438388"/>
            <a:ext cx="3858768" cy="646331"/>
          </a:xfrm>
          <a:prstGeom prst="rect">
            <a:avLst/>
          </a:prstGeom>
          <a:noFill/>
        </p:spPr>
        <p:txBody>
          <a:bodyPr wrap="square" rtlCol="0">
            <a:spAutoFit/>
          </a:bodyPr>
          <a:lstStyle/>
          <a:p>
            <a:pPr algn="ctr"/>
            <a:r>
              <a:rPr lang="en-US" sz="3600" b="1" dirty="0">
                <a:solidFill>
                  <a:srgbClr val="1E03BD"/>
                </a:solidFill>
              </a:rPr>
              <a:t>Failure Function</a:t>
            </a:r>
            <a:endParaRPr lang="en-IN" sz="3600" b="1" dirty="0">
              <a:solidFill>
                <a:srgbClr val="1E03BD"/>
              </a:solidFill>
            </a:endParaRPr>
          </a:p>
        </p:txBody>
      </p:sp>
      <p:sp>
        <p:nvSpPr>
          <p:cNvPr id="3" name="TextBox 2">
            <a:extLst>
              <a:ext uri="{FF2B5EF4-FFF2-40B4-BE49-F238E27FC236}">
                <a16:creationId xmlns:a16="http://schemas.microsoft.com/office/drawing/2014/main" id="{6C3523A8-CB26-E519-34C5-2508FBBC4C7B}"/>
              </a:ext>
            </a:extLst>
          </p:cNvPr>
          <p:cNvSpPr txBox="1"/>
          <p:nvPr/>
        </p:nvSpPr>
        <p:spPr>
          <a:xfrm>
            <a:off x="6614160" y="3429000"/>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9" name="TextBox 8">
            <a:extLst>
              <a:ext uri="{FF2B5EF4-FFF2-40B4-BE49-F238E27FC236}">
                <a16:creationId xmlns:a16="http://schemas.microsoft.com/office/drawing/2014/main" id="{35568D14-C714-2816-A723-719D0E9C0F57}"/>
              </a:ext>
            </a:extLst>
          </p:cNvPr>
          <p:cNvSpPr txBox="1"/>
          <p:nvPr/>
        </p:nvSpPr>
        <p:spPr>
          <a:xfrm>
            <a:off x="10507287" y="3429000"/>
            <a:ext cx="926592" cy="954107"/>
          </a:xfrm>
          <a:prstGeom prst="rect">
            <a:avLst/>
          </a:prstGeom>
          <a:noFill/>
        </p:spPr>
        <p:txBody>
          <a:bodyPr wrap="square" rtlCol="0">
            <a:spAutoFit/>
          </a:bodyPr>
          <a:lstStyle/>
          <a:p>
            <a:pPr algn="ctr"/>
            <a:r>
              <a:rPr lang="en-US" sz="2800" b="1" dirty="0">
                <a:solidFill>
                  <a:srgbClr val="FF0000"/>
                </a:solidFill>
              </a:rPr>
              <a:t>YES</a:t>
            </a:r>
          </a:p>
          <a:p>
            <a:pPr algn="ctr"/>
            <a:r>
              <a:rPr lang="en-US" sz="2800" b="1" dirty="0">
                <a:solidFill>
                  <a:srgbClr val="FF0000"/>
                </a:solidFill>
              </a:rPr>
              <a:t>h</a:t>
            </a:r>
            <a:endParaRPr lang="en-IN" sz="2800" b="1" dirty="0">
              <a:solidFill>
                <a:srgbClr val="FF0000"/>
              </a:solidFill>
            </a:endParaRPr>
          </a:p>
        </p:txBody>
      </p:sp>
    </p:spTree>
    <p:extLst>
      <p:ext uri="{BB962C8B-B14F-4D97-AF65-F5344CB8AC3E}">
        <p14:creationId xmlns:p14="http://schemas.microsoft.com/office/powerpoint/2010/main" val="196959199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E544F-0327-EDB5-A799-B96AAA7F6ECA}"/>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5D5366D-96B7-2C97-88EB-0C04876844C5}"/>
              </a:ext>
            </a:extLst>
          </p:cNvPr>
          <p:cNvSpPr>
            <a:spLocks noGrp="1"/>
          </p:cNvSpPr>
          <p:nvPr>
            <p:ph type="ftr" sz="quarter" idx="11"/>
          </p:nvPr>
        </p:nvSpPr>
        <p:spPr/>
        <p:txBody>
          <a:bodyPr/>
          <a:lstStyle/>
          <a:p>
            <a:r>
              <a:rPr lang="en-AU"/>
              <a:t>DSA-3 </a:t>
            </a:r>
          </a:p>
        </p:txBody>
      </p:sp>
      <p:sp>
        <p:nvSpPr>
          <p:cNvPr id="5" name="Slide Number Placeholder 4">
            <a:extLst>
              <a:ext uri="{FF2B5EF4-FFF2-40B4-BE49-F238E27FC236}">
                <a16:creationId xmlns:a16="http://schemas.microsoft.com/office/drawing/2014/main" id="{2855AFE7-7DA9-D681-208B-6E24B35CCEBB}"/>
              </a:ext>
            </a:extLst>
          </p:cNvPr>
          <p:cNvSpPr>
            <a:spLocks noGrp="1"/>
          </p:cNvSpPr>
          <p:nvPr>
            <p:ph type="sldNum" sz="quarter" idx="12"/>
          </p:nvPr>
        </p:nvSpPr>
        <p:spPr/>
        <p:txBody>
          <a:bodyPr/>
          <a:lstStyle/>
          <a:p>
            <a:fld id="{68187FF5-4BF9-4B21-B0D2-9B7FF2B27D7F}" type="slidenum">
              <a:rPr lang="en-AU" smtClean="0"/>
              <a:pPr/>
              <a:t>128</a:t>
            </a:fld>
            <a:endParaRPr lang="en-AU"/>
          </a:p>
        </p:txBody>
      </p:sp>
      <p:pic>
        <p:nvPicPr>
          <p:cNvPr id="7" name="Picture 6">
            <a:extLst>
              <a:ext uri="{FF2B5EF4-FFF2-40B4-BE49-F238E27FC236}">
                <a16:creationId xmlns:a16="http://schemas.microsoft.com/office/drawing/2014/main" id="{BEA0C974-0B43-092E-486C-477F6E5BF7B9}"/>
              </a:ext>
            </a:extLst>
          </p:cNvPr>
          <p:cNvPicPr>
            <a:picLocks noChangeAspect="1"/>
          </p:cNvPicPr>
          <p:nvPr/>
        </p:nvPicPr>
        <p:blipFill>
          <a:blip r:embed="rId2"/>
          <a:srcRect l="14688" t="9641" r="28906" b="18641"/>
          <a:stretch>
            <a:fillRect/>
          </a:stretch>
        </p:blipFill>
        <p:spPr>
          <a:xfrm>
            <a:off x="1376588" y="1105811"/>
            <a:ext cx="9272016" cy="5015710"/>
          </a:xfrm>
          <a:prstGeom prst="rect">
            <a:avLst/>
          </a:prstGeom>
          <a:ln>
            <a:solidFill>
              <a:srgbClr val="C00000"/>
            </a:solidFill>
          </a:ln>
        </p:spPr>
      </p:pic>
      <p:sp>
        <p:nvSpPr>
          <p:cNvPr id="8" name="TextBox 7">
            <a:extLst>
              <a:ext uri="{FF2B5EF4-FFF2-40B4-BE49-F238E27FC236}">
                <a16:creationId xmlns:a16="http://schemas.microsoft.com/office/drawing/2014/main" id="{2C747733-D019-4C1B-45E4-8D98737C8B50}"/>
              </a:ext>
            </a:extLst>
          </p:cNvPr>
          <p:cNvSpPr txBox="1"/>
          <p:nvPr/>
        </p:nvSpPr>
        <p:spPr>
          <a:xfrm>
            <a:off x="1234440" y="2875002"/>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10" name="TextBox 9">
            <a:extLst>
              <a:ext uri="{FF2B5EF4-FFF2-40B4-BE49-F238E27FC236}">
                <a16:creationId xmlns:a16="http://schemas.microsoft.com/office/drawing/2014/main" id="{15F75EEF-4880-7C52-840D-C44D2014FF34}"/>
              </a:ext>
            </a:extLst>
          </p:cNvPr>
          <p:cNvSpPr txBox="1"/>
          <p:nvPr/>
        </p:nvSpPr>
        <p:spPr>
          <a:xfrm>
            <a:off x="5477256" y="1340640"/>
            <a:ext cx="926592" cy="523220"/>
          </a:xfrm>
          <a:prstGeom prst="rect">
            <a:avLst/>
          </a:prstGeom>
          <a:noFill/>
        </p:spPr>
        <p:txBody>
          <a:bodyPr wrap="square" rtlCol="0">
            <a:spAutoFit/>
          </a:bodyPr>
          <a:lstStyle/>
          <a:p>
            <a:r>
              <a:rPr lang="en-US" sz="2800" b="1" dirty="0">
                <a:solidFill>
                  <a:srgbClr val="FF0000"/>
                </a:solidFill>
              </a:rPr>
              <a:t>0</a:t>
            </a:r>
            <a:endParaRPr lang="en-IN" sz="2800" b="1" dirty="0">
              <a:solidFill>
                <a:srgbClr val="FF0000"/>
              </a:solidFill>
            </a:endParaRPr>
          </a:p>
        </p:txBody>
      </p:sp>
      <p:sp>
        <p:nvSpPr>
          <p:cNvPr id="12" name="TextBox 11">
            <a:extLst>
              <a:ext uri="{FF2B5EF4-FFF2-40B4-BE49-F238E27FC236}">
                <a16:creationId xmlns:a16="http://schemas.microsoft.com/office/drawing/2014/main" id="{3E33546F-876F-A715-CE58-28C686193C38}"/>
              </a:ext>
            </a:extLst>
          </p:cNvPr>
          <p:cNvSpPr txBox="1"/>
          <p:nvPr/>
        </p:nvSpPr>
        <p:spPr>
          <a:xfrm>
            <a:off x="6480048" y="3136612"/>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14" name="TextBox 13">
            <a:extLst>
              <a:ext uri="{FF2B5EF4-FFF2-40B4-BE49-F238E27FC236}">
                <a16:creationId xmlns:a16="http://schemas.microsoft.com/office/drawing/2014/main" id="{F91DE914-3552-C28B-18DC-DF98106C32D6}"/>
              </a:ext>
            </a:extLst>
          </p:cNvPr>
          <p:cNvSpPr txBox="1"/>
          <p:nvPr/>
        </p:nvSpPr>
        <p:spPr>
          <a:xfrm>
            <a:off x="2368296" y="2030877"/>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16" name="TextBox 15">
            <a:extLst>
              <a:ext uri="{FF2B5EF4-FFF2-40B4-BE49-F238E27FC236}">
                <a16:creationId xmlns:a16="http://schemas.microsoft.com/office/drawing/2014/main" id="{B3192456-722F-DBE4-2987-8A4EA5759E0A}"/>
              </a:ext>
            </a:extLst>
          </p:cNvPr>
          <p:cNvSpPr txBox="1"/>
          <p:nvPr/>
        </p:nvSpPr>
        <p:spPr>
          <a:xfrm>
            <a:off x="771144" y="4236651"/>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27" name="TextBox 26">
            <a:extLst>
              <a:ext uri="{FF2B5EF4-FFF2-40B4-BE49-F238E27FC236}">
                <a16:creationId xmlns:a16="http://schemas.microsoft.com/office/drawing/2014/main" id="{23D0E4C1-1795-926D-5F1D-83286D54072C}"/>
              </a:ext>
            </a:extLst>
          </p:cNvPr>
          <p:cNvSpPr txBox="1"/>
          <p:nvPr/>
        </p:nvSpPr>
        <p:spPr>
          <a:xfrm>
            <a:off x="3547872" y="438388"/>
            <a:ext cx="3858768" cy="646331"/>
          </a:xfrm>
          <a:prstGeom prst="rect">
            <a:avLst/>
          </a:prstGeom>
          <a:noFill/>
        </p:spPr>
        <p:txBody>
          <a:bodyPr wrap="square" rtlCol="0">
            <a:spAutoFit/>
          </a:bodyPr>
          <a:lstStyle/>
          <a:p>
            <a:pPr algn="ctr"/>
            <a:r>
              <a:rPr lang="en-US" sz="3600" b="1" dirty="0">
                <a:solidFill>
                  <a:srgbClr val="1E03BD"/>
                </a:solidFill>
              </a:rPr>
              <a:t>Failure Function</a:t>
            </a:r>
            <a:endParaRPr lang="en-IN" sz="3600" b="1" dirty="0">
              <a:solidFill>
                <a:srgbClr val="1E03BD"/>
              </a:solidFill>
            </a:endParaRPr>
          </a:p>
        </p:txBody>
      </p:sp>
      <p:sp>
        <p:nvSpPr>
          <p:cNvPr id="6" name="TextBox 5">
            <a:extLst>
              <a:ext uri="{FF2B5EF4-FFF2-40B4-BE49-F238E27FC236}">
                <a16:creationId xmlns:a16="http://schemas.microsoft.com/office/drawing/2014/main" id="{DD6EDACA-05F5-E49A-0770-53F05B3758D1}"/>
              </a:ext>
            </a:extLst>
          </p:cNvPr>
          <p:cNvSpPr txBox="1"/>
          <p:nvPr/>
        </p:nvSpPr>
        <p:spPr>
          <a:xfrm>
            <a:off x="10427208" y="2030877"/>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11" name="TextBox 10">
            <a:extLst>
              <a:ext uri="{FF2B5EF4-FFF2-40B4-BE49-F238E27FC236}">
                <a16:creationId xmlns:a16="http://schemas.microsoft.com/office/drawing/2014/main" id="{59A4CA1F-14B8-930C-15E7-96BBD59B8FD4}"/>
              </a:ext>
            </a:extLst>
          </p:cNvPr>
          <p:cNvSpPr txBox="1"/>
          <p:nvPr/>
        </p:nvSpPr>
        <p:spPr>
          <a:xfrm>
            <a:off x="10494264" y="3217553"/>
            <a:ext cx="926592" cy="954107"/>
          </a:xfrm>
          <a:prstGeom prst="rect">
            <a:avLst/>
          </a:prstGeom>
          <a:noFill/>
        </p:spPr>
        <p:txBody>
          <a:bodyPr wrap="square" rtlCol="0">
            <a:spAutoFit/>
          </a:bodyPr>
          <a:lstStyle/>
          <a:p>
            <a:r>
              <a:rPr lang="en-US" sz="2800" b="1" dirty="0">
                <a:solidFill>
                  <a:srgbClr val="FF0000"/>
                </a:solidFill>
              </a:rPr>
              <a:t>YES h</a:t>
            </a:r>
            <a:endParaRPr lang="en-IN" sz="2800" b="1" dirty="0">
              <a:solidFill>
                <a:srgbClr val="FF0000"/>
              </a:solidFill>
            </a:endParaRPr>
          </a:p>
        </p:txBody>
      </p:sp>
    </p:spTree>
    <p:extLst>
      <p:ext uri="{BB962C8B-B14F-4D97-AF65-F5344CB8AC3E}">
        <p14:creationId xmlns:p14="http://schemas.microsoft.com/office/powerpoint/2010/main" val="75473229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3F116-4629-6A2F-3E53-32B23F96B50A}"/>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016F607-2A92-7678-0A94-52A09C9939BE}"/>
              </a:ext>
            </a:extLst>
          </p:cNvPr>
          <p:cNvSpPr>
            <a:spLocks noGrp="1"/>
          </p:cNvSpPr>
          <p:nvPr>
            <p:ph type="ftr" sz="quarter" idx="11"/>
          </p:nvPr>
        </p:nvSpPr>
        <p:spPr/>
        <p:txBody>
          <a:bodyPr/>
          <a:lstStyle/>
          <a:p>
            <a:r>
              <a:rPr lang="en-AU"/>
              <a:t>DSA-3 </a:t>
            </a:r>
          </a:p>
        </p:txBody>
      </p:sp>
      <p:sp>
        <p:nvSpPr>
          <p:cNvPr id="5" name="Slide Number Placeholder 4">
            <a:extLst>
              <a:ext uri="{FF2B5EF4-FFF2-40B4-BE49-F238E27FC236}">
                <a16:creationId xmlns:a16="http://schemas.microsoft.com/office/drawing/2014/main" id="{F3238DFA-66F3-26EC-793D-3BF8CE363C86}"/>
              </a:ext>
            </a:extLst>
          </p:cNvPr>
          <p:cNvSpPr>
            <a:spLocks noGrp="1"/>
          </p:cNvSpPr>
          <p:nvPr>
            <p:ph type="sldNum" sz="quarter" idx="12"/>
          </p:nvPr>
        </p:nvSpPr>
        <p:spPr/>
        <p:txBody>
          <a:bodyPr/>
          <a:lstStyle/>
          <a:p>
            <a:fld id="{68187FF5-4BF9-4B21-B0D2-9B7FF2B27D7F}" type="slidenum">
              <a:rPr lang="en-AU" smtClean="0"/>
              <a:pPr/>
              <a:t>129</a:t>
            </a:fld>
            <a:endParaRPr lang="en-AU"/>
          </a:p>
        </p:txBody>
      </p:sp>
      <p:pic>
        <p:nvPicPr>
          <p:cNvPr id="7" name="Picture 6">
            <a:extLst>
              <a:ext uri="{FF2B5EF4-FFF2-40B4-BE49-F238E27FC236}">
                <a16:creationId xmlns:a16="http://schemas.microsoft.com/office/drawing/2014/main" id="{7DB14056-2DC5-B28B-9C33-1C2BAC951F60}"/>
              </a:ext>
            </a:extLst>
          </p:cNvPr>
          <p:cNvPicPr>
            <a:picLocks noChangeAspect="1"/>
          </p:cNvPicPr>
          <p:nvPr/>
        </p:nvPicPr>
        <p:blipFill>
          <a:blip r:embed="rId2"/>
          <a:srcRect l="14688" t="9641" r="28906" b="18641"/>
          <a:stretch>
            <a:fillRect/>
          </a:stretch>
        </p:blipFill>
        <p:spPr>
          <a:xfrm>
            <a:off x="727502" y="1416610"/>
            <a:ext cx="10552176" cy="5015710"/>
          </a:xfrm>
          <a:prstGeom prst="rect">
            <a:avLst/>
          </a:prstGeom>
          <a:ln>
            <a:solidFill>
              <a:srgbClr val="C00000"/>
            </a:solidFill>
          </a:ln>
        </p:spPr>
      </p:pic>
      <p:sp>
        <p:nvSpPr>
          <p:cNvPr id="8" name="TextBox 7">
            <a:extLst>
              <a:ext uri="{FF2B5EF4-FFF2-40B4-BE49-F238E27FC236}">
                <a16:creationId xmlns:a16="http://schemas.microsoft.com/office/drawing/2014/main" id="{7EA3D539-A43B-910D-8669-B270AA4E7B36}"/>
              </a:ext>
            </a:extLst>
          </p:cNvPr>
          <p:cNvSpPr txBox="1"/>
          <p:nvPr/>
        </p:nvSpPr>
        <p:spPr>
          <a:xfrm>
            <a:off x="449026" y="3125236"/>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10" name="TextBox 9">
            <a:extLst>
              <a:ext uri="{FF2B5EF4-FFF2-40B4-BE49-F238E27FC236}">
                <a16:creationId xmlns:a16="http://schemas.microsoft.com/office/drawing/2014/main" id="{42A46938-7590-0175-1B66-1A1FD6A1AA5F}"/>
              </a:ext>
            </a:extLst>
          </p:cNvPr>
          <p:cNvSpPr txBox="1"/>
          <p:nvPr/>
        </p:nvSpPr>
        <p:spPr>
          <a:xfrm>
            <a:off x="5209447" y="1430028"/>
            <a:ext cx="926592" cy="523220"/>
          </a:xfrm>
          <a:prstGeom prst="rect">
            <a:avLst/>
          </a:prstGeom>
          <a:noFill/>
        </p:spPr>
        <p:txBody>
          <a:bodyPr wrap="square" rtlCol="0">
            <a:spAutoFit/>
          </a:bodyPr>
          <a:lstStyle/>
          <a:p>
            <a:r>
              <a:rPr lang="en-US" sz="2800" b="1" dirty="0">
                <a:solidFill>
                  <a:srgbClr val="FF0000"/>
                </a:solidFill>
              </a:rPr>
              <a:t>0</a:t>
            </a:r>
            <a:endParaRPr lang="en-IN" sz="2800" b="1" dirty="0">
              <a:solidFill>
                <a:srgbClr val="FF0000"/>
              </a:solidFill>
            </a:endParaRPr>
          </a:p>
        </p:txBody>
      </p:sp>
      <p:sp>
        <p:nvSpPr>
          <p:cNvPr id="12" name="TextBox 11">
            <a:extLst>
              <a:ext uri="{FF2B5EF4-FFF2-40B4-BE49-F238E27FC236}">
                <a16:creationId xmlns:a16="http://schemas.microsoft.com/office/drawing/2014/main" id="{98A4E6D4-E60F-91F3-E29D-48A58FAAA47E}"/>
              </a:ext>
            </a:extLst>
          </p:cNvPr>
          <p:cNvSpPr txBox="1"/>
          <p:nvPr/>
        </p:nvSpPr>
        <p:spPr>
          <a:xfrm>
            <a:off x="2161032" y="2152515"/>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14" name="TextBox 13">
            <a:extLst>
              <a:ext uri="{FF2B5EF4-FFF2-40B4-BE49-F238E27FC236}">
                <a16:creationId xmlns:a16="http://schemas.microsoft.com/office/drawing/2014/main" id="{31FC71FB-4280-4885-5B58-6E750C607621}"/>
              </a:ext>
            </a:extLst>
          </p:cNvPr>
          <p:cNvSpPr txBox="1"/>
          <p:nvPr/>
        </p:nvSpPr>
        <p:spPr>
          <a:xfrm>
            <a:off x="5949281" y="3167390"/>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16" name="TextBox 15">
            <a:extLst>
              <a:ext uri="{FF2B5EF4-FFF2-40B4-BE49-F238E27FC236}">
                <a16:creationId xmlns:a16="http://schemas.microsoft.com/office/drawing/2014/main" id="{ABCDFE57-7612-6B5E-7A1D-45BDA8BAE49E}"/>
              </a:ext>
            </a:extLst>
          </p:cNvPr>
          <p:cNvSpPr txBox="1"/>
          <p:nvPr/>
        </p:nvSpPr>
        <p:spPr>
          <a:xfrm>
            <a:off x="264206" y="4331377"/>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18" name="TextBox 17">
            <a:extLst>
              <a:ext uri="{FF2B5EF4-FFF2-40B4-BE49-F238E27FC236}">
                <a16:creationId xmlns:a16="http://schemas.microsoft.com/office/drawing/2014/main" id="{4CEFB0AC-555E-C688-DAB4-F2B0280A8A73}"/>
              </a:ext>
            </a:extLst>
          </p:cNvPr>
          <p:cNvSpPr txBox="1"/>
          <p:nvPr/>
        </p:nvSpPr>
        <p:spPr>
          <a:xfrm>
            <a:off x="6480048" y="4581586"/>
            <a:ext cx="926592" cy="954107"/>
          </a:xfrm>
          <a:prstGeom prst="rect">
            <a:avLst/>
          </a:prstGeom>
          <a:noFill/>
        </p:spPr>
        <p:txBody>
          <a:bodyPr wrap="square" rtlCol="0">
            <a:spAutoFit/>
          </a:bodyPr>
          <a:lstStyle/>
          <a:p>
            <a:r>
              <a:rPr lang="en-US" sz="2800" b="1" dirty="0">
                <a:solidFill>
                  <a:srgbClr val="FF0000"/>
                </a:solidFill>
              </a:rPr>
              <a:t>YES  </a:t>
            </a:r>
          </a:p>
          <a:p>
            <a:r>
              <a:rPr lang="en-US" sz="2800" b="1" dirty="0">
                <a:solidFill>
                  <a:srgbClr val="FF0000"/>
                </a:solidFill>
              </a:rPr>
              <a:t>   S</a:t>
            </a:r>
          </a:p>
        </p:txBody>
      </p:sp>
      <p:sp>
        <p:nvSpPr>
          <p:cNvPr id="27" name="TextBox 26">
            <a:extLst>
              <a:ext uri="{FF2B5EF4-FFF2-40B4-BE49-F238E27FC236}">
                <a16:creationId xmlns:a16="http://schemas.microsoft.com/office/drawing/2014/main" id="{5C1E53CA-389B-D297-8063-6A57EFFF606F}"/>
              </a:ext>
            </a:extLst>
          </p:cNvPr>
          <p:cNvSpPr txBox="1"/>
          <p:nvPr/>
        </p:nvSpPr>
        <p:spPr>
          <a:xfrm>
            <a:off x="3547872" y="438388"/>
            <a:ext cx="3858768" cy="646331"/>
          </a:xfrm>
          <a:prstGeom prst="rect">
            <a:avLst/>
          </a:prstGeom>
          <a:noFill/>
        </p:spPr>
        <p:txBody>
          <a:bodyPr wrap="square" rtlCol="0">
            <a:spAutoFit/>
          </a:bodyPr>
          <a:lstStyle/>
          <a:p>
            <a:pPr algn="ctr"/>
            <a:r>
              <a:rPr lang="en-US" sz="3600" b="1" dirty="0">
                <a:solidFill>
                  <a:srgbClr val="1E03BD"/>
                </a:solidFill>
              </a:rPr>
              <a:t>Failure Function</a:t>
            </a:r>
            <a:endParaRPr lang="en-IN" sz="3600" b="1" dirty="0">
              <a:solidFill>
                <a:srgbClr val="1E03BD"/>
              </a:solidFill>
            </a:endParaRPr>
          </a:p>
        </p:txBody>
      </p:sp>
      <p:sp>
        <p:nvSpPr>
          <p:cNvPr id="3" name="TextBox 2">
            <a:extLst>
              <a:ext uri="{FF2B5EF4-FFF2-40B4-BE49-F238E27FC236}">
                <a16:creationId xmlns:a16="http://schemas.microsoft.com/office/drawing/2014/main" id="{9ACDC77C-8901-05C1-BE46-7D460CF18B29}"/>
              </a:ext>
            </a:extLst>
          </p:cNvPr>
          <p:cNvSpPr txBox="1"/>
          <p:nvPr/>
        </p:nvSpPr>
        <p:spPr>
          <a:xfrm>
            <a:off x="11094858" y="2414125"/>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6" name="TextBox 5">
            <a:extLst>
              <a:ext uri="{FF2B5EF4-FFF2-40B4-BE49-F238E27FC236}">
                <a16:creationId xmlns:a16="http://schemas.microsoft.com/office/drawing/2014/main" id="{921B7FC4-5B9B-914B-D4EA-F65848BC5841}"/>
              </a:ext>
            </a:extLst>
          </p:cNvPr>
          <p:cNvSpPr txBox="1"/>
          <p:nvPr/>
        </p:nvSpPr>
        <p:spPr>
          <a:xfrm>
            <a:off x="11279678" y="3624870"/>
            <a:ext cx="741772" cy="954107"/>
          </a:xfrm>
          <a:prstGeom prst="rect">
            <a:avLst/>
          </a:prstGeom>
          <a:noFill/>
        </p:spPr>
        <p:txBody>
          <a:bodyPr wrap="square" rtlCol="0">
            <a:spAutoFit/>
          </a:bodyPr>
          <a:lstStyle/>
          <a:p>
            <a:r>
              <a:rPr lang="en-US" sz="2800" b="1" dirty="0">
                <a:solidFill>
                  <a:srgbClr val="FF0000"/>
                </a:solidFill>
              </a:rPr>
              <a:t>YES h</a:t>
            </a:r>
            <a:endParaRPr lang="en-IN" sz="2800" b="1" dirty="0">
              <a:solidFill>
                <a:srgbClr val="FF0000"/>
              </a:solidFill>
            </a:endParaRPr>
          </a:p>
        </p:txBody>
      </p:sp>
    </p:spTree>
    <p:extLst>
      <p:ext uri="{BB962C8B-B14F-4D97-AF65-F5344CB8AC3E}">
        <p14:creationId xmlns:p14="http://schemas.microsoft.com/office/powerpoint/2010/main" val="338732503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86819-0DEA-A30A-497B-A76F696DC10F}"/>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9CB9EBF-DF5C-8496-7184-BE7AA7DEC62F}"/>
              </a:ext>
            </a:extLst>
          </p:cNvPr>
          <p:cNvSpPr>
            <a:spLocks noGrp="1"/>
          </p:cNvSpPr>
          <p:nvPr>
            <p:ph type="ftr" sz="quarter" idx="11"/>
          </p:nvPr>
        </p:nvSpPr>
        <p:spPr/>
        <p:txBody>
          <a:bodyPr/>
          <a:lstStyle/>
          <a:p>
            <a:r>
              <a:rPr lang="en-AU"/>
              <a:t>DSA-3 </a:t>
            </a:r>
          </a:p>
        </p:txBody>
      </p:sp>
      <p:sp>
        <p:nvSpPr>
          <p:cNvPr id="5" name="Slide Number Placeholder 4">
            <a:extLst>
              <a:ext uri="{FF2B5EF4-FFF2-40B4-BE49-F238E27FC236}">
                <a16:creationId xmlns:a16="http://schemas.microsoft.com/office/drawing/2014/main" id="{077CC15F-88C8-0052-103F-9D5C16377680}"/>
              </a:ext>
            </a:extLst>
          </p:cNvPr>
          <p:cNvSpPr>
            <a:spLocks noGrp="1"/>
          </p:cNvSpPr>
          <p:nvPr>
            <p:ph type="sldNum" sz="quarter" idx="12"/>
          </p:nvPr>
        </p:nvSpPr>
        <p:spPr/>
        <p:txBody>
          <a:bodyPr/>
          <a:lstStyle/>
          <a:p>
            <a:fld id="{68187FF5-4BF9-4B21-B0D2-9B7FF2B27D7F}" type="slidenum">
              <a:rPr lang="en-AU" smtClean="0"/>
              <a:pPr/>
              <a:t>130</a:t>
            </a:fld>
            <a:endParaRPr lang="en-AU"/>
          </a:p>
        </p:txBody>
      </p:sp>
      <p:pic>
        <p:nvPicPr>
          <p:cNvPr id="7" name="Picture 6">
            <a:extLst>
              <a:ext uri="{FF2B5EF4-FFF2-40B4-BE49-F238E27FC236}">
                <a16:creationId xmlns:a16="http://schemas.microsoft.com/office/drawing/2014/main" id="{7F55EF06-B8B7-BAA5-E784-A2EC580DFE00}"/>
              </a:ext>
            </a:extLst>
          </p:cNvPr>
          <p:cNvPicPr>
            <a:picLocks noChangeAspect="1"/>
          </p:cNvPicPr>
          <p:nvPr/>
        </p:nvPicPr>
        <p:blipFill>
          <a:blip r:embed="rId2"/>
          <a:srcRect l="14688" t="9641" r="28906" b="18641"/>
          <a:stretch>
            <a:fillRect/>
          </a:stretch>
        </p:blipFill>
        <p:spPr>
          <a:xfrm>
            <a:off x="727502" y="1416610"/>
            <a:ext cx="10412938" cy="5015710"/>
          </a:xfrm>
          <a:prstGeom prst="rect">
            <a:avLst/>
          </a:prstGeom>
          <a:ln>
            <a:solidFill>
              <a:srgbClr val="C00000"/>
            </a:solidFill>
          </a:ln>
        </p:spPr>
      </p:pic>
      <p:sp>
        <p:nvSpPr>
          <p:cNvPr id="8" name="TextBox 7">
            <a:extLst>
              <a:ext uri="{FF2B5EF4-FFF2-40B4-BE49-F238E27FC236}">
                <a16:creationId xmlns:a16="http://schemas.microsoft.com/office/drawing/2014/main" id="{04092EA8-8CEE-E269-D99F-8EE8BA8906F4}"/>
              </a:ext>
            </a:extLst>
          </p:cNvPr>
          <p:cNvSpPr txBox="1"/>
          <p:nvPr/>
        </p:nvSpPr>
        <p:spPr>
          <a:xfrm>
            <a:off x="449026" y="3125236"/>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10" name="TextBox 9">
            <a:extLst>
              <a:ext uri="{FF2B5EF4-FFF2-40B4-BE49-F238E27FC236}">
                <a16:creationId xmlns:a16="http://schemas.microsoft.com/office/drawing/2014/main" id="{3A9E7868-24F0-5958-7749-2517FE7F58E2}"/>
              </a:ext>
            </a:extLst>
          </p:cNvPr>
          <p:cNvSpPr txBox="1"/>
          <p:nvPr/>
        </p:nvSpPr>
        <p:spPr>
          <a:xfrm>
            <a:off x="5209447" y="1430028"/>
            <a:ext cx="926592" cy="523220"/>
          </a:xfrm>
          <a:prstGeom prst="rect">
            <a:avLst/>
          </a:prstGeom>
          <a:noFill/>
        </p:spPr>
        <p:txBody>
          <a:bodyPr wrap="square" rtlCol="0">
            <a:spAutoFit/>
          </a:bodyPr>
          <a:lstStyle/>
          <a:p>
            <a:r>
              <a:rPr lang="en-US" sz="2800" b="1" dirty="0">
                <a:solidFill>
                  <a:srgbClr val="FF0000"/>
                </a:solidFill>
              </a:rPr>
              <a:t>0</a:t>
            </a:r>
            <a:endParaRPr lang="en-IN" sz="2800" b="1" dirty="0">
              <a:solidFill>
                <a:srgbClr val="FF0000"/>
              </a:solidFill>
            </a:endParaRPr>
          </a:p>
        </p:txBody>
      </p:sp>
      <p:sp>
        <p:nvSpPr>
          <p:cNvPr id="12" name="TextBox 11">
            <a:extLst>
              <a:ext uri="{FF2B5EF4-FFF2-40B4-BE49-F238E27FC236}">
                <a16:creationId xmlns:a16="http://schemas.microsoft.com/office/drawing/2014/main" id="{D1981EA0-8A18-E6C3-A8D3-A2B392312AB7}"/>
              </a:ext>
            </a:extLst>
          </p:cNvPr>
          <p:cNvSpPr txBox="1"/>
          <p:nvPr/>
        </p:nvSpPr>
        <p:spPr>
          <a:xfrm>
            <a:off x="2161032" y="2152515"/>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14" name="TextBox 13">
            <a:extLst>
              <a:ext uri="{FF2B5EF4-FFF2-40B4-BE49-F238E27FC236}">
                <a16:creationId xmlns:a16="http://schemas.microsoft.com/office/drawing/2014/main" id="{8AAB6D46-97DD-E5BA-44C8-9E8C503416DD}"/>
              </a:ext>
            </a:extLst>
          </p:cNvPr>
          <p:cNvSpPr txBox="1"/>
          <p:nvPr/>
        </p:nvSpPr>
        <p:spPr>
          <a:xfrm>
            <a:off x="5949281" y="3167390"/>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16" name="TextBox 15">
            <a:extLst>
              <a:ext uri="{FF2B5EF4-FFF2-40B4-BE49-F238E27FC236}">
                <a16:creationId xmlns:a16="http://schemas.microsoft.com/office/drawing/2014/main" id="{FAF85AFB-8E97-6C49-8CAE-7311FBD8C4AC}"/>
              </a:ext>
            </a:extLst>
          </p:cNvPr>
          <p:cNvSpPr txBox="1"/>
          <p:nvPr/>
        </p:nvSpPr>
        <p:spPr>
          <a:xfrm>
            <a:off x="264206" y="4331377"/>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18" name="TextBox 17">
            <a:extLst>
              <a:ext uri="{FF2B5EF4-FFF2-40B4-BE49-F238E27FC236}">
                <a16:creationId xmlns:a16="http://schemas.microsoft.com/office/drawing/2014/main" id="{700A24FA-7278-781C-CE9C-C71CAED44099}"/>
              </a:ext>
            </a:extLst>
          </p:cNvPr>
          <p:cNvSpPr txBox="1"/>
          <p:nvPr/>
        </p:nvSpPr>
        <p:spPr>
          <a:xfrm>
            <a:off x="6412577" y="4592986"/>
            <a:ext cx="926592" cy="954107"/>
          </a:xfrm>
          <a:prstGeom prst="rect">
            <a:avLst/>
          </a:prstGeom>
          <a:noFill/>
        </p:spPr>
        <p:txBody>
          <a:bodyPr wrap="square" rtlCol="0">
            <a:spAutoFit/>
          </a:bodyPr>
          <a:lstStyle/>
          <a:p>
            <a:r>
              <a:rPr lang="en-US" sz="2800" b="1" dirty="0">
                <a:solidFill>
                  <a:srgbClr val="FF0000"/>
                </a:solidFill>
              </a:rPr>
              <a:t>YES  </a:t>
            </a:r>
          </a:p>
          <a:p>
            <a:r>
              <a:rPr lang="en-US" sz="2800" b="1" dirty="0">
                <a:solidFill>
                  <a:srgbClr val="FF0000"/>
                </a:solidFill>
              </a:rPr>
              <a:t>   S</a:t>
            </a:r>
          </a:p>
        </p:txBody>
      </p:sp>
      <p:sp>
        <p:nvSpPr>
          <p:cNvPr id="27" name="TextBox 26">
            <a:extLst>
              <a:ext uri="{FF2B5EF4-FFF2-40B4-BE49-F238E27FC236}">
                <a16:creationId xmlns:a16="http://schemas.microsoft.com/office/drawing/2014/main" id="{9C517550-3215-35CE-4212-887D1C9EF06D}"/>
              </a:ext>
            </a:extLst>
          </p:cNvPr>
          <p:cNvSpPr txBox="1"/>
          <p:nvPr/>
        </p:nvSpPr>
        <p:spPr>
          <a:xfrm>
            <a:off x="3547872" y="438388"/>
            <a:ext cx="3858768" cy="646331"/>
          </a:xfrm>
          <a:prstGeom prst="rect">
            <a:avLst/>
          </a:prstGeom>
          <a:noFill/>
        </p:spPr>
        <p:txBody>
          <a:bodyPr wrap="square" rtlCol="0">
            <a:spAutoFit/>
          </a:bodyPr>
          <a:lstStyle/>
          <a:p>
            <a:pPr algn="ctr"/>
            <a:r>
              <a:rPr lang="en-US" sz="3600" b="1" dirty="0">
                <a:solidFill>
                  <a:srgbClr val="1E03BD"/>
                </a:solidFill>
              </a:rPr>
              <a:t>Failure Function</a:t>
            </a:r>
            <a:endParaRPr lang="en-IN" sz="3600" b="1" dirty="0">
              <a:solidFill>
                <a:srgbClr val="1E03BD"/>
              </a:solidFill>
            </a:endParaRPr>
          </a:p>
        </p:txBody>
      </p:sp>
      <p:sp>
        <p:nvSpPr>
          <p:cNvPr id="3" name="TextBox 2">
            <a:extLst>
              <a:ext uri="{FF2B5EF4-FFF2-40B4-BE49-F238E27FC236}">
                <a16:creationId xmlns:a16="http://schemas.microsoft.com/office/drawing/2014/main" id="{693B21BE-F58B-FE0F-3530-770F7DB14AF7}"/>
              </a:ext>
            </a:extLst>
          </p:cNvPr>
          <p:cNvSpPr txBox="1"/>
          <p:nvPr/>
        </p:nvSpPr>
        <p:spPr>
          <a:xfrm>
            <a:off x="10808208" y="2174478"/>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6" name="TextBox 5">
            <a:extLst>
              <a:ext uri="{FF2B5EF4-FFF2-40B4-BE49-F238E27FC236}">
                <a16:creationId xmlns:a16="http://schemas.microsoft.com/office/drawing/2014/main" id="{FD9CA3AC-A27D-A636-FCBD-A2591F2696FC}"/>
              </a:ext>
            </a:extLst>
          </p:cNvPr>
          <p:cNvSpPr txBox="1"/>
          <p:nvPr/>
        </p:nvSpPr>
        <p:spPr>
          <a:xfrm>
            <a:off x="10890504" y="3349725"/>
            <a:ext cx="926592" cy="954107"/>
          </a:xfrm>
          <a:prstGeom prst="rect">
            <a:avLst/>
          </a:prstGeom>
          <a:noFill/>
        </p:spPr>
        <p:txBody>
          <a:bodyPr wrap="square" rtlCol="0">
            <a:spAutoFit/>
          </a:bodyPr>
          <a:lstStyle/>
          <a:p>
            <a:r>
              <a:rPr lang="en-US" sz="2800" b="1" dirty="0">
                <a:solidFill>
                  <a:srgbClr val="FF0000"/>
                </a:solidFill>
              </a:rPr>
              <a:t>YES  </a:t>
            </a:r>
          </a:p>
          <a:p>
            <a:r>
              <a:rPr lang="en-US" sz="2800" b="1" dirty="0">
                <a:solidFill>
                  <a:srgbClr val="FF0000"/>
                </a:solidFill>
              </a:rPr>
              <a:t>   h</a:t>
            </a:r>
          </a:p>
        </p:txBody>
      </p:sp>
      <p:sp>
        <p:nvSpPr>
          <p:cNvPr id="9" name="TextBox 8">
            <a:extLst>
              <a:ext uri="{FF2B5EF4-FFF2-40B4-BE49-F238E27FC236}">
                <a16:creationId xmlns:a16="http://schemas.microsoft.com/office/drawing/2014/main" id="{8369B734-D470-8265-09D3-4793C64E8DF7}"/>
              </a:ext>
            </a:extLst>
          </p:cNvPr>
          <p:cNvSpPr txBox="1"/>
          <p:nvPr/>
        </p:nvSpPr>
        <p:spPr>
          <a:xfrm>
            <a:off x="11140440" y="4592987"/>
            <a:ext cx="926592" cy="954107"/>
          </a:xfrm>
          <a:prstGeom prst="rect">
            <a:avLst/>
          </a:prstGeom>
          <a:noFill/>
        </p:spPr>
        <p:txBody>
          <a:bodyPr wrap="square" rtlCol="0">
            <a:spAutoFit/>
          </a:bodyPr>
          <a:lstStyle/>
          <a:p>
            <a:r>
              <a:rPr lang="en-US" sz="2800" b="1" dirty="0">
                <a:solidFill>
                  <a:srgbClr val="FF0000"/>
                </a:solidFill>
              </a:rPr>
              <a:t>YES  </a:t>
            </a:r>
          </a:p>
          <a:p>
            <a:r>
              <a:rPr lang="en-US" sz="2800" b="1" dirty="0">
                <a:solidFill>
                  <a:srgbClr val="FF0000"/>
                </a:solidFill>
              </a:rPr>
              <a:t>   he</a:t>
            </a:r>
          </a:p>
        </p:txBody>
      </p:sp>
    </p:spTree>
    <p:extLst>
      <p:ext uri="{BB962C8B-B14F-4D97-AF65-F5344CB8AC3E}">
        <p14:creationId xmlns:p14="http://schemas.microsoft.com/office/powerpoint/2010/main" val="246755695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07A2D-66A0-67B6-6DEB-F1E2F1932076}"/>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3C48F48-267E-6CF9-4B15-551DA9A6E54E}"/>
              </a:ext>
            </a:extLst>
          </p:cNvPr>
          <p:cNvSpPr>
            <a:spLocks noGrp="1"/>
          </p:cNvSpPr>
          <p:nvPr>
            <p:ph type="ftr" sz="quarter" idx="11"/>
          </p:nvPr>
        </p:nvSpPr>
        <p:spPr/>
        <p:txBody>
          <a:bodyPr/>
          <a:lstStyle/>
          <a:p>
            <a:r>
              <a:rPr lang="en-AU"/>
              <a:t>DSA-3 </a:t>
            </a:r>
          </a:p>
        </p:txBody>
      </p:sp>
      <p:sp>
        <p:nvSpPr>
          <p:cNvPr id="5" name="Slide Number Placeholder 4">
            <a:extLst>
              <a:ext uri="{FF2B5EF4-FFF2-40B4-BE49-F238E27FC236}">
                <a16:creationId xmlns:a16="http://schemas.microsoft.com/office/drawing/2014/main" id="{15008BC1-D406-D4E4-FEDC-80F1F4C662A2}"/>
              </a:ext>
            </a:extLst>
          </p:cNvPr>
          <p:cNvSpPr>
            <a:spLocks noGrp="1"/>
          </p:cNvSpPr>
          <p:nvPr>
            <p:ph type="sldNum" sz="quarter" idx="12"/>
          </p:nvPr>
        </p:nvSpPr>
        <p:spPr/>
        <p:txBody>
          <a:bodyPr/>
          <a:lstStyle/>
          <a:p>
            <a:fld id="{68187FF5-4BF9-4B21-B0D2-9B7FF2B27D7F}" type="slidenum">
              <a:rPr lang="en-AU" smtClean="0"/>
              <a:pPr/>
              <a:t>131</a:t>
            </a:fld>
            <a:endParaRPr lang="en-AU"/>
          </a:p>
        </p:txBody>
      </p:sp>
      <p:pic>
        <p:nvPicPr>
          <p:cNvPr id="7" name="Picture 6">
            <a:extLst>
              <a:ext uri="{FF2B5EF4-FFF2-40B4-BE49-F238E27FC236}">
                <a16:creationId xmlns:a16="http://schemas.microsoft.com/office/drawing/2014/main" id="{DB191244-17DB-0B66-6DCC-CD917CABEC2D}"/>
              </a:ext>
            </a:extLst>
          </p:cNvPr>
          <p:cNvPicPr>
            <a:picLocks noChangeAspect="1"/>
          </p:cNvPicPr>
          <p:nvPr/>
        </p:nvPicPr>
        <p:blipFill>
          <a:blip r:embed="rId2"/>
          <a:srcRect l="14688" t="9641" r="28906" b="18641"/>
          <a:stretch>
            <a:fillRect/>
          </a:stretch>
        </p:blipFill>
        <p:spPr>
          <a:xfrm>
            <a:off x="727502" y="1416610"/>
            <a:ext cx="10552176" cy="5015710"/>
          </a:xfrm>
          <a:prstGeom prst="rect">
            <a:avLst/>
          </a:prstGeom>
          <a:ln>
            <a:solidFill>
              <a:srgbClr val="C00000"/>
            </a:solidFill>
          </a:ln>
        </p:spPr>
      </p:pic>
      <p:sp>
        <p:nvSpPr>
          <p:cNvPr id="8" name="TextBox 7">
            <a:extLst>
              <a:ext uri="{FF2B5EF4-FFF2-40B4-BE49-F238E27FC236}">
                <a16:creationId xmlns:a16="http://schemas.microsoft.com/office/drawing/2014/main" id="{211CD057-8BA2-0C3C-EEE6-351EB49CEB5F}"/>
              </a:ext>
            </a:extLst>
          </p:cNvPr>
          <p:cNvSpPr txBox="1"/>
          <p:nvPr/>
        </p:nvSpPr>
        <p:spPr>
          <a:xfrm>
            <a:off x="449026" y="3125236"/>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10" name="TextBox 9">
            <a:extLst>
              <a:ext uri="{FF2B5EF4-FFF2-40B4-BE49-F238E27FC236}">
                <a16:creationId xmlns:a16="http://schemas.microsoft.com/office/drawing/2014/main" id="{3CCB7B96-03C9-3F2D-C82A-CD9D92888010}"/>
              </a:ext>
            </a:extLst>
          </p:cNvPr>
          <p:cNvSpPr txBox="1"/>
          <p:nvPr/>
        </p:nvSpPr>
        <p:spPr>
          <a:xfrm>
            <a:off x="5209447" y="1430028"/>
            <a:ext cx="926592" cy="523220"/>
          </a:xfrm>
          <a:prstGeom prst="rect">
            <a:avLst/>
          </a:prstGeom>
          <a:noFill/>
        </p:spPr>
        <p:txBody>
          <a:bodyPr wrap="square" rtlCol="0">
            <a:spAutoFit/>
          </a:bodyPr>
          <a:lstStyle/>
          <a:p>
            <a:r>
              <a:rPr lang="en-US" sz="2800" b="1" dirty="0">
                <a:solidFill>
                  <a:srgbClr val="FF0000"/>
                </a:solidFill>
              </a:rPr>
              <a:t>0</a:t>
            </a:r>
            <a:endParaRPr lang="en-IN" sz="2800" b="1" dirty="0">
              <a:solidFill>
                <a:srgbClr val="FF0000"/>
              </a:solidFill>
            </a:endParaRPr>
          </a:p>
        </p:txBody>
      </p:sp>
      <p:sp>
        <p:nvSpPr>
          <p:cNvPr id="12" name="TextBox 11">
            <a:extLst>
              <a:ext uri="{FF2B5EF4-FFF2-40B4-BE49-F238E27FC236}">
                <a16:creationId xmlns:a16="http://schemas.microsoft.com/office/drawing/2014/main" id="{E158B53A-183C-05C0-842E-25A10A92F650}"/>
              </a:ext>
            </a:extLst>
          </p:cNvPr>
          <p:cNvSpPr txBox="1"/>
          <p:nvPr/>
        </p:nvSpPr>
        <p:spPr>
          <a:xfrm>
            <a:off x="2161032" y="2152515"/>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14" name="TextBox 13">
            <a:extLst>
              <a:ext uri="{FF2B5EF4-FFF2-40B4-BE49-F238E27FC236}">
                <a16:creationId xmlns:a16="http://schemas.microsoft.com/office/drawing/2014/main" id="{4862AFCE-179D-9357-7EC9-DB26A25BE1DA}"/>
              </a:ext>
            </a:extLst>
          </p:cNvPr>
          <p:cNvSpPr txBox="1"/>
          <p:nvPr/>
        </p:nvSpPr>
        <p:spPr>
          <a:xfrm>
            <a:off x="5949281" y="3167390"/>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16" name="TextBox 15">
            <a:extLst>
              <a:ext uri="{FF2B5EF4-FFF2-40B4-BE49-F238E27FC236}">
                <a16:creationId xmlns:a16="http://schemas.microsoft.com/office/drawing/2014/main" id="{97F74C2C-28CD-786C-855F-9823AE2A4C53}"/>
              </a:ext>
            </a:extLst>
          </p:cNvPr>
          <p:cNvSpPr txBox="1"/>
          <p:nvPr/>
        </p:nvSpPr>
        <p:spPr>
          <a:xfrm>
            <a:off x="264206" y="4331377"/>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18" name="TextBox 17">
            <a:extLst>
              <a:ext uri="{FF2B5EF4-FFF2-40B4-BE49-F238E27FC236}">
                <a16:creationId xmlns:a16="http://schemas.microsoft.com/office/drawing/2014/main" id="{C0693069-9793-59F9-0243-2EC7F13A3474}"/>
              </a:ext>
            </a:extLst>
          </p:cNvPr>
          <p:cNvSpPr txBox="1"/>
          <p:nvPr/>
        </p:nvSpPr>
        <p:spPr>
          <a:xfrm>
            <a:off x="6480048" y="4581586"/>
            <a:ext cx="926592" cy="954107"/>
          </a:xfrm>
          <a:prstGeom prst="rect">
            <a:avLst/>
          </a:prstGeom>
          <a:noFill/>
        </p:spPr>
        <p:txBody>
          <a:bodyPr wrap="square" rtlCol="0">
            <a:spAutoFit/>
          </a:bodyPr>
          <a:lstStyle/>
          <a:p>
            <a:r>
              <a:rPr lang="en-US" sz="2800" b="1" dirty="0">
                <a:solidFill>
                  <a:srgbClr val="FF0000"/>
                </a:solidFill>
              </a:rPr>
              <a:t>YES  </a:t>
            </a:r>
          </a:p>
          <a:p>
            <a:r>
              <a:rPr lang="en-US" sz="2800" b="1" dirty="0">
                <a:solidFill>
                  <a:srgbClr val="FF0000"/>
                </a:solidFill>
              </a:rPr>
              <a:t>   S</a:t>
            </a:r>
          </a:p>
        </p:txBody>
      </p:sp>
      <p:sp>
        <p:nvSpPr>
          <p:cNvPr id="20" name="TextBox 19">
            <a:extLst>
              <a:ext uri="{FF2B5EF4-FFF2-40B4-BE49-F238E27FC236}">
                <a16:creationId xmlns:a16="http://schemas.microsoft.com/office/drawing/2014/main" id="{C1D48644-7CD8-2A70-DE9D-4A97468A6170}"/>
              </a:ext>
            </a:extLst>
          </p:cNvPr>
          <p:cNvSpPr txBox="1"/>
          <p:nvPr/>
        </p:nvSpPr>
        <p:spPr>
          <a:xfrm>
            <a:off x="96428" y="5537518"/>
            <a:ext cx="926592" cy="954107"/>
          </a:xfrm>
          <a:prstGeom prst="rect">
            <a:avLst/>
          </a:prstGeom>
          <a:noFill/>
        </p:spPr>
        <p:txBody>
          <a:bodyPr wrap="square" rtlCol="0">
            <a:spAutoFit/>
          </a:bodyPr>
          <a:lstStyle/>
          <a:p>
            <a:r>
              <a:rPr lang="en-US" sz="2800" b="1" dirty="0">
                <a:solidFill>
                  <a:srgbClr val="FF0000"/>
                </a:solidFill>
              </a:rPr>
              <a:t>YES  </a:t>
            </a:r>
          </a:p>
          <a:p>
            <a:r>
              <a:rPr lang="en-US" sz="2800" b="1" dirty="0">
                <a:solidFill>
                  <a:srgbClr val="FF0000"/>
                </a:solidFill>
              </a:rPr>
              <a:t>   S</a:t>
            </a:r>
          </a:p>
        </p:txBody>
      </p:sp>
      <p:sp>
        <p:nvSpPr>
          <p:cNvPr id="27" name="TextBox 26">
            <a:extLst>
              <a:ext uri="{FF2B5EF4-FFF2-40B4-BE49-F238E27FC236}">
                <a16:creationId xmlns:a16="http://schemas.microsoft.com/office/drawing/2014/main" id="{B6C78FA1-EDB2-4CBF-BC11-5BE06F598DB2}"/>
              </a:ext>
            </a:extLst>
          </p:cNvPr>
          <p:cNvSpPr txBox="1"/>
          <p:nvPr/>
        </p:nvSpPr>
        <p:spPr>
          <a:xfrm>
            <a:off x="1350679" y="549440"/>
            <a:ext cx="3858768" cy="646331"/>
          </a:xfrm>
          <a:prstGeom prst="rect">
            <a:avLst/>
          </a:prstGeom>
          <a:noFill/>
        </p:spPr>
        <p:txBody>
          <a:bodyPr wrap="square" rtlCol="0">
            <a:spAutoFit/>
          </a:bodyPr>
          <a:lstStyle/>
          <a:p>
            <a:pPr algn="ctr"/>
            <a:r>
              <a:rPr lang="en-US" sz="3600" b="1" dirty="0">
                <a:solidFill>
                  <a:srgbClr val="1E03BD"/>
                </a:solidFill>
              </a:rPr>
              <a:t>Failure Function</a:t>
            </a:r>
            <a:endParaRPr lang="en-IN" sz="3600" b="1" dirty="0">
              <a:solidFill>
                <a:srgbClr val="1E03BD"/>
              </a:solidFill>
            </a:endParaRPr>
          </a:p>
        </p:txBody>
      </p:sp>
      <p:sp>
        <p:nvSpPr>
          <p:cNvPr id="3" name="TextBox 2">
            <a:extLst>
              <a:ext uri="{FF2B5EF4-FFF2-40B4-BE49-F238E27FC236}">
                <a16:creationId xmlns:a16="http://schemas.microsoft.com/office/drawing/2014/main" id="{C4F997C6-1077-D1C8-D1D7-992B178F70FA}"/>
              </a:ext>
            </a:extLst>
          </p:cNvPr>
          <p:cNvSpPr txBox="1"/>
          <p:nvPr/>
        </p:nvSpPr>
        <p:spPr>
          <a:xfrm>
            <a:off x="11001202" y="2175598"/>
            <a:ext cx="926592" cy="523220"/>
          </a:xfrm>
          <a:prstGeom prst="rect">
            <a:avLst/>
          </a:prstGeom>
          <a:noFill/>
        </p:spPr>
        <p:txBody>
          <a:bodyPr wrap="square" rtlCol="0">
            <a:spAutoFit/>
          </a:bodyPr>
          <a:lstStyle/>
          <a:p>
            <a:r>
              <a:rPr lang="en-US" sz="2800" b="1" dirty="0">
                <a:solidFill>
                  <a:srgbClr val="FF0000"/>
                </a:solidFill>
              </a:rPr>
              <a:t>root</a:t>
            </a:r>
            <a:endParaRPr lang="en-IN" sz="2800" b="1" dirty="0">
              <a:solidFill>
                <a:srgbClr val="FF0000"/>
              </a:solidFill>
            </a:endParaRPr>
          </a:p>
        </p:txBody>
      </p:sp>
      <p:sp>
        <p:nvSpPr>
          <p:cNvPr id="6" name="TextBox 5">
            <a:extLst>
              <a:ext uri="{FF2B5EF4-FFF2-40B4-BE49-F238E27FC236}">
                <a16:creationId xmlns:a16="http://schemas.microsoft.com/office/drawing/2014/main" id="{E21DFB9E-B103-C153-BF40-E12F0F7F66C9}"/>
              </a:ext>
            </a:extLst>
          </p:cNvPr>
          <p:cNvSpPr txBox="1"/>
          <p:nvPr/>
        </p:nvSpPr>
        <p:spPr>
          <a:xfrm>
            <a:off x="11222874" y="3457806"/>
            <a:ext cx="926592" cy="954107"/>
          </a:xfrm>
          <a:prstGeom prst="rect">
            <a:avLst/>
          </a:prstGeom>
          <a:noFill/>
        </p:spPr>
        <p:txBody>
          <a:bodyPr wrap="square" rtlCol="0">
            <a:spAutoFit/>
          </a:bodyPr>
          <a:lstStyle/>
          <a:p>
            <a:r>
              <a:rPr lang="en-US" sz="2800" b="1" dirty="0">
                <a:solidFill>
                  <a:srgbClr val="FF0000"/>
                </a:solidFill>
              </a:rPr>
              <a:t>YES  </a:t>
            </a:r>
          </a:p>
          <a:p>
            <a:r>
              <a:rPr lang="en-US" sz="2800" b="1" dirty="0">
                <a:solidFill>
                  <a:srgbClr val="FF0000"/>
                </a:solidFill>
              </a:rPr>
              <a:t>   h</a:t>
            </a:r>
          </a:p>
        </p:txBody>
      </p:sp>
      <p:sp>
        <p:nvSpPr>
          <p:cNvPr id="9" name="TextBox 8">
            <a:extLst>
              <a:ext uri="{FF2B5EF4-FFF2-40B4-BE49-F238E27FC236}">
                <a16:creationId xmlns:a16="http://schemas.microsoft.com/office/drawing/2014/main" id="{BEC7F5F9-914C-C5FB-2C9F-4715ABCB10AD}"/>
              </a:ext>
            </a:extLst>
          </p:cNvPr>
          <p:cNvSpPr txBox="1"/>
          <p:nvPr/>
        </p:nvSpPr>
        <p:spPr>
          <a:xfrm>
            <a:off x="11140440" y="4592987"/>
            <a:ext cx="926592" cy="954107"/>
          </a:xfrm>
          <a:prstGeom prst="rect">
            <a:avLst/>
          </a:prstGeom>
          <a:noFill/>
        </p:spPr>
        <p:txBody>
          <a:bodyPr wrap="square" rtlCol="0">
            <a:spAutoFit/>
          </a:bodyPr>
          <a:lstStyle/>
          <a:p>
            <a:r>
              <a:rPr lang="en-US" sz="2800" b="1" dirty="0">
                <a:solidFill>
                  <a:srgbClr val="FF0000"/>
                </a:solidFill>
              </a:rPr>
              <a:t>YES  </a:t>
            </a:r>
          </a:p>
          <a:p>
            <a:r>
              <a:rPr lang="en-US" sz="2800" b="1" dirty="0">
                <a:solidFill>
                  <a:srgbClr val="FF0000"/>
                </a:solidFill>
              </a:rPr>
              <a:t>   he</a:t>
            </a:r>
          </a:p>
        </p:txBody>
      </p:sp>
      <p:sp>
        <p:nvSpPr>
          <p:cNvPr id="13" name="TextBox 12">
            <a:extLst>
              <a:ext uri="{FF2B5EF4-FFF2-40B4-BE49-F238E27FC236}">
                <a16:creationId xmlns:a16="http://schemas.microsoft.com/office/drawing/2014/main" id="{F57B4411-F9C7-7CF2-773B-AA8068B58016}"/>
              </a:ext>
            </a:extLst>
          </p:cNvPr>
          <p:cNvSpPr txBox="1"/>
          <p:nvPr/>
        </p:nvSpPr>
        <p:spPr>
          <a:xfrm>
            <a:off x="6599334" y="87775"/>
            <a:ext cx="5467697" cy="1200329"/>
          </a:xfrm>
          <a:prstGeom prst="rect">
            <a:avLst/>
          </a:prstGeom>
          <a:noFill/>
        </p:spPr>
        <p:txBody>
          <a:bodyPr wrap="square">
            <a:spAutoFit/>
          </a:bodyPr>
          <a:lstStyle/>
          <a:p>
            <a:pPr>
              <a:buNone/>
            </a:pPr>
            <a:r>
              <a:rPr lang="en-IN" sz="2400" b="1" dirty="0">
                <a:solidFill>
                  <a:srgbClr val="C00000"/>
                </a:solidFill>
                <a:latin typeface="Times New Roman" panose="02020603050405020304" pitchFamily="18" charset="0"/>
                <a:cs typeface="Times New Roman" panose="02020603050405020304" pitchFamily="18" charset="0"/>
              </a:rPr>
              <a:t>Input</a:t>
            </a:r>
          </a:p>
          <a:p>
            <a:pPr rtl="0">
              <a:buNone/>
            </a:pPr>
            <a:r>
              <a:rPr lang="en-IN" sz="2400" b="1" dirty="0">
                <a:solidFill>
                  <a:srgbClr val="C00000"/>
                </a:solidFill>
                <a:latin typeface="Times New Roman" panose="02020603050405020304" pitchFamily="18" charset="0"/>
                <a:cs typeface="Times New Roman" panose="02020603050405020304" pitchFamily="18" charset="0"/>
              </a:rPr>
              <a:t>Text     = "</a:t>
            </a:r>
            <a:r>
              <a:rPr lang="en-IN" sz="2400" b="1" dirty="0" err="1">
                <a:solidFill>
                  <a:srgbClr val="C00000"/>
                </a:solidFill>
                <a:latin typeface="Times New Roman" panose="02020603050405020304" pitchFamily="18" charset="0"/>
                <a:cs typeface="Times New Roman" panose="02020603050405020304" pitchFamily="18" charset="0"/>
              </a:rPr>
              <a:t>ahishers</a:t>
            </a:r>
            <a:r>
              <a:rPr lang="en-IN" sz="2400" b="1" dirty="0">
                <a:solidFill>
                  <a:srgbClr val="C00000"/>
                </a:solidFill>
                <a:latin typeface="Times New Roman" panose="02020603050405020304" pitchFamily="18" charset="0"/>
                <a:cs typeface="Times New Roman" panose="02020603050405020304" pitchFamily="18" charset="0"/>
              </a:rPr>
              <a:t>"</a:t>
            </a:r>
          </a:p>
          <a:p>
            <a:pPr rtl="0">
              <a:buNone/>
            </a:pPr>
            <a:r>
              <a:rPr lang="en-IN" sz="2400" b="1" dirty="0">
                <a:solidFill>
                  <a:srgbClr val="C00000"/>
                </a:solidFill>
                <a:latin typeface="Times New Roman" panose="02020603050405020304" pitchFamily="18" charset="0"/>
                <a:cs typeface="Times New Roman" panose="02020603050405020304" pitchFamily="18" charset="0"/>
              </a:rPr>
              <a:t>Patterns = {"he", "she", "hers", "his"}</a:t>
            </a:r>
          </a:p>
        </p:txBody>
      </p:sp>
    </p:spTree>
    <p:extLst>
      <p:ext uri="{BB962C8B-B14F-4D97-AF65-F5344CB8AC3E}">
        <p14:creationId xmlns:p14="http://schemas.microsoft.com/office/powerpoint/2010/main" val="358903242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51746-3E50-1F76-7873-E7B5AD7677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8A7DDD-8223-321B-085B-5F25D46569FC}"/>
              </a:ext>
            </a:extLst>
          </p:cNvPr>
          <p:cNvSpPr txBox="1"/>
          <p:nvPr/>
        </p:nvSpPr>
        <p:spPr>
          <a:xfrm>
            <a:off x="3485226" y="89207"/>
            <a:ext cx="4747098" cy="523220"/>
          </a:xfrm>
          <a:prstGeom prst="rect">
            <a:avLst/>
          </a:prstGeom>
          <a:solidFill>
            <a:schemeClr val="accent2">
              <a:lumMod val="20000"/>
              <a:lumOff val="80000"/>
            </a:schemeClr>
          </a:solidFill>
          <a:ln>
            <a:solidFill>
              <a:srgbClr val="C00000"/>
            </a:solidFill>
          </a:ln>
        </p:spPr>
        <p:txBody>
          <a:bodyPr wrap="square">
            <a:spAutoFit/>
          </a:bodyPr>
          <a:lstStyle/>
          <a:p>
            <a:r>
              <a:rPr lang="en-IN" sz="2800" b="1" dirty="0"/>
              <a:t>Step 3: Build the Failure Array</a:t>
            </a:r>
          </a:p>
        </p:txBody>
      </p:sp>
      <p:pic>
        <p:nvPicPr>
          <p:cNvPr id="7" name="Picture 6">
            <a:extLst>
              <a:ext uri="{FF2B5EF4-FFF2-40B4-BE49-F238E27FC236}">
                <a16:creationId xmlns:a16="http://schemas.microsoft.com/office/drawing/2014/main" id="{8254DB20-071D-CB1E-6578-9D16FAB74146}"/>
              </a:ext>
            </a:extLst>
          </p:cNvPr>
          <p:cNvPicPr>
            <a:picLocks noChangeAspect="1"/>
          </p:cNvPicPr>
          <p:nvPr/>
        </p:nvPicPr>
        <p:blipFill>
          <a:blip r:embed="rId2"/>
          <a:srcRect l="14688" t="9641" r="28906" b="18641"/>
          <a:stretch>
            <a:fillRect/>
          </a:stretch>
        </p:blipFill>
        <p:spPr>
          <a:xfrm>
            <a:off x="7709740" y="4014216"/>
            <a:ext cx="4346530" cy="2825943"/>
          </a:xfrm>
          <a:prstGeom prst="rect">
            <a:avLst/>
          </a:prstGeom>
          <a:ln>
            <a:noFill/>
          </a:ln>
        </p:spPr>
      </p:pic>
      <p:graphicFrame>
        <p:nvGraphicFramePr>
          <p:cNvPr id="13" name="Diagram 12">
            <a:extLst>
              <a:ext uri="{FF2B5EF4-FFF2-40B4-BE49-F238E27FC236}">
                <a16:creationId xmlns:a16="http://schemas.microsoft.com/office/drawing/2014/main" id="{602BC5DB-CB6F-D1D7-AF55-C551CBC27135}"/>
              </a:ext>
            </a:extLst>
          </p:cNvPr>
          <p:cNvGraphicFramePr/>
          <p:nvPr>
            <p:extLst>
              <p:ext uri="{D42A27DB-BD31-4B8C-83A1-F6EECF244321}">
                <p14:modId xmlns:p14="http://schemas.microsoft.com/office/powerpoint/2010/main" val="1012433978"/>
              </p:ext>
            </p:extLst>
          </p:nvPr>
        </p:nvGraphicFramePr>
        <p:xfrm>
          <a:off x="135730" y="320040"/>
          <a:ext cx="11184542" cy="39502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5AF7502D-1CC1-FFFC-D93A-6D719B022757}"/>
              </a:ext>
            </a:extLst>
          </p:cNvPr>
          <p:cNvSpPr txBox="1"/>
          <p:nvPr/>
        </p:nvSpPr>
        <p:spPr>
          <a:xfrm>
            <a:off x="282034" y="5107172"/>
            <a:ext cx="6119812" cy="1631216"/>
          </a:xfrm>
          <a:prstGeom prst="rect">
            <a:avLst/>
          </a:prstGeom>
          <a:noFill/>
          <a:ln>
            <a:solidFill>
              <a:schemeClr val="accent1"/>
            </a:solidFill>
          </a:ln>
        </p:spPr>
        <p:txBody>
          <a:bodyPr wrap="square">
            <a:spAutoFit/>
          </a:bodyPr>
          <a:lstStyle/>
          <a:p>
            <a:pPr>
              <a:buNone/>
            </a:pPr>
            <a:r>
              <a:rPr lang="en-IN" sz="1600" b="1" dirty="0">
                <a:highlight>
                  <a:srgbClr val="FFFF00"/>
                </a:highlight>
              </a:rPr>
              <a:t>What is a Failure Link?</a:t>
            </a:r>
          </a:p>
          <a:p>
            <a:pPr>
              <a:buNone/>
            </a:pPr>
            <a:r>
              <a:rPr lang="en-IN" sz="1600" dirty="0"/>
              <a:t>A </a:t>
            </a:r>
            <a:r>
              <a:rPr lang="en-IN" sz="1600" b="1" dirty="0"/>
              <a:t>Failure Link</a:t>
            </a:r>
            <a:r>
              <a:rPr lang="en-IN" sz="1600" dirty="0"/>
              <a:t> tells the algorithm:</a:t>
            </a:r>
          </a:p>
          <a:p>
            <a:pPr>
              <a:buNone/>
            </a:pPr>
            <a:r>
              <a:rPr lang="en-IN" sz="1600" b="1" dirty="0"/>
              <a:t>"If I cannot continue matching from the current node, where should I go next without starting over from the root?"</a:t>
            </a:r>
            <a:endParaRPr lang="en-IN" sz="1600" dirty="0"/>
          </a:p>
          <a:p>
            <a:pPr>
              <a:buNone/>
            </a:pPr>
            <a:r>
              <a:rPr lang="en-IN" sz="1600" dirty="0"/>
              <a:t>It allows the algorithm to </a:t>
            </a:r>
            <a:r>
              <a:rPr lang="en-IN" sz="1600" b="1" dirty="0"/>
              <a:t>reuse previously matched characters</a:t>
            </a:r>
            <a:r>
              <a:rPr lang="en-IN" sz="1600" dirty="0"/>
              <a:t> instead of rechecking them.</a:t>
            </a:r>
          </a:p>
        </p:txBody>
      </p:sp>
      <p:graphicFrame>
        <p:nvGraphicFramePr>
          <p:cNvPr id="2" name="Table 1">
            <a:extLst>
              <a:ext uri="{FF2B5EF4-FFF2-40B4-BE49-F238E27FC236}">
                <a16:creationId xmlns:a16="http://schemas.microsoft.com/office/drawing/2014/main" id="{0E06074B-57EC-06F0-8F1A-C19E0571E63A}"/>
              </a:ext>
            </a:extLst>
          </p:cNvPr>
          <p:cNvGraphicFramePr>
            <a:graphicFrameLocks noGrp="1"/>
          </p:cNvGraphicFramePr>
          <p:nvPr>
            <p:extLst>
              <p:ext uri="{D42A27DB-BD31-4B8C-83A1-F6EECF244321}">
                <p14:modId xmlns:p14="http://schemas.microsoft.com/office/powerpoint/2010/main" val="1100847191"/>
              </p:ext>
            </p:extLst>
          </p:nvPr>
        </p:nvGraphicFramePr>
        <p:xfrm>
          <a:off x="1623884" y="4270248"/>
          <a:ext cx="2253172" cy="640080"/>
        </p:xfrm>
        <a:graphic>
          <a:graphicData uri="http://schemas.openxmlformats.org/drawingml/2006/table">
            <a:tbl>
              <a:tblPr firstRow="1" bandRow="1">
                <a:tableStyleId>{5C22544A-7EE6-4342-B048-85BDC9FD1C3A}</a:tableStyleId>
              </a:tblPr>
              <a:tblGrid>
                <a:gridCol w="1126586">
                  <a:extLst>
                    <a:ext uri="{9D8B030D-6E8A-4147-A177-3AD203B41FA5}">
                      <a16:colId xmlns:a16="http://schemas.microsoft.com/office/drawing/2014/main" val="3147191087"/>
                    </a:ext>
                  </a:extLst>
                </a:gridCol>
                <a:gridCol w="1126586">
                  <a:extLst>
                    <a:ext uri="{9D8B030D-6E8A-4147-A177-3AD203B41FA5}">
                      <a16:colId xmlns:a16="http://schemas.microsoft.com/office/drawing/2014/main" val="3651167184"/>
                    </a:ext>
                  </a:extLst>
                </a:gridCol>
              </a:tblGrid>
              <a:tr h="640080">
                <a:tc>
                  <a:txBody>
                    <a:bodyPr/>
                    <a:lstStyle/>
                    <a:p>
                      <a:pPr algn="ctr"/>
                      <a:r>
                        <a:rPr lang="en-US" sz="3200" b="1" dirty="0">
                          <a:solidFill>
                            <a:schemeClr val="tx1"/>
                          </a:solidFill>
                        </a:rPr>
                        <a:t>h</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200" b="1" dirty="0">
                          <a:solidFill>
                            <a:schemeClr val="tx1"/>
                          </a:solidFill>
                        </a:rPr>
                        <a:t>s</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8110719"/>
                  </a:ext>
                </a:extLst>
              </a:tr>
            </a:tbl>
          </a:graphicData>
        </a:graphic>
      </p:graphicFrame>
      <p:sp>
        <p:nvSpPr>
          <p:cNvPr id="5" name="TextBox 4">
            <a:extLst>
              <a:ext uri="{FF2B5EF4-FFF2-40B4-BE49-F238E27FC236}">
                <a16:creationId xmlns:a16="http://schemas.microsoft.com/office/drawing/2014/main" id="{F94177C3-3649-B5BB-D999-67B9D9F02715}"/>
              </a:ext>
            </a:extLst>
          </p:cNvPr>
          <p:cNvSpPr txBox="1"/>
          <p:nvPr/>
        </p:nvSpPr>
        <p:spPr>
          <a:xfrm>
            <a:off x="282034" y="4067068"/>
            <a:ext cx="1426464" cy="523220"/>
          </a:xfrm>
          <a:prstGeom prst="rect">
            <a:avLst/>
          </a:prstGeom>
          <a:noFill/>
        </p:spPr>
        <p:txBody>
          <a:bodyPr wrap="square" rtlCol="0">
            <a:spAutoFit/>
          </a:bodyPr>
          <a:lstStyle/>
          <a:p>
            <a:r>
              <a:rPr lang="en-US" sz="2800" b="1" dirty="0"/>
              <a:t>QUEUE</a:t>
            </a:r>
            <a:endParaRPr lang="en-IN" sz="2800" b="1" dirty="0"/>
          </a:p>
        </p:txBody>
      </p:sp>
      <p:graphicFrame>
        <p:nvGraphicFramePr>
          <p:cNvPr id="8" name="Table 7">
            <a:extLst>
              <a:ext uri="{FF2B5EF4-FFF2-40B4-BE49-F238E27FC236}">
                <a16:creationId xmlns:a16="http://schemas.microsoft.com/office/drawing/2014/main" id="{54657D5C-1C32-D926-FE65-F0B422FF4C3A}"/>
              </a:ext>
            </a:extLst>
          </p:cNvPr>
          <p:cNvGraphicFramePr>
            <a:graphicFrameLocks noGrp="1"/>
          </p:cNvGraphicFramePr>
          <p:nvPr>
            <p:extLst>
              <p:ext uri="{D42A27DB-BD31-4B8C-83A1-F6EECF244321}">
                <p14:modId xmlns:p14="http://schemas.microsoft.com/office/powerpoint/2010/main" val="3367917648"/>
              </p:ext>
            </p:extLst>
          </p:nvPr>
        </p:nvGraphicFramePr>
        <p:xfrm>
          <a:off x="6583154" y="4039118"/>
          <a:ext cx="2253171" cy="579120"/>
        </p:xfrm>
        <a:graphic>
          <a:graphicData uri="http://schemas.openxmlformats.org/drawingml/2006/table">
            <a:tbl>
              <a:tblPr firstRow="1" bandRow="1">
                <a:tableStyleId>{5C22544A-7EE6-4342-B048-85BDC9FD1C3A}</a:tableStyleId>
              </a:tblPr>
              <a:tblGrid>
                <a:gridCol w="751057">
                  <a:extLst>
                    <a:ext uri="{9D8B030D-6E8A-4147-A177-3AD203B41FA5}">
                      <a16:colId xmlns:a16="http://schemas.microsoft.com/office/drawing/2014/main" val="3147191087"/>
                    </a:ext>
                  </a:extLst>
                </a:gridCol>
                <a:gridCol w="751057">
                  <a:extLst>
                    <a:ext uri="{9D8B030D-6E8A-4147-A177-3AD203B41FA5}">
                      <a16:colId xmlns:a16="http://schemas.microsoft.com/office/drawing/2014/main" val="3651167184"/>
                    </a:ext>
                  </a:extLst>
                </a:gridCol>
                <a:gridCol w="751057">
                  <a:extLst>
                    <a:ext uri="{9D8B030D-6E8A-4147-A177-3AD203B41FA5}">
                      <a16:colId xmlns:a16="http://schemas.microsoft.com/office/drawing/2014/main" val="3616358539"/>
                    </a:ext>
                  </a:extLst>
                </a:gridCol>
              </a:tblGrid>
              <a:tr h="523220">
                <a:tc>
                  <a:txBody>
                    <a:bodyPr/>
                    <a:lstStyle/>
                    <a:p>
                      <a:pPr algn="ctr"/>
                      <a:r>
                        <a:rPr lang="en-US" sz="3200" b="1" dirty="0">
                          <a:solidFill>
                            <a:schemeClr val="tx1"/>
                          </a:solidFill>
                        </a:rPr>
                        <a:t>s</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200" b="1" dirty="0">
                          <a:solidFill>
                            <a:schemeClr val="tx1"/>
                          </a:solidFill>
                        </a:rPr>
                        <a:t>he</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200" b="1" dirty="0">
                          <a:solidFill>
                            <a:schemeClr val="tx1"/>
                          </a:solidFill>
                        </a:rPr>
                        <a:t>hi</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8110719"/>
                  </a:ext>
                </a:extLst>
              </a:tr>
            </a:tbl>
          </a:graphicData>
        </a:graphic>
      </p:graphicFrame>
      <p:sp>
        <p:nvSpPr>
          <p:cNvPr id="10" name="TextBox 9">
            <a:extLst>
              <a:ext uri="{FF2B5EF4-FFF2-40B4-BE49-F238E27FC236}">
                <a16:creationId xmlns:a16="http://schemas.microsoft.com/office/drawing/2014/main" id="{41577D48-2478-FF58-16A4-51C2275AC916}"/>
              </a:ext>
            </a:extLst>
          </p:cNvPr>
          <p:cNvSpPr txBox="1"/>
          <p:nvPr/>
        </p:nvSpPr>
        <p:spPr>
          <a:xfrm>
            <a:off x="4802757" y="4152467"/>
            <a:ext cx="1426464" cy="523220"/>
          </a:xfrm>
          <a:prstGeom prst="rect">
            <a:avLst/>
          </a:prstGeom>
          <a:noFill/>
        </p:spPr>
        <p:txBody>
          <a:bodyPr wrap="square" rtlCol="0">
            <a:spAutoFit/>
          </a:bodyPr>
          <a:lstStyle/>
          <a:p>
            <a:r>
              <a:rPr lang="en-US" sz="2800" b="1" dirty="0"/>
              <a:t>QUEUE</a:t>
            </a:r>
            <a:endParaRPr lang="en-IN" sz="2800" b="1" dirty="0"/>
          </a:p>
        </p:txBody>
      </p:sp>
    </p:spTree>
    <p:extLst>
      <p:ext uri="{BB962C8B-B14F-4D97-AF65-F5344CB8AC3E}">
        <p14:creationId xmlns:p14="http://schemas.microsoft.com/office/powerpoint/2010/main" val="294880277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55001-A827-80B4-0308-1348FC8AAEE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6098136-84F1-9118-1102-545FBABAC7DC}"/>
              </a:ext>
            </a:extLst>
          </p:cNvPr>
          <p:cNvSpPr txBox="1"/>
          <p:nvPr/>
        </p:nvSpPr>
        <p:spPr>
          <a:xfrm>
            <a:off x="2066544" y="173421"/>
            <a:ext cx="5385007" cy="523220"/>
          </a:xfrm>
          <a:prstGeom prst="rect">
            <a:avLst/>
          </a:prstGeom>
          <a:solidFill>
            <a:schemeClr val="accent2">
              <a:lumMod val="20000"/>
              <a:lumOff val="80000"/>
            </a:schemeClr>
          </a:solidFill>
          <a:ln>
            <a:solidFill>
              <a:srgbClr val="C00000"/>
            </a:solidFill>
          </a:ln>
        </p:spPr>
        <p:txBody>
          <a:bodyPr wrap="square">
            <a:spAutoFit/>
          </a:bodyPr>
          <a:lstStyle/>
          <a:p>
            <a:r>
              <a:rPr lang="en-IN" sz="2800" b="1" dirty="0"/>
              <a:t>Step 3: Build the Failure Array</a:t>
            </a:r>
          </a:p>
        </p:txBody>
      </p:sp>
      <p:graphicFrame>
        <p:nvGraphicFramePr>
          <p:cNvPr id="7" name="Diagram 6">
            <a:extLst>
              <a:ext uri="{FF2B5EF4-FFF2-40B4-BE49-F238E27FC236}">
                <a16:creationId xmlns:a16="http://schemas.microsoft.com/office/drawing/2014/main" id="{5C872EE0-7EB4-F7A3-D0FC-43C970FCEF00}"/>
              </a:ext>
            </a:extLst>
          </p:cNvPr>
          <p:cNvGraphicFramePr/>
          <p:nvPr>
            <p:extLst>
              <p:ext uri="{D42A27DB-BD31-4B8C-83A1-F6EECF244321}">
                <p14:modId xmlns:p14="http://schemas.microsoft.com/office/powerpoint/2010/main" val="2258627484"/>
              </p:ext>
            </p:extLst>
          </p:nvPr>
        </p:nvGraphicFramePr>
        <p:xfrm>
          <a:off x="212186" y="1216152"/>
          <a:ext cx="11767628" cy="62087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id="{F2857F22-2EAC-8A34-220F-57A7E47752D1}"/>
              </a:ext>
            </a:extLst>
          </p:cNvPr>
          <p:cNvPicPr>
            <a:picLocks noChangeAspect="1"/>
          </p:cNvPicPr>
          <p:nvPr/>
        </p:nvPicPr>
        <p:blipFill>
          <a:blip r:embed="rId7"/>
          <a:srcRect l="14688" t="9641" r="28906" b="18641"/>
          <a:stretch>
            <a:fillRect/>
          </a:stretch>
        </p:blipFill>
        <p:spPr>
          <a:xfrm>
            <a:off x="8038079" y="139853"/>
            <a:ext cx="3595452" cy="1421582"/>
          </a:xfrm>
          <a:prstGeom prst="rect">
            <a:avLst/>
          </a:prstGeom>
          <a:ln>
            <a:noFill/>
          </a:ln>
        </p:spPr>
      </p:pic>
      <p:sp>
        <p:nvSpPr>
          <p:cNvPr id="8" name="TextBox 7">
            <a:extLst>
              <a:ext uri="{FF2B5EF4-FFF2-40B4-BE49-F238E27FC236}">
                <a16:creationId xmlns:a16="http://schemas.microsoft.com/office/drawing/2014/main" id="{A5CC20DE-C6BC-7895-83AC-0EE91E406AC2}"/>
              </a:ext>
            </a:extLst>
          </p:cNvPr>
          <p:cNvSpPr txBox="1"/>
          <p:nvPr/>
        </p:nvSpPr>
        <p:spPr>
          <a:xfrm>
            <a:off x="38701" y="800786"/>
            <a:ext cx="1426464" cy="523220"/>
          </a:xfrm>
          <a:prstGeom prst="rect">
            <a:avLst/>
          </a:prstGeom>
          <a:noFill/>
        </p:spPr>
        <p:txBody>
          <a:bodyPr wrap="square" rtlCol="0">
            <a:spAutoFit/>
          </a:bodyPr>
          <a:lstStyle/>
          <a:p>
            <a:r>
              <a:rPr lang="en-US" sz="2800" b="1" dirty="0"/>
              <a:t>QUEUE</a:t>
            </a:r>
            <a:endParaRPr lang="en-IN" sz="2800" b="1" dirty="0"/>
          </a:p>
        </p:txBody>
      </p:sp>
      <p:graphicFrame>
        <p:nvGraphicFramePr>
          <p:cNvPr id="12" name="Table 11">
            <a:extLst>
              <a:ext uri="{FF2B5EF4-FFF2-40B4-BE49-F238E27FC236}">
                <a16:creationId xmlns:a16="http://schemas.microsoft.com/office/drawing/2014/main" id="{C667EE00-A070-6549-53EB-0C7B69CB2F9F}"/>
              </a:ext>
            </a:extLst>
          </p:cNvPr>
          <p:cNvGraphicFramePr>
            <a:graphicFrameLocks noGrp="1"/>
          </p:cNvGraphicFramePr>
          <p:nvPr>
            <p:extLst>
              <p:ext uri="{D42A27DB-BD31-4B8C-83A1-F6EECF244321}">
                <p14:modId xmlns:p14="http://schemas.microsoft.com/office/powerpoint/2010/main" val="2244454691"/>
              </p:ext>
            </p:extLst>
          </p:nvPr>
        </p:nvGraphicFramePr>
        <p:xfrm>
          <a:off x="36547" y="1275761"/>
          <a:ext cx="2505959" cy="579120"/>
        </p:xfrm>
        <a:graphic>
          <a:graphicData uri="http://schemas.openxmlformats.org/drawingml/2006/table">
            <a:tbl>
              <a:tblPr firstRow="1" bandRow="1">
                <a:tableStyleId>{5C22544A-7EE6-4342-B048-85BDC9FD1C3A}</a:tableStyleId>
              </a:tblPr>
              <a:tblGrid>
                <a:gridCol w="731012">
                  <a:extLst>
                    <a:ext uri="{9D8B030D-6E8A-4147-A177-3AD203B41FA5}">
                      <a16:colId xmlns:a16="http://schemas.microsoft.com/office/drawing/2014/main" val="3147191087"/>
                    </a:ext>
                  </a:extLst>
                </a:gridCol>
                <a:gridCol w="845858">
                  <a:extLst>
                    <a:ext uri="{9D8B030D-6E8A-4147-A177-3AD203B41FA5}">
                      <a16:colId xmlns:a16="http://schemas.microsoft.com/office/drawing/2014/main" val="3651167184"/>
                    </a:ext>
                  </a:extLst>
                </a:gridCol>
                <a:gridCol w="929089">
                  <a:extLst>
                    <a:ext uri="{9D8B030D-6E8A-4147-A177-3AD203B41FA5}">
                      <a16:colId xmlns:a16="http://schemas.microsoft.com/office/drawing/2014/main" val="2563387086"/>
                    </a:ext>
                  </a:extLst>
                </a:gridCol>
              </a:tblGrid>
              <a:tr h="442987">
                <a:tc>
                  <a:txBody>
                    <a:bodyPr/>
                    <a:lstStyle/>
                    <a:p>
                      <a:pPr algn="ctr"/>
                      <a:r>
                        <a:rPr lang="en-US" sz="3200" b="1" dirty="0">
                          <a:solidFill>
                            <a:schemeClr val="tx1"/>
                          </a:solidFill>
                        </a:rPr>
                        <a:t>he</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200" b="1" dirty="0">
                          <a:solidFill>
                            <a:schemeClr val="tx1"/>
                          </a:solidFill>
                        </a:rPr>
                        <a:t>hi</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200" b="1" dirty="0" err="1">
                          <a:solidFill>
                            <a:schemeClr val="tx1"/>
                          </a:solidFill>
                        </a:rPr>
                        <a:t>sh</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8110719"/>
                  </a:ext>
                </a:extLst>
              </a:tr>
            </a:tbl>
          </a:graphicData>
        </a:graphic>
      </p:graphicFrame>
      <p:sp>
        <p:nvSpPr>
          <p:cNvPr id="14" name="TextBox 13">
            <a:extLst>
              <a:ext uri="{FF2B5EF4-FFF2-40B4-BE49-F238E27FC236}">
                <a16:creationId xmlns:a16="http://schemas.microsoft.com/office/drawing/2014/main" id="{5403F4EC-BBED-9AA1-5326-D51CDF33C5B4}"/>
              </a:ext>
            </a:extLst>
          </p:cNvPr>
          <p:cNvSpPr txBox="1"/>
          <p:nvPr/>
        </p:nvSpPr>
        <p:spPr>
          <a:xfrm>
            <a:off x="2619510" y="817200"/>
            <a:ext cx="1426464" cy="523220"/>
          </a:xfrm>
          <a:prstGeom prst="rect">
            <a:avLst/>
          </a:prstGeom>
          <a:noFill/>
        </p:spPr>
        <p:txBody>
          <a:bodyPr wrap="square" rtlCol="0">
            <a:spAutoFit/>
          </a:bodyPr>
          <a:lstStyle/>
          <a:p>
            <a:r>
              <a:rPr lang="en-US" sz="2800" b="1" dirty="0"/>
              <a:t>QUEUE</a:t>
            </a:r>
            <a:endParaRPr lang="en-IN" sz="2800" b="1" dirty="0"/>
          </a:p>
        </p:txBody>
      </p:sp>
      <p:graphicFrame>
        <p:nvGraphicFramePr>
          <p:cNvPr id="16" name="Table 15">
            <a:extLst>
              <a:ext uri="{FF2B5EF4-FFF2-40B4-BE49-F238E27FC236}">
                <a16:creationId xmlns:a16="http://schemas.microsoft.com/office/drawing/2014/main" id="{94F5679D-E6C4-8552-D23A-7C5CC427F486}"/>
              </a:ext>
            </a:extLst>
          </p:cNvPr>
          <p:cNvGraphicFramePr>
            <a:graphicFrameLocks noGrp="1"/>
          </p:cNvGraphicFramePr>
          <p:nvPr>
            <p:extLst>
              <p:ext uri="{D42A27DB-BD31-4B8C-83A1-F6EECF244321}">
                <p14:modId xmlns:p14="http://schemas.microsoft.com/office/powerpoint/2010/main" val="3514006117"/>
              </p:ext>
            </p:extLst>
          </p:nvPr>
        </p:nvGraphicFramePr>
        <p:xfrm>
          <a:off x="2872153" y="1286493"/>
          <a:ext cx="2505959" cy="579120"/>
        </p:xfrm>
        <a:graphic>
          <a:graphicData uri="http://schemas.openxmlformats.org/drawingml/2006/table">
            <a:tbl>
              <a:tblPr firstRow="1" bandRow="1">
                <a:tableStyleId>{5C22544A-7EE6-4342-B048-85BDC9FD1C3A}</a:tableStyleId>
              </a:tblPr>
              <a:tblGrid>
                <a:gridCol w="731012">
                  <a:extLst>
                    <a:ext uri="{9D8B030D-6E8A-4147-A177-3AD203B41FA5}">
                      <a16:colId xmlns:a16="http://schemas.microsoft.com/office/drawing/2014/main" val="3147191087"/>
                    </a:ext>
                  </a:extLst>
                </a:gridCol>
                <a:gridCol w="845858">
                  <a:extLst>
                    <a:ext uri="{9D8B030D-6E8A-4147-A177-3AD203B41FA5}">
                      <a16:colId xmlns:a16="http://schemas.microsoft.com/office/drawing/2014/main" val="3651167184"/>
                    </a:ext>
                  </a:extLst>
                </a:gridCol>
                <a:gridCol w="929089">
                  <a:extLst>
                    <a:ext uri="{9D8B030D-6E8A-4147-A177-3AD203B41FA5}">
                      <a16:colId xmlns:a16="http://schemas.microsoft.com/office/drawing/2014/main" val="2563387086"/>
                    </a:ext>
                  </a:extLst>
                </a:gridCol>
              </a:tblGrid>
              <a:tr h="442987">
                <a:tc>
                  <a:txBody>
                    <a:bodyPr/>
                    <a:lstStyle/>
                    <a:p>
                      <a:pPr algn="ctr"/>
                      <a:r>
                        <a:rPr lang="en-US" sz="3200" b="1" dirty="0">
                          <a:solidFill>
                            <a:schemeClr val="tx1"/>
                          </a:solidFill>
                        </a:rPr>
                        <a:t>hi</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200" b="1" dirty="0" err="1">
                          <a:solidFill>
                            <a:schemeClr val="tx1"/>
                          </a:solidFill>
                        </a:rPr>
                        <a:t>sh</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200" b="1" dirty="0">
                          <a:solidFill>
                            <a:schemeClr val="tx1"/>
                          </a:solidFill>
                        </a:rPr>
                        <a:t>her</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8110719"/>
                  </a:ext>
                </a:extLst>
              </a:tr>
            </a:tbl>
          </a:graphicData>
        </a:graphic>
      </p:graphicFrame>
      <p:sp>
        <p:nvSpPr>
          <p:cNvPr id="18" name="TextBox 17">
            <a:extLst>
              <a:ext uri="{FF2B5EF4-FFF2-40B4-BE49-F238E27FC236}">
                <a16:creationId xmlns:a16="http://schemas.microsoft.com/office/drawing/2014/main" id="{5488AEB7-A01C-F716-788F-398D3251C35E}"/>
              </a:ext>
            </a:extLst>
          </p:cNvPr>
          <p:cNvSpPr txBox="1"/>
          <p:nvPr/>
        </p:nvSpPr>
        <p:spPr>
          <a:xfrm>
            <a:off x="5578230" y="1354806"/>
            <a:ext cx="1340109" cy="461665"/>
          </a:xfrm>
          <a:prstGeom prst="rect">
            <a:avLst/>
          </a:prstGeom>
          <a:noFill/>
        </p:spPr>
        <p:txBody>
          <a:bodyPr wrap="square" rtlCol="0">
            <a:spAutoFit/>
          </a:bodyPr>
          <a:lstStyle/>
          <a:p>
            <a:r>
              <a:rPr lang="en-US" sz="2400" b="1" dirty="0"/>
              <a:t>QUEUE</a:t>
            </a:r>
            <a:endParaRPr lang="en-IN" sz="2400" b="1" dirty="0"/>
          </a:p>
        </p:txBody>
      </p:sp>
      <p:graphicFrame>
        <p:nvGraphicFramePr>
          <p:cNvPr id="20" name="Table 19">
            <a:extLst>
              <a:ext uri="{FF2B5EF4-FFF2-40B4-BE49-F238E27FC236}">
                <a16:creationId xmlns:a16="http://schemas.microsoft.com/office/drawing/2014/main" id="{776DC71D-61EB-E570-2ABF-2A06376C3CE6}"/>
              </a:ext>
            </a:extLst>
          </p:cNvPr>
          <p:cNvGraphicFramePr>
            <a:graphicFrameLocks noGrp="1"/>
          </p:cNvGraphicFramePr>
          <p:nvPr>
            <p:extLst>
              <p:ext uri="{D42A27DB-BD31-4B8C-83A1-F6EECF244321}">
                <p14:modId xmlns:p14="http://schemas.microsoft.com/office/powerpoint/2010/main" val="1580418459"/>
              </p:ext>
            </p:extLst>
          </p:nvPr>
        </p:nvGraphicFramePr>
        <p:xfrm>
          <a:off x="6613771" y="1600200"/>
          <a:ext cx="2583694" cy="579120"/>
        </p:xfrm>
        <a:graphic>
          <a:graphicData uri="http://schemas.openxmlformats.org/drawingml/2006/table">
            <a:tbl>
              <a:tblPr firstRow="1" bandRow="1">
                <a:tableStyleId>{5C22544A-7EE6-4342-B048-85BDC9FD1C3A}</a:tableStyleId>
              </a:tblPr>
              <a:tblGrid>
                <a:gridCol w="753689">
                  <a:extLst>
                    <a:ext uri="{9D8B030D-6E8A-4147-A177-3AD203B41FA5}">
                      <a16:colId xmlns:a16="http://schemas.microsoft.com/office/drawing/2014/main" val="3147191087"/>
                    </a:ext>
                  </a:extLst>
                </a:gridCol>
                <a:gridCol w="872096">
                  <a:extLst>
                    <a:ext uri="{9D8B030D-6E8A-4147-A177-3AD203B41FA5}">
                      <a16:colId xmlns:a16="http://schemas.microsoft.com/office/drawing/2014/main" val="3651167184"/>
                    </a:ext>
                  </a:extLst>
                </a:gridCol>
                <a:gridCol w="957909">
                  <a:extLst>
                    <a:ext uri="{9D8B030D-6E8A-4147-A177-3AD203B41FA5}">
                      <a16:colId xmlns:a16="http://schemas.microsoft.com/office/drawing/2014/main" val="2563387086"/>
                    </a:ext>
                  </a:extLst>
                </a:gridCol>
              </a:tblGrid>
              <a:tr h="578178">
                <a:tc>
                  <a:txBody>
                    <a:bodyPr/>
                    <a:lstStyle/>
                    <a:p>
                      <a:pPr algn="ctr"/>
                      <a:r>
                        <a:rPr lang="en-US" sz="3200" b="1" dirty="0" err="1">
                          <a:solidFill>
                            <a:schemeClr val="tx1"/>
                          </a:solidFill>
                        </a:rPr>
                        <a:t>sh</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200" b="1" dirty="0">
                          <a:solidFill>
                            <a:schemeClr val="tx1"/>
                          </a:solidFill>
                        </a:rPr>
                        <a:t>her</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200" b="1" dirty="0">
                          <a:solidFill>
                            <a:schemeClr val="tx1"/>
                          </a:solidFill>
                        </a:rPr>
                        <a:t>his</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8110719"/>
                  </a:ext>
                </a:extLst>
              </a:tr>
            </a:tbl>
          </a:graphicData>
        </a:graphic>
      </p:graphicFrame>
      <p:graphicFrame>
        <p:nvGraphicFramePr>
          <p:cNvPr id="22" name="Table 21">
            <a:extLst>
              <a:ext uri="{FF2B5EF4-FFF2-40B4-BE49-F238E27FC236}">
                <a16:creationId xmlns:a16="http://schemas.microsoft.com/office/drawing/2014/main" id="{8F94E619-7C91-DE57-9F9C-D3208966531D}"/>
              </a:ext>
            </a:extLst>
          </p:cNvPr>
          <p:cNvGraphicFramePr>
            <a:graphicFrameLocks noGrp="1"/>
          </p:cNvGraphicFramePr>
          <p:nvPr>
            <p:extLst>
              <p:ext uri="{D42A27DB-BD31-4B8C-83A1-F6EECF244321}">
                <p14:modId xmlns:p14="http://schemas.microsoft.com/office/powerpoint/2010/main" val="930754558"/>
              </p:ext>
            </p:extLst>
          </p:nvPr>
        </p:nvGraphicFramePr>
        <p:xfrm>
          <a:off x="9526381" y="1600200"/>
          <a:ext cx="2583694" cy="579120"/>
        </p:xfrm>
        <a:graphic>
          <a:graphicData uri="http://schemas.openxmlformats.org/drawingml/2006/table">
            <a:tbl>
              <a:tblPr firstRow="1" bandRow="1">
                <a:tableStyleId>{5C22544A-7EE6-4342-B048-85BDC9FD1C3A}</a:tableStyleId>
              </a:tblPr>
              <a:tblGrid>
                <a:gridCol w="753690">
                  <a:extLst>
                    <a:ext uri="{9D8B030D-6E8A-4147-A177-3AD203B41FA5}">
                      <a16:colId xmlns:a16="http://schemas.microsoft.com/office/drawing/2014/main" val="3147191087"/>
                    </a:ext>
                  </a:extLst>
                </a:gridCol>
                <a:gridCol w="872095">
                  <a:extLst>
                    <a:ext uri="{9D8B030D-6E8A-4147-A177-3AD203B41FA5}">
                      <a16:colId xmlns:a16="http://schemas.microsoft.com/office/drawing/2014/main" val="3651167184"/>
                    </a:ext>
                  </a:extLst>
                </a:gridCol>
                <a:gridCol w="957909">
                  <a:extLst>
                    <a:ext uri="{9D8B030D-6E8A-4147-A177-3AD203B41FA5}">
                      <a16:colId xmlns:a16="http://schemas.microsoft.com/office/drawing/2014/main" val="2563387086"/>
                    </a:ext>
                  </a:extLst>
                </a:gridCol>
              </a:tblGrid>
              <a:tr h="575726">
                <a:tc>
                  <a:txBody>
                    <a:bodyPr/>
                    <a:lstStyle/>
                    <a:p>
                      <a:pPr algn="ctr"/>
                      <a:r>
                        <a:rPr lang="en-US" sz="3200" b="1" dirty="0">
                          <a:solidFill>
                            <a:schemeClr val="tx1"/>
                          </a:solidFill>
                        </a:rPr>
                        <a:t>her</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200" b="1" dirty="0">
                          <a:solidFill>
                            <a:schemeClr val="tx1"/>
                          </a:solidFill>
                        </a:rPr>
                        <a:t>his</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200" b="1" dirty="0">
                          <a:solidFill>
                            <a:schemeClr val="tx1"/>
                          </a:solidFill>
                        </a:rPr>
                        <a:t>she</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8110719"/>
                  </a:ext>
                </a:extLst>
              </a:tr>
            </a:tbl>
          </a:graphicData>
        </a:graphic>
      </p:graphicFrame>
    </p:spTree>
    <p:extLst>
      <p:ext uri="{BB962C8B-B14F-4D97-AF65-F5344CB8AC3E}">
        <p14:creationId xmlns:p14="http://schemas.microsoft.com/office/powerpoint/2010/main" val="43529075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605D2-1366-EDA6-E598-42F19E7CFF0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D66FC2-13D5-D90F-C05D-90A120F62AC2}"/>
              </a:ext>
            </a:extLst>
          </p:cNvPr>
          <p:cNvSpPr txBox="1"/>
          <p:nvPr/>
        </p:nvSpPr>
        <p:spPr>
          <a:xfrm>
            <a:off x="2275426" y="96320"/>
            <a:ext cx="4710589" cy="523220"/>
          </a:xfrm>
          <a:prstGeom prst="rect">
            <a:avLst/>
          </a:prstGeom>
          <a:solidFill>
            <a:schemeClr val="accent2">
              <a:lumMod val="20000"/>
              <a:lumOff val="80000"/>
            </a:schemeClr>
          </a:solidFill>
          <a:ln>
            <a:solidFill>
              <a:srgbClr val="C00000"/>
            </a:solidFill>
          </a:ln>
        </p:spPr>
        <p:txBody>
          <a:bodyPr wrap="square">
            <a:spAutoFit/>
          </a:bodyPr>
          <a:lstStyle/>
          <a:p>
            <a:r>
              <a:rPr lang="en-IN" sz="2800" b="1" dirty="0"/>
              <a:t>Step 3: Build the Failure Array</a:t>
            </a:r>
          </a:p>
        </p:txBody>
      </p:sp>
      <p:pic>
        <p:nvPicPr>
          <p:cNvPr id="5" name="Picture 4">
            <a:extLst>
              <a:ext uri="{FF2B5EF4-FFF2-40B4-BE49-F238E27FC236}">
                <a16:creationId xmlns:a16="http://schemas.microsoft.com/office/drawing/2014/main" id="{439D54C2-7BBA-B9C6-4B51-28FD6AB8E6DC}"/>
              </a:ext>
            </a:extLst>
          </p:cNvPr>
          <p:cNvPicPr>
            <a:picLocks noChangeAspect="1"/>
          </p:cNvPicPr>
          <p:nvPr/>
        </p:nvPicPr>
        <p:blipFill>
          <a:blip r:embed="rId2"/>
          <a:srcRect l="14688" t="9641" r="28906" b="18641"/>
          <a:stretch>
            <a:fillRect/>
          </a:stretch>
        </p:blipFill>
        <p:spPr>
          <a:xfrm>
            <a:off x="7644385" y="35946"/>
            <a:ext cx="4212210" cy="1573398"/>
          </a:xfrm>
          <a:prstGeom prst="rect">
            <a:avLst/>
          </a:prstGeom>
          <a:ln>
            <a:noFill/>
          </a:ln>
        </p:spPr>
      </p:pic>
      <p:graphicFrame>
        <p:nvGraphicFramePr>
          <p:cNvPr id="7" name="Diagram 6">
            <a:extLst>
              <a:ext uri="{FF2B5EF4-FFF2-40B4-BE49-F238E27FC236}">
                <a16:creationId xmlns:a16="http://schemas.microsoft.com/office/drawing/2014/main" id="{652549D0-19B1-D4B4-C0F2-2E18DEA6C17A}"/>
              </a:ext>
            </a:extLst>
          </p:cNvPr>
          <p:cNvGraphicFramePr/>
          <p:nvPr>
            <p:extLst>
              <p:ext uri="{D42A27DB-BD31-4B8C-83A1-F6EECF244321}">
                <p14:modId xmlns:p14="http://schemas.microsoft.com/office/powerpoint/2010/main" val="1370713276"/>
              </p:ext>
            </p:extLst>
          </p:nvPr>
        </p:nvGraphicFramePr>
        <p:xfrm>
          <a:off x="137160" y="1682496"/>
          <a:ext cx="11905487" cy="50426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Table 3">
            <a:extLst>
              <a:ext uri="{FF2B5EF4-FFF2-40B4-BE49-F238E27FC236}">
                <a16:creationId xmlns:a16="http://schemas.microsoft.com/office/drawing/2014/main" id="{6969E347-75F7-B660-7F1E-E307B6177298}"/>
              </a:ext>
            </a:extLst>
          </p:cNvPr>
          <p:cNvGraphicFramePr>
            <a:graphicFrameLocks noGrp="1"/>
          </p:cNvGraphicFramePr>
          <p:nvPr>
            <p:extLst>
              <p:ext uri="{D42A27DB-BD31-4B8C-83A1-F6EECF244321}">
                <p14:modId xmlns:p14="http://schemas.microsoft.com/office/powerpoint/2010/main" val="3130339004"/>
              </p:ext>
            </p:extLst>
          </p:nvPr>
        </p:nvGraphicFramePr>
        <p:xfrm>
          <a:off x="208645" y="1011936"/>
          <a:ext cx="2583694" cy="579120"/>
        </p:xfrm>
        <a:graphic>
          <a:graphicData uri="http://schemas.openxmlformats.org/drawingml/2006/table">
            <a:tbl>
              <a:tblPr firstRow="1" bandRow="1">
                <a:tableStyleId>{5C22544A-7EE6-4342-B048-85BDC9FD1C3A}</a:tableStyleId>
              </a:tblPr>
              <a:tblGrid>
                <a:gridCol w="753690">
                  <a:extLst>
                    <a:ext uri="{9D8B030D-6E8A-4147-A177-3AD203B41FA5}">
                      <a16:colId xmlns:a16="http://schemas.microsoft.com/office/drawing/2014/main" val="3147191087"/>
                    </a:ext>
                  </a:extLst>
                </a:gridCol>
                <a:gridCol w="872095">
                  <a:extLst>
                    <a:ext uri="{9D8B030D-6E8A-4147-A177-3AD203B41FA5}">
                      <a16:colId xmlns:a16="http://schemas.microsoft.com/office/drawing/2014/main" val="3651167184"/>
                    </a:ext>
                  </a:extLst>
                </a:gridCol>
                <a:gridCol w="957909">
                  <a:extLst>
                    <a:ext uri="{9D8B030D-6E8A-4147-A177-3AD203B41FA5}">
                      <a16:colId xmlns:a16="http://schemas.microsoft.com/office/drawing/2014/main" val="2563387086"/>
                    </a:ext>
                  </a:extLst>
                </a:gridCol>
              </a:tblGrid>
              <a:tr h="575726">
                <a:tc>
                  <a:txBody>
                    <a:bodyPr/>
                    <a:lstStyle/>
                    <a:p>
                      <a:pPr algn="ctr"/>
                      <a:r>
                        <a:rPr lang="en-US" sz="3200" b="1" dirty="0">
                          <a:solidFill>
                            <a:schemeClr val="tx1"/>
                          </a:solidFill>
                        </a:rPr>
                        <a:t>his</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200" b="1" dirty="0">
                          <a:solidFill>
                            <a:schemeClr val="tx1"/>
                          </a:solidFill>
                        </a:rPr>
                        <a:t>she</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200" b="1" dirty="0">
                          <a:solidFill>
                            <a:schemeClr val="tx1"/>
                          </a:solidFill>
                        </a:rPr>
                        <a:t>hers</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8110719"/>
                  </a:ext>
                </a:extLst>
              </a:tr>
            </a:tbl>
          </a:graphicData>
        </a:graphic>
      </p:graphicFrame>
      <p:graphicFrame>
        <p:nvGraphicFramePr>
          <p:cNvPr id="8" name="Table 7">
            <a:extLst>
              <a:ext uri="{FF2B5EF4-FFF2-40B4-BE49-F238E27FC236}">
                <a16:creationId xmlns:a16="http://schemas.microsoft.com/office/drawing/2014/main" id="{51D77F60-F9B4-E276-332D-E205CDF7C8AA}"/>
              </a:ext>
            </a:extLst>
          </p:cNvPr>
          <p:cNvGraphicFramePr>
            <a:graphicFrameLocks noGrp="1"/>
          </p:cNvGraphicFramePr>
          <p:nvPr>
            <p:extLst>
              <p:ext uri="{D42A27DB-BD31-4B8C-83A1-F6EECF244321}">
                <p14:modId xmlns:p14="http://schemas.microsoft.com/office/powerpoint/2010/main" val="3740419590"/>
              </p:ext>
            </p:extLst>
          </p:nvPr>
        </p:nvGraphicFramePr>
        <p:xfrm>
          <a:off x="3715718" y="1008888"/>
          <a:ext cx="1830004" cy="579120"/>
        </p:xfrm>
        <a:graphic>
          <a:graphicData uri="http://schemas.openxmlformats.org/drawingml/2006/table">
            <a:tbl>
              <a:tblPr firstRow="1" bandRow="1">
                <a:tableStyleId>{5C22544A-7EE6-4342-B048-85BDC9FD1C3A}</a:tableStyleId>
              </a:tblPr>
              <a:tblGrid>
                <a:gridCol w="872095">
                  <a:extLst>
                    <a:ext uri="{9D8B030D-6E8A-4147-A177-3AD203B41FA5}">
                      <a16:colId xmlns:a16="http://schemas.microsoft.com/office/drawing/2014/main" val="3651167184"/>
                    </a:ext>
                  </a:extLst>
                </a:gridCol>
                <a:gridCol w="957909">
                  <a:extLst>
                    <a:ext uri="{9D8B030D-6E8A-4147-A177-3AD203B41FA5}">
                      <a16:colId xmlns:a16="http://schemas.microsoft.com/office/drawing/2014/main" val="2563387086"/>
                    </a:ext>
                  </a:extLst>
                </a:gridCol>
              </a:tblGrid>
              <a:tr h="575726">
                <a:tc>
                  <a:txBody>
                    <a:bodyPr/>
                    <a:lstStyle/>
                    <a:p>
                      <a:pPr algn="ctr"/>
                      <a:r>
                        <a:rPr lang="en-US" sz="3200" b="1" dirty="0">
                          <a:solidFill>
                            <a:schemeClr val="tx1"/>
                          </a:solidFill>
                        </a:rPr>
                        <a:t>she</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200" b="1" dirty="0">
                          <a:solidFill>
                            <a:schemeClr val="tx1"/>
                          </a:solidFill>
                        </a:rPr>
                        <a:t>hers</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8110719"/>
                  </a:ext>
                </a:extLst>
              </a:tr>
            </a:tbl>
          </a:graphicData>
        </a:graphic>
      </p:graphicFrame>
      <p:graphicFrame>
        <p:nvGraphicFramePr>
          <p:cNvPr id="10" name="Table 9">
            <a:extLst>
              <a:ext uri="{FF2B5EF4-FFF2-40B4-BE49-F238E27FC236}">
                <a16:creationId xmlns:a16="http://schemas.microsoft.com/office/drawing/2014/main" id="{9D7D0E5D-4AC3-7E85-8255-F1B8B184E23A}"/>
              </a:ext>
            </a:extLst>
          </p:cNvPr>
          <p:cNvGraphicFramePr>
            <a:graphicFrameLocks noGrp="1"/>
          </p:cNvGraphicFramePr>
          <p:nvPr>
            <p:extLst>
              <p:ext uri="{D42A27DB-BD31-4B8C-83A1-F6EECF244321}">
                <p14:modId xmlns:p14="http://schemas.microsoft.com/office/powerpoint/2010/main" val="483553553"/>
              </p:ext>
            </p:extLst>
          </p:nvPr>
        </p:nvGraphicFramePr>
        <p:xfrm>
          <a:off x="6729383" y="1903378"/>
          <a:ext cx="1646521" cy="579120"/>
        </p:xfrm>
        <a:graphic>
          <a:graphicData uri="http://schemas.openxmlformats.org/drawingml/2006/table">
            <a:tbl>
              <a:tblPr firstRow="1" bandRow="1">
                <a:tableStyleId>{5C22544A-7EE6-4342-B048-85BDC9FD1C3A}</a:tableStyleId>
              </a:tblPr>
              <a:tblGrid>
                <a:gridCol w="1646521">
                  <a:extLst>
                    <a:ext uri="{9D8B030D-6E8A-4147-A177-3AD203B41FA5}">
                      <a16:colId xmlns:a16="http://schemas.microsoft.com/office/drawing/2014/main" val="2563387086"/>
                    </a:ext>
                  </a:extLst>
                </a:gridCol>
              </a:tblGrid>
              <a:tr h="575726">
                <a:tc>
                  <a:txBody>
                    <a:bodyPr/>
                    <a:lstStyle/>
                    <a:p>
                      <a:pPr algn="ctr"/>
                      <a:r>
                        <a:rPr lang="en-US" sz="3200" b="1" dirty="0">
                          <a:solidFill>
                            <a:schemeClr val="tx1"/>
                          </a:solidFill>
                        </a:rPr>
                        <a:t>hers</a:t>
                      </a:r>
                      <a:endParaRPr lang="en-IN" sz="3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8110719"/>
                  </a:ext>
                </a:extLst>
              </a:tr>
            </a:tbl>
          </a:graphicData>
        </a:graphic>
      </p:graphicFrame>
    </p:spTree>
    <p:extLst>
      <p:ext uri="{BB962C8B-B14F-4D97-AF65-F5344CB8AC3E}">
        <p14:creationId xmlns:p14="http://schemas.microsoft.com/office/powerpoint/2010/main" val="162409521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48ED4-C4C8-C285-C30D-A03481E587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3965AE2-F4EE-E3A2-7784-E4C24EA212C8}"/>
              </a:ext>
            </a:extLst>
          </p:cNvPr>
          <p:cNvSpPr txBox="1"/>
          <p:nvPr/>
        </p:nvSpPr>
        <p:spPr>
          <a:xfrm>
            <a:off x="3543776" y="67022"/>
            <a:ext cx="6094000" cy="523220"/>
          </a:xfrm>
          <a:prstGeom prst="rect">
            <a:avLst/>
          </a:prstGeom>
          <a:solidFill>
            <a:schemeClr val="accent2">
              <a:lumMod val="20000"/>
              <a:lumOff val="80000"/>
            </a:schemeClr>
          </a:solidFill>
          <a:ln>
            <a:solidFill>
              <a:srgbClr val="C00000"/>
            </a:solidFill>
          </a:ln>
        </p:spPr>
        <p:txBody>
          <a:bodyPr wrap="square">
            <a:spAutoFit/>
          </a:bodyPr>
          <a:lstStyle/>
          <a:p>
            <a:pPr algn="ctr"/>
            <a:r>
              <a:rPr lang="en-IN" sz="2800" b="1" dirty="0"/>
              <a:t>Complete Failure Links</a:t>
            </a:r>
          </a:p>
        </p:txBody>
      </p:sp>
      <p:graphicFrame>
        <p:nvGraphicFramePr>
          <p:cNvPr id="2" name="Table 1">
            <a:extLst>
              <a:ext uri="{FF2B5EF4-FFF2-40B4-BE49-F238E27FC236}">
                <a16:creationId xmlns:a16="http://schemas.microsoft.com/office/drawing/2014/main" id="{5E826B50-8C45-DF3B-A825-D38DF8D4498C}"/>
              </a:ext>
            </a:extLst>
          </p:cNvPr>
          <p:cNvGraphicFramePr>
            <a:graphicFrameLocks noGrp="1"/>
          </p:cNvGraphicFramePr>
          <p:nvPr>
            <p:extLst>
              <p:ext uri="{D42A27DB-BD31-4B8C-83A1-F6EECF244321}">
                <p14:modId xmlns:p14="http://schemas.microsoft.com/office/powerpoint/2010/main" val="3385738351"/>
              </p:ext>
            </p:extLst>
          </p:nvPr>
        </p:nvGraphicFramePr>
        <p:xfrm>
          <a:off x="198499" y="683320"/>
          <a:ext cx="5733941" cy="6147248"/>
        </p:xfrm>
        <a:graphic>
          <a:graphicData uri="http://schemas.openxmlformats.org/drawingml/2006/table">
            <a:tbl>
              <a:tblPr>
                <a:tableStyleId>{5940675A-B579-460E-94D1-54222C63F5DA}</a:tableStyleId>
              </a:tblPr>
              <a:tblGrid>
                <a:gridCol w="746570">
                  <a:extLst>
                    <a:ext uri="{9D8B030D-6E8A-4147-A177-3AD203B41FA5}">
                      <a16:colId xmlns:a16="http://schemas.microsoft.com/office/drawing/2014/main" val="2787737518"/>
                    </a:ext>
                  </a:extLst>
                </a:gridCol>
                <a:gridCol w="1364879">
                  <a:extLst>
                    <a:ext uri="{9D8B030D-6E8A-4147-A177-3AD203B41FA5}">
                      <a16:colId xmlns:a16="http://schemas.microsoft.com/office/drawing/2014/main" val="713957815"/>
                    </a:ext>
                  </a:extLst>
                </a:gridCol>
                <a:gridCol w="1368369">
                  <a:extLst>
                    <a:ext uri="{9D8B030D-6E8A-4147-A177-3AD203B41FA5}">
                      <a16:colId xmlns:a16="http://schemas.microsoft.com/office/drawing/2014/main" val="3552626178"/>
                    </a:ext>
                  </a:extLst>
                </a:gridCol>
                <a:gridCol w="2254123">
                  <a:extLst>
                    <a:ext uri="{9D8B030D-6E8A-4147-A177-3AD203B41FA5}">
                      <a16:colId xmlns:a16="http://schemas.microsoft.com/office/drawing/2014/main" val="2413629798"/>
                    </a:ext>
                  </a:extLst>
                </a:gridCol>
              </a:tblGrid>
              <a:tr h="380368">
                <a:tc>
                  <a:txBody>
                    <a:bodyPr/>
                    <a:lstStyle/>
                    <a:p>
                      <a:pPr>
                        <a:buNone/>
                      </a:pPr>
                      <a:r>
                        <a:rPr lang="en-IN" sz="1800" b="1" dirty="0">
                          <a:latin typeface="Times New Roman" panose="02020603050405020304" pitchFamily="18" charset="0"/>
                          <a:cs typeface="Times New Roman" panose="02020603050405020304" pitchFamily="18" charset="0"/>
                        </a:rPr>
                        <a:t>Node</a:t>
                      </a:r>
                    </a:p>
                  </a:txBody>
                  <a:tcPr marL="71333" marR="71333" marT="35667" marB="35667" anchor="ctr"/>
                </a:tc>
                <a:tc>
                  <a:txBody>
                    <a:bodyPr/>
                    <a:lstStyle/>
                    <a:p>
                      <a:pPr>
                        <a:buNone/>
                      </a:pPr>
                      <a:r>
                        <a:rPr lang="en-IN" sz="1800" b="1" dirty="0">
                          <a:latin typeface="Times New Roman" panose="02020603050405020304" pitchFamily="18" charset="0"/>
                          <a:cs typeface="Times New Roman" panose="02020603050405020304" pitchFamily="18" charset="0"/>
                        </a:rPr>
                        <a:t>Represents</a:t>
                      </a:r>
                    </a:p>
                  </a:txBody>
                  <a:tcPr marL="71333" marR="71333" marT="35667" marB="35667" anchor="ctr"/>
                </a:tc>
                <a:tc>
                  <a:txBody>
                    <a:bodyPr/>
                    <a:lstStyle/>
                    <a:p>
                      <a:pPr>
                        <a:buNone/>
                      </a:pPr>
                      <a:r>
                        <a:rPr lang="en-IN" sz="1800" b="1" dirty="0">
                          <a:latin typeface="Times New Roman" panose="02020603050405020304" pitchFamily="18" charset="0"/>
                          <a:cs typeface="Times New Roman" panose="02020603050405020304" pitchFamily="18" charset="0"/>
                        </a:rPr>
                        <a:t>Failure Link</a:t>
                      </a:r>
                    </a:p>
                  </a:txBody>
                  <a:tcPr marL="71333" marR="71333" marT="35667" marB="35667" anchor="ctr"/>
                </a:tc>
                <a:tc>
                  <a:txBody>
                    <a:bodyPr/>
                    <a:lstStyle/>
                    <a:p>
                      <a:pPr>
                        <a:buNone/>
                      </a:pPr>
                      <a:r>
                        <a:rPr lang="en-IN" sz="1800" b="1" dirty="0">
                          <a:latin typeface="Times New Roman" panose="02020603050405020304" pitchFamily="18" charset="0"/>
                          <a:cs typeface="Times New Roman" panose="02020603050405020304" pitchFamily="18" charset="0"/>
                        </a:rPr>
                        <a:t>Reason</a:t>
                      </a:r>
                    </a:p>
                  </a:txBody>
                  <a:tcPr marL="71333" marR="71333" marT="35667" marB="35667" anchor="ctr"/>
                </a:tc>
                <a:extLst>
                  <a:ext uri="{0D108BD9-81ED-4DB2-BD59-A6C34878D82A}">
                    <a16:rowId xmlns:a16="http://schemas.microsoft.com/office/drawing/2014/main" val="1101784074"/>
                  </a:ext>
                </a:extLst>
              </a:tr>
              <a:tr h="380368">
                <a:tc>
                  <a:txBody>
                    <a:bodyPr/>
                    <a:lstStyle/>
                    <a:p>
                      <a:pPr>
                        <a:buNone/>
                      </a:pPr>
                      <a:r>
                        <a:rPr lang="en-IN" sz="2000" dirty="0">
                          <a:latin typeface="Times New Roman" panose="02020603050405020304" pitchFamily="18" charset="0"/>
                          <a:cs typeface="Times New Roman" panose="02020603050405020304" pitchFamily="18" charset="0"/>
                        </a:rPr>
                        <a:t>h</a:t>
                      </a:r>
                    </a:p>
                  </a:txBody>
                  <a:tcPr marL="71333" marR="71333" marT="35667" marB="35667" anchor="ctr"/>
                </a:tc>
                <a:tc>
                  <a:txBody>
                    <a:bodyPr/>
                    <a:lstStyle/>
                    <a:p>
                      <a:pPr>
                        <a:buNone/>
                      </a:pPr>
                      <a:r>
                        <a:rPr lang="en-IN" sz="2000" dirty="0">
                          <a:latin typeface="Times New Roman" panose="02020603050405020304" pitchFamily="18" charset="0"/>
                          <a:cs typeface="Times New Roman" panose="02020603050405020304" pitchFamily="18" charset="0"/>
                        </a:rPr>
                        <a:t>h</a:t>
                      </a:r>
                    </a:p>
                  </a:txBody>
                  <a:tcPr marL="71333" marR="71333" marT="35667" marB="35667" anchor="ctr"/>
                </a:tc>
                <a:tc>
                  <a:txBody>
                    <a:bodyPr/>
                    <a:lstStyle/>
                    <a:p>
                      <a:pPr>
                        <a:buNone/>
                      </a:pPr>
                      <a:r>
                        <a:rPr lang="en-IN" sz="2000" dirty="0">
                          <a:latin typeface="Times New Roman" panose="02020603050405020304" pitchFamily="18" charset="0"/>
                          <a:cs typeface="Times New Roman" panose="02020603050405020304" pitchFamily="18" charset="0"/>
                        </a:rPr>
                        <a:t>Root</a:t>
                      </a:r>
                    </a:p>
                  </a:txBody>
                  <a:tcPr marL="71333" marR="71333" marT="35667" marB="35667" anchor="ctr"/>
                </a:tc>
                <a:tc>
                  <a:txBody>
                    <a:bodyPr/>
                    <a:lstStyle/>
                    <a:p>
                      <a:pPr>
                        <a:buNone/>
                      </a:pPr>
                      <a:r>
                        <a:rPr lang="en-IN" sz="2000" dirty="0">
                          <a:latin typeface="Times New Roman" panose="02020603050405020304" pitchFamily="18" charset="0"/>
                          <a:cs typeface="Times New Roman" panose="02020603050405020304" pitchFamily="18" charset="0"/>
                        </a:rPr>
                        <a:t>Child of root</a:t>
                      </a:r>
                    </a:p>
                  </a:txBody>
                  <a:tcPr marL="71333" marR="71333" marT="35667" marB="35667" anchor="ctr"/>
                </a:tc>
                <a:extLst>
                  <a:ext uri="{0D108BD9-81ED-4DB2-BD59-A6C34878D82A}">
                    <a16:rowId xmlns:a16="http://schemas.microsoft.com/office/drawing/2014/main" val="2907233045"/>
                  </a:ext>
                </a:extLst>
              </a:tr>
              <a:tr h="380368">
                <a:tc>
                  <a:txBody>
                    <a:bodyPr/>
                    <a:lstStyle/>
                    <a:p>
                      <a:pPr>
                        <a:buNone/>
                      </a:pPr>
                      <a:r>
                        <a:rPr lang="en-IN" sz="2000" dirty="0">
                          <a:latin typeface="Times New Roman" panose="02020603050405020304" pitchFamily="18" charset="0"/>
                          <a:cs typeface="Times New Roman" panose="02020603050405020304" pitchFamily="18" charset="0"/>
                        </a:rPr>
                        <a:t>s</a:t>
                      </a:r>
                    </a:p>
                  </a:txBody>
                  <a:tcPr marL="71333" marR="71333" marT="35667" marB="35667" anchor="ctr"/>
                </a:tc>
                <a:tc>
                  <a:txBody>
                    <a:bodyPr/>
                    <a:lstStyle/>
                    <a:p>
                      <a:pPr>
                        <a:buNone/>
                      </a:pPr>
                      <a:r>
                        <a:rPr lang="en-IN" sz="2000">
                          <a:latin typeface="Times New Roman" panose="02020603050405020304" pitchFamily="18" charset="0"/>
                          <a:cs typeface="Times New Roman" panose="02020603050405020304" pitchFamily="18" charset="0"/>
                        </a:rPr>
                        <a:t>s</a:t>
                      </a:r>
                    </a:p>
                  </a:txBody>
                  <a:tcPr marL="71333" marR="71333" marT="35667" marB="35667" anchor="ctr"/>
                </a:tc>
                <a:tc>
                  <a:txBody>
                    <a:bodyPr/>
                    <a:lstStyle/>
                    <a:p>
                      <a:pPr>
                        <a:buNone/>
                      </a:pPr>
                      <a:r>
                        <a:rPr lang="en-IN" sz="2000" dirty="0">
                          <a:latin typeface="Times New Roman" panose="02020603050405020304" pitchFamily="18" charset="0"/>
                          <a:cs typeface="Times New Roman" panose="02020603050405020304" pitchFamily="18" charset="0"/>
                        </a:rPr>
                        <a:t>Root</a:t>
                      </a:r>
                    </a:p>
                  </a:txBody>
                  <a:tcPr marL="71333" marR="71333" marT="35667" marB="35667" anchor="ctr"/>
                </a:tc>
                <a:tc>
                  <a:txBody>
                    <a:bodyPr/>
                    <a:lstStyle/>
                    <a:p>
                      <a:pPr>
                        <a:buNone/>
                      </a:pPr>
                      <a:r>
                        <a:rPr lang="en-IN" sz="2000" dirty="0">
                          <a:latin typeface="Times New Roman" panose="02020603050405020304" pitchFamily="18" charset="0"/>
                          <a:cs typeface="Times New Roman" panose="02020603050405020304" pitchFamily="18" charset="0"/>
                        </a:rPr>
                        <a:t>Child of root</a:t>
                      </a:r>
                    </a:p>
                  </a:txBody>
                  <a:tcPr marL="71333" marR="71333" marT="35667" marB="35667" anchor="ctr"/>
                </a:tc>
                <a:extLst>
                  <a:ext uri="{0D108BD9-81ED-4DB2-BD59-A6C34878D82A}">
                    <a16:rowId xmlns:a16="http://schemas.microsoft.com/office/drawing/2014/main" val="2304246781"/>
                  </a:ext>
                </a:extLst>
              </a:tr>
              <a:tr h="674646">
                <a:tc>
                  <a:txBody>
                    <a:bodyPr/>
                    <a:lstStyle/>
                    <a:p>
                      <a:pPr>
                        <a:buNone/>
                      </a:pPr>
                      <a:r>
                        <a:rPr lang="en-IN" sz="2000">
                          <a:latin typeface="Times New Roman" panose="02020603050405020304" pitchFamily="18" charset="0"/>
                          <a:cs typeface="Times New Roman" panose="02020603050405020304" pitchFamily="18" charset="0"/>
                        </a:rPr>
                        <a:t>he</a:t>
                      </a:r>
                    </a:p>
                  </a:txBody>
                  <a:tcPr marL="71333" marR="71333" marT="35667" marB="35667" anchor="ctr"/>
                </a:tc>
                <a:tc>
                  <a:txBody>
                    <a:bodyPr/>
                    <a:lstStyle/>
                    <a:p>
                      <a:pPr>
                        <a:buNone/>
                      </a:pPr>
                      <a:r>
                        <a:rPr lang="en-IN" sz="2000">
                          <a:latin typeface="Times New Roman" panose="02020603050405020304" pitchFamily="18" charset="0"/>
                          <a:cs typeface="Times New Roman" panose="02020603050405020304" pitchFamily="18" charset="0"/>
                        </a:rPr>
                        <a:t>he</a:t>
                      </a:r>
                    </a:p>
                  </a:txBody>
                  <a:tcPr marL="71333" marR="71333" marT="35667" marB="35667" anchor="ctr"/>
                </a:tc>
                <a:tc>
                  <a:txBody>
                    <a:bodyPr/>
                    <a:lstStyle/>
                    <a:p>
                      <a:pPr>
                        <a:buNone/>
                      </a:pPr>
                      <a:r>
                        <a:rPr lang="en-IN" sz="2000" dirty="0">
                          <a:latin typeface="Times New Roman" panose="02020603050405020304" pitchFamily="18" charset="0"/>
                          <a:cs typeface="Times New Roman" panose="02020603050405020304" pitchFamily="18" charset="0"/>
                        </a:rPr>
                        <a:t>Root</a:t>
                      </a:r>
                    </a:p>
                  </a:txBody>
                  <a:tcPr marL="71333" marR="71333" marT="35667" marB="35667" anchor="ctr"/>
                </a:tc>
                <a:tc>
                  <a:txBody>
                    <a:bodyPr/>
                    <a:lstStyle/>
                    <a:p>
                      <a:pPr>
                        <a:buNone/>
                      </a:pPr>
                      <a:r>
                        <a:rPr lang="en-IN" sz="2000" dirty="0">
                          <a:latin typeface="Times New Roman" panose="02020603050405020304" pitchFamily="18" charset="0"/>
                          <a:cs typeface="Times New Roman" panose="02020603050405020304" pitchFamily="18" charset="0"/>
                        </a:rPr>
                        <a:t>No proper suffix is a pattern prefix</a:t>
                      </a:r>
                    </a:p>
                  </a:txBody>
                  <a:tcPr marL="71333" marR="71333" marT="35667" marB="35667" anchor="ctr"/>
                </a:tc>
                <a:extLst>
                  <a:ext uri="{0D108BD9-81ED-4DB2-BD59-A6C34878D82A}">
                    <a16:rowId xmlns:a16="http://schemas.microsoft.com/office/drawing/2014/main" val="1206135469"/>
                  </a:ext>
                </a:extLst>
              </a:tr>
              <a:tr h="674646">
                <a:tc>
                  <a:txBody>
                    <a:bodyPr/>
                    <a:lstStyle/>
                    <a:p>
                      <a:pPr>
                        <a:buNone/>
                      </a:pPr>
                      <a:r>
                        <a:rPr lang="en-IN" sz="2000" dirty="0">
                          <a:latin typeface="Times New Roman" panose="02020603050405020304" pitchFamily="18" charset="0"/>
                          <a:cs typeface="Times New Roman" panose="02020603050405020304" pitchFamily="18" charset="0"/>
                        </a:rPr>
                        <a:t>hi</a:t>
                      </a:r>
                    </a:p>
                  </a:txBody>
                  <a:tcPr marL="71333" marR="71333" marT="35667" marB="35667" anchor="ctr"/>
                </a:tc>
                <a:tc>
                  <a:txBody>
                    <a:bodyPr/>
                    <a:lstStyle/>
                    <a:p>
                      <a:pPr>
                        <a:buNone/>
                      </a:pPr>
                      <a:r>
                        <a:rPr lang="en-IN" sz="2000" dirty="0">
                          <a:latin typeface="Times New Roman" panose="02020603050405020304" pitchFamily="18" charset="0"/>
                          <a:cs typeface="Times New Roman" panose="02020603050405020304" pitchFamily="18" charset="0"/>
                        </a:rPr>
                        <a:t>hi</a:t>
                      </a:r>
                    </a:p>
                  </a:txBody>
                  <a:tcPr marL="71333" marR="71333" marT="35667" marB="35667" anchor="ctr"/>
                </a:tc>
                <a:tc>
                  <a:txBody>
                    <a:bodyPr/>
                    <a:lstStyle/>
                    <a:p>
                      <a:pPr>
                        <a:buNone/>
                      </a:pPr>
                      <a:r>
                        <a:rPr lang="en-IN" sz="2000" dirty="0">
                          <a:latin typeface="Times New Roman" panose="02020603050405020304" pitchFamily="18" charset="0"/>
                          <a:cs typeface="Times New Roman" panose="02020603050405020304" pitchFamily="18" charset="0"/>
                        </a:rPr>
                        <a:t>Root</a:t>
                      </a:r>
                    </a:p>
                  </a:txBody>
                  <a:tcPr marL="71333" marR="71333" marT="35667" marB="35667" anchor="ctr"/>
                </a:tc>
                <a:tc>
                  <a:txBody>
                    <a:bodyPr/>
                    <a:lstStyle/>
                    <a:p>
                      <a:pPr>
                        <a:buNone/>
                      </a:pPr>
                      <a:r>
                        <a:rPr lang="en-IN" sz="2000" dirty="0">
                          <a:latin typeface="Times New Roman" panose="02020603050405020304" pitchFamily="18" charset="0"/>
                          <a:cs typeface="Times New Roman" panose="02020603050405020304" pitchFamily="18" charset="0"/>
                        </a:rPr>
                        <a:t>No proper suffix is a pattern prefix</a:t>
                      </a:r>
                    </a:p>
                  </a:txBody>
                  <a:tcPr marL="71333" marR="71333" marT="35667" marB="35667" anchor="ctr"/>
                </a:tc>
                <a:extLst>
                  <a:ext uri="{0D108BD9-81ED-4DB2-BD59-A6C34878D82A}">
                    <a16:rowId xmlns:a16="http://schemas.microsoft.com/office/drawing/2014/main" val="1919845639"/>
                  </a:ext>
                </a:extLst>
              </a:tr>
              <a:tr h="674646">
                <a:tc>
                  <a:txBody>
                    <a:bodyPr/>
                    <a:lstStyle/>
                    <a:p>
                      <a:pPr>
                        <a:buNone/>
                      </a:pPr>
                      <a:r>
                        <a:rPr lang="en-IN" sz="2000" dirty="0" err="1">
                          <a:latin typeface="Times New Roman" panose="02020603050405020304" pitchFamily="18" charset="0"/>
                          <a:cs typeface="Times New Roman" panose="02020603050405020304" pitchFamily="18" charset="0"/>
                        </a:rPr>
                        <a:t>sh</a:t>
                      </a:r>
                      <a:endParaRPr lang="en-IN" sz="2000" dirty="0">
                        <a:latin typeface="Times New Roman" panose="02020603050405020304" pitchFamily="18" charset="0"/>
                        <a:cs typeface="Times New Roman" panose="02020603050405020304" pitchFamily="18" charset="0"/>
                      </a:endParaRPr>
                    </a:p>
                  </a:txBody>
                  <a:tcPr marL="71333" marR="71333" marT="35667" marB="35667" anchor="ctr"/>
                </a:tc>
                <a:tc>
                  <a:txBody>
                    <a:bodyPr/>
                    <a:lstStyle/>
                    <a:p>
                      <a:pPr>
                        <a:buNone/>
                      </a:pPr>
                      <a:r>
                        <a:rPr lang="en-IN" sz="2000" dirty="0" err="1">
                          <a:latin typeface="Times New Roman" panose="02020603050405020304" pitchFamily="18" charset="0"/>
                          <a:cs typeface="Times New Roman" panose="02020603050405020304" pitchFamily="18" charset="0"/>
                        </a:rPr>
                        <a:t>sh</a:t>
                      </a:r>
                      <a:endParaRPr lang="en-IN" sz="2000" dirty="0">
                        <a:latin typeface="Times New Roman" panose="02020603050405020304" pitchFamily="18" charset="0"/>
                        <a:cs typeface="Times New Roman" panose="02020603050405020304" pitchFamily="18" charset="0"/>
                      </a:endParaRPr>
                    </a:p>
                  </a:txBody>
                  <a:tcPr marL="71333" marR="71333" marT="35667" marB="35667" anchor="ctr"/>
                </a:tc>
                <a:tc>
                  <a:txBody>
                    <a:bodyPr/>
                    <a:lstStyle/>
                    <a:p>
                      <a:pPr>
                        <a:buNone/>
                      </a:pPr>
                      <a:r>
                        <a:rPr lang="en-IN" sz="2000" dirty="0">
                          <a:latin typeface="Times New Roman" panose="02020603050405020304" pitchFamily="18" charset="0"/>
                          <a:cs typeface="Times New Roman" panose="02020603050405020304" pitchFamily="18" charset="0"/>
                        </a:rPr>
                        <a:t>h</a:t>
                      </a:r>
                    </a:p>
                  </a:txBody>
                  <a:tcPr marL="71333" marR="71333" marT="35667" marB="35667" anchor="ctr"/>
                </a:tc>
                <a:tc>
                  <a:txBody>
                    <a:bodyPr/>
                    <a:lstStyle/>
                    <a:p>
                      <a:pPr>
                        <a:buNone/>
                      </a:pPr>
                      <a:r>
                        <a:rPr lang="en-IN" sz="2000" dirty="0">
                          <a:latin typeface="Times New Roman" panose="02020603050405020304" pitchFamily="18" charset="0"/>
                          <a:cs typeface="Times New Roman" panose="02020603050405020304" pitchFamily="18" charset="0"/>
                        </a:rPr>
                        <a:t>Suffix </a:t>
                      </a:r>
                      <a:r>
                        <a:rPr lang="en-IN" sz="2000" b="1" dirty="0">
                          <a:latin typeface="Times New Roman" panose="02020603050405020304" pitchFamily="18" charset="0"/>
                          <a:cs typeface="Times New Roman" panose="02020603050405020304" pitchFamily="18" charset="0"/>
                        </a:rPr>
                        <a:t>"h"</a:t>
                      </a:r>
                      <a:r>
                        <a:rPr lang="en-IN" sz="2000" dirty="0">
                          <a:latin typeface="Times New Roman" panose="02020603050405020304" pitchFamily="18" charset="0"/>
                          <a:cs typeface="Times New Roman" panose="02020603050405020304" pitchFamily="18" charset="0"/>
                        </a:rPr>
                        <a:t> is a pattern prefix</a:t>
                      </a:r>
                    </a:p>
                  </a:txBody>
                  <a:tcPr marL="71333" marR="71333" marT="35667" marB="35667" anchor="ctr"/>
                </a:tc>
                <a:extLst>
                  <a:ext uri="{0D108BD9-81ED-4DB2-BD59-A6C34878D82A}">
                    <a16:rowId xmlns:a16="http://schemas.microsoft.com/office/drawing/2014/main" val="279732680"/>
                  </a:ext>
                </a:extLst>
              </a:tr>
              <a:tr h="674646">
                <a:tc>
                  <a:txBody>
                    <a:bodyPr/>
                    <a:lstStyle/>
                    <a:p>
                      <a:pPr>
                        <a:buNone/>
                      </a:pPr>
                      <a:r>
                        <a:rPr lang="en-IN" sz="2000">
                          <a:latin typeface="Times New Roman" panose="02020603050405020304" pitchFamily="18" charset="0"/>
                          <a:cs typeface="Times New Roman" panose="02020603050405020304" pitchFamily="18" charset="0"/>
                        </a:rPr>
                        <a:t>her</a:t>
                      </a:r>
                    </a:p>
                  </a:txBody>
                  <a:tcPr marL="71333" marR="71333" marT="35667" marB="35667" anchor="ctr"/>
                </a:tc>
                <a:tc>
                  <a:txBody>
                    <a:bodyPr/>
                    <a:lstStyle/>
                    <a:p>
                      <a:pPr>
                        <a:buNone/>
                      </a:pPr>
                      <a:r>
                        <a:rPr lang="en-IN" sz="2000">
                          <a:latin typeface="Times New Roman" panose="02020603050405020304" pitchFamily="18" charset="0"/>
                          <a:cs typeface="Times New Roman" panose="02020603050405020304" pitchFamily="18" charset="0"/>
                        </a:rPr>
                        <a:t>her</a:t>
                      </a:r>
                    </a:p>
                  </a:txBody>
                  <a:tcPr marL="71333" marR="71333" marT="35667" marB="35667" anchor="ctr"/>
                </a:tc>
                <a:tc>
                  <a:txBody>
                    <a:bodyPr/>
                    <a:lstStyle/>
                    <a:p>
                      <a:pPr>
                        <a:buNone/>
                      </a:pPr>
                      <a:r>
                        <a:rPr lang="en-IN" sz="2000">
                          <a:latin typeface="Times New Roman" panose="02020603050405020304" pitchFamily="18" charset="0"/>
                          <a:cs typeface="Times New Roman" panose="02020603050405020304" pitchFamily="18" charset="0"/>
                        </a:rPr>
                        <a:t>Root</a:t>
                      </a:r>
                    </a:p>
                  </a:txBody>
                  <a:tcPr marL="71333" marR="71333" marT="35667" marB="35667" anchor="ctr"/>
                </a:tc>
                <a:tc>
                  <a:txBody>
                    <a:bodyPr/>
                    <a:lstStyle/>
                    <a:p>
                      <a:pPr>
                        <a:buNone/>
                      </a:pPr>
                      <a:r>
                        <a:rPr lang="en-IN" sz="2000" dirty="0">
                          <a:latin typeface="Times New Roman" panose="02020603050405020304" pitchFamily="18" charset="0"/>
                          <a:cs typeface="Times New Roman" panose="02020603050405020304" pitchFamily="18" charset="0"/>
                        </a:rPr>
                        <a:t>No matching suffix-prefix</a:t>
                      </a:r>
                    </a:p>
                  </a:txBody>
                  <a:tcPr marL="71333" marR="71333" marT="35667" marB="35667" anchor="ctr"/>
                </a:tc>
                <a:extLst>
                  <a:ext uri="{0D108BD9-81ED-4DB2-BD59-A6C34878D82A}">
                    <a16:rowId xmlns:a16="http://schemas.microsoft.com/office/drawing/2014/main" val="1334800506"/>
                  </a:ext>
                </a:extLst>
              </a:tr>
              <a:tr h="674646">
                <a:tc>
                  <a:txBody>
                    <a:bodyPr/>
                    <a:lstStyle/>
                    <a:p>
                      <a:pPr>
                        <a:buNone/>
                      </a:pPr>
                      <a:r>
                        <a:rPr lang="en-IN" sz="2000">
                          <a:latin typeface="Times New Roman" panose="02020603050405020304" pitchFamily="18" charset="0"/>
                          <a:cs typeface="Times New Roman" panose="02020603050405020304" pitchFamily="18" charset="0"/>
                        </a:rPr>
                        <a:t>his</a:t>
                      </a:r>
                    </a:p>
                  </a:txBody>
                  <a:tcPr marL="71333" marR="71333" marT="35667" marB="35667" anchor="ctr"/>
                </a:tc>
                <a:tc>
                  <a:txBody>
                    <a:bodyPr/>
                    <a:lstStyle/>
                    <a:p>
                      <a:pPr>
                        <a:buNone/>
                      </a:pPr>
                      <a:r>
                        <a:rPr lang="en-IN" sz="2000">
                          <a:latin typeface="Times New Roman" panose="02020603050405020304" pitchFamily="18" charset="0"/>
                          <a:cs typeface="Times New Roman" panose="02020603050405020304" pitchFamily="18" charset="0"/>
                        </a:rPr>
                        <a:t>his</a:t>
                      </a:r>
                    </a:p>
                  </a:txBody>
                  <a:tcPr marL="71333" marR="71333" marT="35667" marB="35667" anchor="ctr"/>
                </a:tc>
                <a:tc>
                  <a:txBody>
                    <a:bodyPr/>
                    <a:lstStyle/>
                    <a:p>
                      <a:pPr>
                        <a:buNone/>
                      </a:pPr>
                      <a:r>
                        <a:rPr lang="en-IN" sz="2000">
                          <a:latin typeface="Times New Roman" panose="02020603050405020304" pitchFamily="18" charset="0"/>
                          <a:cs typeface="Times New Roman" panose="02020603050405020304" pitchFamily="18" charset="0"/>
                        </a:rPr>
                        <a:t>s</a:t>
                      </a:r>
                    </a:p>
                  </a:txBody>
                  <a:tcPr marL="71333" marR="71333" marT="35667" marB="35667" anchor="ctr"/>
                </a:tc>
                <a:tc>
                  <a:txBody>
                    <a:bodyPr/>
                    <a:lstStyle/>
                    <a:p>
                      <a:pPr>
                        <a:buNone/>
                      </a:pPr>
                      <a:r>
                        <a:rPr lang="en-IN" sz="2000" dirty="0">
                          <a:latin typeface="Times New Roman" panose="02020603050405020304" pitchFamily="18" charset="0"/>
                          <a:cs typeface="Times New Roman" panose="02020603050405020304" pitchFamily="18" charset="0"/>
                        </a:rPr>
                        <a:t>Suffix </a:t>
                      </a:r>
                      <a:r>
                        <a:rPr lang="en-IN" sz="2000" b="1" dirty="0">
                          <a:latin typeface="Times New Roman" panose="02020603050405020304" pitchFamily="18" charset="0"/>
                          <a:cs typeface="Times New Roman" panose="02020603050405020304" pitchFamily="18" charset="0"/>
                        </a:rPr>
                        <a:t>"s"</a:t>
                      </a:r>
                      <a:r>
                        <a:rPr lang="en-IN" sz="2000" dirty="0">
                          <a:latin typeface="Times New Roman" panose="02020603050405020304" pitchFamily="18" charset="0"/>
                          <a:cs typeface="Times New Roman" panose="02020603050405020304" pitchFamily="18" charset="0"/>
                        </a:rPr>
                        <a:t> is a pattern prefix</a:t>
                      </a:r>
                    </a:p>
                  </a:txBody>
                  <a:tcPr marL="71333" marR="71333" marT="35667" marB="35667" anchor="ctr"/>
                </a:tc>
                <a:extLst>
                  <a:ext uri="{0D108BD9-81ED-4DB2-BD59-A6C34878D82A}">
                    <a16:rowId xmlns:a16="http://schemas.microsoft.com/office/drawing/2014/main" val="1580453351"/>
                  </a:ext>
                </a:extLst>
              </a:tr>
              <a:tr h="674646">
                <a:tc>
                  <a:txBody>
                    <a:bodyPr/>
                    <a:lstStyle/>
                    <a:p>
                      <a:pPr>
                        <a:buNone/>
                      </a:pPr>
                      <a:r>
                        <a:rPr lang="en-IN" sz="2000">
                          <a:latin typeface="Times New Roman" panose="02020603050405020304" pitchFamily="18" charset="0"/>
                          <a:cs typeface="Times New Roman" panose="02020603050405020304" pitchFamily="18" charset="0"/>
                        </a:rPr>
                        <a:t>she</a:t>
                      </a:r>
                    </a:p>
                  </a:txBody>
                  <a:tcPr marL="71333" marR="71333" marT="35667" marB="35667" anchor="ctr"/>
                </a:tc>
                <a:tc>
                  <a:txBody>
                    <a:bodyPr/>
                    <a:lstStyle/>
                    <a:p>
                      <a:pPr>
                        <a:buNone/>
                      </a:pPr>
                      <a:r>
                        <a:rPr lang="en-IN" sz="2000">
                          <a:latin typeface="Times New Roman" panose="02020603050405020304" pitchFamily="18" charset="0"/>
                          <a:cs typeface="Times New Roman" panose="02020603050405020304" pitchFamily="18" charset="0"/>
                        </a:rPr>
                        <a:t>she</a:t>
                      </a:r>
                    </a:p>
                  </a:txBody>
                  <a:tcPr marL="71333" marR="71333" marT="35667" marB="35667" anchor="ctr"/>
                </a:tc>
                <a:tc>
                  <a:txBody>
                    <a:bodyPr/>
                    <a:lstStyle/>
                    <a:p>
                      <a:pPr>
                        <a:buNone/>
                      </a:pPr>
                      <a:r>
                        <a:rPr lang="en-IN" sz="2000">
                          <a:latin typeface="Times New Roman" panose="02020603050405020304" pitchFamily="18" charset="0"/>
                          <a:cs typeface="Times New Roman" panose="02020603050405020304" pitchFamily="18" charset="0"/>
                        </a:rPr>
                        <a:t>he</a:t>
                      </a:r>
                    </a:p>
                  </a:txBody>
                  <a:tcPr marL="71333" marR="71333" marT="35667" marB="35667" anchor="ctr"/>
                </a:tc>
                <a:tc>
                  <a:txBody>
                    <a:bodyPr/>
                    <a:lstStyle/>
                    <a:p>
                      <a:pPr>
                        <a:buNone/>
                      </a:pPr>
                      <a:r>
                        <a:rPr lang="en-IN" sz="2000" dirty="0">
                          <a:latin typeface="Times New Roman" panose="02020603050405020304" pitchFamily="18" charset="0"/>
                          <a:cs typeface="Times New Roman" panose="02020603050405020304" pitchFamily="18" charset="0"/>
                        </a:rPr>
                        <a:t>Suffix </a:t>
                      </a:r>
                      <a:r>
                        <a:rPr lang="en-IN" sz="2000" b="1" dirty="0">
                          <a:latin typeface="Times New Roman" panose="02020603050405020304" pitchFamily="18" charset="0"/>
                          <a:cs typeface="Times New Roman" panose="02020603050405020304" pitchFamily="18" charset="0"/>
                        </a:rPr>
                        <a:t>"he" </a:t>
                      </a:r>
                      <a:r>
                        <a:rPr lang="en-IN" sz="2000" dirty="0">
                          <a:latin typeface="Times New Roman" panose="02020603050405020304" pitchFamily="18" charset="0"/>
                          <a:cs typeface="Times New Roman" panose="02020603050405020304" pitchFamily="18" charset="0"/>
                        </a:rPr>
                        <a:t>is a pattern prefix</a:t>
                      </a:r>
                    </a:p>
                  </a:txBody>
                  <a:tcPr marL="71333" marR="71333" marT="35667" marB="35667" anchor="ctr"/>
                </a:tc>
                <a:extLst>
                  <a:ext uri="{0D108BD9-81ED-4DB2-BD59-A6C34878D82A}">
                    <a16:rowId xmlns:a16="http://schemas.microsoft.com/office/drawing/2014/main" val="2303643265"/>
                  </a:ext>
                </a:extLst>
              </a:tr>
              <a:tr h="674646">
                <a:tc>
                  <a:txBody>
                    <a:bodyPr/>
                    <a:lstStyle/>
                    <a:p>
                      <a:pPr>
                        <a:buNone/>
                      </a:pPr>
                      <a:r>
                        <a:rPr lang="en-IN" sz="2000">
                          <a:latin typeface="Times New Roman" panose="02020603050405020304" pitchFamily="18" charset="0"/>
                          <a:cs typeface="Times New Roman" panose="02020603050405020304" pitchFamily="18" charset="0"/>
                        </a:rPr>
                        <a:t>hers</a:t>
                      </a:r>
                    </a:p>
                  </a:txBody>
                  <a:tcPr marL="71333" marR="71333" marT="35667" marB="35667" anchor="ctr"/>
                </a:tc>
                <a:tc>
                  <a:txBody>
                    <a:bodyPr/>
                    <a:lstStyle/>
                    <a:p>
                      <a:pPr>
                        <a:buNone/>
                      </a:pPr>
                      <a:r>
                        <a:rPr lang="en-IN" sz="2000">
                          <a:latin typeface="Times New Roman" panose="02020603050405020304" pitchFamily="18" charset="0"/>
                          <a:cs typeface="Times New Roman" panose="02020603050405020304" pitchFamily="18" charset="0"/>
                        </a:rPr>
                        <a:t>hers</a:t>
                      </a:r>
                    </a:p>
                  </a:txBody>
                  <a:tcPr marL="71333" marR="71333" marT="35667" marB="35667" anchor="ctr"/>
                </a:tc>
                <a:tc>
                  <a:txBody>
                    <a:bodyPr/>
                    <a:lstStyle/>
                    <a:p>
                      <a:pPr>
                        <a:buNone/>
                      </a:pPr>
                      <a:r>
                        <a:rPr lang="en-IN" sz="2000">
                          <a:latin typeface="Times New Roman" panose="02020603050405020304" pitchFamily="18" charset="0"/>
                          <a:cs typeface="Times New Roman" panose="02020603050405020304" pitchFamily="18" charset="0"/>
                        </a:rPr>
                        <a:t>s</a:t>
                      </a:r>
                    </a:p>
                  </a:txBody>
                  <a:tcPr marL="71333" marR="71333" marT="35667" marB="35667" anchor="ctr"/>
                </a:tc>
                <a:tc>
                  <a:txBody>
                    <a:bodyPr/>
                    <a:lstStyle/>
                    <a:p>
                      <a:pPr>
                        <a:buNone/>
                      </a:pPr>
                      <a:r>
                        <a:rPr lang="en-IN" sz="2000" dirty="0">
                          <a:latin typeface="Times New Roman" panose="02020603050405020304" pitchFamily="18" charset="0"/>
                          <a:cs typeface="Times New Roman" panose="02020603050405020304" pitchFamily="18" charset="0"/>
                        </a:rPr>
                        <a:t>Suffix </a:t>
                      </a:r>
                      <a:r>
                        <a:rPr lang="en-IN" sz="2000" b="1" dirty="0">
                          <a:latin typeface="Times New Roman" panose="02020603050405020304" pitchFamily="18" charset="0"/>
                          <a:cs typeface="Times New Roman" panose="02020603050405020304" pitchFamily="18" charset="0"/>
                        </a:rPr>
                        <a:t>"s"</a:t>
                      </a:r>
                      <a:r>
                        <a:rPr lang="en-IN" sz="2000" dirty="0">
                          <a:latin typeface="Times New Roman" panose="02020603050405020304" pitchFamily="18" charset="0"/>
                          <a:cs typeface="Times New Roman" panose="02020603050405020304" pitchFamily="18" charset="0"/>
                        </a:rPr>
                        <a:t> is a pattern prefix</a:t>
                      </a:r>
                    </a:p>
                  </a:txBody>
                  <a:tcPr marL="71333" marR="71333" marT="35667" marB="35667" anchor="ctr"/>
                </a:tc>
                <a:extLst>
                  <a:ext uri="{0D108BD9-81ED-4DB2-BD59-A6C34878D82A}">
                    <a16:rowId xmlns:a16="http://schemas.microsoft.com/office/drawing/2014/main" val="2437719778"/>
                  </a:ext>
                </a:extLst>
              </a:tr>
            </a:tbl>
          </a:graphicData>
        </a:graphic>
      </p:graphicFrame>
      <p:sp>
        <p:nvSpPr>
          <p:cNvPr id="6" name="TextBox 5">
            <a:extLst>
              <a:ext uri="{FF2B5EF4-FFF2-40B4-BE49-F238E27FC236}">
                <a16:creationId xmlns:a16="http://schemas.microsoft.com/office/drawing/2014/main" id="{7B0EF220-322F-161C-3D16-FFBA5E3E64B0}"/>
              </a:ext>
            </a:extLst>
          </p:cNvPr>
          <p:cNvSpPr txBox="1"/>
          <p:nvPr/>
        </p:nvSpPr>
        <p:spPr>
          <a:xfrm>
            <a:off x="6096000" y="581099"/>
            <a:ext cx="5818632" cy="2062103"/>
          </a:xfrm>
          <a:prstGeom prst="rect">
            <a:avLst/>
          </a:prstGeom>
          <a:noFill/>
          <a:ln>
            <a:solidFill>
              <a:schemeClr val="accent1"/>
            </a:solidFill>
          </a:ln>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Own Output</a:t>
            </a:r>
            <a:r>
              <a:rPr lang="en-IN" sz="1600" dirty="0">
                <a:latin typeface="Times New Roman" panose="02020603050405020304" pitchFamily="18" charset="0"/>
                <a:cs typeface="Times New Roman" panose="02020603050405020304" pitchFamily="18" charset="0"/>
              </a:rPr>
              <a:t> :</a:t>
            </a:r>
          </a:p>
          <a:p>
            <a:pPr>
              <a:buNone/>
            </a:pPr>
            <a:r>
              <a:rPr lang="en-IN" sz="1600" b="1" dirty="0">
                <a:latin typeface="Times New Roman" panose="02020603050405020304" pitchFamily="18" charset="0"/>
                <a:cs typeface="Times New Roman" panose="02020603050405020304" pitchFamily="18" charset="0"/>
              </a:rPr>
              <a:t>The pattern(s) that end exactly at the current </a:t>
            </a:r>
            <a:r>
              <a:rPr lang="en-IN" sz="1600" b="1" dirty="0" err="1">
                <a:latin typeface="Times New Roman" panose="02020603050405020304" pitchFamily="18" charset="0"/>
                <a:cs typeface="Times New Roman" panose="02020603050405020304" pitchFamily="18" charset="0"/>
              </a:rPr>
              <a:t>trie</a:t>
            </a:r>
            <a:r>
              <a:rPr lang="en-IN" sz="1600" b="1" dirty="0">
                <a:latin typeface="Times New Roman" panose="02020603050405020304" pitchFamily="18" charset="0"/>
                <a:cs typeface="Times New Roman" panose="02020603050405020304" pitchFamily="18" charset="0"/>
              </a:rPr>
              <a:t> node, before considering any failure links.</a:t>
            </a:r>
            <a:endParaRPr lang="en-IN" sz="1600" dirty="0">
              <a:latin typeface="Times New Roman" panose="02020603050405020304" pitchFamily="18" charset="0"/>
              <a:cs typeface="Times New Roman" panose="02020603050405020304" pitchFamily="18" charset="0"/>
            </a:endParaRPr>
          </a:p>
          <a:p>
            <a:pPr>
              <a:buNone/>
            </a:pPr>
            <a:r>
              <a:rPr lang="en-IN" sz="1600" dirty="0">
                <a:latin typeface="Times New Roman" panose="02020603050405020304" pitchFamily="18" charset="0"/>
                <a:cs typeface="Times New Roman" panose="02020603050405020304" pitchFamily="18" charset="0"/>
              </a:rPr>
              <a:t>In other words,</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When you insert patterns into the </a:t>
            </a:r>
            <a:r>
              <a:rPr lang="en-IN" sz="1600" dirty="0" err="1">
                <a:latin typeface="Times New Roman" panose="02020603050405020304" pitchFamily="18" charset="0"/>
                <a:cs typeface="Times New Roman" panose="02020603050405020304" pitchFamily="18" charset="0"/>
              </a:rPr>
              <a:t>trie</a:t>
            </a:r>
            <a:r>
              <a:rPr lang="en-IN" sz="16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Whenever a pattern ends at a node,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Store that pattern at that node. </a:t>
            </a:r>
          </a:p>
          <a:p>
            <a:pPr>
              <a:buNone/>
            </a:pPr>
            <a:r>
              <a:rPr lang="en-IN" sz="1600" dirty="0">
                <a:latin typeface="Times New Roman" panose="02020603050405020304" pitchFamily="18" charset="0"/>
                <a:cs typeface="Times New Roman" panose="02020603050405020304" pitchFamily="18" charset="0"/>
              </a:rPr>
              <a:t>That stored pattern is the </a:t>
            </a:r>
            <a:r>
              <a:rPr lang="en-IN" sz="1600" b="1" dirty="0">
                <a:latin typeface="Times New Roman" panose="02020603050405020304" pitchFamily="18" charset="0"/>
                <a:cs typeface="Times New Roman" panose="02020603050405020304" pitchFamily="18" charset="0"/>
              </a:rPr>
              <a:t>Own Output</a:t>
            </a:r>
            <a:r>
              <a:rPr lang="en-IN" sz="1600" dirty="0">
                <a:latin typeface="Times New Roman" panose="02020603050405020304" pitchFamily="18" charset="0"/>
                <a:cs typeface="Times New Roman" panose="02020603050405020304" pitchFamily="18" charset="0"/>
              </a:rPr>
              <a:t>.</a:t>
            </a:r>
          </a:p>
        </p:txBody>
      </p:sp>
      <p:graphicFrame>
        <p:nvGraphicFramePr>
          <p:cNvPr id="9" name="Table 8">
            <a:extLst>
              <a:ext uri="{FF2B5EF4-FFF2-40B4-BE49-F238E27FC236}">
                <a16:creationId xmlns:a16="http://schemas.microsoft.com/office/drawing/2014/main" id="{0E127069-CAFA-83FF-BE2D-901E8F880947}"/>
              </a:ext>
            </a:extLst>
          </p:cNvPr>
          <p:cNvGraphicFramePr>
            <a:graphicFrameLocks noGrp="1"/>
          </p:cNvGraphicFramePr>
          <p:nvPr>
            <p:extLst>
              <p:ext uri="{D42A27DB-BD31-4B8C-83A1-F6EECF244321}">
                <p14:modId xmlns:p14="http://schemas.microsoft.com/office/powerpoint/2010/main" val="1491640466"/>
              </p:ext>
            </p:extLst>
          </p:nvPr>
        </p:nvGraphicFramePr>
        <p:xfrm>
          <a:off x="6665976" y="2698065"/>
          <a:ext cx="4617720" cy="4050207"/>
        </p:xfrm>
        <a:graphic>
          <a:graphicData uri="http://schemas.openxmlformats.org/drawingml/2006/table">
            <a:tbl>
              <a:tblPr>
                <a:tableStyleId>{5940675A-B579-460E-94D1-54222C63F5DA}</a:tableStyleId>
              </a:tblPr>
              <a:tblGrid>
                <a:gridCol w="1346949">
                  <a:extLst>
                    <a:ext uri="{9D8B030D-6E8A-4147-A177-3AD203B41FA5}">
                      <a16:colId xmlns:a16="http://schemas.microsoft.com/office/drawing/2014/main" val="1075454849"/>
                    </a:ext>
                  </a:extLst>
                </a:gridCol>
                <a:gridCol w="1772510">
                  <a:extLst>
                    <a:ext uri="{9D8B030D-6E8A-4147-A177-3AD203B41FA5}">
                      <a16:colId xmlns:a16="http://schemas.microsoft.com/office/drawing/2014/main" val="2316636886"/>
                    </a:ext>
                  </a:extLst>
                </a:gridCol>
                <a:gridCol w="1498261">
                  <a:extLst>
                    <a:ext uri="{9D8B030D-6E8A-4147-A177-3AD203B41FA5}">
                      <a16:colId xmlns:a16="http://schemas.microsoft.com/office/drawing/2014/main" val="4135167403"/>
                    </a:ext>
                  </a:extLst>
                </a:gridCol>
              </a:tblGrid>
              <a:tr h="392607">
                <a:tc>
                  <a:txBody>
                    <a:bodyPr/>
                    <a:lstStyle/>
                    <a:p>
                      <a:pPr algn="ctr">
                        <a:buNone/>
                      </a:pPr>
                      <a:r>
                        <a:rPr lang="en-IN" sz="1600" b="1" dirty="0">
                          <a:latin typeface="Times New Roman" panose="02020603050405020304" pitchFamily="18" charset="0"/>
                          <a:cs typeface="Times New Roman" panose="02020603050405020304" pitchFamily="18" charset="0"/>
                        </a:rPr>
                        <a:t>Node ID</a:t>
                      </a:r>
                    </a:p>
                  </a:txBody>
                  <a:tcPr anchor="ctr"/>
                </a:tc>
                <a:tc>
                  <a:txBody>
                    <a:bodyPr/>
                    <a:lstStyle/>
                    <a:p>
                      <a:pPr algn="l">
                        <a:buNone/>
                      </a:pPr>
                      <a:r>
                        <a:rPr lang="en-IN" sz="1600" b="1" dirty="0">
                          <a:latin typeface="Times New Roman" panose="02020603050405020304" pitchFamily="18" charset="0"/>
                          <a:cs typeface="Times New Roman" panose="02020603050405020304" pitchFamily="18" charset="0"/>
                        </a:rPr>
                        <a:t>Represents</a:t>
                      </a:r>
                    </a:p>
                  </a:txBody>
                  <a:tcPr anchor="ctr"/>
                </a:tc>
                <a:tc>
                  <a:txBody>
                    <a:bodyPr/>
                    <a:lstStyle/>
                    <a:p>
                      <a:pPr algn="l">
                        <a:buNone/>
                      </a:pPr>
                      <a:r>
                        <a:rPr lang="en-IN" sz="1600" b="1" dirty="0">
                          <a:latin typeface="Times New Roman" panose="02020603050405020304" pitchFamily="18" charset="0"/>
                          <a:cs typeface="Times New Roman" panose="02020603050405020304" pitchFamily="18" charset="0"/>
                        </a:rPr>
                        <a:t>Own Output</a:t>
                      </a:r>
                    </a:p>
                  </a:txBody>
                  <a:tcPr anchor="ctr"/>
                </a:tc>
                <a:extLst>
                  <a:ext uri="{0D108BD9-81ED-4DB2-BD59-A6C34878D82A}">
                    <a16:rowId xmlns:a16="http://schemas.microsoft.com/office/drawing/2014/main" val="2504544762"/>
                  </a:ext>
                </a:extLst>
              </a:tr>
              <a:tr h="333740">
                <a:tc>
                  <a:txBody>
                    <a:bodyPr/>
                    <a:lstStyle/>
                    <a:p>
                      <a:pPr algn="ctr">
                        <a:buNone/>
                      </a:pPr>
                      <a:r>
                        <a:rPr lang="en-IN" sz="1800" dirty="0">
                          <a:latin typeface="Times New Roman" panose="02020603050405020304" pitchFamily="18" charset="0"/>
                          <a:cs typeface="Times New Roman" panose="02020603050405020304" pitchFamily="18" charset="0"/>
                        </a:rPr>
                        <a:t>0</a:t>
                      </a:r>
                    </a:p>
                  </a:txBody>
                  <a:tcPr anchor="ctr"/>
                </a:tc>
                <a:tc>
                  <a:txBody>
                    <a:bodyPr/>
                    <a:lstStyle/>
                    <a:p>
                      <a:pPr algn="l">
                        <a:buNone/>
                      </a:pPr>
                      <a:r>
                        <a:rPr lang="en-IN" sz="1800">
                          <a:latin typeface="Times New Roman" panose="02020603050405020304" pitchFamily="18" charset="0"/>
                          <a:cs typeface="Times New Roman" panose="02020603050405020304" pitchFamily="18" charset="0"/>
                        </a:rPr>
                        <a:t>Root</a:t>
                      </a:r>
                    </a:p>
                  </a:txBody>
                  <a:tcPr anchor="ctr"/>
                </a:tc>
                <a:tc>
                  <a:txBody>
                    <a:bodyPr/>
                    <a:lstStyle/>
                    <a:p>
                      <a:pPr algn="l">
                        <a:buNone/>
                      </a:pPr>
                      <a:r>
                        <a:rPr lang="en-IN" sz="180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1001829371"/>
                  </a:ext>
                </a:extLst>
              </a:tr>
              <a:tr h="333740">
                <a:tc>
                  <a:txBody>
                    <a:bodyPr/>
                    <a:lstStyle/>
                    <a:p>
                      <a:pPr algn="ctr">
                        <a:buNone/>
                      </a:pPr>
                      <a:r>
                        <a:rPr lang="en-IN" sz="1800">
                          <a:latin typeface="Times New Roman" panose="02020603050405020304" pitchFamily="18" charset="0"/>
                          <a:cs typeface="Times New Roman" panose="02020603050405020304" pitchFamily="18" charset="0"/>
                        </a:rPr>
                        <a:t>1</a:t>
                      </a:r>
                    </a:p>
                  </a:txBody>
                  <a:tcPr anchor="ctr"/>
                </a:tc>
                <a:tc>
                  <a:txBody>
                    <a:bodyPr/>
                    <a:lstStyle/>
                    <a:p>
                      <a:pPr algn="l">
                        <a:buNone/>
                      </a:pPr>
                      <a:r>
                        <a:rPr lang="en-IN" sz="1800" dirty="0">
                          <a:latin typeface="Times New Roman" panose="02020603050405020304" pitchFamily="18" charset="0"/>
                          <a:cs typeface="Times New Roman" panose="02020603050405020304" pitchFamily="18" charset="0"/>
                        </a:rPr>
                        <a:t>h</a:t>
                      </a:r>
                    </a:p>
                  </a:txBody>
                  <a:tcPr anchor="ctr"/>
                </a:tc>
                <a:tc>
                  <a:txBody>
                    <a:bodyPr/>
                    <a:lstStyle/>
                    <a:p>
                      <a:pPr algn="l">
                        <a:buNone/>
                      </a:pPr>
                      <a:r>
                        <a:rPr lang="en-IN" sz="180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1261300574"/>
                  </a:ext>
                </a:extLst>
              </a:tr>
              <a:tr h="333740">
                <a:tc>
                  <a:txBody>
                    <a:bodyPr/>
                    <a:lstStyle/>
                    <a:p>
                      <a:pPr algn="ctr">
                        <a:buNone/>
                      </a:pPr>
                      <a:r>
                        <a:rPr lang="en-IN" sz="1800">
                          <a:latin typeface="Times New Roman" panose="02020603050405020304" pitchFamily="18" charset="0"/>
                          <a:cs typeface="Times New Roman" panose="02020603050405020304" pitchFamily="18" charset="0"/>
                        </a:rPr>
                        <a:t>2</a:t>
                      </a:r>
                    </a:p>
                  </a:txBody>
                  <a:tcPr anchor="ctr"/>
                </a:tc>
                <a:tc>
                  <a:txBody>
                    <a:bodyPr/>
                    <a:lstStyle/>
                    <a:p>
                      <a:pPr algn="l">
                        <a:buNone/>
                      </a:pPr>
                      <a:r>
                        <a:rPr lang="en-IN" sz="1800" dirty="0">
                          <a:latin typeface="Times New Roman" panose="02020603050405020304" pitchFamily="18" charset="0"/>
                          <a:cs typeface="Times New Roman" panose="02020603050405020304" pitchFamily="18" charset="0"/>
                        </a:rPr>
                        <a:t>he</a:t>
                      </a:r>
                    </a:p>
                  </a:txBody>
                  <a:tcPr anchor="ctr"/>
                </a:tc>
                <a:tc>
                  <a:txBody>
                    <a:bodyPr/>
                    <a:lstStyle/>
                    <a:p>
                      <a:pPr algn="l">
                        <a:buNone/>
                      </a:pPr>
                      <a:r>
                        <a:rPr lang="en-IN" sz="1800" dirty="0">
                          <a:latin typeface="Times New Roman" panose="02020603050405020304" pitchFamily="18" charset="0"/>
                          <a:cs typeface="Times New Roman" panose="02020603050405020304" pitchFamily="18" charset="0"/>
                        </a:rPr>
                        <a:t>{he}</a:t>
                      </a:r>
                    </a:p>
                  </a:txBody>
                  <a:tcPr anchor="ctr"/>
                </a:tc>
                <a:extLst>
                  <a:ext uri="{0D108BD9-81ED-4DB2-BD59-A6C34878D82A}">
                    <a16:rowId xmlns:a16="http://schemas.microsoft.com/office/drawing/2014/main" val="1335543165"/>
                  </a:ext>
                </a:extLst>
              </a:tr>
              <a:tr h="333740">
                <a:tc>
                  <a:txBody>
                    <a:bodyPr/>
                    <a:lstStyle/>
                    <a:p>
                      <a:pPr algn="ctr">
                        <a:buNone/>
                      </a:pPr>
                      <a:r>
                        <a:rPr lang="en-IN" sz="1800">
                          <a:latin typeface="Times New Roman" panose="02020603050405020304" pitchFamily="18" charset="0"/>
                          <a:cs typeface="Times New Roman" panose="02020603050405020304" pitchFamily="18" charset="0"/>
                        </a:rPr>
                        <a:t>3</a:t>
                      </a:r>
                    </a:p>
                  </a:txBody>
                  <a:tcPr anchor="ctr"/>
                </a:tc>
                <a:tc>
                  <a:txBody>
                    <a:bodyPr/>
                    <a:lstStyle/>
                    <a:p>
                      <a:pPr algn="l">
                        <a:buNone/>
                      </a:pPr>
                      <a:r>
                        <a:rPr lang="en-IN" sz="1800" dirty="0">
                          <a:latin typeface="Times New Roman" panose="02020603050405020304" pitchFamily="18" charset="0"/>
                          <a:cs typeface="Times New Roman" panose="02020603050405020304" pitchFamily="18" charset="0"/>
                        </a:rPr>
                        <a:t>her</a:t>
                      </a:r>
                    </a:p>
                  </a:txBody>
                  <a:tcPr anchor="ctr"/>
                </a:tc>
                <a:tc>
                  <a:txBody>
                    <a:bodyPr/>
                    <a:lstStyle/>
                    <a:p>
                      <a:pPr algn="l">
                        <a:buNone/>
                      </a:pPr>
                      <a:r>
                        <a:rPr lang="en-IN" sz="180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3294938037"/>
                  </a:ext>
                </a:extLst>
              </a:tr>
              <a:tr h="333740">
                <a:tc>
                  <a:txBody>
                    <a:bodyPr/>
                    <a:lstStyle/>
                    <a:p>
                      <a:pPr algn="ctr">
                        <a:buNone/>
                      </a:pPr>
                      <a:r>
                        <a:rPr lang="en-IN" sz="1800">
                          <a:latin typeface="Times New Roman" panose="02020603050405020304" pitchFamily="18" charset="0"/>
                          <a:cs typeface="Times New Roman" panose="02020603050405020304" pitchFamily="18" charset="0"/>
                        </a:rPr>
                        <a:t>4</a:t>
                      </a:r>
                    </a:p>
                  </a:txBody>
                  <a:tcPr anchor="ctr"/>
                </a:tc>
                <a:tc>
                  <a:txBody>
                    <a:bodyPr/>
                    <a:lstStyle/>
                    <a:p>
                      <a:pPr algn="l">
                        <a:buNone/>
                      </a:pPr>
                      <a:r>
                        <a:rPr lang="en-IN" sz="1800">
                          <a:latin typeface="Times New Roman" panose="02020603050405020304" pitchFamily="18" charset="0"/>
                          <a:cs typeface="Times New Roman" panose="02020603050405020304" pitchFamily="18" charset="0"/>
                        </a:rPr>
                        <a:t>hers</a:t>
                      </a:r>
                    </a:p>
                  </a:txBody>
                  <a:tcPr anchor="ctr"/>
                </a:tc>
                <a:tc>
                  <a:txBody>
                    <a:bodyPr/>
                    <a:lstStyle/>
                    <a:p>
                      <a:pPr algn="l">
                        <a:buNone/>
                      </a:pPr>
                      <a:r>
                        <a:rPr lang="en-IN" sz="1800" dirty="0">
                          <a:latin typeface="Times New Roman" panose="02020603050405020304" pitchFamily="18" charset="0"/>
                          <a:cs typeface="Times New Roman" panose="02020603050405020304" pitchFamily="18" charset="0"/>
                        </a:rPr>
                        <a:t>{hers}</a:t>
                      </a:r>
                    </a:p>
                  </a:txBody>
                  <a:tcPr anchor="ctr"/>
                </a:tc>
                <a:extLst>
                  <a:ext uri="{0D108BD9-81ED-4DB2-BD59-A6C34878D82A}">
                    <a16:rowId xmlns:a16="http://schemas.microsoft.com/office/drawing/2014/main" val="3141404139"/>
                  </a:ext>
                </a:extLst>
              </a:tr>
              <a:tr h="333740">
                <a:tc>
                  <a:txBody>
                    <a:bodyPr/>
                    <a:lstStyle/>
                    <a:p>
                      <a:pPr algn="ctr">
                        <a:buNone/>
                      </a:pPr>
                      <a:r>
                        <a:rPr lang="en-IN" sz="1800">
                          <a:latin typeface="Times New Roman" panose="02020603050405020304" pitchFamily="18" charset="0"/>
                          <a:cs typeface="Times New Roman" panose="02020603050405020304" pitchFamily="18" charset="0"/>
                        </a:rPr>
                        <a:t>5</a:t>
                      </a:r>
                    </a:p>
                  </a:txBody>
                  <a:tcPr anchor="ctr"/>
                </a:tc>
                <a:tc>
                  <a:txBody>
                    <a:bodyPr/>
                    <a:lstStyle/>
                    <a:p>
                      <a:pPr algn="l">
                        <a:buNone/>
                      </a:pPr>
                      <a:r>
                        <a:rPr lang="en-IN" sz="1800">
                          <a:latin typeface="Times New Roman" panose="02020603050405020304" pitchFamily="18" charset="0"/>
                          <a:cs typeface="Times New Roman" panose="02020603050405020304" pitchFamily="18" charset="0"/>
                        </a:rPr>
                        <a:t>hi</a:t>
                      </a:r>
                    </a:p>
                  </a:txBody>
                  <a:tcPr anchor="ctr"/>
                </a:tc>
                <a:tc>
                  <a:txBody>
                    <a:bodyPr/>
                    <a:lstStyle/>
                    <a:p>
                      <a:pPr algn="l">
                        <a:buNone/>
                      </a:pPr>
                      <a:r>
                        <a:rPr lang="en-IN" sz="180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1071677914"/>
                  </a:ext>
                </a:extLst>
              </a:tr>
              <a:tr h="333740">
                <a:tc>
                  <a:txBody>
                    <a:bodyPr/>
                    <a:lstStyle/>
                    <a:p>
                      <a:pPr algn="ctr">
                        <a:buNone/>
                      </a:pPr>
                      <a:r>
                        <a:rPr lang="en-IN" sz="1800">
                          <a:latin typeface="Times New Roman" panose="02020603050405020304" pitchFamily="18" charset="0"/>
                          <a:cs typeface="Times New Roman" panose="02020603050405020304" pitchFamily="18" charset="0"/>
                        </a:rPr>
                        <a:t>6</a:t>
                      </a:r>
                    </a:p>
                  </a:txBody>
                  <a:tcPr anchor="ctr"/>
                </a:tc>
                <a:tc>
                  <a:txBody>
                    <a:bodyPr/>
                    <a:lstStyle/>
                    <a:p>
                      <a:pPr algn="l">
                        <a:buNone/>
                      </a:pPr>
                      <a:r>
                        <a:rPr lang="en-IN" sz="1800">
                          <a:latin typeface="Times New Roman" panose="02020603050405020304" pitchFamily="18" charset="0"/>
                          <a:cs typeface="Times New Roman" panose="02020603050405020304" pitchFamily="18" charset="0"/>
                        </a:rPr>
                        <a:t>his</a:t>
                      </a:r>
                    </a:p>
                  </a:txBody>
                  <a:tcPr anchor="ctr"/>
                </a:tc>
                <a:tc>
                  <a:txBody>
                    <a:bodyPr/>
                    <a:lstStyle/>
                    <a:p>
                      <a:pPr algn="l">
                        <a:buNone/>
                      </a:pPr>
                      <a:r>
                        <a:rPr lang="en-IN" sz="1800" dirty="0">
                          <a:latin typeface="Times New Roman" panose="02020603050405020304" pitchFamily="18" charset="0"/>
                          <a:cs typeface="Times New Roman" panose="02020603050405020304" pitchFamily="18" charset="0"/>
                        </a:rPr>
                        <a:t>{his}</a:t>
                      </a:r>
                    </a:p>
                  </a:txBody>
                  <a:tcPr anchor="ctr"/>
                </a:tc>
                <a:extLst>
                  <a:ext uri="{0D108BD9-81ED-4DB2-BD59-A6C34878D82A}">
                    <a16:rowId xmlns:a16="http://schemas.microsoft.com/office/drawing/2014/main" val="2159732821"/>
                  </a:ext>
                </a:extLst>
              </a:tr>
              <a:tr h="333740">
                <a:tc>
                  <a:txBody>
                    <a:bodyPr/>
                    <a:lstStyle/>
                    <a:p>
                      <a:pPr algn="ctr">
                        <a:buNone/>
                      </a:pPr>
                      <a:r>
                        <a:rPr lang="en-IN" sz="1800">
                          <a:latin typeface="Times New Roman" panose="02020603050405020304" pitchFamily="18" charset="0"/>
                          <a:cs typeface="Times New Roman" panose="02020603050405020304" pitchFamily="18" charset="0"/>
                        </a:rPr>
                        <a:t>7</a:t>
                      </a:r>
                    </a:p>
                  </a:txBody>
                  <a:tcPr anchor="ctr"/>
                </a:tc>
                <a:tc>
                  <a:txBody>
                    <a:bodyPr/>
                    <a:lstStyle/>
                    <a:p>
                      <a:pPr algn="l">
                        <a:buNone/>
                      </a:pPr>
                      <a:r>
                        <a:rPr lang="en-IN" sz="1800">
                          <a:latin typeface="Times New Roman" panose="02020603050405020304" pitchFamily="18" charset="0"/>
                          <a:cs typeface="Times New Roman" panose="02020603050405020304" pitchFamily="18" charset="0"/>
                        </a:rPr>
                        <a:t>s</a:t>
                      </a:r>
                    </a:p>
                  </a:txBody>
                  <a:tcPr anchor="ctr"/>
                </a:tc>
                <a:tc>
                  <a:txBody>
                    <a:bodyPr/>
                    <a:lstStyle/>
                    <a:p>
                      <a:pPr algn="l">
                        <a:buNone/>
                      </a:pPr>
                      <a:r>
                        <a:rPr lang="en-IN" sz="180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2250233804"/>
                  </a:ext>
                </a:extLst>
              </a:tr>
              <a:tr h="333740">
                <a:tc>
                  <a:txBody>
                    <a:bodyPr/>
                    <a:lstStyle/>
                    <a:p>
                      <a:pPr algn="ctr">
                        <a:buNone/>
                      </a:pPr>
                      <a:r>
                        <a:rPr lang="en-IN" sz="1800">
                          <a:latin typeface="Times New Roman" panose="02020603050405020304" pitchFamily="18" charset="0"/>
                          <a:cs typeface="Times New Roman" panose="02020603050405020304" pitchFamily="18" charset="0"/>
                        </a:rPr>
                        <a:t>8</a:t>
                      </a:r>
                    </a:p>
                  </a:txBody>
                  <a:tcPr anchor="ctr"/>
                </a:tc>
                <a:tc>
                  <a:txBody>
                    <a:bodyPr/>
                    <a:lstStyle/>
                    <a:p>
                      <a:pPr algn="l">
                        <a:buNone/>
                      </a:pPr>
                      <a:r>
                        <a:rPr lang="en-IN" sz="1800">
                          <a:latin typeface="Times New Roman" panose="02020603050405020304" pitchFamily="18" charset="0"/>
                          <a:cs typeface="Times New Roman" panose="02020603050405020304" pitchFamily="18" charset="0"/>
                        </a:rPr>
                        <a:t>sh</a:t>
                      </a:r>
                    </a:p>
                  </a:txBody>
                  <a:tcPr anchor="ctr"/>
                </a:tc>
                <a:tc>
                  <a:txBody>
                    <a:bodyPr/>
                    <a:lstStyle/>
                    <a:p>
                      <a:pPr algn="l">
                        <a:buNone/>
                      </a:pPr>
                      <a:r>
                        <a:rPr lang="en-IN" sz="180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1177492145"/>
                  </a:ext>
                </a:extLst>
              </a:tr>
              <a:tr h="333740">
                <a:tc>
                  <a:txBody>
                    <a:bodyPr/>
                    <a:lstStyle/>
                    <a:p>
                      <a:pPr algn="ctr">
                        <a:buNone/>
                      </a:pPr>
                      <a:r>
                        <a:rPr lang="en-IN" sz="1800">
                          <a:latin typeface="Times New Roman" panose="02020603050405020304" pitchFamily="18" charset="0"/>
                          <a:cs typeface="Times New Roman" panose="02020603050405020304" pitchFamily="18" charset="0"/>
                        </a:rPr>
                        <a:t>9</a:t>
                      </a:r>
                    </a:p>
                  </a:txBody>
                  <a:tcPr anchor="ctr"/>
                </a:tc>
                <a:tc>
                  <a:txBody>
                    <a:bodyPr/>
                    <a:lstStyle/>
                    <a:p>
                      <a:pPr algn="l">
                        <a:buNone/>
                      </a:pPr>
                      <a:r>
                        <a:rPr lang="en-IN" sz="1800">
                          <a:latin typeface="Times New Roman" panose="02020603050405020304" pitchFamily="18" charset="0"/>
                          <a:cs typeface="Times New Roman" panose="02020603050405020304" pitchFamily="18" charset="0"/>
                        </a:rPr>
                        <a:t>she</a:t>
                      </a:r>
                    </a:p>
                  </a:txBody>
                  <a:tcPr anchor="ctr"/>
                </a:tc>
                <a:tc>
                  <a:txBody>
                    <a:bodyPr/>
                    <a:lstStyle/>
                    <a:p>
                      <a:pPr algn="l">
                        <a:buNone/>
                      </a:pPr>
                      <a:r>
                        <a:rPr lang="en-IN" sz="1800" dirty="0">
                          <a:latin typeface="Times New Roman" panose="02020603050405020304" pitchFamily="18" charset="0"/>
                          <a:cs typeface="Times New Roman" panose="02020603050405020304" pitchFamily="18" charset="0"/>
                        </a:rPr>
                        <a:t>{she}</a:t>
                      </a:r>
                    </a:p>
                  </a:txBody>
                  <a:tcPr anchor="ctr"/>
                </a:tc>
                <a:extLst>
                  <a:ext uri="{0D108BD9-81ED-4DB2-BD59-A6C34878D82A}">
                    <a16:rowId xmlns:a16="http://schemas.microsoft.com/office/drawing/2014/main" val="353989425"/>
                  </a:ext>
                </a:extLst>
              </a:tr>
            </a:tbl>
          </a:graphicData>
        </a:graphic>
      </p:graphicFrame>
    </p:spTree>
    <p:extLst>
      <p:ext uri="{BB962C8B-B14F-4D97-AF65-F5344CB8AC3E}">
        <p14:creationId xmlns:p14="http://schemas.microsoft.com/office/powerpoint/2010/main" val="75939563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30616-8C84-93E7-E5FB-8A3379AE4F7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5C4EB23-4F85-9049-7A73-F88A29A511C7}"/>
              </a:ext>
            </a:extLst>
          </p:cNvPr>
          <p:cNvSpPr txBox="1"/>
          <p:nvPr/>
        </p:nvSpPr>
        <p:spPr>
          <a:xfrm>
            <a:off x="3594607" y="204942"/>
            <a:ext cx="8457184" cy="1384995"/>
          </a:xfrm>
          <a:prstGeom prst="rect">
            <a:avLst/>
          </a:prstGeom>
          <a:noFill/>
        </p:spPr>
        <p:txBody>
          <a:bodyPr wrap="square">
            <a:spAutoFit/>
          </a:bodyPr>
          <a:lstStyle/>
          <a:p>
            <a:r>
              <a:rPr lang="en-IN" sz="2800" b="1" dirty="0"/>
              <a:t>Final Output(Current Node) = </a:t>
            </a:r>
          </a:p>
          <a:p>
            <a:r>
              <a:rPr lang="en-IN" sz="2800" b="1" dirty="0"/>
              <a:t>Own Output(Current Node) + Final Output(Failure Node)</a:t>
            </a:r>
          </a:p>
        </p:txBody>
      </p:sp>
      <p:sp>
        <p:nvSpPr>
          <p:cNvPr id="9" name="TextBox 8">
            <a:extLst>
              <a:ext uri="{FF2B5EF4-FFF2-40B4-BE49-F238E27FC236}">
                <a16:creationId xmlns:a16="http://schemas.microsoft.com/office/drawing/2014/main" id="{CC03326B-123E-E1AB-F1E2-ED1E0385EB6A}"/>
              </a:ext>
            </a:extLst>
          </p:cNvPr>
          <p:cNvSpPr txBox="1"/>
          <p:nvPr/>
        </p:nvSpPr>
        <p:spPr>
          <a:xfrm>
            <a:off x="140209" y="813356"/>
            <a:ext cx="2977895" cy="584775"/>
          </a:xfrm>
          <a:prstGeom prst="rect">
            <a:avLst/>
          </a:prstGeom>
          <a:solidFill>
            <a:schemeClr val="accent2">
              <a:lumMod val="20000"/>
              <a:lumOff val="80000"/>
            </a:schemeClr>
          </a:solidFill>
          <a:ln>
            <a:solidFill>
              <a:schemeClr val="accent1"/>
            </a:solidFill>
          </a:ln>
        </p:spPr>
        <p:txBody>
          <a:bodyPr wrap="square">
            <a:spAutoFit/>
          </a:bodyPr>
          <a:lstStyle/>
          <a:p>
            <a:r>
              <a:rPr lang="en-IN" sz="3200" b="1" dirty="0"/>
              <a:t>Search the Text</a:t>
            </a:r>
          </a:p>
        </p:txBody>
      </p:sp>
      <p:graphicFrame>
        <p:nvGraphicFramePr>
          <p:cNvPr id="10" name="Table 9">
            <a:extLst>
              <a:ext uri="{FF2B5EF4-FFF2-40B4-BE49-F238E27FC236}">
                <a16:creationId xmlns:a16="http://schemas.microsoft.com/office/drawing/2014/main" id="{0901E372-0912-1D57-09E2-25ED6846C268}"/>
              </a:ext>
            </a:extLst>
          </p:cNvPr>
          <p:cNvGraphicFramePr>
            <a:graphicFrameLocks noGrp="1"/>
          </p:cNvGraphicFramePr>
          <p:nvPr>
            <p:extLst>
              <p:ext uri="{D42A27DB-BD31-4B8C-83A1-F6EECF244321}">
                <p14:modId xmlns:p14="http://schemas.microsoft.com/office/powerpoint/2010/main" val="1454643578"/>
              </p:ext>
            </p:extLst>
          </p:nvPr>
        </p:nvGraphicFramePr>
        <p:xfrm>
          <a:off x="256032" y="1549558"/>
          <a:ext cx="11539731" cy="4892628"/>
        </p:xfrm>
        <a:graphic>
          <a:graphicData uri="http://schemas.openxmlformats.org/drawingml/2006/table">
            <a:tbl>
              <a:tblPr>
                <a:tableStyleId>{5940675A-B579-460E-94D1-54222C63F5DA}</a:tableStyleId>
              </a:tblPr>
              <a:tblGrid>
                <a:gridCol w="886968">
                  <a:extLst>
                    <a:ext uri="{9D8B030D-6E8A-4147-A177-3AD203B41FA5}">
                      <a16:colId xmlns:a16="http://schemas.microsoft.com/office/drawing/2014/main" val="3900207162"/>
                    </a:ext>
                  </a:extLst>
                </a:gridCol>
                <a:gridCol w="1819656">
                  <a:extLst>
                    <a:ext uri="{9D8B030D-6E8A-4147-A177-3AD203B41FA5}">
                      <a16:colId xmlns:a16="http://schemas.microsoft.com/office/drawing/2014/main" val="2144139290"/>
                    </a:ext>
                  </a:extLst>
                </a:gridCol>
                <a:gridCol w="1609344">
                  <a:extLst>
                    <a:ext uri="{9D8B030D-6E8A-4147-A177-3AD203B41FA5}">
                      <a16:colId xmlns:a16="http://schemas.microsoft.com/office/drawing/2014/main" val="639887650"/>
                    </a:ext>
                  </a:extLst>
                </a:gridCol>
                <a:gridCol w="1764792">
                  <a:extLst>
                    <a:ext uri="{9D8B030D-6E8A-4147-A177-3AD203B41FA5}">
                      <a16:colId xmlns:a16="http://schemas.microsoft.com/office/drawing/2014/main" val="4219122324"/>
                    </a:ext>
                  </a:extLst>
                </a:gridCol>
                <a:gridCol w="1728216">
                  <a:extLst>
                    <a:ext uri="{9D8B030D-6E8A-4147-A177-3AD203B41FA5}">
                      <a16:colId xmlns:a16="http://schemas.microsoft.com/office/drawing/2014/main" val="639399435"/>
                    </a:ext>
                  </a:extLst>
                </a:gridCol>
                <a:gridCol w="1792224">
                  <a:extLst>
                    <a:ext uri="{9D8B030D-6E8A-4147-A177-3AD203B41FA5}">
                      <a16:colId xmlns:a16="http://schemas.microsoft.com/office/drawing/2014/main" val="2194034488"/>
                    </a:ext>
                  </a:extLst>
                </a:gridCol>
                <a:gridCol w="1938531">
                  <a:extLst>
                    <a:ext uri="{9D8B030D-6E8A-4147-A177-3AD203B41FA5}">
                      <a16:colId xmlns:a16="http://schemas.microsoft.com/office/drawing/2014/main" val="1207604743"/>
                    </a:ext>
                  </a:extLst>
                </a:gridCol>
              </a:tblGrid>
              <a:tr h="777828">
                <a:tc>
                  <a:txBody>
                    <a:bodyPr/>
                    <a:lstStyle/>
                    <a:p>
                      <a:pPr algn="ctr">
                        <a:buNone/>
                      </a:pPr>
                      <a:r>
                        <a:rPr lang="en-IN" sz="2000" b="1" dirty="0">
                          <a:solidFill>
                            <a:srgbClr val="C00000"/>
                          </a:solidFill>
                        </a:rPr>
                        <a:t>Step</a:t>
                      </a:r>
                    </a:p>
                  </a:txBody>
                  <a:tcPr anchor="ctr"/>
                </a:tc>
                <a:tc>
                  <a:txBody>
                    <a:bodyPr/>
                    <a:lstStyle/>
                    <a:p>
                      <a:pPr algn="l">
                        <a:buNone/>
                      </a:pPr>
                      <a:r>
                        <a:rPr lang="en-IN" sz="2000" b="1" dirty="0">
                          <a:solidFill>
                            <a:srgbClr val="C00000"/>
                          </a:solidFill>
                        </a:rPr>
                        <a:t>Current Node</a:t>
                      </a:r>
                    </a:p>
                  </a:txBody>
                  <a:tcPr anchor="ctr"/>
                </a:tc>
                <a:tc>
                  <a:txBody>
                    <a:bodyPr/>
                    <a:lstStyle/>
                    <a:p>
                      <a:pPr algn="l">
                        <a:buNone/>
                      </a:pPr>
                      <a:r>
                        <a:rPr lang="en-IN" sz="2000" b="1" dirty="0">
                          <a:solidFill>
                            <a:srgbClr val="C00000"/>
                          </a:solidFill>
                        </a:rPr>
                        <a:t>Own Output</a:t>
                      </a:r>
                    </a:p>
                  </a:txBody>
                  <a:tcPr anchor="ctr"/>
                </a:tc>
                <a:tc>
                  <a:txBody>
                    <a:bodyPr/>
                    <a:lstStyle/>
                    <a:p>
                      <a:pPr algn="l">
                        <a:buNone/>
                      </a:pPr>
                      <a:r>
                        <a:rPr lang="en-IN" sz="2000" b="1" dirty="0">
                          <a:solidFill>
                            <a:srgbClr val="C00000"/>
                          </a:solidFill>
                        </a:rPr>
                        <a:t>Failure Link</a:t>
                      </a:r>
                    </a:p>
                  </a:txBody>
                  <a:tcPr anchor="ctr"/>
                </a:tc>
                <a:tc>
                  <a:txBody>
                    <a:bodyPr/>
                    <a:lstStyle/>
                    <a:p>
                      <a:pPr algn="l">
                        <a:buNone/>
                      </a:pPr>
                      <a:r>
                        <a:rPr lang="en-IN" sz="2000" b="1" dirty="0">
                          <a:solidFill>
                            <a:srgbClr val="C00000"/>
                          </a:solidFill>
                        </a:rPr>
                        <a:t>Failure Node Output</a:t>
                      </a:r>
                    </a:p>
                  </a:txBody>
                  <a:tcPr anchor="ctr"/>
                </a:tc>
                <a:tc>
                  <a:txBody>
                    <a:bodyPr/>
                    <a:lstStyle/>
                    <a:p>
                      <a:pPr algn="l">
                        <a:buNone/>
                      </a:pPr>
                      <a:r>
                        <a:rPr lang="en-IN" sz="2000" b="1" dirty="0">
                          <a:solidFill>
                            <a:srgbClr val="C00000"/>
                          </a:solidFill>
                        </a:rPr>
                        <a:t>Merge Operation</a:t>
                      </a:r>
                    </a:p>
                  </a:txBody>
                  <a:tcPr anchor="ctr"/>
                </a:tc>
                <a:tc>
                  <a:txBody>
                    <a:bodyPr/>
                    <a:lstStyle/>
                    <a:p>
                      <a:pPr algn="l">
                        <a:buNone/>
                      </a:pPr>
                      <a:r>
                        <a:rPr lang="en-IN" sz="2000" b="1" dirty="0">
                          <a:solidFill>
                            <a:srgbClr val="C00000"/>
                          </a:solidFill>
                        </a:rPr>
                        <a:t>Final Output</a:t>
                      </a:r>
                    </a:p>
                  </a:txBody>
                  <a:tcPr anchor="ctr"/>
                </a:tc>
                <a:extLst>
                  <a:ext uri="{0D108BD9-81ED-4DB2-BD59-A6C34878D82A}">
                    <a16:rowId xmlns:a16="http://schemas.microsoft.com/office/drawing/2014/main" val="2542564733"/>
                  </a:ext>
                </a:extLst>
              </a:tr>
              <a:tr h="444474">
                <a:tc>
                  <a:txBody>
                    <a:bodyPr/>
                    <a:lstStyle/>
                    <a:p>
                      <a:pPr algn="ctr">
                        <a:buNone/>
                      </a:pPr>
                      <a:r>
                        <a:rPr lang="en-IN" sz="2400" dirty="0"/>
                        <a:t>1</a:t>
                      </a:r>
                    </a:p>
                  </a:txBody>
                  <a:tcPr anchor="ctr"/>
                </a:tc>
                <a:tc>
                  <a:txBody>
                    <a:bodyPr/>
                    <a:lstStyle/>
                    <a:p>
                      <a:pPr algn="l">
                        <a:buNone/>
                      </a:pPr>
                      <a:r>
                        <a:rPr lang="en-IN" sz="2400" dirty="0"/>
                        <a:t>h</a:t>
                      </a:r>
                    </a:p>
                  </a:txBody>
                  <a:tcPr anchor="ctr"/>
                </a:tc>
                <a:tc>
                  <a:txBody>
                    <a:bodyPr/>
                    <a:lstStyle/>
                    <a:p>
                      <a:pPr algn="l">
                        <a:buNone/>
                      </a:pPr>
                      <a:r>
                        <a:rPr lang="en-IN" sz="2400"/>
                        <a:t>{}</a:t>
                      </a:r>
                    </a:p>
                  </a:txBody>
                  <a:tcPr anchor="ctr"/>
                </a:tc>
                <a:tc>
                  <a:txBody>
                    <a:bodyPr/>
                    <a:lstStyle/>
                    <a:p>
                      <a:pPr algn="l">
                        <a:buNone/>
                      </a:pPr>
                      <a:r>
                        <a:rPr lang="en-IN" sz="2400"/>
                        <a:t>Root</a:t>
                      </a:r>
                    </a:p>
                  </a:txBody>
                  <a:tcPr anchor="ctr"/>
                </a:tc>
                <a:tc>
                  <a:txBody>
                    <a:bodyPr/>
                    <a:lstStyle/>
                    <a:p>
                      <a:pPr algn="l">
                        <a:buNone/>
                      </a:pPr>
                      <a:r>
                        <a:rPr lang="en-IN" sz="2400"/>
                        <a:t>{}</a:t>
                      </a:r>
                    </a:p>
                  </a:txBody>
                  <a:tcPr anchor="ctr"/>
                </a:tc>
                <a:tc>
                  <a:txBody>
                    <a:bodyPr/>
                    <a:lstStyle/>
                    <a:p>
                      <a:pPr algn="l">
                        <a:buNone/>
                      </a:pPr>
                      <a:r>
                        <a:rPr lang="en-IN" sz="2400"/>
                        <a:t>{} ∪ {}</a:t>
                      </a:r>
                    </a:p>
                  </a:txBody>
                  <a:tcPr anchor="ctr"/>
                </a:tc>
                <a:tc>
                  <a:txBody>
                    <a:bodyPr/>
                    <a:lstStyle/>
                    <a:p>
                      <a:pPr algn="l">
                        <a:buNone/>
                      </a:pPr>
                      <a:r>
                        <a:rPr lang="en-IN" sz="2400"/>
                        <a:t>{}</a:t>
                      </a:r>
                    </a:p>
                  </a:txBody>
                  <a:tcPr anchor="ctr"/>
                </a:tc>
                <a:extLst>
                  <a:ext uri="{0D108BD9-81ED-4DB2-BD59-A6C34878D82A}">
                    <a16:rowId xmlns:a16="http://schemas.microsoft.com/office/drawing/2014/main" val="3117063694"/>
                  </a:ext>
                </a:extLst>
              </a:tr>
              <a:tr h="444474">
                <a:tc>
                  <a:txBody>
                    <a:bodyPr/>
                    <a:lstStyle/>
                    <a:p>
                      <a:pPr algn="ctr">
                        <a:buNone/>
                      </a:pPr>
                      <a:r>
                        <a:rPr lang="en-IN" sz="2400"/>
                        <a:t>2</a:t>
                      </a:r>
                    </a:p>
                  </a:txBody>
                  <a:tcPr anchor="ctr"/>
                </a:tc>
                <a:tc>
                  <a:txBody>
                    <a:bodyPr/>
                    <a:lstStyle/>
                    <a:p>
                      <a:pPr algn="l">
                        <a:buNone/>
                      </a:pPr>
                      <a:r>
                        <a:rPr lang="en-IN" sz="2400"/>
                        <a:t>he</a:t>
                      </a:r>
                    </a:p>
                  </a:txBody>
                  <a:tcPr anchor="ctr"/>
                </a:tc>
                <a:tc>
                  <a:txBody>
                    <a:bodyPr/>
                    <a:lstStyle/>
                    <a:p>
                      <a:pPr algn="l">
                        <a:buNone/>
                      </a:pPr>
                      <a:r>
                        <a:rPr lang="en-IN" sz="2400" dirty="0"/>
                        <a:t>{he}</a:t>
                      </a:r>
                    </a:p>
                  </a:txBody>
                  <a:tcPr anchor="ctr"/>
                </a:tc>
                <a:tc>
                  <a:txBody>
                    <a:bodyPr/>
                    <a:lstStyle/>
                    <a:p>
                      <a:pPr algn="l">
                        <a:buNone/>
                      </a:pPr>
                      <a:r>
                        <a:rPr lang="en-IN" sz="2400" dirty="0"/>
                        <a:t>Root</a:t>
                      </a:r>
                    </a:p>
                  </a:txBody>
                  <a:tcPr anchor="ctr"/>
                </a:tc>
                <a:tc>
                  <a:txBody>
                    <a:bodyPr/>
                    <a:lstStyle/>
                    <a:p>
                      <a:pPr algn="l">
                        <a:buNone/>
                      </a:pPr>
                      <a:r>
                        <a:rPr lang="en-IN" sz="2400"/>
                        <a:t>{}</a:t>
                      </a:r>
                    </a:p>
                  </a:txBody>
                  <a:tcPr anchor="ctr"/>
                </a:tc>
                <a:tc>
                  <a:txBody>
                    <a:bodyPr/>
                    <a:lstStyle/>
                    <a:p>
                      <a:pPr algn="l">
                        <a:buNone/>
                      </a:pPr>
                      <a:r>
                        <a:rPr lang="en-IN" sz="2400"/>
                        <a:t>{he} ∪ {}</a:t>
                      </a:r>
                    </a:p>
                  </a:txBody>
                  <a:tcPr anchor="ctr"/>
                </a:tc>
                <a:tc>
                  <a:txBody>
                    <a:bodyPr/>
                    <a:lstStyle/>
                    <a:p>
                      <a:pPr algn="l">
                        <a:buNone/>
                      </a:pPr>
                      <a:r>
                        <a:rPr lang="en-IN" sz="2400" b="1"/>
                        <a:t>{he}</a:t>
                      </a:r>
                      <a:endParaRPr lang="en-IN" sz="2400"/>
                    </a:p>
                  </a:txBody>
                  <a:tcPr anchor="ctr"/>
                </a:tc>
                <a:extLst>
                  <a:ext uri="{0D108BD9-81ED-4DB2-BD59-A6C34878D82A}">
                    <a16:rowId xmlns:a16="http://schemas.microsoft.com/office/drawing/2014/main" val="12945778"/>
                  </a:ext>
                </a:extLst>
              </a:tr>
              <a:tr h="444474">
                <a:tc>
                  <a:txBody>
                    <a:bodyPr/>
                    <a:lstStyle/>
                    <a:p>
                      <a:pPr algn="ctr">
                        <a:buNone/>
                      </a:pPr>
                      <a:r>
                        <a:rPr lang="en-IN" sz="2400"/>
                        <a:t>3</a:t>
                      </a:r>
                    </a:p>
                  </a:txBody>
                  <a:tcPr anchor="ctr"/>
                </a:tc>
                <a:tc>
                  <a:txBody>
                    <a:bodyPr/>
                    <a:lstStyle/>
                    <a:p>
                      <a:pPr algn="l">
                        <a:buNone/>
                      </a:pPr>
                      <a:r>
                        <a:rPr lang="en-IN" sz="2400"/>
                        <a:t>her</a:t>
                      </a:r>
                    </a:p>
                  </a:txBody>
                  <a:tcPr anchor="ctr"/>
                </a:tc>
                <a:tc>
                  <a:txBody>
                    <a:bodyPr/>
                    <a:lstStyle/>
                    <a:p>
                      <a:pPr algn="l">
                        <a:buNone/>
                      </a:pPr>
                      <a:r>
                        <a:rPr lang="en-IN" sz="2400"/>
                        <a:t>{}</a:t>
                      </a:r>
                    </a:p>
                  </a:txBody>
                  <a:tcPr anchor="ctr"/>
                </a:tc>
                <a:tc>
                  <a:txBody>
                    <a:bodyPr/>
                    <a:lstStyle/>
                    <a:p>
                      <a:pPr algn="l">
                        <a:buNone/>
                      </a:pPr>
                      <a:r>
                        <a:rPr lang="en-IN" sz="2400"/>
                        <a:t>Root</a:t>
                      </a:r>
                    </a:p>
                  </a:txBody>
                  <a:tcPr anchor="ctr"/>
                </a:tc>
                <a:tc>
                  <a:txBody>
                    <a:bodyPr/>
                    <a:lstStyle/>
                    <a:p>
                      <a:pPr algn="l">
                        <a:buNone/>
                      </a:pPr>
                      <a:r>
                        <a:rPr lang="en-IN" sz="2400" dirty="0"/>
                        <a:t>{}</a:t>
                      </a:r>
                    </a:p>
                  </a:txBody>
                  <a:tcPr anchor="ctr"/>
                </a:tc>
                <a:tc>
                  <a:txBody>
                    <a:bodyPr/>
                    <a:lstStyle/>
                    <a:p>
                      <a:pPr algn="l">
                        <a:buNone/>
                      </a:pPr>
                      <a:r>
                        <a:rPr lang="en-IN" sz="2400" dirty="0"/>
                        <a:t>{} ∪ {}</a:t>
                      </a:r>
                    </a:p>
                  </a:txBody>
                  <a:tcPr anchor="ctr"/>
                </a:tc>
                <a:tc>
                  <a:txBody>
                    <a:bodyPr/>
                    <a:lstStyle/>
                    <a:p>
                      <a:pPr algn="l">
                        <a:buNone/>
                      </a:pPr>
                      <a:r>
                        <a:rPr lang="en-IN" sz="2400"/>
                        <a:t>{}</a:t>
                      </a:r>
                    </a:p>
                  </a:txBody>
                  <a:tcPr anchor="ctr"/>
                </a:tc>
                <a:extLst>
                  <a:ext uri="{0D108BD9-81ED-4DB2-BD59-A6C34878D82A}">
                    <a16:rowId xmlns:a16="http://schemas.microsoft.com/office/drawing/2014/main" val="1815400538"/>
                  </a:ext>
                </a:extLst>
              </a:tr>
              <a:tr h="444474">
                <a:tc>
                  <a:txBody>
                    <a:bodyPr/>
                    <a:lstStyle/>
                    <a:p>
                      <a:pPr algn="ctr">
                        <a:buNone/>
                      </a:pPr>
                      <a:r>
                        <a:rPr lang="en-IN" sz="2400"/>
                        <a:t>4</a:t>
                      </a:r>
                    </a:p>
                  </a:txBody>
                  <a:tcPr anchor="ctr"/>
                </a:tc>
                <a:tc>
                  <a:txBody>
                    <a:bodyPr/>
                    <a:lstStyle/>
                    <a:p>
                      <a:pPr algn="l">
                        <a:buNone/>
                      </a:pPr>
                      <a:r>
                        <a:rPr lang="en-IN" sz="2400"/>
                        <a:t>hers</a:t>
                      </a:r>
                    </a:p>
                  </a:txBody>
                  <a:tcPr anchor="ctr"/>
                </a:tc>
                <a:tc>
                  <a:txBody>
                    <a:bodyPr/>
                    <a:lstStyle/>
                    <a:p>
                      <a:pPr algn="l">
                        <a:buNone/>
                      </a:pPr>
                      <a:r>
                        <a:rPr lang="en-IN" sz="2400" dirty="0"/>
                        <a:t>{hers}</a:t>
                      </a:r>
                    </a:p>
                  </a:txBody>
                  <a:tcPr anchor="ctr"/>
                </a:tc>
                <a:tc>
                  <a:txBody>
                    <a:bodyPr/>
                    <a:lstStyle/>
                    <a:p>
                      <a:pPr algn="l">
                        <a:buNone/>
                      </a:pPr>
                      <a:r>
                        <a:rPr lang="en-IN" sz="2400"/>
                        <a:t>s</a:t>
                      </a:r>
                    </a:p>
                  </a:txBody>
                  <a:tcPr anchor="ctr"/>
                </a:tc>
                <a:tc>
                  <a:txBody>
                    <a:bodyPr/>
                    <a:lstStyle/>
                    <a:p>
                      <a:pPr algn="l">
                        <a:buNone/>
                      </a:pPr>
                      <a:r>
                        <a:rPr lang="en-IN" sz="2400" dirty="0"/>
                        <a:t>{}</a:t>
                      </a:r>
                    </a:p>
                  </a:txBody>
                  <a:tcPr anchor="ctr"/>
                </a:tc>
                <a:tc>
                  <a:txBody>
                    <a:bodyPr/>
                    <a:lstStyle/>
                    <a:p>
                      <a:pPr algn="l">
                        <a:buNone/>
                      </a:pPr>
                      <a:r>
                        <a:rPr lang="en-IN" sz="2400" dirty="0"/>
                        <a:t>{hers} ∪ {}</a:t>
                      </a:r>
                    </a:p>
                  </a:txBody>
                  <a:tcPr anchor="ctr"/>
                </a:tc>
                <a:tc>
                  <a:txBody>
                    <a:bodyPr/>
                    <a:lstStyle/>
                    <a:p>
                      <a:pPr algn="l">
                        <a:buNone/>
                      </a:pPr>
                      <a:r>
                        <a:rPr lang="en-IN" sz="2400" b="1"/>
                        <a:t>{hers}</a:t>
                      </a:r>
                      <a:endParaRPr lang="en-IN" sz="2400"/>
                    </a:p>
                  </a:txBody>
                  <a:tcPr anchor="ctr"/>
                </a:tc>
                <a:extLst>
                  <a:ext uri="{0D108BD9-81ED-4DB2-BD59-A6C34878D82A}">
                    <a16:rowId xmlns:a16="http://schemas.microsoft.com/office/drawing/2014/main" val="3799227487"/>
                  </a:ext>
                </a:extLst>
              </a:tr>
              <a:tr h="444474">
                <a:tc>
                  <a:txBody>
                    <a:bodyPr/>
                    <a:lstStyle/>
                    <a:p>
                      <a:pPr algn="ctr">
                        <a:buNone/>
                      </a:pPr>
                      <a:r>
                        <a:rPr lang="en-IN" sz="2400"/>
                        <a:t>5</a:t>
                      </a:r>
                    </a:p>
                  </a:txBody>
                  <a:tcPr anchor="ctr"/>
                </a:tc>
                <a:tc>
                  <a:txBody>
                    <a:bodyPr/>
                    <a:lstStyle/>
                    <a:p>
                      <a:pPr algn="l">
                        <a:buNone/>
                      </a:pPr>
                      <a:r>
                        <a:rPr lang="en-IN" sz="2400"/>
                        <a:t>hi</a:t>
                      </a:r>
                    </a:p>
                  </a:txBody>
                  <a:tcPr anchor="ctr"/>
                </a:tc>
                <a:tc>
                  <a:txBody>
                    <a:bodyPr/>
                    <a:lstStyle/>
                    <a:p>
                      <a:pPr algn="l">
                        <a:buNone/>
                      </a:pPr>
                      <a:r>
                        <a:rPr lang="en-IN" sz="2400"/>
                        <a:t>{}</a:t>
                      </a:r>
                    </a:p>
                  </a:txBody>
                  <a:tcPr anchor="ctr"/>
                </a:tc>
                <a:tc>
                  <a:txBody>
                    <a:bodyPr/>
                    <a:lstStyle/>
                    <a:p>
                      <a:pPr algn="l">
                        <a:buNone/>
                      </a:pPr>
                      <a:r>
                        <a:rPr lang="en-IN" sz="2400"/>
                        <a:t>Root</a:t>
                      </a:r>
                    </a:p>
                  </a:txBody>
                  <a:tcPr anchor="ctr"/>
                </a:tc>
                <a:tc>
                  <a:txBody>
                    <a:bodyPr/>
                    <a:lstStyle/>
                    <a:p>
                      <a:pPr algn="l">
                        <a:buNone/>
                      </a:pPr>
                      <a:r>
                        <a:rPr lang="en-IN" sz="2400"/>
                        <a:t>{}</a:t>
                      </a:r>
                    </a:p>
                  </a:txBody>
                  <a:tcPr anchor="ctr"/>
                </a:tc>
                <a:tc>
                  <a:txBody>
                    <a:bodyPr/>
                    <a:lstStyle/>
                    <a:p>
                      <a:pPr algn="l">
                        <a:buNone/>
                      </a:pPr>
                      <a:r>
                        <a:rPr lang="en-IN" sz="2400" dirty="0"/>
                        <a:t>{} ∪ {}</a:t>
                      </a:r>
                    </a:p>
                  </a:txBody>
                  <a:tcPr anchor="ctr"/>
                </a:tc>
                <a:tc>
                  <a:txBody>
                    <a:bodyPr/>
                    <a:lstStyle/>
                    <a:p>
                      <a:pPr algn="l">
                        <a:buNone/>
                      </a:pPr>
                      <a:r>
                        <a:rPr lang="en-IN" sz="2400"/>
                        <a:t>{}</a:t>
                      </a:r>
                    </a:p>
                  </a:txBody>
                  <a:tcPr anchor="ctr"/>
                </a:tc>
                <a:extLst>
                  <a:ext uri="{0D108BD9-81ED-4DB2-BD59-A6C34878D82A}">
                    <a16:rowId xmlns:a16="http://schemas.microsoft.com/office/drawing/2014/main" val="3878267338"/>
                  </a:ext>
                </a:extLst>
              </a:tr>
              <a:tr h="444474">
                <a:tc>
                  <a:txBody>
                    <a:bodyPr/>
                    <a:lstStyle/>
                    <a:p>
                      <a:pPr algn="ctr">
                        <a:buNone/>
                      </a:pPr>
                      <a:r>
                        <a:rPr lang="en-IN" sz="2400"/>
                        <a:t>6</a:t>
                      </a:r>
                    </a:p>
                  </a:txBody>
                  <a:tcPr anchor="ctr"/>
                </a:tc>
                <a:tc>
                  <a:txBody>
                    <a:bodyPr/>
                    <a:lstStyle/>
                    <a:p>
                      <a:pPr algn="l">
                        <a:buNone/>
                      </a:pPr>
                      <a:r>
                        <a:rPr lang="en-IN" sz="2400"/>
                        <a:t>his</a:t>
                      </a:r>
                    </a:p>
                  </a:txBody>
                  <a:tcPr anchor="ctr"/>
                </a:tc>
                <a:tc>
                  <a:txBody>
                    <a:bodyPr/>
                    <a:lstStyle/>
                    <a:p>
                      <a:pPr algn="l">
                        <a:buNone/>
                      </a:pPr>
                      <a:r>
                        <a:rPr lang="en-IN" sz="2400"/>
                        <a:t>{his}</a:t>
                      </a:r>
                    </a:p>
                  </a:txBody>
                  <a:tcPr anchor="ctr"/>
                </a:tc>
                <a:tc>
                  <a:txBody>
                    <a:bodyPr/>
                    <a:lstStyle/>
                    <a:p>
                      <a:pPr algn="l">
                        <a:buNone/>
                      </a:pPr>
                      <a:r>
                        <a:rPr lang="en-IN" sz="2400"/>
                        <a:t>s</a:t>
                      </a:r>
                    </a:p>
                  </a:txBody>
                  <a:tcPr anchor="ctr"/>
                </a:tc>
                <a:tc>
                  <a:txBody>
                    <a:bodyPr/>
                    <a:lstStyle/>
                    <a:p>
                      <a:pPr algn="l">
                        <a:buNone/>
                      </a:pPr>
                      <a:r>
                        <a:rPr lang="en-IN" sz="2400"/>
                        <a:t>{}</a:t>
                      </a:r>
                    </a:p>
                  </a:txBody>
                  <a:tcPr anchor="ctr"/>
                </a:tc>
                <a:tc>
                  <a:txBody>
                    <a:bodyPr/>
                    <a:lstStyle/>
                    <a:p>
                      <a:pPr algn="l">
                        <a:buNone/>
                      </a:pPr>
                      <a:r>
                        <a:rPr lang="en-IN" sz="2400" dirty="0"/>
                        <a:t>{his} ∪ {}</a:t>
                      </a:r>
                    </a:p>
                  </a:txBody>
                  <a:tcPr anchor="ctr"/>
                </a:tc>
                <a:tc>
                  <a:txBody>
                    <a:bodyPr/>
                    <a:lstStyle/>
                    <a:p>
                      <a:pPr algn="l">
                        <a:buNone/>
                      </a:pPr>
                      <a:r>
                        <a:rPr lang="en-IN" sz="2400" b="1"/>
                        <a:t>{his}</a:t>
                      </a:r>
                      <a:endParaRPr lang="en-IN" sz="2400"/>
                    </a:p>
                  </a:txBody>
                  <a:tcPr anchor="ctr"/>
                </a:tc>
                <a:extLst>
                  <a:ext uri="{0D108BD9-81ED-4DB2-BD59-A6C34878D82A}">
                    <a16:rowId xmlns:a16="http://schemas.microsoft.com/office/drawing/2014/main" val="2943116249"/>
                  </a:ext>
                </a:extLst>
              </a:tr>
              <a:tr h="444474">
                <a:tc>
                  <a:txBody>
                    <a:bodyPr/>
                    <a:lstStyle/>
                    <a:p>
                      <a:pPr algn="ctr">
                        <a:buNone/>
                      </a:pPr>
                      <a:r>
                        <a:rPr lang="en-IN" sz="2400"/>
                        <a:t>7</a:t>
                      </a:r>
                    </a:p>
                  </a:txBody>
                  <a:tcPr anchor="ctr"/>
                </a:tc>
                <a:tc>
                  <a:txBody>
                    <a:bodyPr/>
                    <a:lstStyle/>
                    <a:p>
                      <a:pPr algn="l">
                        <a:buNone/>
                      </a:pPr>
                      <a:r>
                        <a:rPr lang="en-IN" sz="2400"/>
                        <a:t>s</a:t>
                      </a:r>
                    </a:p>
                  </a:txBody>
                  <a:tcPr anchor="ctr"/>
                </a:tc>
                <a:tc>
                  <a:txBody>
                    <a:bodyPr/>
                    <a:lstStyle/>
                    <a:p>
                      <a:pPr algn="l">
                        <a:buNone/>
                      </a:pPr>
                      <a:r>
                        <a:rPr lang="en-IN" sz="2400"/>
                        <a:t>{}</a:t>
                      </a:r>
                    </a:p>
                  </a:txBody>
                  <a:tcPr anchor="ctr"/>
                </a:tc>
                <a:tc>
                  <a:txBody>
                    <a:bodyPr/>
                    <a:lstStyle/>
                    <a:p>
                      <a:pPr algn="l">
                        <a:buNone/>
                      </a:pPr>
                      <a:r>
                        <a:rPr lang="en-IN" sz="2400"/>
                        <a:t>Root</a:t>
                      </a:r>
                    </a:p>
                  </a:txBody>
                  <a:tcPr anchor="ctr"/>
                </a:tc>
                <a:tc>
                  <a:txBody>
                    <a:bodyPr/>
                    <a:lstStyle/>
                    <a:p>
                      <a:pPr algn="l">
                        <a:buNone/>
                      </a:pPr>
                      <a:r>
                        <a:rPr lang="en-IN" sz="2400"/>
                        <a:t>{}</a:t>
                      </a:r>
                    </a:p>
                  </a:txBody>
                  <a:tcPr anchor="ctr"/>
                </a:tc>
                <a:tc>
                  <a:txBody>
                    <a:bodyPr/>
                    <a:lstStyle/>
                    <a:p>
                      <a:pPr algn="l">
                        <a:buNone/>
                      </a:pPr>
                      <a:r>
                        <a:rPr lang="en-IN" sz="2400" dirty="0"/>
                        <a:t>{} ∪ {}</a:t>
                      </a:r>
                    </a:p>
                  </a:txBody>
                  <a:tcPr anchor="ctr"/>
                </a:tc>
                <a:tc>
                  <a:txBody>
                    <a:bodyPr/>
                    <a:lstStyle/>
                    <a:p>
                      <a:pPr algn="l">
                        <a:buNone/>
                      </a:pPr>
                      <a:r>
                        <a:rPr lang="en-IN" sz="2400"/>
                        <a:t>{}</a:t>
                      </a:r>
                    </a:p>
                  </a:txBody>
                  <a:tcPr anchor="ctr"/>
                </a:tc>
                <a:extLst>
                  <a:ext uri="{0D108BD9-81ED-4DB2-BD59-A6C34878D82A}">
                    <a16:rowId xmlns:a16="http://schemas.microsoft.com/office/drawing/2014/main" val="2956134275"/>
                  </a:ext>
                </a:extLst>
              </a:tr>
              <a:tr h="444474">
                <a:tc>
                  <a:txBody>
                    <a:bodyPr/>
                    <a:lstStyle/>
                    <a:p>
                      <a:pPr algn="ctr">
                        <a:buNone/>
                      </a:pPr>
                      <a:r>
                        <a:rPr lang="en-IN" sz="2400"/>
                        <a:t>8</a:t>
                      </a:r>
                    </a:p>
                  </a:txBody>
                  <a:tcPr anchor="ctr"/>
                </a:tc>
                <a:tc>
                  <a:txBody>
                    <a:bodyPr/>
                    <a:lstStyle/>
                    <a:p>
                      <a:pPr algn="l">
                        <a:buNone/>
                      </a:pPr>
                      <a:r>
                        <a:rPr lang="en-IN" sz="2400"/>
                        <a:t>sh</a:t>
                      </a:r>
                    </a:p>
                  </a:txBody>
                  <a:tcPr anchor="ctr"/>
                </a:tc>
                <a:tc>
                  <a:txBody>
                    <a:bodyPr/>
                    <a:lstStyle/>
                    <a:p>
                      <a:pPr algn="l">
                        <a:buNone/>
                      </a:pPr>
                      <a:r>
                        <a:rPr lang="en-IN" sz="2400"/>
                        <a:t>{}</a:t>
                      </a:r>
                    </a:p>
                  </a:txBody>
                  <a:tcPr anchor="ctr"/>
                </a:tc>
                <a:tc>
                  <a:txBody>
                    <a:bodyPr/>
                    <a:lstStyle/>
                    <a:p>
                      <a:pPr algn="l">
                        <a:buNone/>
                      </a:pPr>
                      <a:r>
                        <a:rPr lang="en-IN" sz="2400"/>
                        <a:t>h</a:t>
                      </a:r>
                    </a:p>
                  </a:txBody>
                  <a:tcPr anchor="ctr"/>
                </a:tc>
                <a:tc>
                  <a:txBody>
                    <a:bodyPr/>
                    <a:lstStyle/>
                    <a:p>
                      <a:pPr algn="l">
                        <a:buNone/>
                      </a:pPr>
                      <a:r>
                        <a:rPr lang="en-IN" sz="2400"/>
                        <a:t>{}</a:t>
                      </a:r>
                    </a:p>
                  </a:txBody>
                  <a:tcPr anchor="ctr"/>
                </a:tc>
                <a:tc>
                  <a:txBody>
                    <a:bodyPr/>
                    <a:lstStyle/>
                    <a:p>
                      <a:pPr algn="l">
                        <a:buNone/>
                      </a:pPr>
                      <a:r>
                        <a:rPr lang="en-IN" sz="2400"/>
                        <a:t>{} ∪ {}</a:t>
                      </a:r>
                    </a:p>
                  </a:txBody>
                  <a:tcPr anchor="ctr"/>
                </a:tc>
                <a:tc>
                  <a:txBody>
                    <a:bodyPr/>
                    <a:lstStyle/>
                    <a:p>
                      <a:pPr algn="l">
                        <a:buNone/>
                      </a:pPr>
                      <a:r>
                        <a:rPr lang="en-IN" sz="2400" dirty="0"/>
                        <a:t>{}</a:t>
                      </a:r>
                    </a:p>
                  </a:txBody>
                  <a:tcPr anchor="ctr"/>
                </a:tc>
                <a:extLst>
                  <a:ext uri="{0D108BD9-81ED-4DB2-BD59-A6C34878D82A}">
                    <a16:rowId xmlns:a16="http://schemas.microsoft.com/office/drawing/2014/main" val="1242525230"/>
                  </a:ext>
                </a:extLst>
              </a:tr>
              <a:tr h="444474">
                <a:tc>
                  <a:txBody>
                    <a:bodyPr/>
                    <a:lstStyle/>
                    <a:p>
                      <a:pPr algn="ctr">
                        <a:buNone/>
                      </a:pPr>
                      <a:r>
                        <a:rPr lang="en-IN" sz="2400"/>
                        <a:t>9</a:t>
                      </a:r>
                    </a:p>
                  </a:txBody>
                  <a:tcPr anchor="ctr"/>
                </a:tc>
                <a:tc>
                  <a:txBody>
                    <a:bodyPr/>
                    <a:lstStyle/>
                    <a:p>
                      <a:pPr algn="l">
                        <a:buNone/>
                      </a:pPr>
                      <a:r>
                        <a:rPr lang="en-IN" sz="2400"/>
                        <a:t>she</a:t>
                      </a:r>
                    </a:p>
                  </a:txBody>
                  <a:tcPr anchor="ctr"/>
                </a:tc>
                <a:tc>
                  <a:txBody>
                    <a:bodyPr/>
                    <a:lstStyle/>
                    <a:p>
                      <a:pPr algn="l">
                        <a:buNone/>
                      </a:pPr>
                      <a:r>
                        <a:rPr lang="en-IN" sz="2400"/>
                        <a:t>{she}</a:t>
                      </a:r>
                    </a:p>
                  </a:txBody>
                  <a:tcPr anchor="ctr"/>
                </a:tc>
                <a:tc>
                  <a:txBody>
                    <a:bodyPr/>
                    <a:lstStyle/>
                    <a:p>
                      <a:pPr algn="l">
                        <a:buNone/>
                      </a:pPr>
                      <a:r>
                        <a:rPr lang="en-IN" sz="2400"/>
                        <a:t>he</a:t>
                      </a:r>
                    </a:p>
                  </a:txBody>
                  <a:tcPr anchor="ctr"/>
                </a:tc>
                <a:tc>
                  <a:txBody>
                    <a:bodyPr/>
                    <a:lstStyle/>
                    <a:p>
                      <a:pPr algn="l">
                        <a:buNone/>
                      </a:pPr>
                      <a:r>
                        <a:rPr lang="en-IN" sz="2400"/>
                        <a:t>{he}</a:t>
                      </a:r>
                    </a:p>
                  </a:txBody>
                  <a:tcPr anchor="ctr"/>
                </a:tc>
                <a:tc>
                  <a:txBody>
                    <a:bodyPr/>
                    <a:lstStyle/>
                    <a:p>
                      <a:pPr algn="l">
                        <a:buNone/>
                      </a:pPr>
                      <a:r>
                        <a:rPr lang="en-IN" sz="2400"/>
                        <a:t>{she} ∪ {he}</a:t>
                      </a:r>
                    </a:p>
                  </a:txBody>
                  <a:tcPr anchor="ctr"/>
                </a:tc>
                <a:tc>
                  <a:txBody>
                    <a:bodyPr/>
                    <a:lstStyle/>
                    <a:p>
                      <a:pPr algn="l">
                        <a:buNone/>
                      </a:pPr>
                      <a:r>
                        <a:rPr lang="en-IN" sz="2400" b="1" dirty="0"/>
                        <a:t>{she, he}</a:t>
                      </a:r>
                      <a:endParaRPr lang="en-IN" sz="2400" dirty="0"/>
                    </a:p>
                  </a:txBody>
                  <a:tcPr anchor="ctr"/>
                </a:tc>
                <a:extLst>
                  <a:ext uri="{0D108BD9-81ED-4DB2-BD59-A6C34878D82A}">
                    <a16:rowId xmlns:a16="http://schemas.microsoft.com/office/drawing/2014/main" val="450079674"/>
                  </a:ext>
                </a:extLst>
              </a:tr>
            </a:tbl>
          </a:graphicData>
        </a:graphic>
      </p:graphicFrame>
    </p:spTree>
    <p:extLst>
      <p:ext uri="{BB962C8B-B14F-4D97-AF65-F5344CB8AC3E}">
        <p14:creationId xmlns:p14="http://schemas.microsoft.com/office/powerpoint/2010/main" val="246454985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5AC3B-6FEC-FE4D-7E5C-EBE6E2197A6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6FCA6D8-E4E9-C788-7B59-E397D46BDA7E}"/>
              </a:ext>
            </a:extLst>
          </p:cNvPr>
          <p:cNvSpPr txBox="1"/>
          <p:nvPr/>
        </p:nvSpPr>
        <p:spPr>
          <a:xfrm>
            <a:off x="2892424" y="381962"/>
            <a:ext cx="5501768" cy="646331"/>
          </a:xfrm>
          <a:prstGeom prst="rect">
            <a:avLst/>
          </a:prstGeom>
          <a:solidFill>
            <a:schemeClr val="accent2">
              <a:lumMod val="20000"/>
              <a:lumOff val="80000"/>
            </a:schemeClr>
          </a:solidFill>
          <a:ln>
            <a:solidFill>
              <a:srgbClr val="C00000"/>
            </a:solidFill>
          </a:ln>
        </p:spPr>
        <p:txBody>
          <a:bodyPr wrap="square">
            <a:spAutoFit/>
          </a:bodyPr>
          <a:lstStyle/>
          <a:p>
            <a:r>
              <a:rPr lang="en-IN" sz="3600" b="1" dirty="0"/>
              <a:t>Step 4: Output Array</a:t>
            </a:r>
          </a:p>
        </p:txBody>
      </p:sp>
      <p:sp>
        <p:nvSpPr>
          <p:cNvPr id="5" name="TextBox 4">
            <a:extLst>
              <a:ext uri="{FF2B5EF4-FFF2-40B4-BE49-F238E27FC236}">
                <a16:creationId xmlns:a16="http://schemas.microsoft.com/office/drawing/2014/main" id="{C4FD7277-5E74-571F-F1E3-A25BD985250D}"/>
              </a:ext>
            </a:extLst>
          </p:cNvPr>
          <p:cNvSpPr txBox="1"/>
          <p:nvPr/>
        </p:nvSpPr>
        <p:spPr>
          <a:xfrm>
            <a:off x="580358" y="1217115"/>
            <a:ext cx="10904506" cy="707886"/>
          </a:xfrm>
          <a:prstGeom prst="rect">
            <a:avLst/>
          </a:prstGeom>
          <a:noFill/>
        </p:spPr>
        <p:txBody>
          <a:bodyPr wrap="square">
            <a:spAutoFit/>
          </a:bodyPr>
          <a:lstStyle/>
          <a:p>
            <a:r>
              <a:rPr lang="en-IN" sz="4000" b="1" dirty="0"/>
              <a:t>Each node stores which patterns end there.</a:t>
            </a:r>
          </a:p>
        </p:txBody>
      </p:sp>
      <p:graphicFrame>
        <p:nvGraphicFramePr>
          <p:cNvPr id="6" name="Table 5">
            <a:extLst>
              <a:ext uri="{FF2B5EF4-FFF2-40B4-BE49-F238E27FC236}">
                <a16:creationId xmlns:a16="http://schemas.microsoft.com/office/drawing/2014/main" id="{595F0964-87C6-3324-4877-5174609BA504}"/>
              </a:ext>
            </a:extLst>
          </p:cNvPr>
          <p:cNvGraphicFramePr>
            <a:graphicFrameLocks noGrp="1"/>
          </p:cNvGraphicFramePr>
          <p:nvPr>
            <p:extLst>
              <p:ext uri="{D42A27DB-BD31-4B8C-83A1-F6EECF244321}">
                <p14:modId xmlns:p14="http://schemas.microsoft.com/office/powerpoint/2010/main" val="464294837"/>
              </p:ext>
            </p:extLst>
          </p:nvPr>
        </p:nvGraphicFramePr>
        <p:xfrm>
          <a:off x="2892424" y="2550727"/>
          <a:ext cx="3974720" cy="3673289"/>
        </p:xfrm>
        <a:graphic>
          <a:graphicData uri="http://schemas.openxmlformats.org/drawingml/2006/table">
            <a:tbl>
              <a:tblPr>
                <a:tableStyleId>{5940675A-B579-460E-94D1-54222C63F5DA}</a:tableStyleId>
              </a:tblPr>
              <a:tblGrid>
                <a:gridCol w="1802834">
                  <a:extLst>
                    <a:ext uri="{9D8B030D-6E8A-4147-A177-3AD203B41FA5}">
                      <a16:colId xmlns:a16="http://schemas.microsoft.com/office/drawing/2014/main" val="3264128170"/>
                    </a:ext>
                  </a:extLst>
                </a:gridCol>
                <a:gridCol w="2171886">
                  <a:extLst>
                    <a:ext uri="{9D8B030D-6E8A-4147-A177-3AD203B41FA5}">
                      <a16:colId xmlns:a16="http://schemas.microsoft.com/office/drawing/2014/main" val="1560239826"/>
                    </a:ext>
                  </a:extLst>
                </a:gridCol>
              </a:tblGrid>
              <a:tr h="869129">
                <a:tc>
                  <a:txBody>
                    <a:bodyPr/>
                    <a:lstStyle/>
                    <a:p>
                      <a:pPr>
                        <a:buNone/>
                      </a:pPr>
                      <a:r>
                        <a:rPr lang="en-IN" sz="4000" b="1" dirty="0"/>
                        <a:t>Node</a:t>
                      </a:r>
                    </a:p>
                  </a:txBody>
                  <a:tcPr anchor="ctr"/>
                </a:tc>
                <a:tc>
                  <a:txBody>
                    <a:bodyPr/>
                    <a:lstStyle/>
                    <a:p>
                      <a:pPr>
                        <a:buNone/>
                      </a:pPr>
                      <a:r>
                        <a:rPr lang="en-IN" sz="4000" b="1" dirty="0"/>
                        <a:t>Output</a:t>
                      </a:r>
                    </a:p>
                  </a:txBody>
                  <a:tcPr anchor="ctr"/>
                </a:tc>
                <a:extLst>
                  <a:ext uri="{0D108BD9-81ED-4DB2-BD59-A6C34878D82A}">
                    <a16:rowId xmlns:a16="http://schemas.microsoft.com/office/drawing/2014/main" val="1467194074"/>
                  </a:ext>
                </a:extLst>
              </a:tr>
              <a:tr h="668757">
                <a:tc>
                  <a:txBody>
                    <a:bodyPr/>
                    <a:lstStyle/>
                    <a:p>
                      <a:pPr>
                        <a:buNone/>
                      </a:pPr>
                      <a:r>
                        <a:rPr lang="en-IN" sz="4000"/>
                        <a:t>2</a:t>
                      </a:r>
                    </a:p>
                  </a:txBody>
                  <a:tcPr anchor="ctr"/>
                </a:tc>
                <a:tc>
                  <a:txBody>
                    <a:bodyPr/>
                    <a:lstStyle/>
                    <a:p>
                      <a:pPr>
                        <a:buNone/>
                      </a:pPr>
                      <a:r>
                        <a:rPr lang="en-IN" sz="4000" dirty="0"/>
                        <a:t>he</a:t>
                      </a:r>
                    </a:p>
                  </a:txBody>
                  <a:tcPr anchor="ctr"/>
                </a:tc>
                <a:extLst>
                  <a:ext uri="{0D108BD9-81ED-4DB2-BD59-A6C34878D82A}">
                    <a16:rowId xmlns:a16="http://schemas.microsoft.com/office/drawing/2014/main" val="647848421"/>
                  </a:ext>
                </a:extLst>
              </a:tr>
              <a:tr h="668757">
                <a:tc>
                  <a:txBody>
                    <a:bodyPr/>
                    <a:lstStyle/>
                    <a:p>
                      <a:pPr>
                        <a:buNone/>
                      </a:pPr>
                      <a:r>
                        <a:rPr lang="en-IN" sz="4000"/>
                        <a:t>4</a:t>
                      </a:r>
                    </a:p>
                  </a:txBody>
                  <a:tcPr anchor="ctr"/>
                </a:tc>
                <a:tc>
                  <a:txBody>
                    <a:bodyPr/>
                    <a:lstStyle/>
                    <a:p>
                      <a:pPr>
                        <a:buNone/>
                      </a:pPr>
                      <a:r>
                        <a:rPr lang="en-IN" sz="4000" dirty="0"/>
                        <a:t>hers</a:t>
                      </a:r>
                    </a:p>
                  </a:txBody>
                  <a:tcPr anchor="ctr"/>
                </a:tc>
                <a:extLst>
                  <a:ext uri="{0D108BD9-81ED-4DB2-BD59-A6C34878D82A}">
                    <a16:rowId xmlns:a16="http://schemas.microsoft.com/office/drawing/2014/main" val="1516989934"/>
                  </a:ext>
                </a:extLst>
              </a:tr>
              <a:tr h="668757">
                <a:tc>
                  <a:txBody>
                    <a:bodyPr/>
                    <a:lstStyle/>
                    <a:p>
                      <a:pPr>
                        <a:buNone/>
                      </a:pPr>
                      <a:r>
                        <a:rPr lang="en-IN" sz="4000"/>
                        <a:t>6</a:t>
                      </a:r>
                    </a:p>
                  </a:txBody>
                  <a:tcPr anchor="ctr"/>
                </a:tc>
                <a:tc>
                  <a:txBody>
                    <a:bodyPr/>
                    <a:lstStyle/>
                    <a:p>
                      <a:pPr>
                        <a:buNone/>
                      </a:pPr>
                      <a:r>
                        <a:rPr lang="en-IN" sz="4000" dirty="0"/>
                        <a:t>his</a:t>
                      </a:r>
                    </a:p>
                  </a:txBody>
                  <a:tcPr anchor="ctr"/>
                </a:tc>
                <a:extLst>
                  <a:ext uri="{0D108BD9-81ED-4DB2-BD59-A6C34878D82A}">
                    <a16:rowId xmlns:a16="http://schemas.microsoft.com/office/drawing/2014/main" val="327119543"/>
                  </a:ext>
                </a:extLst>
              </a:tr>
              <a:tr h="668757">
                <a:tc>
                  <a:txBody>
                    <a:bodyPr/>
                    <a:lstStyle/>
                    <a:p>
                      <a:pPr>
                        <a:buNone/>
                      </a:pPr>
                      <a:r>
                        <a:rPr lang="en-IN" sz="4000"/>
                        <a:t>9</a:t>
                      </a:r>
                    </a:p>
                  </a:txBody>
                  <a:tcPr anchor="ctr"/>
                </a:tc>
                <a:tc>
                  <a:txBody>
                    <a:bodyPr/>
                    <a:lstStyle/>
                    <a:p>
                      <a:pPr>
                        <a:buNone/>
                      </a:pPr>
                      <a:r>
                        <a:rPr lang="en-IN" sz="4000" dirty="0"/>
                        <a:t>she</a:t>
                      </a:r>
                    </a:p>
                  </a:txBody>
                  <a:tcPr anchor="ctr"/>
                </a:tc>
                <a:extLst>
                  <a:ext uri="{0D108BD9-81ED-4DB2-BD59-A6C34878D82A}">
                    <a16:rowId xmlns:a16="http://schemas.microsoft.com/office/drawing/2014/main" val="2460357584"/>
                  </a:ext>
                </a:extLst>
              </a:tr>
            </a:tbl>
          </a:graphicData>
        </a:graphic>
      </p:graphicFrame>
      <p:sp>
        <p:nvSpPr>
          <p:cNvPr id="8" name="TextBox 7">
            <a:extLst>
              <a:ext uri="{FF2B5EF4-FFF2-40B4-BE49-F238E27FC236}">
                <a16:creationId xmlns:a16="http://schemas.microsoft.com/office/drawing/2014/main" id="{A9743F34-D6EA-44D0-6F60-AAA9FE739578}"/>
              </a:ext>
            </a:extLst>
          </p:cNvPr>
          <p:cNvSpPr txBox="1"/>
          <p:nvPr/>
        </p:nvSpPr>
        <p:spPr>
          <a:xfrm>
            <a:off x="580358" y="2236934"/>
            <a:ext cx="1815370" cy="707886"/>
          </a:xfrm>
          <a:prstGeom prst="rect">
            <a:avLst/>
          </a:prstGeom>
          <a:noFill/>
        </p:spPr>
        <p:txBody>
          <a:bodyPr wrap="square">
            <a:spAutoFit/>
          </a:bodyPr>
          <a:lstStyle/>
          <a:p>
            <a:r>
              <a:rPr lang="en-IN" sz="4000" b="1" dirty="0"/>
              <a:t>Initially</a:t>
            </a:r>
          </a:p>
        </p:txBody>
      </p:sp>
    </p:spTree>
    <p:extLst>
      <p:ext uri="{BB962C8B-B14F-4D97-AF65-F5344CB8AC3E}">
        <p14:creationId xmlns:p14="http://schemas.microsoft.com/office/powerpoint/2010/main" val="169402470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B3172-2612-DCF5-237B-2AD379F9FED3}"/>
            </a:ext>
          </a:extLst>
        </p:cNvPr>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F1D9883C-3576-ABEF-D571-2E32EDBFDF6E}"/>
              </a:ext>
            </a:extLst>
          </p:cNvPr>
          <p:cNvGraphicFramePr/>
          <p:nvPr>
            <p:extLst>
              <p:ext uri="{D42A27DB-BD31-4B8C-83A1-F6EECF244321}">
                <p14:modId xmlns:p14="http://schemas.microsoft.com/office/powerpoint/2010/main" val="2919953158"/>
              </p:ext>
            </p:extLst>
          </p:nvPr>
        </p:nvGraphicFramePr>
        <p:xfrm>
          <a:off x="345155" y="182880"/>
          <a:ext cx="11660917" cy="46910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Table 6">
            <a:extLst>
              <a:ext uri="{FF2B5EF4-FFF2-40B4-BE49-F238E27FC236}">
                <a16:creationId xmlns:a16="http://schemas.microsoft.com/office/drawing/2014/main" id="{ADE8C6B5-E849-436D-4E50-4F8A1BEECD12}"/>
              </a:ext>
            </a:extLst>
          </p:cNvPr>
          <p:cNvGraphicFramePr>
            <a:graphicFrameLocks noGrp="1"/>
          </p:cNvGraphicFramePr>
          <p:nvPr>
            <p:extLst>
              <p:ext uri="{D42A27DB-BD31-4B8C-83A1-F6EECF244321}">
                <p14:modId xmlns:p14="http://schemas.microsoft.com/office/powerpoint/2010/main" val="1218434519"/>
              </p:ext>
            </p:extLst>
          </p:nvPr>
        </p:nvGraphicFramePr>
        <p:xfrm>
          <a:off x="1661160" y="1859968"/>
          <a:ext cx="3029712" cy="2630831"/>
        </p:xfrm>
        <a:graphic>
          <a:graphicData uri="http://schemas.openxmlformats.org/drawingml/2006/table">
            <a:tbl>
              <a:tblPr>
                <a:tableStyleId>{5940675A-B579-460E-94D1-54222C63F5DA}</a:tableStyleId>
              </a:tblPr>
              <a:tblGrid>
                <a:gridCol w="1343885">
                  <a:extLst>
                    <a:ext uri="{9D8B030D-6E8A-4147-A177-3AD203B41FA5}">
                      <a16:colId xmlns:a16="http://schemas.microsoft.com/office/drawing/2014/main" val="1681667933"/>
                    </a:ext>
                  </a:extLst>
                </a:gridCol>
                <a:gridCol w="1685827">
                  <a:extLst>
                    <a:ext uri="{9D8B030D-6E8A-4147-A177-3AD203B41FA5}">
                      <a16:colId xmlns:a16="http://schemas.microsoft.com/office/drawing/2014/main" val="2364308386"/>
                    </a:ext>
                  </a:extLst>
                </a:gridCol>
              </a:tblGrid>
              <a:tr h="802031">
                <a:tc>
                  <a:txBody>
                    <a:bodyPr/>
                    <a:lstStyle/>
                    <a:p>
                      <a:pPr>
                        <a:buNone/>
                      </a:pPr>
                      <a:r>
                        <a:rPr lang="en-IN" sz="2400" b="1" dirty="0"/>
                        <a:t>Node</a:t>
                      </a:r>
                    </a:p>
                  </a:txBody>
                  <a:tcPr anchor="ctr"/>
                </a:tc>
                <a:tc>
                  <a:txBody>
                    <a:bodyPr/>
                    <a:lstStyle/>
                    <a:p>
                      <a:pPr>
                        <a:buNone/>
                      </a:pPr>
                      <a:r>
                        <a:rPr lang="en-IN" sz="2400" b="1" dirty="0"/>
                        <a:t>Output</a:t>
                      </a:r>
                    </a:p>
                  </a:txBody>
                  <a:tcPr anchor="ctr"/>
                </a:tc>
                <a:extLst>
                  <a:ext uri="{0D108BD9-81ED-4DB2-BD59-A6C34878D82A}">
                    <a16:rowId xmlns:a16="http://schemas.microsoft.com/office/drawing/2014/main" val="2956707981"/>
                  </a:ext>
                </a:extLst>
              </a:tr>
              <a:tr h="445573">
                <a:tc>
                  <a:txBody>
                    <a:bodyPr/>
                    <a:lstStyle/>
                    <a:p>
                      <a:pPr>
                        <a:buNone/>
                      </a:pPr>
                      <a:r>
                        <a:rPr lang="en-IN" sz="2400"/>
                        <a:t>2</a:t>
                      </a:r>
                    </a:p>
                  </a:txBody>
                  <a:tcPr anchor="ctr"/>
                </a:tc>
                <a:tc>
                  <a:txBody>
                    <a:bodyPr/>
                    <a:lstStyle/>
                    <a:p>
                      <a:pPr>
                        <a:buNone/>
                      </a:pPr>
                      <a:r>
                        <a:rPr lang="en-IN" sz="2400" dirty="0"/>
                        <a:t>he</a:t>
                      </a:r>
                    </a:p>
                  </a:txBody>
                  <a:tcPr anchor="ctr"/>
                </a:tc>
                <a:extLst>
                  <a:ext uri="{0D108BD9-81ED-4DB2-BD59-A6C34878D82A}">
                    <a16:rowId xmlns:a16="http://schemas.microsoft.com/office/drawing/2014/main" val="2399424090"/>
                  </a:ext>
                </a:extLst>
              </a:tr>
              <a:tr h="445573">
                <a:tc>
                  <a:txBody>
                    <a:bodyPr/>
                    <a:lstStyle/>
                    <a:p>
                      <a:pPr>
                        <a:buNone/>
                      </a:pPr>
                      <a:r>
                        <a:rPr lang="en-IN" sz="2400"/>
                        <a:t>4</a:t>
                      </a:r>
                    </a:p>
                  </a:txBody>
                  <a:tcPr anchor="ctr"/>
                </a:tc>
                <a:tc>
                  <a:txBody>
                    <a:bodyPr/>
                    <a:lstStyle/>
                    <a:p>
                      <a:pPr>
                        <a:buNone/>
                      </a:pPr>
                      <a:r>
                        <a:rPr lang="en-IN" sz="2400"/>
                        <a:t>hers</a:t>
                      </a:r>
                    </a:p>
                  </a:txBody>
                  <a:tcPr anchor="ctr"/>
                </a:tc>
                <a:extLst>
                  <a:ext uri="{0D108BD9-81ED-4DB2-BD59-A6C34878D82A}">
                    <a16:rowId xmlns:a16="http://schemas.microsoft.com/office/drawing/2014/main" val="3529517070"/>
                  </a:ext>
                </a:extLst>
              </a:tr>
              <a:tr h="445573">
                <a:tc>
                  <a:txBody>
                    <a:bodyPr/>
                    <a:lstStyle/>
                    <a:p>
                      <a:pPr>
                        <a:buNone/>
                      </a:pPr>
                      <a:r>
                        <a:rPr lang="en-IN" sz="2400"/>
                        <a:t>6</a:t>
                      </a:r>
                    </a:p>
                  </a:txBody>
                  <a:tcPr anchor="ctr"/>
                </a:tc>
                <a:tc>
                  <a:txBody>
                    <a:bodyPr/>
                    <a:lstStyle/>
                    <a:p>
                      <a:pPr>
                        <a:buNone/>
                      </a:pPr>
                      <a:r>
                        <a:rPr lang="en-IN" sz="2400"/>
                        <a:t>his</a:t>
                      </a:r>
                    </a:p>
                  </a:txBody>
                  <a:tcPr anchor="ctr"/>
                </a:tc>
                <a:extLst>
                  <a:ext uri="{0D108BD9-81ED-4DB2-BD59-A6C34878D82A}">
                    <a16:rowId xmlns:a16="http://schemas.microsoft.com/office/drawing/2014/main" val="186335945"/>
                  </a:ext>
                </a:extLst>
              </a:tr>
              <a:tr h="445573">
                <a:tc>
                  <a:txBody>
                    <a:bodyPr/>
                    <a:lstStyle/>
                    <a:p>
                      <a:pPr>
                        <a:buNone/>
                      </a:pPr>
                      <a:r>
                        <a:rPr lang="en-IN" sz="2400"/>
                        <a:t>9</a:t>
                      </a:r>
                    </a:p>
                  </a:txBody>
                  <a:tcPr anchor="ctr"/>
                </a:tc>
                <a:tc>
                  <a:txBody>
                    <a:bodyPr/>
                    <a:lstStyle/>
                    <a:p>
                      <a:pPr>
                        <a:buNone/>
                      </a:pPr>
                      <a:r>
                        <a:rPr lang="en-IN" sz="2400" dirty="0"/>
                        <a:t>she</a:t>
                      </a:r>
                    </a:p>
                  </a:txBody>
                  <a:tcPr anchor="ctr"/>
                </a:tc>
                <a:extLst>
                  <a:ext uri="{0D108BD9-81ED-4DB2-BD59-A6C34878D82A}">
                    <a16:rowId xmlns:a16="http://schemas.microsoft.com/office/drawing/2014/main" val="4243238741"/>
                  </a:ext>
                </a:extLst>
              </a:tr>
            </a:tbl>
          </a:graphicData>
        </a:graphic>
      </p:graphicFrame>
      <p:sp>
        <p:nvSpPr>
          <p:cNvPr id="9" name="TextBox 8">
            <a:extLst>
              <a:ext uri="{FF2B5EF4-FFF2-40B4-BE49-F238E27FC236}">
                <a16:creationId xmlns:a16="http://schemas.microsoft.com/office/drawing/2014/main" id="{2F8464EA-9D43-490D-A4E5-B04BF1CD8841}"/>
              </a:ext>
            </a:extLst>
          </p:cNvPr>
          <p:cNvSpPr txBox="1"/>
          <p:nvPr/>
        </p:nvSpPr>
        <p:spPr>
          <a:xfrm>
            <a:off x="1532350" y="238601"/>
            <a:ext cx="3719354" cy="461665"/>
          </a:xfrm>
          <a:prstGeom prst="rect">
            <a:avLst/>
          </a:prstGeom>
          <a:solidFill>
            <a:schemeClr val="accent2">
              <a:lumMod val="20000"/>
              <a:lumOff val="80000"/>
            </a:schemeClr>
          </a:solidFill>
          <a:ln>
            <a:solidFill>
              <a:srgbClr val="C00000"/>
            </a:solidFill>
          </a:ln>
        </p:spPr>
        <p:txBody>
          <a:bodyPr wrap="square">
            <a:spAutoFit/>
          </a:bodyPr>
          <a:lstStyle/>
          <a:p>
            <a:r>
              <a:rPr lang="en-IN" sz="2400" b="1" dirty="0"/>
              <a:t>Step 4: Output Array</a:t>
            </a:r>
          </a:p>
        </p:txBody>
      </p:sp>
      <p:sp>
        <p:nvSpPr>
          <p:cNvPr id="11" name="TextBox 10">
            <a:extLst>
              <a:ext uri="{FF2B5EF4-FFF2-40B4-BE49-F238E27FC236}">
                <a16:creationId xmlns:a16="http://schemas.microsoft.com/office/drawing/2014/main" id="{E9B93E61-48E1-E002-EA0E-BD6F31E460D3}"/>
              </a:ext>
            </a:extLst>
          </p:cNvPr>
          <p:cNvSpPr txBox="1"/>
          <p:nvPr/>
        </p:nvSpPr>
        <p:spPr>
          <a:xfrm>
            <a:off x="1532350" y="5127281"/>
            <a:ext cx="3719354" cy="523220"/>
          </a:xfrm>
          <a:prstGeom prst="rect">
            <a:avLst/>
          </a:prstGeom>
          <a:solidFill>
            <a:schemeClr val="accent2">
              <a:lumMod val="20000"/>
              <a:lumOff val="80000"/>
            </a:schemeClr>
          </a:solidFill>
          <a:ln>
            <a:solidFill>
              <a:srgbClr val="C00000"/>
            </a:solidFill>
          </a:ln>
        </p:spPr>
        <p:txBody>
          <a:bodyPr wrap="square">
            <a:spAutoFit/>
          </a:bodyPr>
          <a:lstStyle/>
          <a:p>
            <a:r>
              <a:rPr lang="en-IN" sz="2800" b="1" dirty="0"/>
              <a:t>Final Output Table</a:t>
            </a:r>
          </a:p>
        </p:txBody>
      </p:sp>
      <p:graphicFrame>
        <p:nvGraphicFramePr>
          <p:cNvPr id="12" name="Table 11">
            <a:extLst>
              <a:ext uri="{FF2B5EF4-FFF2-40B4-BE49-F238E27FC236}">
                <a16:creationId xmlns:a16="http://schemas.microsoft.com/office/drawing/2014/main" id="{8F907B9A-BF46-47AA-3524-927B3F3B45E4}"/>
              </a:ext>
            </a:extLst>
          </p:cNvPr>
          <p:cNvGraphicFramePr>
            <a:graphicFrameLocks noGrp="1"/>
          </p:cNvGraphicFramePr>
          <p:nvPr>
            <p:extLst>
              <p:ext uri="{D42A27DB-BD31-4B8C-83A1-F6EECF244321}">
                <p14:modId xmlns:p14="http://schemas.microsoft.com/office/powerpoint/2010/main" val="94984446"/>
              </p:ext>
            </p:extLst>
          </p:nvPr>
        </p:nvGraphicFramePr>
        <p:xfrm>
          <a:off x="5388864" y="4389120"/>
          <a:ext cx="3535680" cy="2286000"/>
        </p:xfrm>
        <a:graphic>
          <a:graphicData uri="http://schemas.openxmlformats.org/drawingml/2006/table">
            <a:tbl>
              <a:tblPr>
                <a:tableStyleId>{5940675A-B579-460E-94D1-54222C63F5DA}</a:tableStyleId>
              </a:tblPr>
              <a:tblGrid>
                <a:gridCol w="1272128">
                  <a:extLst>
                    <a:ext uri="{9D8B030D-6E8A-4147-A177-3AD203B41FA5}">
                      <a16:colId xmlns:a16="http://schemas.microsoft.com/office/drawing/2014/main" val="3558502200"/>
                    </a:ext>
                  </a:extLst>
                </a:gridCol>
                <a:gridCol w="2263552">
                  <a:extLst>
                    <a:ext uri="{9D8B030D-6E8A-4147-A177-3AD203B41FA5}">
                      <a16:colId xmlns:a16="http://schemas.microsoft.com/office/drawing/2014/main" val="848050898"/>
                    </a:ext>
                  </a:extLst>
                </a:gridCol>
              </a:tblGrid>
              <a:tr h="382219">
                <a:tc>
                  <a:txBody>
                    <a:bodyPr/>
                    <a:lstStyle/>
                    <a:p>
                      <a:pPr>
                        <a:buNone/>
                      </a:pPr>
                      <a:r>
                        <a:rPr lang="en-IN" sz="2400" b="1" dirty="0">
                          <a:solidFill>
                            <a:srgbClr val="C00000"/>
                          </a:solidFill>
                        </a:rPr>
                        <a:t>Node</a:t>
                      </a:r>
                    </a:p>
                  </a:txBody>
                  <a:tcPr anchor="ctr"/>
                </a:tc>
                <a:tc>
                  <a:txBody>
                    <a:bodyPr/>
                    <a:lstStyle/>
                    <a:p>
                      <a:pPr>
                        <a:buNone/>
                      </a:pPr>
                      <a:r>
                        <a:rPr lang="en-IN" sz="2400" b="1" dirty="0">
                          <a:solidFill>
                            <a:srgbClr val="C00000"/>
                          </a:solidFill>
                        </a:rPr>
                        <a:t>Output</a:t>
                      </a:r>
                    </a:p>
                  </a:txBody>
                  <a:tcPr anchor="ctr"/>
                </a:tc>
                <a:extLst>
                  <a:ext uri="{0D108BD9-81ED-4DB2-BD59-A6C34878D82A}">
                    <a16:rowId xmlns:a16="http://schemas.microsoft.com/office/drawing/2014/main" val="2026257698"/>
                  </a:ext>
                </a:extLst>
              </a:tr>
              <a:tr h="382219">
                <a:tc>
                  <a:txBody>
                    <a:bodyPr/>
                    <a:lstStyle/>
                    <a:p>
                      <a:pPr>
                        <a:buNone/>
                      </a:pPr>
                      <a:r>
                        <a:rPr lang="en-IN" sz="2400" b="1"/>
                        <a:t>2</a:t>
                      </a:r>
                    </a:p>
                  </a:txBody>
                  <a:tcPr anchor="ctr"/>
                </a:tc>
                <a:tc>
                  <a:txBody>
                    <a:bodyPr/>
                    <a:lstStyle/>
                    <a:p>
                      <a:pPr>
                        <a:buNone/>
                      </a:pPr>
                      <a:r>
                        <a:rPr lang="en-IN" sz="2400" b="1" dirty="0"/>
                        <a:t>he</a:t>
                      </a:r>
                    </a:p>
                  </a:txBody>
                  <a:tcPr anchor="ctr"/>
                </a:tc>
                <a:extLst>
                  <a:ext uri="{0D108BD9-81ED-4DB2-BD59-A6C34878D82A}">
                    <a16:rowId xmlns:a16="http://schemas.microsoft.com/office/drawing/2014/main" val="114816946"/>
                  </a:ext>
                </a:extLst>
              </a:tr>
              <a:tr h="382219">
                <a:tc>
                  <a:txBody>
                    <a:bodyPr/>
                    <a:lstStyle/>
                    <a:p>
                      <a:pPr>
                        <a:buNone/>
                      </a:pPr>
                      <a:r>
                        <a:rPr lang="en-IN" sz="2400" b="1"/>
                        <a:t>4</a:t>
                      </a:r>
                    </a:p>
                  </a:txBody>
                  <a:tcPr anchor="ctr"/>
                </a:tc>
                <a:tc>
                  <a:txBody>
                    <a:bodyPr/>
                    <a:lstStyle/>
                    <a:p>
                      <a:pPr>
                        <a:buNone/>
                      </a:pPr>
                      <a:r>
                        <a:rPr lang="en-IN" sz="2400" b="1" dirty="0"/>
                        <a:t>hers</a:t>
                      </a:r>
                    </a:p>
                  </a:txBody>
                  <a:tcPr anchor="ctr"/>
                </a:tc>
                <a:extLst>
                  <a:ext uri="{0D108BD9-81ED-4DB2-BD59-A6C34878D82A}">
                    <a16:rowId xmlns:a16="http://schemas.microsoft.com/office/drawing/2014/main" val="2109572212"/>
                  </a:ext>
                </a:extLst>
              </a:tr>
              <a:tr h="382219">
                <a:tc>
                  <a:txBody>
                    <a:bodyPr/>
                    <a:lstStyle/>
                    <a:p>
                      <a:pPr>
                        <a:buNone/>
                      </a:pPr>
                      <a:r>
                        <a:rPr lang="en-IN" sz="2400" b="1"/>
                        <a:t>6</a:t>
                      </a:r>
                    </a:p>
                  </a:txBody>
                  <a:tcPr anchor="ctr"/>
                </a:tc>
                <a:tc>
                  <a:txBody>
                    <a:bodyPr/>
                    <a:lstStyle/>
                    <a:p>
                      <a:pPr>
                        <a:buNone/>
                      </a:pPr>
                      <a:r>
                        <a:rPr lang="en-IN" sz="2400" b="1"/>
                        <a:t>his</a:t>
                      </a:r>
                    </a:p>
                  </a:txBody>
                  <a:tcPr anchor="ctr"/>
                </a:tc>
                <a:extLst>
                  <a:ext uri="{0D108BD9-81ED-4DB2-BD59-A6C34878D82A}">
                    <a16:rowId xmlns:a16="http://schemas.microsoft.com/office/drawing/2014/main" val="4223583446"/>
                  </a:ext>
                </a:extLst>
              </a:tr>
              <a:tr h="382219">
                <a:tc>
                  <a:txBody>
                    <a:bodyPr/>
                    <a:lstStyle/>
                    <a:p>
                      <a:pPr>
                        <a:buNone/>
                      </a:pPr>
                      <a:r>
                        <a:rPr lang="en-IN" sz="2400" b="1"/>
                        <a:t>9</a:t>
                      </a:r>
                    </a:p>
                  </a:txBody>
                  <a:tcPr anchor="ctr"/>
                </a:tc>
                <a:tc>
                  <a:txBody>
                    <a:bodyPr/>
                    <a:lstStyle/>
                    <a:p>
                      <a:pPr>
                        <a:buNone/>
                      </a:pPr>
                      <a:r>
                        <a:rPr lang="en-IN" sz="2400" b="1" dirty="0"/>
                        <a:t>she, he</a:t>
                      </a:r>
                    </a:p>
                  </a:txBody>
                  <a:tcPr anchor="ctr"/>
                </a:tc>
                <a:extLst>
                  <a:ext uri="{0D108BD9-81ED-4DB2-BD59-A6C34878D82A}">
                    <a16:rowId xmlns:a16="http://schemas.microsoft.com/office/drawing/2014/main" val="626292770"/>
                  </a:ext>
                </a:extLst>
              </a:tr>
            </a:tbl>
          </a:graphicData>
        </a:graphic>
      </p:graphicFrame>
    </p:spTree>
    <p:extLst>
      <p:ext uri="{BB962C8B-B14F-4D97-AF65-F5344CB8AC3E}">
        <p14:creationId xmlns:p14="http://schemas.microsoft.com/office/powerpoint/2010/main" val="404582420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C34BA-747E-108C-710D-F40A75CEB50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FD44796-A956-88E3-7C8D-1EFAA00079ED}"/>
              </a:ext>
            </a:extLst>
          </p:cNvPr>
          <p:cNvSpPr txBox="1"/>
          <p:nvPr/>
        </p:nvSpPr>
        <p:spPr>
          <a:xfrm>
            <a:off x="1081278" y="848374"/>
            <a:ext cx="9937242" cy="5016758"/>
          </a:xfrm>
          <a:prstGeom prst="rect">
            <a:avLst/>
          </a:prstGeom>
          <a:noFill/>
        </p:spPr>
        <p:txBody>
          <a:bodyPr wrap="square">
            <a:spAutoFit/>
          </a:bodyPr>
          <a:lstStyle/>
          <a:p>
            <a:r>
              <a:rPr lang="en-IN" sz="4000" b="1" dirty="0"/>
              <a:t>ALGORITHM AHO_CORASICK(Patterns, Text)</a:t>
            </a:r>
          </a:p>
          <a:p>
            <a:endParaRPr lang="en-IN" sz="4000" b="1" dirty="0"/>
          </a:p>
          <a:p>
            <a:r>
              <a:rPr lang="en-IN" sz="4000" b="1" dirty="0"/>
              <a:t>Input:</a:t>
            </a:r>
          </a:p>
          <a:p>
            <a:r>
              <a:rPr lang="en-IN" sz="4000" b="1" dirty="0"/>
              <a:t>    Patterns = set of patterns P1, P2, ..., Pk</a:t>
            </a:r>
          </a:p>
          <a:p>
            <a:r>
              <a:rPr lang="en-IN" sz="4000" b="1" dirty="0"/>
              <a:t>    Text     = string to be searched</a:t>
            </a:r>
          </a:p>
          <a:p>
            <a:endParaRPr lang="en-IN" sz="4000" b="1" dirty="0"/>
          </a:p>
          <a:p>
            <a:r>
              <a:rPr lang="en-IN" sz="4000" b="1" dirty="0"/>
              <a:t>Output:</a:t>
            </a:r>
          </a:p>
          <a:p>
            <a:r>
              <a:rPr lang="en-IN" sz="4000" b="1" dirty="0"/>
              <a:t>    All occurrences of all patterns in Text</a:t>
            </a:r>
          </a:p>
        </p:txBody>
      </p:sp>
    </p:spTree>
    <p:extLst>
      <p:ext uri="{BB962C8B-B14F-4D97-AF65-F5344CB8AC3E}">
        <p14:creationId xmlns:p14="http://schemas.microsoft.com/office/powerpoint/2010/main" val="137710341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A439F-340D-3AA6-7920-2F9D55C2D22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3FA0F5B-C18F-3023-C515-407C460DA7C8}"/>
              </a:ext>
            </a:extLst>
          </p:cNvPr>
          <p:cNvSpPr txBox="1"/>
          <p:nvPr/>
        </p:nvSpPr>
        <p:spPr>
          <a:xfrm>
            <a:off x="1758315" y="-310485"/>
            <a:ext cx="8675370" cy="7478970"/>
          </a:xfrm>
          <a:prstGeom prst="rect">
            <a:avLst/>
          </a:prstGeom>
          <a:noFill/>
        </p:spPr>
        <p:txBody>
          <a:bodyPr wrap="square">
            <a:spAutoFit/>
          </a:bodyPr>
          <a:lstStyle/>
          <a:p>
            <a:r>
              <a:rPr lang="en-IN" sz="2000" b="1" dirty="0"/>
              <a:t>--------------------------------------------------</a:t>
            </a:r>
          </a:p>
          <a:p>
            <a:r>
              <a:rPr lang="en-IN" sz="2000" b="1" dirty="0"/>
              <a:t>STEP 1: CREATE TRIE</a:t>
            </a:r>
          </a:p>
          <a:p>
            <a:r>
              <a:rPr lang="en-IN" sz="2000" b="1" dirty="0"/>
              <a:t>--------------------------------------------------</a:t>
            </a:r>
          </a:p>
          <a:p>
            <a:endParaRPr lang="en-IN" sz="2000" b="1" dirty="0"/>
          </a:p>
          <a:p>
            <a:r>
              <a:rPr lang="en-IN" sz="2000" b="1" dirty="0"/>
              <a:t>Create a root node</a:t>
            </a:r>
          </a:p>
          <a:p>
            <a:endParaRPr lang="en-IN" sz="2000" b="1" dirty="0"/>
          </a:p>
          <a:p>
            <a:r>
              <a:rPr lang="en-IN" sz="2000" b="1" dirty="0"/>
              <a:t>For each pattern P in Patterns do</a:t>
            </a:r>
          </a:p>
          <a:p>
            <a:endParaRPr lang="en-IN" sz="2000" b="1" dirty="0"/>
          </a:p>
          <a:p>
            <a:r>
              <a:rPr lang="en-IN" sz="2000" b="1" dirty="0"/>
              <a:t>    current ← root</a:t>
            </a:r>
          </a:p>
          <a:p>
            <a:endParaRPr lang="en-IN" sz="2000" b="1" dirty="0"/>
          </a:p>
          <a:p>
            <a:r>
              <a:rPr lang="en-IN" sz="2000" b="1" dirty="0"/>
              <a:t>    For each character c in P do</a:t>
            </a:r>
          </a:p>
          <a:p>
            <a:endParaRPr lang="en-IN" sz="2000" b="1" dirty="0"/>
          </a:p>
          <a:p>
            <a:r>
              <a:rPr lang="en-IN" sz="2000" b="1" dirty="0"/>
              <a:t>        If </a:t>
            </a:r>
            <a:r>
              <a:rPr lang="en-IN" sz="2000" b="1" dirty="0" err="1"/>
              <a:t>current.children</a:t>
            </a:r>
            <a:r>
              <a:rPr lang="en-IN" sz="2000" b="1" dirty="0"/>
              <a:t>[c] does not exist then</a:t>
            </a:r>
          </a:p>
          <a:p>
            <a:r>
              <a:rPr lang="en-IN" sz="2000" b="1" dirty="0"/>
              <a:t>            </a:t>
            </a:r>
            <a:r>
              <a:rPr lang="en-IN" sz="2000" b="1" dirty="0" err="1"/>
              <a:t>current.children</a:t>
            </a:r>
            <a:r>
              <a:rPr lang="en-IN" sz="2000" b="1" dirty="0"/>
              <a:t>[c] ← new node</a:t>
            </a:r>
          </a:p>
          <a:p>
            <a:r>
              <a:rPr lang="en-IN" sz="2000" b="1" dirty="0"/>
              <a:t>        End If</a:t>
            </a:r>
          </a:p>
          <a:p>
            <a:endParaRPr lang="en-IN" sz="2000" b="1" dirty="0"/>
          </a:p>
          <a:p>
            <a:r>
              <a:rPr lang="en-IN" sz="2000" b="1" dirty="0"/>
              <a:t>        current ← </a:t>
            </a:r>
            <a:r>
              <a:rPr lang="en-IN" sz="2000" b="1" dirty="0" err="1"/>
              <a:t>current.children</a:t>
            </a:r>
            <a:r>
              <a:rPr lang="en-IN" sz="2000" b="1" dirty="0"/>
              <a:t>[c]</a:t>
            </a:r>
          </a:p>
          <a:p>
            <a:endParaRPr lang="en-IN" sz="2000" b="1" dirty="0"/>
          </a:p>
          <a:p>
            <a:r>
              <a:rPr lang="en-IN" sz="2000" b="1" dirty="0"/>
              <a:t>    End For</a:t>
            </a:r>
          </a:p>
          <a:p>
            <a:endParaRPr lang="en-IN" sz="2000" b="1" dirty="0"/>
          </a:p>
          <a:p>
            <a:r>
              <a:rPr lang="en-IN" sz="2000" b="1" dirty="0"/>
              <a:t>    Add P to </a:t>
            </a:r>
            <a:r>
              <a:rPr lang="en-IN" sz="2000" b="1" dirty="0" err="1"/>
              <a:t>current.output</a:t>
            </a:r>
            <a:endParaRPr lang="en-IN" sz="2000" b="1" dirty="0"/>
          </a:p>
          <a:p>
            <a:endParaRPr lang="en-IN" sz="2000" b="1" dirty="0"/>
          </a:p>
          <a:p>
            <a:r>
              <a:rPr lang="en-IN" sz="2000" b="1" dirty="0"/>
              <a:t>End For</a:t>
            </a:r>
          </a:p>
          <a:p>
            <a:endParaRPr lang="en-IN" sz="2000" b="1" dirty="0"/>
          </a:p>
        </p:txBody>
      </p:sp>
    </p:spTree>
    <p:extLst>
      <p:ext uri="{BB962C8B-B14F-4D97-AF65-F5344CB8AC3E}">
        <p14:creationId xmlns:p14="http://schemas.microsoft.com/office/powerpoint/2010/main" val="401886026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8DAA2-C060-D655-F456-F12C83B3E72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14B5C34-9104-7D39-0564-3ABC1E43C5CE}"/>
              </a:ext>
            </a:extLst>
          </p:cNvPr>
          <p:cNvSpPr txBox="1"/>
          <p:nvPr/>
        </p:nvSpPr>
        <p:spPr>
          <a:xfrm>
            <a:off x="896112" y="916168"/>
            <a:ext cx="8282178" cy="5262979"/>
          </a:xfrm>
          <a:prstGeom prst="rect">
            <a:avLst/>
          </a:prstGeom>
          <a:noFill/>
        </p:spPr>
        <p:txBody>
          <a:bodyPr wrap="square">
            <a:spAutoFit/>
          </a:bodyPr>
          <a:lstStyle/>
          <a:p>
            <a:r>
              <a:rPr lang="en-IN" sz="2800" b="1" dirty="0"/>
              <a:t>--------------------------------------------------</a:t>
            </a:r>
          </a:p>
          <a:p>
            <a:r>
              <a:rPr lang="en-IN" sz="2800" b="1" dirty="0"/>
              <a:t>STEP 2: INITIALIZE FAILURE LINKS</a:t>
            </a:r>
          </a:p>
          <a:p>
            <a:r>
              <a:rPr lang="en-IN" sz="2800" b="1" dirty="0"/>
              <a:t>--------------------------------------------------</a:t>
            </a:r>
          </a:p>
          <a:p>
            <a:endParaRPr lang="en-IN" sz="2800" b="1" dirty="0"/>
          </a:p>
          <a:p>
            <a:r>
              <a:rPr lang="en-IN" sz="2800" b="1" dirty="0"/>
              <a:t>Create an empty queue Q</a:t>
            </a:r>
          </a:p>
          <a:p>
            <a:endParaRPr lang="en-IN" sz="2800" b="1" dirty="0"/>
          </a:p>
          <a:p>
            <a:r>
              <a:rPr lang="en-IN" sz="2800" b="1" dirty="0"/>
              <a:t>For each child of root do</a:t>
            </a:r>
          </a:p>
          <a:p>
            <a:endParaRPr lang="en-IN" sz="2800" b="1" dirty="0"/>
          </a:p>
          <a:p>
            <a:r>
              <a:rPr lang="en-IN" sz="2800" b="1" dirty="0"/>
              <a:t>    </a:t>
            </a:r>
            <a:r>
              <a:rPr lang="en-IN" sz="2800" b="1" dirty="0" err="1"/>
              <a:t>child.failure</a:t>
            </a:r>
            <a:r>
              <a:rPr lang="en-IN" sz="2800" b="1" dirty="0"/>
              <a:t> ← root</a:t>
            </a:r>
          </a:p>
          <a:p>
            <a:r>
              <a:rPr lang="en-IN" sz="2800" b="1" dirty="0"/>
              <a:t>    Enqueue child into Q</a:t>
            </a:r>
          </a:p>
          <a:p>
            <a:endParaRPr lang="en-IN" sz="2800" b="1" dirty="0"/>
          </a:p>
          <a:p>
            <a:r>
              <a:rPr lang="en-IN" sz="2800" b="1" dirty="0"/>
              <a:t>End For</a:t>
            </a:r>
          </a:p>
        </p:txBody>
      </p:sp>
    </p:spTree>
    <p:extLst>
      <p:ext uri="{BB962C8B-B14F-4D97-AF65-F5344CB8AC3E}">
        <p14:creationId xmlns:p14="http://schemas.microsoft.com/office/powerpoint/2010/main" val="242658738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D6A6C-400B-FE26-AA2A-17E204276C8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D790A5-A246-1A6A-EAFD-70E69F495F79}"/>
              </a:ext>
            </a:extLst>
          </p:cNvPr>
          <p:cNvSpPr txBox="1"/>
          <p:nvPr/>
        </p:nvSpPr>
        <p:spPr>
          <a:xfrm>
            <a:off x="1703070" y="0"/>
            <a:ext cx="6094476" cy="6894195"/>
          </a:xfrm>
          <a:prstGeom prst="rect">
            <a:avLst/>
          </a:prstGeom>
          <a:noFill/>
        </p:spPr>
        <p:txBody>
          <a:bodyPr wrap="square">
            <a:spAutoFit/>
          </a:bodyPr>
          <a:lstStyle/>
          <a:p>
            <a:r>
              <a:rPr lang="en-IN" sz="1700" b="1" dirty="0"/>
              <a:t>--------------------------------------------------</a:t>
            </a:r>
          </a:p>
          <a:p>
            <a:r>
              <a:rPr lang="en-IN" sz="1700" b="1" dirty="0"/>
              <a:t>STEP 3: CONSTRUCT FAILURE LINKS USING BFS</a:t>
            </a:r>
          </a:p>
          <a:p>
            <a:r>
              <a:rPr lang="en-IN" sz="1700" b="1" dirty="0"/>
              <a:t>--------------------------------------------------</a:t>
            </a:r>
          </a:p>
          <a:p>
            <a:r>
              <a:rPr lang="en-IN" sz="1700" b="1" dirty="0"/>
              <a:t>While Q is not empty do current ← Dequeue(Q)</a:t>
            </a:r>
          </a:p>
          <a:p>
            <a:r>
              <a:rPr lang="en-IN" sz="1700" b="1" dirty="0"/>
              <a:t>    </a:t>
            </a:r>
          </a:p>
          <a:p>
            <a:r>
              <a:rPr lang="en-IN" sz="1700" b="1" dirty="0"/>
              <a:t>    For each character c for which </a:t>
            </a:r>
            <a:r>
              <a:rPr lang="en-IN" sz="1700" b="1" dirty="0" err="1"/>
              <a:t>current.children</a:t>
            </a:r>
            <a:r>
              <a:rPr lang="en-IN" sz="1700" b="1" dirty="0"/>
              <a:t>[c] exists do</a:t>
            </a:r>
          </a:p>
          <a:p>
            <a:r>
              <a:rPr lang="en-IN" sz="1700" b="1" dirty="0"/>
              <a:t>        child ← </a:t>
            </a:r>
            <a:r>
              <a:rPr lang="en-IN" sz="1700" b="1" dirty="0" err="1"/>
              <a:t>current.children</a:t>
            </a:r>
            <a:r>
              <a:rPr lang="en-IN" sz="1700" b="1" dirty="0"/>
              <a:t>[c]</a:t>
            </a:r>
          </a:p>
          <a:p>
            <a:r>
              <a:rPr lang="en-IN" sz="1700" b="1" dirty="0"/>
              <a:t>        Enqueue child into Q</a:t>
            </a:r>
          </a:p>
          <a:p>
            <a:r>
              <a:rPr lang="en-IN" sz="1700" b="1" dirty="0"/>
              <a:t>        temp ← </a:t>
            </a:r>
            <a:r>
              <a:rPr lang="en-IN" sz="1700" b="1" dirty="0" err="1"/>
              <a:t>current.failure</a:t>
            </a:r>
            <a:endParaRPr lang="en-IN" sz="1700" b="1" dirty="0"/>
          </a:p>
          <a:p>
            <a:r>
              <a:rPr lang="en-IN" sz="1700" b="1" dirty="0"/>
              <a:t>        </a:t>
            </a:r>
          </a:p>
          <a:p>
            <a:r>
              <a:rPr lang="en-IN" sz="1700" b="1" dirty="0"/>
              <a:t>        While temp ≠ root AND </a:t>
            </a:r>
            <a:r>
              <a:rPr lang="en-IN" sz="1700" b="1" dirty="0" err="1"/>
              <a:t>temp.children</a:t>
            </a:r>
            <a:r>
              <a:rPr lang="en-IN" sz="1700" b="1" dirty="0"/>
              <a:t>[c] does not exist do</a:t>
            </a:r>
          </a:p>
          <a:p>
            <a:r>
              <a:rPr lang="en-IN" sz="1700" b="1" dirty="0"/>
              <a:t>            temp ← </a:t>
            </a:r>
            <a:r>
              <a:rPr lang="en-IN" sz="1700" b="1" dirty="0" err="1"/>
              <a:t>temp.failure</a:t>
            </a:r>
            <a:endParaRPr lang="en-IN" sz="1700" b="1" dirty="0"/>
          </a:p>
          <a:p>
            <a:r>
              <a:rPr lang="en-IN" sz="1700" b="1" dirty="0"/>
              <a:t>        End While</a:t>
            </a:r>
          </a:p>
          <a:p>
            <a:endParaRPr lang="en-IN" sz="1700" b="1" dirty="0"/>
          </a:p>
          <a:p>
            <a:r>
              <a:rPr lang="en-IN" sz="1700" b="1" dirty="0"/>
              <a:t>        If </a:t>
            </a:r>
            <a:r>
              <a:rPr lang="en-IN" sz="1700" b="1" dirty="0" err="1"/>
              <a:t>temp.children</a:t>
            </a:r>
            <a:r>
              <a:rPr lang="en-IN" sz="1700" b="1" dirty="0"/>
              <a:t>[c] exists then</a:t>
            </a:r>
          </a:p>
          <a:p>
            <a:r>
              <a:rPr lang="en-IN" sz="1700" b="1" dirty="0"/>
              <a:t>            </a:t>
            </a:r>
            <a:r>
              <a:rPr lang="en-IN" sz="1700" b="1" dirty="0" err="1"/>
              <a:t>child.failure</a:t>
            </a:r>
            <a:r>
              <a:rPr lang="en-IN" sz="1700" b="1" dirty="0"/>
              <a:t> ← </a:t>
            </a:r>
            <a:r>
              <a:rPr lang="en-IN" sz="1700" b="1" dirty="0" err="1"/>
              <a:t>temp.children</a:t>
            </a:r>
            <a:r>
              <a:rPr lang="en-IN" sz="1700" b="1" dirty="0"/>
              <a:t>[c]</a:t>
            </a:r>
          </a:p>
          <a:p>
            <a:r>
              <a:rPr lang="en-IN" sz="1700" b="1" dirty="0"/>
              <a:t>        Else</a:t>
            </a:r>
          </a:p>
          <a:p>
            <a:r>
              <a:rPr lang="en-IN" sz="1700" b="1" dirty="0"/>
              <a:t>            </a:t>
            </a:r>
            <a:r>
              <a:rPr lang="en-IN" sz="1700" b="1" dirty="0" err="1"/>
              <a:t>child.failure</a:t>
            </a:r>
            <a:r>
              <a:rPr lang="en-IN" sz="1700" b="1" dirty="0"/>
              <a:t> ← root</a:t>
            </a:r>
          </a:p>
          <a:p>
            <a:r>
              <a:rPr lang="en-IN" sz="1700" b="1" dirty="0"/>
              <a:t>        End If</a:t>
            </a:r>
          </a:p>
          <a:p>
            <a:endParaRPr lang="en-IN" sz="1700" b="1" dirty="0"/>
          </a:p>
          <a:p>
            <a:r>
              <a:rPr lang="en-IN" sz="1700" b="1" dirty="0"/>
              <a:t>        // Inherit patterns from the failure node</a:t>
            </a:r>
          </a:p>
          <a:p>
            <a:r>
              <a:rPr lang="en-IN" sz="1700" b="1" dirty="0"/>
              <a:t>        </a:t>
            </a:r>
            <a:r>
              <a:rPr lang="en-IN" sz="1700" b="1" dirty="0" err="1"/>
              <a:t>child.output</a:t>
            </a:r>
            <a:r>
              <a:rPr lang="en-IN" sz="1700" b="1" dirty="0"/>
              <a:t> ← </a:t>
            </a:r>
            <a:r>
              <a:rPr lang="en-IN" sz="1700" b="1" dirty="0" err="1"/>
              <a:t>child.output</a:t>
            </a:r>
            <a:r>
              <a:rPr lang="en-IN" sz="1700" b="1" dirty="0"/>
              <a:t> ∪ </a:t>
            </a:r>
            <a:r>
              <a:rPr lang="en-IN" sz="1700" b="1" dirty="0" err="1"/>
              <a:t>child.failure.output</a:t>
            </a:r>
            <a:endParaRPr lang="en-IN" sz="1700" b="1" dirty="0"/>
          </a:p>
          <a:p>
            <a:r>
              <a:rPr lang="en-IN" sz="1700" b="1" dirty="0"/>
              <a:t>  </a:t>
            </a:r>
          </a:p>
          <a:p>
            <a:r>
              <a:rPr lang="en-IN" sz="1700" b="1" dirty="0"/>
              <a:t>  End For</a:t>
            </a:r>
          </a:p>
          <a:p>
            <a:endParaRPr lang="en-IN" sz="1700" b="1" dirty="0"/>
          </a:p>
          <a:p>
            <a:r>
              <a:rPr lang="en-IN" sz="1700" b="1" dirty="0"/>
              <a:t>End While</a:t>
            </a:r>
          </a:p>
        </p:txBody>
      </p:sp>
    </p:spTree>
    <p:extLst>
      <p:ext uri="{BB962C8B-B14F-4D97-AF65-F5344CB8AC3E}">
        <p14:creationId xmlns:p14="http://schemas.microsoft.com/office/powerpoint/2010/main" val="232471445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09F3B-DC5E-8401-80E5-4CD1C6E23D7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B78F1E-1821-C89B-D79E-0F1D8486C1A8}"/>
              </a:ext>
            </a:extLst>
          </p:cNvPr>
          <p:cNvSpPr txBox="1"/>
          <p:nvPr/>
        </p:nvSpPr>
        <p:spPr>
          <a:xfrm>
            <a:off x="2297810" y="0"/>
            <a:ext cx="8290941" cy="6771084"/>
          </a:xfrm>
          <a:prstGeom prst="rect">
            <a:avLst/>
          </a:prstGeom>
          <a:noFill/>
        </p:spPr>
        <p:txBody>
          <a:bodyPr wrap="square">
            <a:spAutoFit/>
          </a:bodyPr>
          <a:lstStyle/>
          <a:p>
            <a:r>
              <a:rPr lang="en-US" sz="1400" b="1" dirty="0"/>
              <a:t>--------------------------------------------------</a:t>
            </a:r>
          </a:p>
          <a:p>
            <a:r>
              <a:rPr lang="en-US" sz="1400" b="1" dirty="0"/>
              <a:t>STEP 4: SEARCH THE TEXT</a:t>
            </a:r>
          </a:p>
          <a:p>
            <a:r>
              <a:rPr lang="en-US" sz="1400" b="1" dirty="0"/>
              <a:t>--------------------------------------------------</a:t>
            </a:r>
          </a:p>
          <a:p>
            <a:r>
              <a:rPr lang="en-US" sz="1400" b="1" dirty="0"/>
              <a:t>current ← root</a:t>
            </a:r>
          </a:p>
          <a:p>
            <a:endParaRPr lang="en-US" sz="1400" b="1" dirty="0"/>
          </a:p>
          <a:p>
            <a:r>
              <a:rPr lang="en-US" sz="1400" b="1" dirty="0"/>
              <a:t>For </a:t>
            </a:r>
            <a:r>
              <a:rPr lang="en-US" sz="1400" b="1" dirty="0" err="1"/>
              <a:t>i</a:t>
            </a:r>
            <a:r>
              <a:rPr lang="en-US" sz="1400" b="1" dirty="0"/>
              <a:t> ← 0 to length(Text) - 1 do</a:t>
            </a:r>
          </a:p>
          <a:p>
            <a:r>
              <a:rPr lang="en-US" sz="1400" b="1" dirty="0"/>
              <a:t>    c ← Text[</a:t>
            </a:r>
            <a:r>
              <a:rPr lang="en-US" sz="1400" b="1" dirty="0" err="1"/>
              <a:t>i</a:t>
            </a:r>
            <a:r>
              <a:rPr lang="en-US" sz="1400" b="1" dirty="0"/>
              <a:t>]</a:t>
            </a:r>
          </a:p>
          <a:p>
            <a:r>
              <a:rPr lang="en-US" sz="1400" b="1" dirty="0"/>
              <a:t>    // Follow failure links when there is no match</a:t>
            </a:r>
          </a:p>
          <a:p>
            <a:r>
              <a:rPr lang="en-US" sz="1400" b="1" dirty="0"/>
              <a:t>    While current ≠ root AND  </a:t>
            </a:r>
            <a:r>
              <a:rPr lang="en-US" sz="1400" b="1" dirty="0" err="1"/>
              <a:t>current.children</a:t>
            </a:r>
            <a:r>
              <a:rPr lang="en-US" sz="1400" b="1" dirty="0"/>
              <a:t>[c] does not exist do</a:t>
            </a:r>
          </a:p>
          <a:p>
            <a:r>
              <a:rPr lang="en-US" sz="1400" b="1" dirty="0"/>
              <a:t>        current ← </a:t>
            </a:r>
            <a:r>
              <a:rPr lang="en-US" sz="1400" b="1" dirty="0" err="1"/>
              <a:t>current.failure</a:t>
            </a:r>
            <a:endParaRPr lang="en-US" sz="1400" b="1" dirty="0"/>
          </a:p>
          <a:p>
            <a:r>
              <a:rPr lang="en-US" sz="1400" b="1" dirty="0"/>
              <a:t>    End While</a:t>
            </a:r>
          </a:p>
          <a:p>
            <a:r>
              <a:rPr lang="en-US" sz="1400" b="1" dirty="0"/>
              <a:t>    // Move to the next Trie node</a:t>
            </a:r>
          </a:p>
          <a:p>
            <a:r>
              <a:rPr lang="en-US" sz="1400" b="1" dirty="0"/>
              <a:t>    If </a:t>
            </a:r>
            <a:r>
              <a:rPr lang="en-US" sz="1400" b="1" dirty="0" err="1"/>
              <a:t>current.children</a:t>
            </a:r>
            <a:r>
              <a:rPr lang="en-US" sz="1400" b="1" dirty="0"/>
              <a:t>[c] exists then</a:t>
            </a:r>
          </a:p>
          <a:p>
            <a:r>
              <a:rPr lang="en-US" sz="1400" b="1" dirty="0"/>
              <a:t>        current ← </a:t>
            </a:r>
            <a:r>
              <a:rPr lang="en-US" sz="1400" b="1" dirty="0" err="1"/>
              <a:t>current.children</a:t>
            </a:r>
            <a:r>
              <a:rPr lang="en-US" sz="1400" b="1" dirty="0"/>
              <a:t>[c]</a:t>
            </a:r>
          </a:p>
          <a:p>
            <a:r>
              <a:rPr lang="en-US" sz="1400" b="1" dirty="0"/>
              <a:t>    Else</a:t>
            </a:r>
          </a:p>
          <a:p>
            <a:r>
              <a:rPr lang="en-US" sz="1400" b="1" dirty="0"/>
              <a:t>        current ← root</a:t>
            </a:r>
          </a:p>
          <a:p>
            <a:r>
              <a:rPr lang="en-US" sz="1400" b="1" dirty="0"/>
              <a:t>    End If</a:t>
            </a:r>
          </a:p>
          <a:p>
            <a:r>
              <a:rPr lang="en-US" sz="1400" b="1" dirty="0"/>
              <a:t>    // Check for patterns ending at current node</a:t>
            </a:r>
          </a:p>
          <a:p>
            <a:r>
              <a:rPr lang="en-US" sz="1400" b="1" dirty="0"/>
              <a:t>        If </a:t>
            </a:r>
            <a:r>
              <a:rPr lang="en-US" sz="1400" b="1" dirty="0" err="1"/>
              <a:t>current.output</a:t>
            </a:r>
            <a:r>
              <a:rPr lang="en-US" sz="1400" b="1" dirty="0"/>
              <a:t> is not empty then</a:t>
            </a:r>
          </a:p>
          <a:p>
            <a:r>
              <a:rPr lang="en-US" sz="1400" b="1" dirty="0"/>
              <a:t>        For each pattern P in </a:t>
            </a:r>
            <a:r>
              <a:rPr lang="en-US" sz="1400" b="1" dirty="0" err="1"/>
              <a:t>current.output</a:t>
            </a:r>
            <a:r>
              <a:rPr lang="en-US" sz="1400" b="1" dirty="0"/>
              <a:t> do</a:t>
            </a:r>
          </a:p>
          <a:p>
            <a:endParaRPr lang="en-US" sz="1400" b="1" dirty="0"/>
          </a:p>
          <a:p>
            <a:r>
              <a:rPr lang="en-US" sz="1400" b="1" dirty="0"/>
              <a:t>            position ← </a:t>
            </a:r>
            <a:r>
              <a:rPr lang="en-US" sz="1400" b="1" dirty="0" err="1"/>
              <a:t>i</a:t>
            </a:r>
            <a:r>
              <a:rPr lang="en-US" sz="1400" b="1" dirty="0"/>
              <a:t> - length(P) + 1</a:t>
            </a:r>
          </a:p>
          <a:p>
            <a:endParaRPr lang="en-US" sz="1400" b="1" dirty="0"/>
          </a:p>
          <a:p>
            <a:r>
              <a:rPr lang="en-US" sz="1400" b="1" dirty="0"/>
              <a:t>            Print "Pattern", P,</a:t>
            </a:r>
          </a:p>
          <a:p>
            <a:r>
              <a:rPr lang="en-US" sz="1400" b="1" dirty="0"/>
              <a:t>                  "found at position", position</a:t>
            </a:r>
          </a:p>
          <a:p>
            <a:endParaRPr lang="en-US" sz="1400" b="1" dirty="0"/>
          </a:p>
          <a:p>
            <a:r>
              <a:rPr lang="en-US" sz="1400" b="1" dirty="0"/>
              <a:t>        End For</a:t>
            </a:r>
          </a:p>
          <a:p>
            <a:endParaRPr lang="en-US" sz="1400" b="1" dirty="0"/>
          </a:p>
          <a:p>
            <a:r>
              <a:rPr lang="en-US" sz="1400" b="1" dirty="0"/>
              <a:t>    End If</a:t>
            </a:r>
          </a:p>
          <a:p>
            <a:endParaRPr lang="en-US" sz="1400" b="1" dirty="0"/>
          </a:p>
          <a:p>
            <a:r>
              <a:rPr lang="en-US" sz="1400" b="1" dirty="0"/>
              <a:t>End For</a:t>
            </a:r>
          </a:p>
        </p:txBody>
      </p:sp>
    </p:spTree>
    <p:extLst>
      <p:ext uri="{BB962C8B-B14F-4D97-AF65-F5344CB8AC3E}">
        <p14:creationId xmlns:p14="http://schemas.microsoft.com/office/powerpoint/2010/main" val="319021347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ADFA9-3B9A-B645-6510-564F44FB00B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31D0176-42DF-A2DE-F250-9976593E09CA}"/>
              </a:ext>
            </a:extLst>
          </p:cNvPr>
          <p:cNvSpPr txBox="1"/>
          <p:nvPr/>
        </p:nvSpPr>
        <p:spPr>
          <a:xfrm>
            <a:off x="1862996" y="152399"/>
            <a:ext cx="9757775" cy="430887"/>
          </a:xfrm>
          <a:prstGeom prst="rect">
            <a:avLst/>
          </a:prstGeom>
          <a:solidFill>
            <a:schemeClr val="accent6">
              <a:lumMod val="20000"/>
              <a:lumOff val="80000"/>
            </a:schemeClr>
          </a:solidFill>
          <a:ln>
            <a:solidFill>
              <a:schemeClr val="accent1"/>
            </a:solidFill>
          </a:ln>
        </p:spPr>
        <p:txBody>
          <a:bodyPr wrap="square">
            <a:spAutoFit/>
          </a:bodyPr>
          <a:lstStyle/>
          <a:p>
            <a:pPr lvl="0">
              <a:buNone/>
            </a:pPr>
            <a:r>
              <a:rPr lang="en-IN" sz="2200" b="1" dirty="0">
                <a:latin typeface="Times New Roman" panose="02020603050405020304" pitchFamily="18" charset="0"/>
                <a:cs typeface="Times New Roman" panose="02020603050405020304" pitchFamily="18" charset="0"/>
              </a:rPr>
              <a:t>Suffix Arrays, Longest Common Prefix (LCP) Arrays and Kasai Algorithm </a:t>
            </a:r>
          </a:p>
        </p:txBody>
      </p:sp>
      <p:graphicFrame>
        <p:nvGraphicFramePr>
          <p:cNvPr id="5" name="Diagram 4">
            <a:extLst>
              <a:ext uri="{FF2B5EF4-FFF2-40B4-BE49-F238E27FC236}">
                <a16:creationId xmlns:a16="http://schemas.microsoft.com/office/drawing/2014/main" id="{AA34A915-1FD5-4C07-78E8-3DE23455F25A}"/>
              </a:ext>
            </a:extLst>
          </p:cNvPr>
          <p:cNvGraphicFramePr/>
          <p:nvPr>
            <p:extLst>
              <p:ext uri="{D42A27DB-BD31-4B8C-83A1-F6EECF244321}">
                <p14:modId xmlns:p14="http://schemas.microsoft.com/office/powerpoint/2010/main" val="704170136"/>
              </p:ext>
            </p:extLst>
          </p:nvPr>
        </p:nvGraphicFramePr>
        <p:xfrm>
          <a:off x="977155" y="755254"/>
          <a:ext cx="10643616" cy="58741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Table 5">
            <a:extLst>
              <a:ext uri="{FF2B5EF4-FFF2-40B4-BE49-F238E27FC236}">
                <a16:creationId xmlns:a16="http://schemas.microsoft.com/office/drawing/2014/main" id="{92303EDA-64D4-4E7A-682D-BEEDBA7337A4}"/>
              </a:ext>
            </a:extLst>
          </p:cNvPr>
          <p:cNvGraphicFramePr>
            <a:graphicFrameLocks noGrp="1"/>
          </p:cNvGraphicFramePr>
          <p:nvPr>
            <p:extLst>
              <p:ext uri="{D42A27DB-BD31-4B8C-83A1-F6EECF244321}">
                <p14:modId xmlns:p14="http://schemas.microsoft.com/office/powerpoint/2010/main" val="2015681598"/>
              </p:ext>
            </p:extLst>
          </p:nvPr>
        </p:nvGraphicFramePr>
        <p:xfrm>
          <a:off x="4527960" y="1886713"/>
          <a:ext cx="3136080" cy="4053840"/>
        </p:xfrm>
        <a:graphic>
          <a:graphicData uri="http://schemas.openxmlformats.org/drawingml/2006/table">
            <a:tbl>
              <a:tblPr>
                <a:tableStyleId>{5940675A-B579-460E-94D1-54222C63F5DA}</a:tableStyleId>
              </a:tblPr>
              <a:tblGrid>
                <a:gridCol w="1809646">
                  <a:extLst>
                    <a:ext uri="{9D8B030D-6E8A-4147-A177-3AD203B41FA5}">
                      <a16:colId xmlns:a16="http://schemas.microsoft.com/office/drawing/2014/main" val="3228163029"/>
                    </a:ext>
                  </a:extLst>
                </a:gridCol>
                <a:gridCol w="1326434">
                  <a:extLst>
                    <a:ext uri="{9D8B030D-6E8A-4147-A177-3AD203B41FA5}">
                      <a16:colId xmlns:a16="http://schemas.microsoft.com/office/drawing/2014/main" val="190178468"/>
                    </a:ext>
                  </a:extLst>
                </a:gridCol>
              </a:tblGrid>
              <a:tr h="476009">
                <a:tc>
                  <a:txBody>
                    <a:bodyPr/>
                    <a:lstStyle/>
                    <a:p>
                      <a:pPr>
                        <a:buNone/>
                      </a:pPr>
                      <a:r>
                        <a:rPr lang="en-IN" sz="2800" b="1" dirty="0"/>
                        <a:t>Starting Index</a:t>
                      </a:r>
                    </a:p>
                  </a:txBody>
                  <a:tcPr anchor="ctr"/>
                </a:tc>
                <a:tc>
                  <a:txBody>
                    <a:bodyPr/>
                    <a:lstStyle/>
                    <a:p>
                      <a:pPr>
                        <a:buNone/>
                      </a:pPr>
                      <a:r>
                        <a:rPr lang="en-IN" sz="2800" b="1" dirty="0"/>
                        <a:t>Suffix</a:t>
                      </a:r>
                    </a:p>
                  </a:txBody>
                  <a:tcPr anchor="ctr"/>
                </a:tc>
                <a:extLst>
                  <a:ext uri="{0D108BD9-81ED-4DB2-BD59-A6C34878D82A}">
                    <a16:rowId xmlns:a16="http://schemas.microsoft.com/office/drawing/2014/main" val="2507381740"/>
                  </a:ext>
                </a:extLst>
              </a:tr>
              <a:tr h="272005">
                <a:tc>
                  <a:txBody>
                    <a:bodyPr/>
                    <a:lstStyle/>
                    <a:p>
                      <a:pPr>
                        <a:buNone/>
                      </a:pPr>
                      <a:r>
                        <a:rPr lang="en-IN" sz="2800" b="0" dirty="0"/>
                        <a:t>0</a:t>
                      </a:r>
                    </a:p>
                  </a:txBody>
                  <a:tcPr anchor="ctr"/>
                </a:tc>
                <a:tc>
                  <a:txBody>
                    <a:bodyPr/>
                    <a:lstStyle/>
                    <a:p>
                      <a:pPr>
                        <a:buNone/>
                      </a:pPr>
                      <a:r>
                        <a:rPr lang="en-IN" sz="2800" b="0" dirty="0"/>
                        <a:t>banana</a:t>
                      </a:r>
                    </a:p>
                  </a:txBody>
                  <a:tcPr anchor="ctr"/>
                </a:tc>
                <a:extLst>
                  <a:ext uri="{0D108BD9-81ED-4DB2-BD59-A6C34878D82A}">
                    <a16:rowId xmlns:a16="http://schemas.microsoft.com/office/drawing/2014/main" val="904307946"/>
                  </a:ext>
                </a:extLst>
              </a:tr>
              <a:tr h="272005">
                <a:tc>
                  <a:txBody>
                    <a:bodyPr/>
                    <a:lstStyle/>
                    <a:p>
                      <a:pPr>
                        <a:buNone/>
                      </a:pPr>
                      <a:r>
                        <a:rPr lang="en-IN" sz="2800" b="0"/>
                        <a:t>1</a:t>
                      </a:r>
                    </a:p>
                  </a:txBody>
                  <a:tcPr anchor="ctr"/>
                </a:tc>
                <a:tc>
                  <a:txBody>
                    <a:bodyPr/>
                    <a:lstStyle/>
                    <a:p>
                      <a:pPr>
                        <a:buNone/>
                      </a:pPr>
                      <a:r>
                        <a:rPr lang="en-IN" sz="2800" b="0" dirty="0" err="1"/>
                        <a:t>anana</a:t>
                      </a:r>
                      <a:endParaRPr lang="en-IN" sz="2800" b="0" dirty="0"/>
                    </a:p>
                  </a:txBody>
                  <a:tcPr anchor="ctr"/>
                </a:tc>
                <a:extLst>
                  <a:ext uri="{0D108BD9-81ED-4DB2-BD59-A6C34878D82A}">
                    <a16:rowId xmlns:a16="http://schemas.microsoft.com/office/drawing/2014/main" val="4214470581"/>
                  </a:ext>
                </a:extLst>
              </a:tr>
              <a:tr h="272005">
                <a:tc>
                  <a:txBody>
                    <a:bodyPr/>
                    <a:lstStyle/>
                    <a:p>
                      <a:pPr>
                        <a:buNone/>
                      </a:pPr>
                      <a:r>
                        <a:rPr lang="en-IN" sz="2800" b="0"/>
                        <a:t>2</a:t>
                      </a:r>
                    </a:p>
                  </a:txBody>
                  <a:tcPr anchor="ctr"/>
                </a:tc>
                <a:tc>
                  <a:txBody>
                    <a:bodyPr/>
                    <a:lstStyle/>
                    <a:p>
                      <a:pPr>
                        <a:buNone/>
                      </a:pPr>
                      <a:r>
                        <a:rPr lang="en-IN" sz="2800" b="0" dirty="0"/>
                        <a:t>nana</a:t>
                      </a:r>
                    </a:p>
                  </a:txBody>
                  <a:tcPr anchor="ctr"/>
                </a:tc>
                <a:extLst>
                  <a:ext uri="{0D108BD9-81ED-4DB2-BD59-A6C34878D82A}">
                    <a16:rowId xmlns:a16="http://schemas.microsoft.com/office/drawing/2014/main" val="2026857924"/>
                  </a:ext>
                </a:extLst>
              </a:tr>
              <a:tr h="272005">
                <a:tc>
                  <a:txBody>
                    <a:bodyPr/>
                    <a:lstStyle/>
                    <a:p>
                      <a:pPr>
                        <a:buNone/>
                      </a:pPr>
                      <a:r>
                        <a:rPr lang="en-IN" sz="2800" b="0"/>
                        <a:t>3</a:t>
                      </a:r>
                    </a:p>
                  </a:txBody>
                  <a:tcPr anchor="ctr"/>
                </a:tc>
                <a:tc>
                  <a:txBody>
                    <a:bodyPr/>
                    <a:lstStyle/>
                    <a:p>
                      <a:pPr>
                        <a:buNone/>
                      </a:pPr>
                      <a:r>
                        <a:rPr lang="en-IN" sz="2800" b="0" dirty="0"/>
                        <a:t>ana</a:t>
                      </a:r>
                    </a:p>
                  </a:txBody>
                  <a:tcPr anchor="ctr"/>
                </a:tc>
                <a:extLst>
                  <a:ext uri="{0D108BD9-81ED-4DB2-BD59-A6C34878D82A}">
                    <a16:rowId xmlns:a16="http://schemas.microsoft.com/office/drawing/2014/main" val="3105471817"/>
                  </a:ext>
                </a:extLst>
              </a:tr>
              <a:tr h="272005">
                <a:tc>
                  <a:txBody>
                    <a:bodyPr/>
                    <a:lstStyle/>
                    <a:p>
                      <a:pPr>
                        <a:buNone/>
                      </a:pPr>
                      <a:r>
                        <a:rPr lang="en-IN" sz="2800" b="0"/>
                        <a:t>4</a:t>
                      </a:r>
                    </a:p>
                  </a:txBody>
                  <a:tcPr anchor="ctr"/>
                </a:tc>
                <a:tc>
                  <a:txBody>
                    <a:bodyPr/>
                    <a:lstStyle/>
                    <a:p>
                      <a:pPr>
                        <a:buNone/>
                      </a:pPr>
                      <a:r>
                        <a:rPr lang="en-IN" sz="2800" b="0" dirty="0" err="1"/>
                        <a:t>na</a:t>
                      </a:r>
                      <a:endParaRPr lang="en-IN" sz="2800" b="0" dirty="0"/>
                    </a:p>
                  </a:txBody>
                  <a:tcPr anchor="ctr"/>
                </a:tc>
                <a:extLst>
                  <a:ext uri="{0D108BD9-81ED-4DB2-BD59-A6C34878D82A}">
                    <a16:rowId xmlns:a16="http://schemas.microsoft.com/office/drawing/2014/main" val="4215493544"/>
                  </a:ext>
                </a:extLst>
              </a:tr>
              <a:tr h="272005">
                <a:tc>
                  <a:txBody>
                    <a:bodyPr/>
                    <a:lstStyle/>
                    <a:p>
                      <a:pPr>
                        <a:buNone/>
                      </a:pPr>
                      <a:r>
                        <a:rPr lang="en-IN" sz="2800" b="0"/>
                        <a:t>5</a:t>
                      </a:r>
                    </a:p>
                  </a:txBody>
                  <a:tcPr anchor="ctr"/>
                </a:tc>
                <a:tc>
                  <a:txBody>
                    <a:bodyPr/>
                    <a:lstStyle/>
                    <a:p>
                      <a:pPr>
                        <a:buNone/>
                      </a:pPr>
                      <a:r>
                        <a:rPr lang="en-IN" sz="2800" b="0" dirty="0"/>
                        <a:t>a</a:t>
                      </a:r>
                    </a:p>
                  </a:txBody>
                  <a:tcPr anchor="ctr"/>
                </a:tc>
                <a:extLst>
                  <a:ext uri="{0D108BD9-81ED-4DB2-BD59-A6C34878D82A}">
                    <a16:rowId xmlns:a16="http://schemas.microsoft.com/office/drawing/2014/main" val="1830820610"/>
                  </a:ext>
                </a:extLst>
              </a:tr>
            </a:tbl>
          </a:graphicData>
        </a:graphic>
      </p:graphicFrame>
    </p:spTree>
    <p:extLst>
      <p:ext uri="{BB962C8B-B14F-4D97-AF65-F5344CB8AC3E}">
        <p14:creationId xmlns:p14="http://schemas.microsoft.com/office/powerpoint/2010/main" val="216311506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A9386-7D5E-1AF3-517D-94D6630D10C3}"/>
            </a:ext>
          </a:extLst>
        </p:cNvPr>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B83A8F0E-7F5C-4321-D78D-A71E18048C35}"/>
              </a:ext>
            </a:extLst>
          </p:cNvPr>
          <p:cNvGraphicFramePr/>
          <p:nvPr>
            <p:extLst>
              <p:ext uri="{D42A27DB-BD31-4B8C-83A1-F6EECF244321}">
                <p14:modId xmlns:p14="http://schemas.microsoft.com/office/powerpoint/2010/main" val="188942518"/>
              </p:ext>
            </p:extLst>
          </p:nvPr>
        </p:nvGraphicFramePr>
        <p:xfrm>
          <a:off x="260350" y="397934"/>
          <a:ext cx="6286754" cy="60302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Table 3">
            <a:extLst>
              <a:ext uri="{FF2B5EF4-FFF2-40B4-BE49-F238E27FC236}">
                <a16:creationId xmlns:a16="http://schemas.microsoft.com/office/drawing/2014/main" id="{2F72C287-B4A0-9E30-5033-AE992B8474FD}"/>
              </a:ext>
            </a:extLst>
          </p:cNvPr>
          <p:cNvGraphicFramePr>
            <a:graphicFrameLocks noGrp="1"/>
          </p:cNvGraphicFramePr>
          <p:nvPr>
            <p:extLst>
              <p:ext uri="{D42A27DB-BD31-4B8C-83A1-F6EECF244321}">
                <p14:modId xmlns:p14="http://schemas.microsoft.com/office/powerpoint/2010/main" val="3957317650"/>
              </p:ext>
            </p:extLst>
          </p:nvPr>
        </p:nvGraphicFramePr>
        <p:xfrm>
          <a:off x="1304448" y="3280643"/>
          <a:ext cx="3620072" cy="2773680"/>
        </p:xfrm>
        <a:graphic>
          <a:graphicData uri="http://schemas.openxmlformats.org/drawingml/2006/table">
            <a:tbl>
              <a:tblPr>
                <a:tableStyleId>{5940675A-B579-460E-94D1-54222C63F5DA}</a:tableStyleId>
              </a:tblPr>
              <a:tblGrid>
                <a:gridCol w="1611328">
                  <a:extLst>
                    <a:ext uri="{9D8B030D-6E8A-4147-A177-3AD203B41FA5}">
                      <a16:colId xmlns:a16="http://schemas.microsoft.com/office/drawing/2014/main" val="183366541"/>
                    </a:ext>
                  </a:extLst>
                </a:gridCol>
                <a:gridCol w="2008744">
                  <a:extLst>
                    <a:ext uri="{9D8B030D-6E8A-4147-A177-3AD203B41FA5}">
                      <a16:colId xmlns:a16="http://schemas.microsoft.com/office/drawing/2014/main" val="2703843319"/>
                    </a:ext>
                  </a:extLst>
                </a:gridCol>
              </a:tblGrid>
              <a:tr h="223921">
                <a:tc>
                  <a:txBody>
                    <a:bodyPr/>
                    <a:lstStyle/>
                    <a:p>
                      <a:pPr>
                        <a:buNone/>
                      </a:pPr>
                      <a:r>
                        <a:rPr lang="en-IN" sz="2000" b="1" dirty="0"/>
                        <a:t>Index</a:t>
                      </a:r>
                    </a:p>
                  </a:txBody>
                  <a:tcPr anchor="ctr"/>
                </a:tc>
                <a:tc>
                  <a:txBody>
                    <a:bodyPr/>
                    <a:lstStyle/>
                    <a:p>
                      <a:pPr>
                        <a:buNone/>
                      </a:pPr>
                      <a:r>
                        <a:rPr lang="en-IN" sz="2000" b="1" dirty="0"/>
                        <a:t>Suffix</a:t>
                      </a:r>
                    </a:p>
                  </a:txBody>
                  <a:tcPr anchor="ctr"/>
                </a:tc>
                <a:extLst>
                  <a:ext uri="{0D108BD9-81ED-4DB2-BD59-A6C34878D82A}">
                    <a16:rowId xmlns:a16="http://schemas.microsoft.com/office/drawing/2014/main" val="2843409344"/>
                  </a:ext>
                </a:extLst>
              </a:tr>
              <a:tr h="223921">
                <a:tc>
                  <a:txBody>
                    <a:bodyPr/>
                    <a:lstStyle/>
                    <a:p>
                      <a:pPr>
                        <a:buNone/>
                      </a:pPr>
                      <a:r>
                        <a:rPr lang="en-IN" sz="2000" dirty="0"/>
                        <a:t>0</a:t>
                      </a:r>
                    </a:p>
                  </a:txBody>
                  <a:tcPr anchor="ctr"/>
                </a:tc>
                <a:tc>
                  <a:txBody>
                    <a:bodyPr/>
                    <a:lstStyle/>
                    <a:p>
                      <a:pPr>
                        <a:buNone/>
                      </a:pPr>
                      <a:r>
                        <a:rPr lang="en-IN" sz="2000" dirty="0"/>
                        <a:t>banana</a:t>
                      </a:r>
                    </a:p>
                  </a:txBody>
                  <a:tcPr anchor="ctr"/>
                </a:tc>
                <a:extLst>
                  <a:ext uri="{0D108BD9-81ED-4DB2-BD59-A6C34878D82A}">
                    <a16:rowId xmlns:a16="http://schemas.microsoft.com/office/drawing/2014/main" val="978117086"/>
                  </a:ext>
                </a:extLst>
              </a:tr>
              <a:tr h="223921">
                <a:tc>
                  <a:txBody>
                    <a:bodyPr/>
                    <a:lstStyle/>
                    <a:p>
                      <a:pPr>
                        <a:buNone/>
                      </a:pPr>
                      <a:r>
                        <a:rPr lang="en-IN" sz="2000" dirty="0"/>
                        <a:t>1</a:t>
                      </a:r>
                    </a:p>
                  </a:txBody>
                  <a:tcPr anchor="ctr"/>
                </a:tc>
                <a:tc>
                  <a:txBody>
                    <a:bodyPr/>
                    <a:lstStyle/>
                    <a:p>
                      <a:pPr>
                        <a:buNone/>
                      </a:pPr>
                      <a:r>
                        <a:rPr lang="en-IN" sz="2000" dirty="0" err="1"/>
                        <a:t>anana</a:t>
                      </a:r>
                      <a:endParaRPr lang="en-IN" sz="2000" dirty="0"/>
                    </a:p>
                  </a:txBody>
                  <a:tcPr anchor="ctr"/>
                </a:tc>
                <a:extLst>
                  <a:ext uri="{0D108BD9-81ED-4DB2-BD59-A6C34878D82A}">
                    <a16:rowId xmlns:a16="http://schemas.microsoft.com/office/drawing/2014/main" val="2681743389"/>
                  </a:ext>
                </a:extLst>
              </a:tr>
              <a:tr h="223921">
                <a:tc>
                  <a:txBody>
                    <a:bodyPr/>
                    <a:lstStyle/>
                    <a:p>
                      <a:pPr>
                        <a:buNone/>
                      </a:pPr>
                      <a:r>
                        <a:rPr lang="en-IN" sz="2000" dirty="0"/>
                        <a:t>2</a:t>
                      </a:r>
                    </a:p>
                  </a:txBody>
                  <a:tcPr anchor="ctr"/>
                </a:tc>
                <a:tc>
                  <a:txBody>
                    <a:bodyPr/>
                    <a:lstStyle/>
                    <a:p>
                      <a:pPr>
                        <a:buNone/>
                      </a:pPr>
                      <a:r>
                        <a:rPr lang="en-IN" sz="2000" dirty="0"/>
                        <a:t>nana</a:t>
                      </a:r>
                    </a:p>
                  </a:txBody>
                  <a:tcPr anchor="ctr"/>
                </a:tc>
                <a:extLst>
                  <a:ext uri="{0D108BD9-81ED-4DB2-BD59-A6C34878D82A}">
                    <a16:rowId xmlns:a16="http://schemas.microsoft.com/office/drawing/2014/main" val="3526051325"/>
                  </a:ext>
                </a:extLst>
              </a:tr>
              <a:tr h="223921">
                <a:tc>
                  <a:txBody>
                    <a:bodyPr/>
                    <a:lstStyle/>
                    <a:p>
                      <a:pPr>
                        <a:buNone/>
                      </a:pPr>
                      <a:r>
                        <a:rPr lang="en-IN" sz="2000" dirty="0"/>
                        <a:t>3</a:t>
                      </a:r>
                    </a:p>
                  </a:txBody>
                  <a:tcPr anchor="ctr"/>
                </a:tc>
                <a:tc>
                  <a:txBody>
                    <a:bodyPr/>
                    <a:lstStyle/>
                    <a:p>
                      <a:pPr>
                        <a:buNone/>
                      </a:pPr>
                      <a:r>
                        <a:rPr lang="en-IN" sz="2000" dirty="0" err="1"/>
                        <a:t>ana</a:t>
                      </a:r>
                      <a:endParaRPr lang="en-IN" sz="2000" dirty="0"/>
                    </a:p>
                  </a:txBody>
                  <a:tcPr anchor="ctr"/>
                </a:tc>
                <a:extLst>
                  <a:ext uri="{0D108BD9-81ED-4DB2-BD59-A6C34878D82A}">
                    <a16:rowId xmlns:a16="http://schemas.microsoft.com/office/drawing/2014/main" val="40231538"/>
                  </a:ext>
                </a:extLst>
              </a:tr>
              <a:tr h="223921">
                <a:tc>
                  <a:txBody>
                    <a:bodyPr/>
                    <a:lstStyle/>
                    <a:p>
                      <a:pPr>
                        <a:buNone/>
                      </a:pPr>
                      <a:r>
                        <a:rPr lang="en-IN" sz="2000"/>
                        <a:t>4</a:t>
                      </a:r>
                    </a:p>
                  </a:txBody>
                  <a:tcPr anchor="ctr"/>
                </a:tc>
                <a:tc>
                  <a:txBody>
                    <a:bodyPr/>
                    <a:lstStyle/>
                    <a:p>
                      <a:pPr>
                        <a:buNone/>
                      </a:pPr>
                      <a:r>
                        <a:rPr lang="en-IN" sz="2000" dirty="0" err="1"/>
                        <a:t>na</a:t>
                      </a:r>
                      <a:endParaRPr lang="en-IN" sz="2000" dirty="0"/>
                    </a:p>
                  </a:txBody>
                  <a:tcPr anchor="ctr"/>
                </a:tc>
                <a:extLst>
                  <a:ext uri="{0D108BD9-81ED-4DB2-BD59-A6C34878D82A}">
                    <a16:rowId xmlns:a16="http://schemas.microsoft.com/office/drawing/2014/main" val="3955034218"/>
                  </a:ext>
                </a:extLst>
              </a:tr>
              <a:tr h="223921">
                <a:tc>
                  <a:txBody>
                    <a:bodyPr/>
                    <a:lstStyle/>
                    <a:p>
                      <a:pPr>
                        <a:buNone/>
                      </a:pPr>
                      <a:r>
                        <a:rPr lang="en-IN" sz="2000"/>
                        <a:t>5</a:t>
                      </a:r>
                    </a:p>
                  </a:txBody>
                  <a:tcPr anchor="ctr"/>
                </a:tc>
                <a:tc>
                  <a:txBody>
                    <a:bodyPr/>
                    <a:lstStyle/>
                    <a:p>
                      <a:pPr>
                        <a:buNone/>
                      </a:pPr>
                      <a:r>
                        <a:rPr lang="en-IN" sz="2000" dirty="0"/>
                        <a:t>a</a:t>
                      </a:r>
                    </a:p>
                  </a:txBody>
                  <a:tcPr anchor="ctr"/>
                </a:tc>
                <a:extLst>
                  <a:ext uri="{0D108BD9-81ED-4DB2-BD59-A6C34878D82A}">
                    <a16:rowId xmlns:a16="http://schemas.microsoft.com/office/drawing/2014/main" val="4134875709"/>
                  </a:ext>
                </a:extLst>
              </a:tr>
            </a:tbl>
          </a:graphicData>
        </a:graphic>
      </p:graphicFrame>
      <p:graphicFrame>
        <p:nvGraphicFramePr>
          <p:cNvPr id="6" name="Diagram 5">
            <a:extLst>
              <a:ext uri="{FF2B5EF4-FFF2-40B4-BE49-F238E27FC236}">
                <a16:creationId xmlns:a16="http://schemas.microsoft.com/office/drawing/2014/main" id="{D4A56102-683E-9E9F-8CB9-E0D3FEEFDA3D}"/>
              </a:ext>
            </a:extLst>
          </p:cNvPr>
          <p:cNvGraphicFramePr/>
          <p:nvPr>
            <p:extLst>
              <p:ext uri="{D42A27DB-BD31-4B8C-83A1-F6EECF244321}">
                <p14:modId xmlns:p14="http://schemas.microsoft.com/office/powerpoint/2010/main" val="941913486"/>
              </p:ext>
            </p:extLst>
          </p:nvPr>
        </p:nvGraphicFramePr>
        <p:xfrm>
          <a:off x="6922008" y="397934"/>
          <a:ext cx="5009642" cy="603029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7" name="Table 6">
            <a:extLst>
              <a:ext uri="{FF2B5EF4-FFF2-40B4-BE49-F238E27FC236}">
                <a16:creationId xmlns:a16="http://schemas.microsoft.com/office/drawing/2014/main" id="{94E4BBA3-C5A1-EA51-B986-5F586A83209F}"/>
              </a:ext>
            </a:extLst>
          </p:cNvPr>
          <p:cNvGraphicFramePr>
            <a:graphicFrameLocks noGrp="1"/>
          </p:cNvGraphicFramePr>
          <p:nvPr>
            <p:extLst>
              <p:ext uri="{D42A27DB-BD31-4B8C-83A1-F6EECF244321}">
                <p14:modId xmlns:p14="http://schemas.microsoft.com/office/powerpoint/2010/main" val="1252744815"/>
              </p:ext>
            </p:extLst>
          </p:nvPr>
        </p:nvGraphicFramePr>
        <p:xfrm>
          <a:off x="7242048" y="1682497"/>
          <a:ext cx="3995926" cy="4538914"/>
        </p:xfrm>
        <a:graphic>
          <a:graphicData uri="http://schemas.openxmlformats.org/drawingml/2006/table">
            <a:tbl>
              <a:tblPr>
                <a:tableStyleId>{5940675A-B579-460E-94D1-54222C63F5DA}</a:tableStyleId>
              </a:tblPr>
              <a:tblGrid>
                <a:gridCol w="1038618">
                  <a:extLst>
                    <a:ext uri="{9D8B030D-6E8A-4147-A177-3AD203B41FA5}">
                      <a16:colId xmlns:a16="http://schemas.microsoft.com/office/drawing/2014/main" val="1433993719"/>
                    </a:ext>
                  </a:extLst>
                </a:gridCol>
                <a:gridCol w="1392716">
                  <a:extLst>
                    <a:ext uri="{9D8B030D-6E8A-4147-A177-3AD203B41FA5}">
                      <a16:colId xmlns:a16="http://schemas.microsoft.com/office/drawing/2014/main" val="1760748626"/>
                    </a:ext>
                  </a:extLst>
                </a:gridCol>
                <a:gridCol w="1564592">
                  <a:extLst>
                    <a:ext uri="{9D8B030D-6E8A-4147-A177-3AD203B41FA5}">
                      <a16:colId xmlns:a16="http://schemas.microsoft.com/office/drawing/2014/main" val="1485833076"/>
                    </a:ext>
                  </a:extLst>
                </a:gridCol>
              </a:tblGrid>
              <a:tr h="943415">
                <a:tc>
                  <a:txBody>
                    <a:bodyPr/>
                    <a:lstStyle/>
                    <a:p>
                      <a:pPr>
                        <a:buNone/>
                      </a:pPr>
                      <a:r>
                        <a:rPr lang="en-IN" sz="2000" b="1" dirty="0"/>
                        <a:t>Rank</a:t>
                      </a:r>
                    </a:p>
                  </a:txBody>
                  <a:tcPr anchor="ctr"/>
                </a:tc>
                <a:tc>
                  <a:txBody>
                    <a:bodyPr/>
                    <a:lstStyle/>
                    <a:p>
                      <a:pPr>
                        <a:buNone/>
                      </a:pPr>
                      <a:r>
                        <a:rPr lang="en-IN" sz="2000" b="1" dirty="0"/>
                        <a:t>Suffix</a:t>
                      </a:r>
                    </a:p>
                  </a:txBody>
                  <a:tcPr anchor="ctr"/>
                </a:tc>
                <a:tc>
                  <a:txBody>
                    <a:bodyPr/>
                    <a:lstStyle/>
                    <a:p>
                      <a:pPr>
                        <a:buNone/>
                      </a:pPr>
                      <a:r>
                        <a:rPr lang="en-IN" sz="2000" b="1" dirty="0"/>
                        <a:t>Original Index</a:t>
                      </a:r>
                    </a:p>
                  </a:txBody>
                  <a:tcPr anchor="ctr"/>
                </a:tc>
                <a:extLst>
                  <a:ext uri="{0D108BD9-81ED-4DB2-BD59-A6C34878D82A}">
                    <a16:rowId xmlns:a16="http://schemas.microsoft.com/office/drawing/2014/main" val="369693034"/>
                  </a:ext>
                </a:extLst>
              </a:tr>
              <a:tr h="533235">
                <a:tc>
                  <a:txBody>
                    <a:bodyPr/>
                    <a:lstStyle/>
                    <a:p>
                      <a:pPr>
                        <a:buNone/>
                      </a:pPr>
                      <a:r>
                        <a:rPr lang="en-IN" sz="2000"/>
                        <a:t>1</a:t>
                      </a:r>
                    </a:p>
                  </a:txBody>
                  <a:tcPr anchor="ctr"/>
                </a:tc>
                <a:tc>
                  <a:txBody>
                    <a:bodyPr/>
                    <a:lstStyle/>
                    <a:p>
                      <a:pPr>
                        <a:buNone/>
                      </a:pPr>
                      <a:r>
                        <a:rPr lang="en-IN" sz="2000"/>
                        <a:t>a</a:t>
                      </a:r>
                    </a:p>
                  </a:txBody>
                  <a:tcPr anchor="ctr"/>
                </a:tc>
                <a:tc>
                  <a:txBody>
                    <a:bodyPr/>
                    <a:lstStyle/>
                    <a:p>
                      <a:pPr>
                        <a:buNone/>
                      </a:pPr>
                      <a:r>
                        <a:rPr lang="en-IN" sz="2000"/>
                        <a:t>5</a:t>
                      </a:r>
                    </a:p>
                  </a:txBody>
                  <a:tcPr anchor="ctr"/>
                </a:tc>
                <a:extLst>
                  <a:ext uri="{0D108BD9-81ED-4DB2-BD59-A6C34878D82A}">
                    <a16:rowId xmlns:a16="http://schemas.microsoft.com/office/drawing/2014/main" val="990254449"/>
                  </a:ext>
                </a:extLst>
              </a:tr>
              <a:tr h="533235">
                <a:tc>
                  <a:txBody>
                    <a:bodyPr/>
                    <a:lstStyle/>
                    <a:p>
                      <a:pPr>
                        <a:buNone/>
                      </a:pPr>
                      <a:r>
                        <a:rPr lang="en-IN" sz="2000"/>
                        <a:t>2</a:t>
                      </a:r>
                    </a:p>
                  </a:txBody>
                  <a:tcPr anchor="ctr"/>
                </a:tc>
                <a:tc>
                  <a:txBody>
                    <a:bodyPr/>
                    <a:lstStyle/>
                    <a:p>
                      <a:pPr>
                        <a:buNone/>
                      </a:pPr>
                      <a:r>
                        <a:rPr lang="en-IN" sz="2000" dirty="0" err="1"/>
                        <a:t>ana</a:t>
                      </a:r>
                      <a:endParaRPr lang="en-IN" sz="2000" dirty="0"/>
                    </a:p>
                  </a:txBody>
                  <a:tcPr anchor="ctr"/>
                </a:tc>
                <a:tc>
                  <a:txBody>
                    <a:bodyPr/>
                    <a:lstStyle/>
                    <a:p>
                      <a:pPr>
                        <a:buNone/>
                      </a:pPr>
                      <a:r>
                        <a:rPr lang="en-IN" sz="2000" dirty="0"/>
                        <a:t>3</a:t>
                      </a:r>
                    </a:p>
                  </a:txBody>
                  <a:tcPr anchor="ctr"/>
                </a:tc>
                <a:extLst>
                  <a:ext uri="{0D108BD9-81ED-4DB2-BD59-A6C34878D82A}">
                    <a16:rowId xmlns:a16="http://schemas.microsoft.com/office/drawing/2014/main" val="2955817323"/>
                  </a:ext>
                </a:extLst>
              </a:tr>
              <a:tr h="533235">
                <a:tc>
                  <a:txBody>
                    <a:bodyPr/>
                    <a:lstStyle/>
                    <a:p>
                      <a:pPr>
                        <a:buNone/>
                      </a:pPr>
                      <a:r>
                        <a:rPr lang="en-IN" sz="2000"/>
                        <a:t>3</a:t>
                      </a:r>
                    </a:p>
                  </a:txBody>
                  <a:tcPr anchor="ctr"/>
                </a:tc>
                <a:tc>
                  <a:txBody>
                    <a:bodyPr/>
                    <a:lstStyle/>
                    <a:p>
                      <a:pPr>
                        <a:buNone/>
                      </a:pPr>
                      <a:r>
                        <a:rPr lang="en-IN" sz="2000"/>
                        <a:t>anana</a:t>
                      </a:r>
                    </a:p>
                  </a:txBody>
                  <a:tcPr anchor="ctr"/>
                </a:tc>
                <a:tc>
                  <a:txBody>
                    <a:bodyPr/>
                    <a:lstStyle/>
                    <a:p>
                      <a:pPr>
                        <a:buNone/>
                      </a:pPr>
                      <a:r>
                        <a:rPr lang="en-IN" sz="2000"/>
                        <a:t>1</a:t>
                      </a:r>
                    </a:p>
                  </a:txBody>
                  <a:tcPr anchor="ctr"/>
                </a:tc>
                <a:extLst>
                  <a:ext uri="{0D108BD9-81ED-4DB2-BD59-A6C34878D82A}">
                    <a16:rowId xmlns:a16="http://schemas.microsoft.com/office/drawing/2014/main" val="1829365001"/>
                  </a:ext>
                </a:extLst>
              </a:tr>
              <a:tr h="929324">
                <a:tc>
                  <a:txBody>
                    <a:bodyPr/>
                    <a:lstStyle/>
                    <a:p>
                      <a:pPr>
                        <a:buNone/>
                      </a:pPr>
                      <a:r>
                        <a:rPr lang="en-IN" sz="2000"/>
                        <a:t>4</a:t>
                      </a:r>
                    </a:p>
                  </a:txBody>
                  <a:tcPr anchor="ctr"/>
                </a:tc>
                <a:tc>
                  <a:txBody>
                    <a:bodyPr/>
                    <a:lstStyle/>
                    <a:p>
                      <a:pPr>
                        <a:buNone/>
                      </a:pPr>
                      <a:r>
                        <a:rPr lang="en-IN" sz="2000"/>
                        <a:t>banana</a:t>
                      </a:r>
                    </a:p>
                  </a:txBody>
                  <a:tcPr anchor="ctr"/>
                </a:tc>
                <a:tc>
                  <a:txBody>
                    <a:bodyPr/>
                    <a:lstStyle/>
                    <a:p>
                      <a:pPr>
                        <a:buNone/>
                      </a:pPr>
                      <a:r>
                        <a:rPr lang="en-IN" sz="2000"/>
                        <a:t>0</a:t>
                      </a:r>
                    </a:p>
                  </a:txBody>
                  <a:tcPr anchor="ctr"/>
                </a:tc>
                <a:extLst>
                  <a:ext uri="{0D108BD9-81ED-4DB2-BD59-A6C34878D82A}">
                    <a16:rowId xmlns:a16="http://schemas.microsoft.com/office/drawing/2014/main" val="1337262239"/>
                  </a:ext>
                </a:extLst>
              </a:tr>
              <a:tr h="533235">
                <a:tc>
                  <a:txBody>
                    <a:bodyPr/>
                    <a:lstStyle/>
                    <a:p>
                      <a:pPr>
                        <a:buNone/>
                      </a:pPr>
                      <a:r>
                        <a:rPr lang="en-IN" sz="2000"/>
                        <a:t>5</a:t>
                      </a:r>
                    </a:p>
                  </a:txBody>
                  <a:tcPr anchor="ctr"/>
                </a:tc>
                <a:tc>
                  <a:txBody>
                    <a:bodyPr/>
                    <a:lstStyle/>
                    <a:p>
                      <a:pPr>
                        <a:buNone/>
                      </a:pPr>
                      <a:r>
                        <a:rPr lang="en-IN" sz="2000"/>
                        <a:t>na</a:t>
                      </a:r>
                    </a:p>
                  </a:txBody>
                  <a:tcPr anchor="ctr"/>
                </a:tc>
                <a:tc>
                  <a:txBody>
                    <a:bodyPr/>
                    <a:lstStyle/>
                    <a:p>
                      <a:pPr>
                        <a:buNone/>
                      </a:pPr>
                      <a:r>
                        <a:rPr lang="en-IN" sz="2000"/>
                        <a:t>4</a:t>
                      </a:r>
                    </a:p>
                  </a:txBody>
                  <a:tcPr anchor="ctr"/>
                </a:tc>
                <a:extLst>
                  <a:ext uri="{0D108BD9-81ED-4DB2-BD59-A6C34878D82A}">
                    <a16:rowId xmlns:a16="http://schemas.microsoft.com/office/drawing/2014/main" val="550129654"/>
                  </a:ext>
                </a:extLst>
              </a:tr>
              <a:tr h="533235">
                <a:tc>
                  <a:txBody>
                    <a:bodyPr/>
                    <a:lstStyle/>
                    <a:p>
                      <a:pPr>
                        <a:buNone/>
                      </a:pPr>
                      <a:r>
                        <a:rPr lang="en-IN" sz="2000"/>
                        <a:t>6</a:t>
                      </a:r>
                    </a:p>
                  </a:txBody>
                  <a:tcPr anchor="ctr"/>
                </a:tc>
                <a:tc>
                  <a:txBody>
                    <a:bodyPr/>
                    <a:lstStyle/>
                    <a:p>
                      <a:pPr>
                        <a:buNone/>
                      </a:pPr>
                      <a:r>
                        <a:rPr lang="en-IN" sz="2000" dirty="0"/>
                        <a:t>nana</a:t>
                      </a:r>
                    </a:p>
                  </a:txBody>
                  <a:tcPr anchor="ctr"/>
                </a:tc>
                <a:tc>
                  <a:txBody>
                    <a:bodyPr/>
                    <a:lstStyle/>
                    <a:p>
                      <a:pPr>
                        <a:buNone/>
                      </a:pPr>
                      <a:r>
                        <a:rPr lang="en-IN" sz="2000" dirty="0"/>
                        <a:t>2</a:t>
                      </a:r>
                    </a:p>
                  </a:txBody>
                  <a:tcPr anchor="ctr"/>
                </a:tc>
                <a:extLst>
                  <a:ext uri="{0D108BD9-81ED-4DB2-BD59-A6C34878D82A}">
                    <a16:rowId xmlns:a16="http://schemas.microsoft.com/office/drawing/2014/main" val="3164759256"/>
                  </a:ext>
                </a:extLst>
              </a:tr>
            </a:tbl>
          </a:graphicData>
        </a:graphic>
      </p:graphicFrame>
    </p:spTree>
    <p:extLst>
      <p:ext uri="{BB962C8B-B14F-4D97-AF65-F5344CB8AC3E}">
        <p14:creationId xmlns:p14="http://schemas.microsoft.com/office/powerpoint/2010/main" val="244022080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5693A-1193-A5EE-14DB-F4354B00AAE2}"/>
            </a:ext>
          </a:extLst>
        </p:cNvPr>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F8E6ACA9-6903-4E48-C643-9A8AC9303B2B}"/>
              </a:ext>
            </a:extLst>
          </p:cNvPr>
          <p:cNvGraphicFramePr/>
          <p:nvPr>
            <p:extLst>
              <p:ext uri="{D42A27DB-BD31-4B8C-83A1-F6EECF244321}">
                <p14:modId xmlns:p14="http://schemas.microsoft.com/office/powerpoint/2010/main" val="3267018832"/>
              </p:ext>
            </p:extLst>
          </p:nvPr>
        </p:nvGraphicFramePr>
        <p:xfrm>
          <a:off x="260351" y="822960"/>
          <a:ext cx="4147058" cy="58350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0" name="Table 9">
            <a:extLst>
              <a:ext uri="{FF2B5EF4-FFF2-40B4-BE49-F238E27FC236}">
                <a16:creationId xmlns:a16="http://schemas.microsoft.com/office/drawing/2014/main" id="{87254D5F-2E91-FF57-B7C9-F2410AA367BC}"/>
              </a:ext>
            </a:extLst>
          </p:cNvPr>
          <p:cNvGraphicFramePr>
            <a:graphicFrameLocks noGrp="1"/>
          </p:cNvGraphicFramePr>
          <p:nvPr>
            <p:extLst>
              <p:ext uri="{D42A27DB-BD31-4B8C-83A1-F6EECF244321}">
                <p14:modId xmlns:p14="http://schemas.microsoft.com/office/powerpoint/2010/main" val="1713825781"/>
              </p:ext>
            </p:extLst>
          </p:nvPr>
        </p:nvGraphicFramePr>
        <p:xfrm>
          <a:off x="913688" y="2469755"/>
          <a:ext cx="2496057" cy="3078480"/>
        </p:xfrm>
        <a:graphic>
          <a:graphicData uri="http://schemas.openxmlformats.org/drawingml/2006/table">
            <a:tbl>
              <a:tblPr>
                <a:tableStyleId>{5940675A-B579-460E-94D1-54222C63F5DA}</a:tableStyleId>
              </a:tblPr>
              <a:tblGrid>
                <a:gridCol w="997682">
                  <a:extLst>
                    <a:ext uri="{9D8B030D-6E8A-4147-A177-3AD203B41FA5}">
                      <a16:colId xmlns:a16="http://schemas.microsoft.com/office/drawing/2014/main" val="2053506292"/>
                    </a:ext>
                  </a:extLst>
                </a:gridCol>
                <a:gridCol w="1498375">
                  <a:extLst>
                    <a:ext uri="{9D8B030D-6E8A-4147-A177-3AD203B41FA5}">
                      <a16:colId xmlns:a16="http://schemas.microsoft.com/office/drawing/2014/main" val="2380693207"/>
                    </a:ext>
                  </a:extLst>
                </a:gridCol>
              </a:tblGrid>
              <a:tr h="486496">
                <a:tc>
                  <a:txBody>
                    <a:bodyPr/>
                    <a:lstStyle/>
                    <a:p>
                      <a:pPr>
                        <a:buNone/>
                      </a:pPr>
                      <a:r>
                        <a:rPr lang="en-IN" sz="2000" b="1" dirty="0"/>
                        <a:t>Rank</a:t>
                      </a:r>
                    </a:p>
                  </a:txBody>
                  <a:tcPr anchor="ctr"/>
                </a:tc>
                <a:tc>
                  <a:txBody>
                    <a:bodyPr/>
                    <a:lstStyle/>
                    <a:p>
                      <a:pPr>
                        <a:buNone/>
                      </a:pPr>
                      <a:r>
                        <a:rPr lang="en-IN" sz="2000" b="1" dirty="0"/>
                        <a:t>Suffix Array (SA)</a:t>
                      </a:r>
                    </a:p>
                  </a:txBody>
                  <a:tcPr anchor="ctr"/>
                </a:tc>
                <a:extLst>
                  <a:ext uri="{0D108BD9-81ED-4DB2-BD59-A6C34878D82A}">
                    <a16:rowId xmlns:a16="http://schemas.microsoft.com/office/drawing/2014/main" val="1950122294"/>
                  </a:ext>
                </a:extLst>
              </a:tr>
              <a:tr h="216221">
                <a:tc>
                  <a:txBody>
                    <a:bodyPr/>
                    <a:lstStyle/>
                    <a:p>
                      <a:pPr>
                        <a:buNone/>
                      </a:pPr>
                      <a:r>
                        <a:rPr lang="en-IN" sz="2000"/>
                        <a:t>0</a:t>
                      </a:r>
                    </a:p>
                  </a:txBody>
                  <a:tcPr anchor="ctr"/>
                </a:tc>
                <a:tc>
                  <a:txBody>
                    <a:bodyPr/>
                    <a:lstStyle/>
                    <a:p>
                      <a:pPr>
                        <a:buNone/>
                      </a:pPr>
                      <a:r>
                        <a:rPr lang="en-IN" sz="2000" dirty="0"/>
                        <a:t>5</a:t>
                      </a:r>
                    </a:p>
                  </a:txBody>
                  <a:tcPr anchor="ctr"/>
                </a:tc>
                <a:extLst>
                  <a:ext uri="{0D108BD9-81ED-4DB2-BD59-A6C34878D82A}">
                    <a16:rowId xmlns:a16="http://schemas.microsoft.com/office/drawing/2014/main" val="1136524067"/>
                  </a:ext>
                </a:extLst>
              </a:tr>
              <a:tr h="216221">
                <a:tc>
                  <a:txBody>
                    <a:bodyPr/>
                    <a:lstStyle/>
                    <a:p>
                      <a:pPr>
                        <a:buNone/>
                      </a:pPr>
                      <a:r>
                        <a:rPr lang="en-IN" sz="2000"/>
                        <a:t>1</a:t>
                      </a:r>
                    </a:p>
                  </a:txBody>
                  <a:tcPr anchor="ctr"/>
                </a:tc>
                <a:tc>
                  <a:txBody>
                    <a:bodyPr/>
                    <a:lstStyle/>
                    <a:p>
                      <a:pPr>
                        <a:buNone/>
                      </a:pPr>
                      <a:r>
                        <a:rPr lang="en-IN" sz="2000" dirty="0"/>
                        <a:t>3</a:t>
                      </a:r>
                    </a:p>
                  </a:txBody>
                  <a:tcPr anchor="ctr"/>
                </a:tc>
                <a:extLst>
                  <a:ext uri="{0D108BD9-81ED-4DB2-BD59-A6C34878D82A}">
                    <a16:rowId xmlns:a16="http://schemas.microsoft.com/office/drawing/2014/main" val="3849415578"/>
                  </a:ext>
                </a:extLst>
              </a:tr>
              <a:tr h="216221">
                <a:tc>
                  <a:txBody>
                    <a:bodyPr/>
                    <a:lstStyle/>
                    <a:p>
                      <a:pPr>
                        <a:buNone/>
                      </a:pPr>
                      <a:r>
                        <a:rPr lang="en-IN" sz="2000"/>
                        <a:t>2</a:t>
                      </a:r>
                    </a:p>
                  </a:txBody>
                  <a:tcPr anchor="ctr"/>
                </a:tc>
                <a:tc>
                  <a:txBody>
                    <a:bodyPr/>
                    <a:lstStyle/>
                    <a:p>
                      <a:pPr>
                        <a:buNone/>
                      </a:pPr>
                      <a:r>
                        <a:rPr lang="en-IN" sz="2000" dirty="0"/>
                        <a:t>1</a:t>
                      </a:r>
                    </a:p>
                  </a:txBody>
                  <a:tcPr anchor="ctr"/>
                </a:tc>
                <a:extLst>
                  <a:ext uri="{0D108BD9-81ED-4DB2-BD59-A6C34878D82A}">
                    <a16:rowId xmlns:a16="http://schemas.microsoft.com/office/drawing/2014/main" val="793671741"/>
                  </a:ext>
                </a:extLst>
              </a:tr>
              <a:tr h="216221">
                <a:tc>
                  <a:txBody>
                    <a:bodyPr/>
                    <a:lstStyle/>
                    <a:p>
                      <a:pPr>
                        <a:buNone/>
                      </a:pPr>
                      <a:r>
                        <a:rPr lang="en-IN" sz="2000"/>
                        <a:t>3</a:t>
                      </a:r>
                    </a:p>
                  </a:txBody>
                  <a:tcPr anchor="ctr"/>
                </a:tc>
                <a:tc>
                  <a:txBody>
                    <a:bodyPr/>
                    <a:lstStyle/>
                    <a:p>
                      <a:pPr>
                        <a:buNone/>
                      </a:pPr>
                      <a:r>
                        <a:rPr lang="en-IN" sz="2000"/>
                        <a:t>0</a:t>
                      </a:r>
                    </a:p>
                  </a:txBody>
                  <a:tcPr anchor="ctr"/>
                </a:tc>
                <a:extLst>
                  <a:ext uri="{0D108BD9-81ED-4DB2-BD59-A6C34878D82A}">
                    <a16:rowId xmlns:a16="http://schemas.microsoft.com/office/drawing/2014/main" val="1222026749"/>
                  </a:ext>
                </a:extLst>
              </a:tr>
              <a:tr h="216221">
                <a:tc>
                  <a:txBody>
                    <a:bodyPr/>
                    <a:lstStyle/>
                    <a:p>
                      <a:pPr>
                        <a:buNone/>
                      </a:pPr>
                      <a:r>
                        <a:rPr lang="en-IN" sz="2000"/>
                        <a:t>4</a:t>
                      </a:r>
                    </a:p>
                  </a:txBody>
                  <a:tcPr anchor="ctr"/>
                </a:tc>
                <a:tc>
                  <a:txBody>
                    <a:bodyPr/>
                    <a:lstStyle/>
                    <a:p>
                      <a:pPr>
                        <a:buNone/>
                      </a:pPr>
                      <a:r>
                        <a:rPr lang="en-IN" sz="2000"/>
                        <a:t>4</a:t>
                      </a:r>
                    </a:p>
                  </a:txBody>
                  <a:tcPr anchor="ctr"/>
                </a:tc>
                <a:extLst>
                  <a:ext uri="{0D108BD9-81ED-4DB2-BD59-A6C34878D82A}">
                    <a16:rowId xmlns:a16="http://schemas.microsoft.com/office/drawing/2014/main" val="4151732520"/>
                  </a:ext>
                </a:extLst>
              </a:tr>
              <a:tr h="216221">
                <a:tc>
                  <a:txBody>
                    <a:bodyPr/>
                    <a:lstStyle/>
                    <a:p>
                      <a:pPr>
                        <a:buNone/>
                      </a:pPr>
                      <a:r>
                        <a:rPr lang="en-IN" sz="2000"/>
                        <a:t>5</a:t>
                      </a:r>
                    </a:p>
                  </a:txBody>
                  <a:tcPr anchor="ctr"/>
                </a:tc>
                <a:tc>
                  <a:txBody>
                    <a:bodyPr/>
                    <a:lstStyle/>
                    <a:p>
                      <a:pPr>
                        <a:buNone/>
                      </a:pPr>
                      <a:r>
                        <a:rPr lang="en-IN" sz="2000" dirty="0"/>
                        <a:t>2</a:t>
                      </a:r>
                    </a:p>
                  </a:txBody>
                  <a:tcPr anchor="ctr"/>
                </a:tc>
                <a:extLst>
                  <a:ext uri="{0D108BD9-81ED-4DB2-BD59-A6C34878D82A}">
                    <a16:rowId xmlns:a16="http://schemas.microsoft.com/office/drawing/2014/main" val="932288987"/>
                  </a:ext>
                </a:extLst>
              </a:tr>
            </a:tbl>
          </a:graphicData>
        </a:graphic>
      </p:graphicFrame>
      <p:sp>
        <p:nvSpPr>
          <p:cNvPr id="12" name="TextBox 11">
            <a:extLst>
              <a:ext uri="{FF2B5EF4-FFF2-40B4-BE49-F238E27FC236}">
                <a16:creationId xmlns:a16="http://schemas.microsoft.com/office/drawing/2014/main" id="{3AC04033-8B75-8FBE-6288-D8EDE3BF8D2D}"/>
              </a:ext>
            </a:extLst>
          </p:cNvPr>
          <p:cNvSpPr txBox="1"/>
          <p:nvPr/>
        </p:nvSpPr>
        <p:spPr>
          <a:xfrm>
            <a:off x="260352" y="5703868"/>
            <a:ext cx="4147058" cy="954107"/>
          </a:xfrm>
          <a:prstGeom prst="rect">
            <a:avLst/>
          </a:prstGeom>
          <a:solidFill>
            <a:schemeClr val="accent6">
              <a:lumMod val="20000"/>
              <a:lumOff val="80000"/>
            </a:schemeClr>
          </a:solidFill>
          <a:ln>
            <a:solidFill>
              <a:schemeClr val="accent1"/>
            </a:solidFill>
          </a:ln>
        </p:spPr>
        <p:txBody>
          <a:bodyPr wrap="square">
            <a:spAutoFit/>
          </a:bodyPr>
          <a:lstStyle/>
          <a:p>
            <a:pPr>
              <a:buNone/>
            </a:pPr>
            <a:r>
              <a:rPr lang="en-IN" sz="2800" dirty="0"/>
              <a:t>Therefore,</a:t>
            </a:r>
          </a:p>
          <a:p>
            <a:pPr rtl="0">
              <a:buNone/>
            </a:pPr>
            <a:r>
              <a:rPr lang="en-IN" sz="2800" b="1" dirty="0">
                <a:latin typeface="Courier New" panose="02070309020205020404" pitchFamily="49" charset="0"/>
              </a:rPr>
              <a:t>SA</a:t>
            </a:r>
            <a:r>
              <a:rPr lang="en-IN" sz="2800" dirty="0">
                <a:latin typeface="Courier New" panose="02070309020205020404" pitchFamily="49" charset="0"/>
              </a:rPr>
              <a:t> = [5,3,1,0,4,2]</a:t>
            </a:r>
          </a:p>
        </p:txBody>
      </p:sp>
      <p:sp>
        <p:nvSpPr>
          <p:cNvPr id="15" name="TextBox 14">
            <a:extLst>
              <a:ext uri="{FF2B5EF4-FFF2-40B4-BE49-F238E27FC236}">
                <a16:creationId xmlns:a16="http://schemas.microsoft.com/office/drawing/2014/main" id="{13609D54-CF41-B447-A15B-7AD31D3B4261}"/>
              </a:ext>
            </a:extLst>
          </p:cNvPr>
          <p:cNvSpPr txBox="1"/>
          <p:nvPr/>
        </p:nvSpPr>
        <p:spPr>
          <a:xfrm>
            <a:off x="4734401" y="822960"/>
            <a:ext cx="7058993" cy="5693866"/>
          </a:xfrm>
          <a:prstGeom prst="rect">
            <a:avLst/>
          </a:prstGeom>
          <a:noFill/>
          <a:ln>
            <a:solidFill>
              <a:schemeClr val="accent1"/>
            </a:solidFill>
          </a:ln>
        </p:spPr>
        <p:txBody>
          <a:bodyPr wrap="square">
            <a:spAutoFit/>
          </a:bodyPr>
          <a:lstStyle/>
          <a:p>
            <a:pPr>
              <a:buNone/>
            </a:pPr>
            <a:r>
              <a:rPr lang="en-IN" sz="2800" b="1" dirty="0"/>
              <a:t>Why Sort the Suffixes?</a:t>
            </a:r>
          </a:p>
          <a:p>
            <a:pPr>
              <a:buNone/>
            </a:pPr>
            <a:r>
              <a:rPr lang="en-IN" sz="2800" dirty="0"/>
              <a:t>Sorting places similar prefixes next to each other.</a:t>
            </a:r>
          </a:p>
          <a:p>
            <a:pPr>
              <a:buNone/>
            </a:pPr>
            <a:r>
              <a:rPr lang="en-IN" sz="2800" dirty="0"/>
              <a:t>Example:</a:t>
            </a:r>
          </a:p>
          <a:p>
            <a:pPr rtl="0">
              <a:buNone/>
            </a:pPr>
            <a:r>
              <a:rPr lang="en-IN" sz="2800" dirty="0">
                <a:latin typeface="Courier New" panose="02070309020205020404" pitchFamily="49" charset="0"/>
              </a:rPr>
              <a:t>a</a:t>
            </a:r>
          </a:p>
          <a:p>
            <a:pPr rtl="0">
              <a:buNone/>
            </a:pPr>
            <a:r>
              <a:rPr lang="en-IN" sz="2800" dirty="0">
                <a:latin typeface="Courier New" panose="02070309020205020404" pitchFamily="49" charset="0"/>
              </a:rPr>
              <a:t>ana</a:t>
            </a:r>
          </a:p>
          <a:p>
            <a:pPr rtl="0">
              <a:buNone/>
            </a:pPr>
            <a:r>
              <a:rPr lang="en-IN" sz="2800" dirty="0" err="1">
                <a:latin typeface="Courier New" panose="02070309020205020404" pitchFamily="49" charset="0"/>
              </a:rPr>
              <a:t>anana</a:t>
            </a:r>
            <a:endParaRPr lang="en-IN" sz="2800" dirty="0">
              <a:latin typeface="Courier New" panose="02070309020205020404" pitchFamily="49" charset="0"/>
            </a:endParaRPr>
          </a:p>
          <a:p>
            <a:pPr>
              <a:buNone/>
            </a:pPr>
            <a:r>
              <a:rPr lang="en-IN" sz="2800" dirty="0"/>
              <a:t>All begin with </a:t>
            </a:r>
            <a:r>
              <a:rPr lang="en-IN" sz="2800" b="1" dirty="0"/>
              <a:t>a</a:t>
            </a:r>
            <a:r>
              <a:rPr lang="en-IN" sz="2800" dirty="0"/>
              <a:t>, making comparisons efficient.</a:t>
            </a:r>
          </a:p>
          <a:p>
            <a:pPr>
              <a:buNone/>
            </a:pPr>
            <a:r>
              <a:rPr lang="en-IN" sz="2800" b="1" dirty="0"/>
              <a:t>Time Complexity:  </a:t>
            </a:r>
            <a:r>
              <a:rPr lang="en-IN" sz="2800" dirty="0"/>
              <a:t>Sorting-O(n² log n)</a:t>
            </a:r>
          </a:p>
          <a:p>
            <a:endParaRPr lang="en-IN" sz="2800" dirty="0"/>
          </a:p>
          <a:p>
            <a:r>
              <a:rPr lang="en-IN" sz="2800" dirty="0"/>
              <a:t>Sorting requires approximately: O(</a:t>
            </a:r>
            <a:r>
              <a:rPr lang="en-IN" sz="2800" dirty="0" err="1"/>
              <a:t>nlogn</a:t>
            </a:r>
            <a:r>
              <a:rPr lang="en-IN" sz="2800" dirty="0"/>
              <a:t>)</a:t>
            </a:r>
          </a:p>
          <a:p>
            <a:r>
              <a:rPr lang="en-IN" sz="2800" dirty="0"/>
              <a:t>Each suffix comparison can take: O(n)</a:t>
            </a:r>
          </a:p>
          <a:p>
            <a:r>
              <a:rPr lang="en-IN" sz="2800" dirty="0"/>
              <a:t>Therefore: O(</a:t>
            </a:r>
            <a:r>
              <a:rPr lang="en-IN" sz="2800" dirty="0" err="1"/>
              <a:t>nlogn</a:t>
            </a:r>
            <a:r>
              <a:rPr lang="en-IN" sz="2800" dirty="0"/>
              <a:t>)×O(n)</a:t>
            </a:r>
            <a:endParaRPr lang="en-IN" sz="2800" b="1" dirty="0"/>
          </a:p>
        </p:txBody>
      </p:sp>
    </p:spTree>
    <p:extLst>
      <p:ext uri="{BB962C8B-B14F-4D97-AF65-F5344CB8AC3E}">
        <p14:creationId xmlns:p14="http://schemas.microsoft.com/office/powerpoint/2010/main" val="420151735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3EB0C-8BD1-0FA3-F6AC-A3AC8576B7A1}"/>
            </a:ext>
          </a:extLst>
        </p:cNvPr>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8A6F7E05-79F9-1DF3-ADE2-C21237671011}"/>
              </a:ext>
            </a:extLst>
          </p:cNvPr>
          <p:cNvGraphicFramePr/>
          <p:nvPr>
            <p:extLst>
              <p:ext uri="{D42A27DB-BD31-4B8C-83A1-F6EECF244321}">
                <p14:modId xmlns:p14="http://schemas.microsoft.com/office/powerpoint/2010/main" val="2139737289"/>
              </p:ext>
            </p:extLst>
          </p:nvPr>
        </p:nvGraphicFramePr>
        <p:xfrm>
          <a:off x="310896" y="605414"/>
          <a:ext cx="3908997" cy="59214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Table 3">
            <a:extLst>
              <a:ext uri="{FF2B5EF4-FFF2-40B4-BE49-F238E27FC236}">
                <a16:creationId xmlns:a16="http://schemas.microsoft.com/office/drawing/2014/main" id="{D8479CF6-EE81-D762-7357-6C329D80881A}"/>
              </a:ext>
            </a:extLst>
          </p:cNvPr>
          <p:cNvGraphicFramePr>
            <a:graphicFrameLocks noGrp="1"/>
          </p:cNvGraphicFramePr>
          <p:nvPr>
            <p:extLst>
              <p:ext uri="{D42A27DB-BD31-4B8C-83A1-F6EECF244321}">
                <p14:modId xmlns:p14="http://schemas.microsoft.com/office/powerpoint/2010/main" val="3466685881"/>
              </p:ext>
            </p:extLst>
          </p:nvPr>
        </p:nvGraphicFramePr>
        <p:xfrm>
          <a:off x="1402889" y="3753225"/>
          <a:ext cx="1993964" cy="2773680"/>
        </p:xfrm>
        <a:graphic>
          <a:graphicData uri="http://schemas.openxmlformats.org/drawingml/2006/table">
            <a:tbl>
              <a:tblPr>
                <a:tableStyleId>{5940675A-B579-460E-94D1-54222C63F5DA}</a:tableStyleId>
              </a:tblPr>
              <a:tblGrid>
                <a:gridCol w="727139">
                  <a:extLst>
                    <a:ext uri="{9D8B030D-6E8A-4147-A177-3AD203B41FA5}">
                      <a16:colId xmlns:a16="http://schemas.microsoft.com/office/drawing/2014/main" val="1661349146"/>
                    </a:ext>
                  </a:extLst>
                </a:gridCol>
                <a:gridCol w="1266825">
                  <a:extLst>
                    <a:ext uri="{9D8B030D-6E8A-4147-A177-3AD203B41FA5}">
                      <a16:colId xmlns:a16="http://schemas.microsoft.com/office/drawing/2014/main" val="3029621555"/>
                    </a:ext>
                  </a:extLst>
                </a:gridCol>
              </a:tblGrid>
              <a:tr h="0">
                <a:tc>
                  <a:txBody>
                    <a:bodyPr/>
                    <a:lstStyle/>
                    <a:p>
                      <a:pPr>
                        <a:buNone/>
                      </a:pPr>
                      <a:r>
                        <a:rPr lang="en-IN" sz="2000" b="1" dirty="0"/>
                        <a:t>Rank</a:t>
                      </a:r>
                    </a:p>
                  </a:txBody>
                  <a:tcPr anchor="ctr"/>
                </a:tc>
                <a:tc>
                  <a:txBody>
                    <a:bodyPr/>
                    <a:lstStyle/>
                    <a:p>
                      <a:pPr>
                        <a:buNone/>
                      </a:pPr>
                      <a:r>
                        <a:rPr lang="en-IN" sz="2000" b="1" dirty="0"/>
                        <a:t>Suffix</a:t>
                      </a:r>
                    </a:p>
                  </a:txBody>
                  <a:tcPr anchor="ctr"/>
                </a:tc>
                <a:extLst>
                  <a:ext uri="{0D108BD9-81ED-4DB2-BD59-A6C34878D82A}">
                    <a16:rowId xmlns:a16="http://schemas.microsoft.com/office/drawing/2014/main" val="1773476451"/>
                  </a:ext>
                </a:extLst>
              </a:tr>
              <a:tr h="0">
                <a:tc>
                  <a:txBody>
                    <a:bodyPr/>
                    <a:lstStyle/>
                    <a:p>
                      <a:pPr>
                        <a:buNone/>
                      </a:pPr>
                      <a:r>
                        <a:rPr lang="en-IN" sz="2000" dirty="0"/>
                        <a:t>0</a:t>
                      </a:r>
                    </a:p>
                  </a:txBody>
                  <a:tcPr anchor="ctr"/>
                </a:tc>
                <a:tc>
                  <a:txBody>
                    <a:bodyPr/>
                    <a:lstStyle/>
                    <a:p>
                      <a:pPr>
                        <a:buNone/>
                      </a:pPr>
                      <a:r>
                        <a:rPr lang="en-IN" sz="2000" dirty="0"/>
                        <a:t>a</a:t>
                      </a:r>
                    </a:p>
                  </a:txBody>
                  <a:tcPr anchor="ctr"/>
                </a:tc>
                <a:extLst>
                  <a:ext uri="{0D108BD9-81ED-4DB2-BD59-A6C34878D82A}">
                    <a16:rowId xmlns:a16="http://schemas.microsoft.com/office/drawing/2014/main" val="687664861"/>
                  </a:ext>
                </a:extLst>
              </a:tr>
              <a:tr h="0">
                <a:tc>
                  <a:txBody>
                    <a:bodyPr/>
                    <a:lstStyle/>
                    <a:p>
                      <a:pPr>
                        <a:buNone/>
                      </a:pPr>
                      <a:r>
                        <a:rPr lang="en-IN" sz="2000"/>
                        <a:t>1</a:t>
                      </a:r>
                    </a:p>
                  </a:txBody>
                  <a:tcPr anchor="ctr"/>
                </a:tc>
                <a:tc>
                  <a:txBody>
                    <a:bodyPr/>
                    <a:lstStyle/>
                    <a:p>
                      <a:pPr>
                        <a:buNone/>
                      </a:pPr>
                      <a:r>
                        <a:rPr lang="en-IN" sz="2000" dirty="0" err="1"/>
                        <a:t>ana</a:t>
                      </a:r>
                      <a:endParaRPr lang="en-IN" sz="2000" dirty="0"/>
                    </a:p>
                  </a:txBody>
                  <a:tcPr anchor="ctr"/>
                </a:tc>
                <a:extLst>
                  <a:ext uri="{0D108BD9-81ED-4DB2-BD59-A6C34878D82A}">
                    <a16:rowId xmlns:a16="http://schemas.microsoft.com/office/drawing/2014/main" val="596723857"/>
                  </a:ext>
                </a:extLst>
              </a:tr>
              <a:tr h="0">
                <a:tc>
                  <a:txBody>
                    <a:bodyPr/>
                    <a:lstStyle/>
                    <a:p>
                      <a:pPr>
                        <a:buNone/>
                      </a:pPr>
                      <a:r>
                        <a:rPr lang="en-IN" sz="2000"/>
                        <a:t>2</a:t>
                      </a:r>
                    </a:p>
                  </a:txBody>
                  <a:tcPr anchor="ctr"/>
                </a:tc>
                <a:tc>
                  <a:txBody>
                    <a:bodyPr/>
                    <a:lstStyle/>
                    <a:p>
                      <a:pPr>
                        <a:buNone/>
                      </a:pPr>
                      <a:r>
                        <a:rPr lang="en-IN" sz="2000" dirty="0" err="1"/>
                        <a:t>anana</a:t>
                      </a:r>
                      <a:endParaRPr lang="en-IN" sz="2000" dirty="0"/>
                    </a:p>
                  </a:txBody>
                  <a:tcPr anchor="ctr"/>
                </a:tc>
                <a:extLst>
                  <a:ext uri="{0D108BD9-81ED-4DB2-BD59-A6C34878D82A}">
                    <a16:rowId xmlns:a16="http://schemas.microsoft.com/office/drawing/2014/main" val="166694825"/>
                  </a:ext>
                </a:extLst>
              </a:tr>
              <a:tr h="0">
                <a:tc>
                  <a:txBody>
                    <a:bodyPr/>
                    <a:lstStyle/>
                    <a:p>
                      <a:pPr>
                        <a:buNone/>
                      </a:pPr>
                      <a:r>
                        <a:rPr lang="en-IN" sz="2000"/>
                        <a:t>3</a:t>
                      </a:r>
                    </a:p>
                  </a:txBody>
                  <a:tcPr anchor="ctr"/>
                </a:tc>
                <a:tc>
                  <a:txBody>
                    <a:bodyPr/>
                    <a:lstStyle/>
                    <a:p>
                      <a:pPr>
                        <a:buNone/>
                      </a:pPr>
                      <a:r>
                        <a:rPr lang="en-IN" sz="2000" dirty="0"/>
                        <a:t>banana</a:t>
                      </a:r>
                    </a:p>
                  </a:txBody>
                  <a:tcPr anchor="ctr"/>
                </a:tc>
                <a:extLst>
                  <a:ext uri="{0D108BD9-81ED-4DB2-BD59-A6C34878D82A}">
                    <a16:rowId xmlns:a16="http://schemas.microsoft.com/office/drawing/2014/main" val="1941960945"/>
                  </a:ext>
                </a:extLst>
              </a:tr>
              <a:tr h="0">
                <a:tc>
                  <a:txBody>
                    <a:bodyPr/>
                    <a:lstStyle/>
                    <a:p>
                      <a:pPr>
                        <a:buNone/>
                      </a:pPr>
                      <a:r>
                        <a:rPr lang="en-IN" sz="2000"/>
                        <a:t>4</a:t>
                      </a:r>
                    </a:p>
                  </a:txBody>
                  <a:tcPr anchor="ctr"/>
                </a:tc>
                <a:tc>
                  <a:txBody>
                    <a:bodyPr/>
                    <a:lstStyle/>
                    <a:p>
                      <a:pPr>
                        <a:buNone/>
                      </a:pPr>
                      <a:r>
                        <a:rPr lang="en-IN" sz="2000" dirty="0" err="1"/>
                        <a:t>na</a:t>
                      </a:r>
                      <a:endParaRPr lang="en-IN" sz="2000" dirty="0"/>
                    </a:p>
                  </a:txBody>
                  <a:tcPr anchor="ctr"/>
                </a:tc>
                <a:extLst>
                  <a:ext uri="{0D108BD9-81ED-4DB2-BD59-A6C34878D82A}">
                    <a16:rowId xmlns:a16="http://schemas.microsoft.com/office/drawing/2014/main" val="4266786026"/>
                  </a:ext>
                </a:extLst>
              </a:tr>
              <a:tr h="0">
                <a:tc>
                  <a:txBody>
                    <a:bodyPr/>
                    <a:lstStyle/>
                    <a:p>
                      <a:pPr>
                        <a:buNone/>
                      </a:pPr>
                      <a:r>
                        <a:rPr lang="en-IN" sz="2000"/>
                        <a:t>5</a:t>
                      </a:r>
                    </a:p>
                  </a:txBody>
                  <a:tcPr anchor="ctr"/>
                </a:tc>
                <a:tc>
                  <a:txBody>
                    <a:bodyPr/>
                    <a:lstStyle/>
                    <a:p>
                      <a:pPr>
                        <a:buNone/>
                      </a:pPr>
                      <a:r>
                        <a:rPr lang="en-IN" sz="2000" dirty="0"/>
                        <a:t>nana</a:t>
                      </a:r>
                    </a:p>
                  </a:txBody>
                  <a:tcPr anchor="ctr"/>
                </a:tc>
                <a:extLst>
                  <a:ext uri="{0D108BD9-81ED-4DB2-BD59-A6C34878D82A}">
                    <a16:rowId xmlns:a16="http://schemas.microsoft.com/office/drawing/2014/main" val="155807565"/>
                  </a:ext>
                </a:extLst>
              </a:tr>
            </a:tbl>
          </a:graphicData>
        </a:graphic>
      </p:graphicFrame>
      <p:sp>
        <p:nvSpPr>
          <p:cNvPr id="6" name="TextBox 5">
            <a:extLst>
              <a:ext uri="{FF2B5EF4-FFF2-40B4-BE49-F238E27FC236}">
                <a16:creationId xmlns:a16="http://schemas.microsoft.com/office/drawing/2014/main" id="{778B4AB6-0CC0-529C-8077-4EDB560126DF}"/>
              </a:ext>
            </a:extLst>
          </p:cNvPr>
          <p:cNvSpPr txBox="1"/>
          <p:nvPr/>
        </p:nvSpPr>
        <p:spPr>
          <a:xfrm>
            <a:off x="4394898" y="614308"/>
            <a:ext cx="3908997" cy="5632311"/>
          </a:xfrm>
          <a:prstGeom prst="rect">
            <a:avLst/>
          </a:prstGeom>
          <a:noFill/>
          <a:ln>
            <a:solidFill>
              <a:schemeClr val="accent1"/>
            </a:solidFill>
          </a:ln>
        </p:spPr>
        <p:txBody>
          <a:bodyPr wrap="square">
            <a:spAutoFit/>
          </a:bodyPr>
          <a:lstStyle/>
          <a:p>
            <a:pPr>
              <a:buNone/>
            </a:pPr>
            <a:r>
              <a:rPr lang="en-IN" sz="2400" b="1" dirty="0"/>
              <a:t>Compare Adjacent Suffixes</a:t>
            </a:r>
          </a:p>
          <a:p>
            <a:pPr>
              <a:buNone/>
            </a:pPr>
            <a:r>
              <a:rPr lang="en-IN" sz="2400" b="1" dirty="0"/>
              <a:t>Compare "a" and "ana"</a:t>
            </a:r>
          </a:p>
          <a:p>
            <a:pPr rtl="0">
              <a:buNone/>
            </a:pPr>
            <a:r>
              <a:rPr lang="en-IN" sz="2400" dirty="0">
                <a:latin typeface="Courier New" panose="02070309020205020404" pitchFamily="49" charset="0"/>
              </a:rPr>
              <a:t>a</a:t>
            </a:r>
          </a:p>
          <a:p>
            <a:pPr rtl="0">
              <a:buNone/>
            </a:pPr>
            <a:r>
              <a:rPr lang="en-IN" sz="2400" dirty="0">
                <a:latin typeface="Courier New" panose="02070309020205020404" pitchFamily="49" charset="0"/>
              </a:rPr>
              <a:t>ana</a:t>
            </a:r>
          </a:p>
          <a:p>
            <a:pPr>
              <a:buNone/>
            </a:pPr>
            <a:r>
              <a:rPr lang="en-IN" sz="2400" dirty="0"/>
              <a:t>Common prefix:</a:t>
            </a:r>
          </a:p>
          <a:p>
            <a:pPr rtl="0">
              <a:buNone/>
            </a:pPr>
            <a:r>
              <a:rPr lang="en-IN" sz="2400" dirty="0">
                <a:latin typeface="Courier New" panose="02070309020205020404" pitchFamily="49" charset="0"/>
              </a:rPr>
              <a:t>a</a:t>
            </a:r>
          </a:p>
          <a:p>
            <a:pPr>
              <a:buNone/>
            </a:pPr>
            <a:r>
              <a:rPr lang="en-IN" sz="2400" dirty="0"/>
              <a:t>Length = 1</a:t>
            </a:r>
          </a:p>
          <a:p>
            <a:pPr>
              <a:buNone/>
            </a:pPr>
            <a:endParaRPr lang="en-IN" sz="2400" b="1" dirty="0"/>
          </a:p>
          <a:p>
            <a:pPr>
              <a:buNone/>
            </a:pPr>
            <a:endParaRPr lang="en-IN" sz="2400" b="1" dirty="0"/>
          </a:p>
          <a:p>
            <a:pPr>
              <a:buNone/>
            </a:pPr>
            <a:r>
              <a:rPr lang="en-IN" sz="2400" b="1" dirty="0"/>
              <a:t>Compare "ana" and "</a:t>
            </a:r>
            <a:r>
              <a:rPr lang="en-IN" sz="2400" b="1" dirty="0" err="1"/>
              <a:t>anana</a:t>
            </a:r>
            <a:r>
              <a:rPr lang="en-IN" sz="2400" b="1" dirty="0"/>
              <a:t>"</a:t>
            </a:r>
          </a:p>
          <a:p>
            <a:pPr rtl="0">
              <a:buNone/>
            </a:pPr>
            <a:r>
              <a:rPr lang="en-IN" sz="2400" dirty="0">
                <a:latin typeface="Courier New" panose="02070309020205020404" pitchFamily="49" charset="0"/>
              </a:rPr>
              <a:t>ana</a:t>
            </a:r>
          </a:p>
          <a:p>
            <a:pPr rtl="0">
              <a:buNone/>
            </a:pPr>
            <a:r>
              <a:rPr lang="en-IN" sz="2400" dirty="0" err="1">
                <a:latin typeface="Courier New" panose="02070309020205020404" pitchFamily="49" charset="0"/>
              </a:rPr>
              <a:t>anana</a:t>
            </a:r>
            <a:endParaRPr lang="en-IN" sz="2400" dirty="0">
              <a:latin typeface="Courier New" panose="02070309020205020404" pitchFamily="49" charset="0"/>
            </a:endParaRPr>
          </a:p>
          <a:p>
            <a:pPr>
              <a:buNone/>
            </a:pPr>
            <a:r>
              <a:rPr lang="en-IN" sz="2400" dirty="0"/>
              <a:t>Common prefix:</a:t>
            </a:r>
          </a:p>
          <a:p>
            <a:pPr rtl="0">
              <a:buNone/>
            </a:pPr>
            <a:r>
              <a:rPr lang="en-IN" sz="2400" dirty="0">
                <a:latin typeface="Courier New" panose="02070309020205020404" pitchFamily="49" charset="0"/>
              </a:rPr>
              <a:t>ana</a:t>
            </a:r>
          </a:p>
          <a:p>
            <a:pPr>
              <a:buNone/>
            </a:pPr>
            <a:r>
              <a:rPr lang="en-IN" sz="2400" dirty="0"/>
              <a:t>Length = 3</a:t>
            </a:r>
          </a:p>
        </p:txBody>
      </p:sp>
      <p:sp>
        <p:nvSpPr>
          <p:cNvPr id="8" name="TextBox 7">
            <a:extLst>
              <a:ext uri="{FF2B5EF4-FFF2-40B4-BE49-F238E27FC236}">
                <a16:creationId xmlns:a16="http://schemas.microsoft.com/office/drawing/2014/main" id="{BD397AC9-CBD4-6716-0634-D970F68BA571}"/>
              </a:ext>
            </a:extLst>
          </p:cNvPr>
          <p:cNvSpPr txBox="1"/>
          <p:nvPr/>
        </p:nvSpPr>
        <p:spPr>
          <a:xfrm>
            <a:off x="8426354" y="575822"/>
            <a:ext cx="3660807" cy="5693866"/>
          </a:xfrm>
          <a:prstGeom prst="rect">
            <a:avLst/>
          </a:prstGeom>
          <a:noFill/>
          <a:ln>
            <a:solidFill>
              <a:schemeClr val="accent1"/>
            </a:solidFill>
          </a:ln>
        </p:spPr>
        <p:txBody>
          <a:bodyPr wrap="square">
            <a:spAutoFit/>
          </a:bodyPr>
          <a:lstStyle/>
          <a:p>
            <a:pPr>
              <a:buNone/>
            </a:pPr>
            <a:r>
              <a:rPr lang="en-IN" sz="2800" b="1" dirty="0"/>
              <a:t>Compare "</a:t>
            </a:r>
            <a:r>
              <a:rPr lang="en-IN" sz="2800" b="1" dirty="0" err="1"/>
              <a:t>anana</a:t>
            </a:r>
            <a:r>
              <a:rPr lang="en-IN" sz="2800" b="1" dirty="0"/>
              <a:t>" and "banana"</a:t>
            </a:r>
          </a:p>
          <a:p>
            <a:pPr>
              <a:buNone/>
            </a:pPr>
            <a:r>
              <a:rPr lang="en-IN" sz="2800" dirty="0"/>
              <a:t>No common prefix.</a:t>
            </a:r>
          </a:p>
          <a:p>
            <a:pPr>
              <a:buNone/>
            </a:pPr>
            <a:r>
              <a:rPr lang="en-IN" sz="2800" dirty="0"/>
              <a:t>Length = 0</a:t>
            </a:r>
          </a:p>
          <a:p>
            <a:pPr>
              <a:buNone/>
            </a:pPr>
            <a:r>
              <a:rPr lang="en-IN" sz="2800" b="1" dirty="0"/>
              <a:t>Compare "banana" and "</a:t>
            </a:r>
            <a:r>
              <a:rPr lang="en-IN" sz="2800" b="1" dirty="0" err="1"/>
              <a:t>na</a:t>
            </a:r>
            <a:r>
              <a:rPr lang="en-IN" sz="2800" b="1" dirty="0"/>
              <a:t>"</a:t>
            </a:r>
          </a:p>
          <a:p>
            <a:pPr>
              <a:buNone/>
            </a:pPr>
            <a:r>
              <a:rPr lang="en-IN" sz="2800" dirty="0"/>
              <a:t>No common prefix.</a:t>
            </a:r>
          </a:p>
          <a:p>
            <a:pPr>
              <a:buNone/>
            </a:pPr>
            <a:r>
              <a:rPr lang="en-IN" sz="2800" dirty="0"/>
              <a:t>Length = 0</a:t>
            </a:r>
          </a:p>
          <a:p>
            <a:pPr>
              <a:buNone/>
            </a:pPr>
            <a:r>
              <a:rPr lang="en-IN" sz="2800" b="1" dirty="0"/>
              <a:t>Compare "</a:t>
            </a:r>
            <a:r>
              <a:rPr lang="en-IN" sz="2800" b="1" dirty="0" err="1"/>
              <a:t>na</a:t>
            </a:r>
            <a:r>
              <a:rPr lang="en-IN" sz="2800" b="1" dirty="0"/>
              <a:t>" and "nana"</a:t>
            </a:r>
          </a:p>
          <a:p>
            <a:pPr>
              <a:buNone/>
            </a:pPr>
            <a:r>
              <a:rPr lang="en-IN" sz="2800" dirty="0"/>
              <a:t>Common prefix:</a:t>
            </a:r>
          </a:p>
          <a:p>
            <a:pPr rtl="0">
              <a:buNone/>
            </a:pPr>
            <a:r>
              <a:rPr lang="en-IN" sz="2800" dirty="0" err="1">
                <a:latin typeface="Courier New" panose="02070309020205020404" pitchFamily="49" charset="0"/>
              </a:rPr>
              <a:t>na</a:t>
            </a:r>
            <a:endParaRPr lang="en-IN" sz="2800" dirty="0">
              <a:latin typeface="Courier New" panose="02070309020205020404" pitchFamily="49" charset="0"/>
            </a:endParaRPr>
          </a:p>
          <a:p>
            <a:pPr>
              <a:buNone/>
            </a:pPr>
            <a:r>
              <a:rPr lang="en-IN" sz="2800" dirty="0"/>
              <a:t>Length = 2</a:t>
            </a:r>
          </a:p>
        </p:txBody>
      </p:sp>
      <p:sp>
        <p:nvSpPr>
          <p:cNvPr id="18" name="Arrow: Curved Down 17">
            <a:extLst>
              <a:ext uri="{FF2B5EF4-FFF2-40B4-BE49-F238E27FC236}">
                <a16:creationId xmlns:a16="http://schemas.microsoft.com/office/drawing/2014/main" id="{C1CBCEC2-E29C-9844-D11A-2C130D7C34E0}"/>
              </a:ext>
            </a:extLst>
          </p:cNvPr>
          <p:cNvSpPr/>
          <p:nvPr/>
        </p:nvSpPr>
        <p:spPr>
          <a:xfrm>
            <a:off x="3396853" y="14856"/>
            <a:ext cx="995363" cy="478856"/>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9" name="Arrow: Curved Down 18">
            <a:extLst>
              <a:ext uri="{FF2B5EF4-FFF2-40B4-BE49-F238E27FC236}">
                <a16:creationId xmlns:a16="http://schemas.microsoft.com/office/drawing/2014/main" id="{EB0C4356-353D-F4A3-0C03-23225D33002E}"/>
              </a:ext>
            </a:extLst>
          </p:cNvPr>
          <p:cNvSpPr/>
          <p:nvPr/>
        </p:nvSpPr>
        <p:spPr>
          <a:xfrm>
            <a:off x="7029450" y="168063"/>
            <a:ext cx="1400175" cy="571500"/>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52449540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024AF-4CC1-0052-E9CA-236879DBD0D7}"/>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7820BFE5-5733-C327-A5BF-6F3A66E45178}"/>
              </a:ext>
            </a:extLst>
          </p:cNvPr>
          <p:cNvSpPr txBox="1"/>
          <p:nvPr/>
        </p:nvSpPr>
        <p:spPr>
          <a:xfrm>
            <a:off x="1700785" y="177075"/>
            <a:ext cx="10238738" cy="830997"/>
          </a:xfrm>
          <a:prstGeom prst="rect">
            <a:avLst/>
          </a:prstGeom>
          <a:solidFill>
            <a:schemeClr val="accent6">
              <a:lumMod val="20000"/>
              <a:lumOff val="80000"/>
            </a:schemeClr>
          </a:solidFill>
          <a:ln>
            <a:solidFill>
              <a:schemeClr val="accent1"/>
            </a:solidFill>
          </a:ln>
        </p:spPr>
        <p:txBody>
          <a:bodyPr wrap="square">
            <a:spAutoFit/>
          </a:bodyPr>
          <a:lstStyle/>
          <a:p>
            <a:pPr>
              <a:buNone/>
            </a:pPr>
            <a:r>
              <a:rPr lang="en-IN" sz="2400" b="1" dirty="0"/>
              <a:t>LCP Array</a:t>
            </a:r>
          </a:p>
          <a:p>
            <a:pPr>
              <a:buNone/>
            </a:pPr>
            <a:r>
              <a:rPr lang="en-IN" sz="2400" dirty="0"/>
              <a:t>The first suffix has no previous suffix, so its LCP is defined as 0.</a:t>
            </a:r>
          </a:p>
        </p:txBody>
      </p:sp>
      <p:graphicFrame>
        <p:nvGraphicFramePr>
          <p:cNvPr id="13" name="Table 12">
            <a:extLst>
              <a:ext uri="{FF2B5EF4-FFF2-40B4-BE49-F238E27FC236}">
                <a16:creationId xmlns:a16="http://schemas.microsoft.com/office/drawing/2014/main" id="{A250BD81-04DC-8AD8-10D9-709818F66839}"/>
              </a:ext>
            </a:extLst>
          </p:cNvPr>
          <p:cNvGraphicFramePr>
            <a:graphicFrameLocks noGrp="1"/>
          </p:cNvGraphicFramePr>
          <p:nvPr>
            <p:extLst>
              <p:ext uri="{D42A27DB-BD31-4B8C-83A1-F6EECF244321}">
                <p14:modId xmlns:p14="http://schemas.microsoft.com/office/powerpoint/2010/main" val="2459107240"/>
              </p:ext>
            </p:extLst>
          </p:nvPr>
        </p:nvGraphicFramePr>
        <p:xfrm>
          <a:off x="495937" y="2021746"/>
          <a:ext cx="11200123" cy="3627120"/>
        </p:xfrm>
        <a:graphic>
          <a:graphicData uri="http://schemas.openxmlformats.org/drawingml/2006/table">
            <a:tbl>
              <a:tblPr>
                <a:tableStyleId>{5940675A-B579-460E-94D1-54222C63F5DA}</a:tableStyleId>
              </a:tblPr>
              <a:tblGrid>
                <a:gridCol w="2791753">
                  <a:extLst>
                    <a:ext uri="{9D8B030D-6E8A-4147-A177-3AD203B41FA5}">
                      <a16:colId xmlns:a16="http://schemas.microsoft.com/office/drawing/2014/main" val="1566332807"/>
                    </a:ext>
                  </a:extLst>
                </a:gridCol>
                <a:gridCol w="4083975">
                  <a:extLst>
                    <a:ext uri="{9D8B030D-6E8A-4147-A177-3AD203B41FA5}">
                      <a16:colId xmlns:a16="http://schemas.microsoft.com/office/drawing/2014/main" val="3831481874"/>
                    </a:ext>
                  </a:extLst>
                </a:gridCol>
                <a:gridCol w="4324395">
                  <a:extLst>
                    <a:ext uri="{9D8B030D-6E8A-4147-A177-3AD203B41FA5}">
                      <a16:colId xmlns:a16="http://schemas.microsoft.com/office/drawing/2014/main" val="2144848176"/>
                    </a:ext>
                  </a:extLst>
                </a:gridCol>
              </a:tblGrid>
              <a:tr h="501482">
                <a:tc>
                  <a:txBody>
                    <a:bodyPr/>
                    <a:lstStyle/>
                    <a:p>
                      <a:pPr algn="ctr">
                        <a:buNone/>
                      </a:pPr>
                      <a:r>
                        <a:rPr lang="en-IN" sz="2800" b="1" dirty="0"/>
                        <a:t>Rank</a:t>
                      </a:r>
                    </a:p>
                  </a:txBody>
                  <a:tcPr anchor="ctr"/>
                </a:tc>
                <a:tc>
                  <a:txBody>
                    <a:bodyPr/>
                    <a:lstStyle/>
                    <a:p>
                      <a:pPr algn="l">
                        <a:buNone/>
                      </a:pPr>
                      <a:r>
                        <a:rPr lang="en-IN" sz="2800" b="1" dirty="0"/>
                        <a:t>Suffix</a:t>
                      </a:r>
                    </a:p>
                  </a:txBody>
                  <a:tcPr anchor="ctr"/>
                </a:tc>
                <a:tc>
                  <a:txBody>
                    <a:bodyPr/>
                    <a:lstStyle/>
                    <a:p>
                      <a:pPr algn="ctr">
                        <a:buNone/>
                      </a:pPr>
                      <a:r>
                        <a:rPr lang="en-IN" sz="2800" b="1" dirty="0"/>
                        <a:t>LCP</a:t>
                      </a:r>
                    </a:p>
                  </a:txBody>
                  <a:tcPr anchor="ctr"/>
                </a:tc>
                <a:extLst>
                  <a:ext uri="{0D108BD9-81ED-4DB2-BD59-A6C34878D82A}">
                    <a16:rowId xmlns:a16="http://schemas.microsoft.com/office/drawing/2014/main" val="946089121"/>
                  </a:ext>
                </a:extLst>
              </a:tr>
              <a:tr h="501482">
                <a:tc>
                  <a:txBody>
                    <a:bodyPr/>
                    <a:lstStyle/>
                    <a:p>
                      <a:pPr algn="ctr">
                        <a:buNone/>
                      </a:pPr>
                      <a:r>
                        <a:rPr lang="en-IN" sz="2800" dirty="0"/>
                        <a:t>0</a:t>
                      </a:r>
                    </a:p>
                  </a:txBody>
                  <a:tcPr anchor="ctr"/>
                </a:tc>
                <a:tc>
                  <a:txBody>
                    <a:bodyPr/>
                    <a:lstStyle/>
                    <a:p>
                      <a:pPr algn="l">
                        <a:buNone/>
                      </a:pPr>
                      <a:r>
                        <a:rPr lang="en-IN" sz="2800" dirty="0"/>
                        <a:t>a</a:t>
                      </a:r>
                    </a:p>
                  </a:txBody>
                  <a:tcPr anchor="ctr"/>
                </a:tc>
                <a:tc>
                  <a:txBody>
                    <a:bodyPr/>
                    <a:lstStyle/>
                    <a:p>
                      <a:pPr algn="ctr">
                        <a:buNone/>
                      </a:pPr>
                      <a:r>
                        <a:rPr lang="en-IN" sz="2800" dirty="0"/>
                        <a:t>0</a:t>
                      </a:r>
                    </a:p>
                  </a:txBody>
                  <a:tcPr anchor="ctr"/>
                </a:tc>
                <a:extLst>
                  <a:ext uri="{0D108BD9-81ED-4DB2-BD59-A6C34878D82A}">
                    <a16:rowId xmlns:a16="http://schemas.microsoft.com/office/drawing/2014/main" val="3160861500"/>
                  </a:ext>
                </a:extLst>
              </a:tr>
              <a:tr h="501482">
                <a:tc>
                  <a:txBody>
                    <a:bodyPr/>
                    <a:lstStyle/>
                    <a:p>
                      <a:pPr algn="ctr">
                        <a:buNone/>
                      </a:pPr>
                      <a:r>
                        <a:rPr lang="en-IN" sz="2800"/>
                        <a:t>1</a:t>
                      </a:r>
                    </a:p>
                  </a:txBody>
                  <a:tcPr anchor="ctr"/>
                </a:tc>
                <a:tc>
                  <a:txBody>
                    <a:bodyPr/>
                    <a:lstStyle/>
                    <a:p>
                      <a:pPr algn="l">
                        <a:buNone/>
                      </a:pPr>
                      <a:r>
                        <a:rPr lang="en-IN" sz="2800" dirty="0"/>
                        <a:t>ana</a:t>
                      </a:r>
                    </a:p>
                  </a:txBody>
                  <a:tcPr anchor="ctr"/>
                </a:tc>
                <a:tc>
                  <a:txBody>
                    <a:bodyPr/>
                    <a:lstStyle/>
                    <a:p>
                      <a:pPr algn="ctr">
                        <a:buNone/>
                      </a:pPr>
                      <a:r>
                        <a:rPr lang="en-IN" sz="2800" dirty="0"/>
                        <a:t>1</a:t>
                      </a:r>
                    </a:p>
                  </a:txBody>
                  <a:tcPr anchor="ctr"/>
                </a:tc>
                <a:extLst>
                  <a:ext uri="{0D108BD9-81ED-4DB2-BD59-A6C34878D82A}">
                    <a16:rowId xmlns:a16="http://schemas.microsoft.com/office/drawing/2014/main" val="3075340512"/>
                  </a:ext>
                </a:extLst>
              </a:tr>
              <a:tr h="501482">
                <a:tc>
                  <a:txBody>
                    <a:bodyPr/>
                    <a:lstStyle/>
                    <a:p>
                      <a:pPr algn="ctr">
                        <a:buNone/>
                      </a:pPr>
                      <a:r>
                        <a:rPr lang="en-IN" sz="2800"/>
                        <a:t>2</a:t>
                      </a:r>
                    </a:p>
                  </a:txBody>
                  <a:tcPr anchor="ctr"/>
                </a:tc>
                <a:tc>
                  <a:txBody>
                    <a:bodyPr/>
                    <a:lstStyle/>
                    <a:p>
                      <a:pPr algn="l">
                        <a:buNone/>
                      </a:pPr>
                      <a:r>
                        <a:rPr lang="en-IN" sz="2800" dirty="0" err="1"/>
                        <a:t>anana</a:t>
                      </a:r>
                      <a:endParaRPr lang="en-IN" sz="2800" dirty="0"/>
                    </a:p>
                  </a:txBody>
                  <a:tcPr anchor="ctr"/>
                </a:tc>
                <a:tc>
                  <a:txBody>
                    <a:bodyPr/>
                    <a:lstStyle/>
                    <a:p>
                      <a:pPr algn="ctr">
                        <a:buNone/>
                      </a:pPr>
                      <a:r>
                        <a:rPr lang="en-IN" sz="2800" dirty="0"/>
                        <a:t>3</a:t>
                      </a:r>
                    </a:p>
                  </a:txBody>
                  <a:tcPr anchor="ctr"/>
                </a:tc>
                <a:extLst>
                  <a:ext uri="{0D108BD9-81ED-4DB2-BD59-A6C34878D82A}">
                    <a16:rowId xmlns:a16="http://schemas.microsoft.com/office/drawing/2014/main" val="276443219"/>
                  </a:ext>
                </a:extLst>
              </a:tr>
              <a:tr h="501482">
                <a:tc>
                  <a:txBody>
                    <a:bodyPr/>
                    <a:lstStyle/>
                    <a:p>
                      <a:pPr algn="ctr">
                        <a:buNone/>
                      </a:pPr>
                      <a:r>
                        <a:rPr lang="en-IN" sz="2800"/>
                        <a:t>3</a:t>
                      </a:r>
                    </a:p>
                  </a:txBody>
                  <a:tcPr anchor="ctr"/>
                </a:tc>
                <a:tc>
                  <a:txBody>
                    <a:bodyPr/>
                    <a:lstStyle/>
                    <a:p>
                      <a:pPr algn="l">
                        <a:buNone/>
                      </a:pPr>
                      <a:r>
                        <a:rPr lang="en-IN" sz="2800" dirty="0"/>
                        <a:t>banana</a:t>
                      </a:r>
                    </a:p>
                  </a:txBody>
                  <a:tcPr anchor="ctr"/>
                </a:tc>
                <a:tc>
                  <a:txBody>
                    <a:bodyPr/>
                    <a:lstStyle/>
                    <a:p>
                      <a:pPr algn="ctr">
                        <a:buNone/>
                      </a:pPr>
                      <a:r>
                        <a:rPr lang="en-IN" sz="2800" dirty="0"/>
                        <a:t>0</a:t>
                      </a:r>
                    </a:p>
                  </a:txBody>
                  <a:tcPr anchor="ctr"/>
                </a:tc>
                <a:extLst>
                  <a:ext uri="{0D108BD9-81ED-4DB2-BD59-A6C34878D82A}">
                    <a16:rowId xmlns:a16="http://schemas.microsoft.com/office/drawing/2014/main" val="1100117950"/>
                  </a:ext>
                </a:extLst>
              </a:tr>
              <a:tr h="501482">
                <a:tc>
                  <a:txBody>
                    <a:bodyPr/>
                    <a:lstStyle/>
                    <a:p>
                      <a:pPr algn="ctr">
                        <a:buNone/>
                      </a:pPr>
                      <a:r>
                        <a:rPr lang="en-IN" sz="2800"/>
                        <a:t>4</a:t>
                      </a:r>
                    </a:p>
                  </a:txBody>
                  <a:tcPr anchor="ctr"/>
                </a:tc>
                <a:tc>
                  <a:txBody>
                    <a:bodyPr/>
                    <a:lstStyle/>
                    <a:p>
                      <a:pPr algn="l">
                        <a:buNone/>
                      </a:pPr>
                      <a:r>
                        <a:rPr lang="en-IN" sz="2800" dirty="0" err="1"/>
                        <a:t>na</a:t>
                      </a:r>
                      <a:endParaRPr lang="en-IN" sz="2800" dirty="0"/>
                    </a:p>
                  </a:txBody>
                  <a:tcPr anchor="ctr"/>
                </a:tc>
                <a:tc>
                  <a:txBody>
                    <a:bodyPr/>
                    <a:lstStyle/>
                    <a:p>
                      <a:pPr algn="ctr">
                        <a:buNone/>
                      </a:pPr>
                      <a:r>
                        <a:rPr lang="en-IN" sz="2800" dirty="0"/>
                        <a:t>0</a:t>
                      </a:r>
                    </a:p>
                  </a:txBody>
                  <a:tcPr anchor="ctr"/>
                </a:tc>
                <a:extLst>
                  <a:ext uri="{0D108BD9-81ED-4DB2-BD59-A6C34878D82A}">
                    <a16:rowId xmlns:a16="http://schemas.microsoft.com/office/drawing/2014/main" val="627936548"/>
                  </a:ext>
                </a:extLst>
              </a:tr>
              <a:tr h="501482">
                <a:tc>
                  <a:txBody>
                    <a:bodyPr/>
                    <a:lstStyle/>
                    <a:p>
                      <a:pPr algn="ctr">
                        <a:buNone/>
                      </a:pPr>
                      <a:r>
                        <a:rPr lang="en-IN" sz="2800"/>
                        <a:t>5</a:t>
                      </a:r>
                    </a:p>
                  </a:txBody>
                  <a:tcPr anchor="ctr"/>
                </a:tc>
                <a:tc>
                  <a:txBody>
                    <a:bodyPr/>
                    <a:lstStyle/>
                    <a:p>
                      <a:pPr algn="l">
                        <a:buNone/>
                      </a:pPr>
                      <a:r>
                        <a:rPr lang="en-IN" sz="2800" dirty="0"/>
                        <a:t>nana</a:t>
                      </a:r>
                    </a:p>
                  </a:txBody>
                  <a:tcPr anchor="ctr"/>
                </a:tc>
                <a:tc>
                  <a:txBody>
                    <a:bodyPr/>
                    <a:lstStyle/>
                    <a:p>
                      <a:pPr algn="ctr">
                        <a:buNone/>
                      </a:pPr>
                      <a:r>
                        <a:rPr lang="en-IN" sz="2800" dirty="0"/>
                        <a:t>2</a:t>
                      </a:r>
                    </a:p>
                  </a:txBody>
                  <a:tcPr anchor="ctr"/>
                </a:tc>
                <a:extLst>
                  <a:ext uri="{0D108BD9-81ED-4DB2-BD59-A6C34878D82A}">
                    <a16:rowId xmlns:a16="http://schemas.microsoft.com/office/drawing/2014/main" val="2819289496"/>
                  </a:ext>
                </a:extLst>
              </a:tr>
            </a:tbl>
          </a:graphicData>
        </a:graphic>
      </p:graphicFrame>
      <p:sp>
        <p:nvSpPr>
          <p:cNvPr id="15" name="TextBox 14">
            <a:extLst>
              <a:ext uri="{FF2B5EF4-FFF2-40B4-BE49-F238E27FC236}">
                <a16:creationId xmlns:a16="http://schemas.microsoft.com/office/drawing/2014/main" id="{2E48DDD1-442E-7FDF-C9AD-B0A1AD7BCFDC}"/>
              </a:ext>
            </a:extLst>
          </p:cNvPr>
          <p:cNvSpPr txBox="1"/>
          <p:nvPr/>
        </p:nvSpPr>
        <p:spPr>
          <a:xfrm>
            <a:off x="495938" y="5698728"/>
            <a:ext cx="11200123" cy="830997"/>
          </a:xfrm>
          <a:prstGeom prst="rect">
            <a:avLst/>
          </a:prstGeom>
          <a:noFill/>
          <a:ln>
            <a:solidFill>
              <a:schemeClr val="accent1"/>
            </a:solidFill>
          </a:ln>
        </p:spPr>
        <p:txBody>
          <a:bodyPr wrap="square">
            <a:spAutoFit/>
          </a:bodyPr>
          <a:lstStyle/>
          <a:p>
            <a:pPr>
              <a:buNone/>
            </a:pPr>
            <a:r>
              <a:rPr lang="en-IN" sz="2400" b="1" dirty="0"/>
              <a:t>Therefore,</a:t>
            </a:r>
          </a:p>
          <a:p>
            <a:pPr rtl="0">
              <a:buNone/>
            </a:pPr>
            <a:r>
              <a:rPr lang="en-IN" sz="2400" b="1" dirty="0">
                <a:latin typeface="Courier New" panose="02070309020205020404" pitchFamily="49" charset="0"/>
              </a:rPr>
              <a:t>LCP = [0,1,3,0,0,2]</a:t>
            </a:r>
          </a:p>
        </p:txBody>
      </p:sp>
      <p:sp>
        <p:nvSpPr>
          <p:cNvPr id="17" name="TextBox 16">
            <a:extLst>
              <a:ext uri="{FF2B5EF4-FFF2-40B4-BE49-F238E27FC236}">
                <a16:creationId xmlns:a16="http://schemas.microsoft.com/office/drawing/2014/main" id="{6D4FCC7E-9569-6E15-A9B5-93CB1E85C2DF}"/>
              </a:ext>
            </a:extLst>
          </p:cNvPr>
          <p:cNvSpPr txBox="1"/>
          <p:nvPr/>
        </p:nvSpPr>
        <p:spPr>
          <a:xfrm>
            <a:off x="439144" y="1227422"/>
            <a:ext cx="11256917" cy="707886"/>
          </a:xfrm>
          <a:prstGeom prst="rect">
            <a:avLst/>
          </a:prstGeom>
          <a:noFill/>
        </p:spPr>
        <p:txBody>
          <a:bodyPr wrap="square">
            <a:spAutoFit/>
          </a:bodyPr>
          <a:lstStyle/>
          <a:p>
            <a:r>
              <a:rPr lang="en-IN" sz="2000" b="1" i="1" dirty="0">
                <a:latin typeface="Arial" panose="020B0604020202020204" pitchFamily="34" charset="0"/>
                <a:cs typeface="Arial" panose="020B0604020202020204" pitchFamily="34" charset="0"/>
              </a:rPr>
              <a:t>Each LCP value tells how many starting characters are identical between neighbouring suffixes.</a:t>
            </a:r>
          </a:p>
        </p:txBody>
      </p:sp>
    </p:spTree>
    <p:extLst>
      <p:ext uri="{BB962C8B-B14F-4D97-AF65-F5344CB8AC3E}">
        <p14:creationId xmlns:p14="http://schemas.microsoft.com/office/powerpoint/2010/main" val="317343164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21BB-6323-F27E-FA59-A96C0AE45ABD}"/>
            </a:ext>
          </a:extLst>
        </p:cNvPr>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B7D750D1-2CC1-A51A-3B55-8A22ACBD1CE0}"/>
              </a:ext>
            </a:extLst>
          </p:cNvPr>
          <p:cNvGraphicFramePr/>
          <p:nvPr>
            <p:extLst>
              <p:ext uri="{D42A27DB-BD31-4B8C-83A1-F6EECF244321}">
                <p14:modId xmlns:p14="http://schemas.microsoft.com/office/powerpoint/2010/main" val="714775493"/>
              </p:ext>
            </p:extLst>
          </p:nvPr>
        </p:nvGraphicFramePr>
        <p:xfrm>
          <a:off x="644840" y="850392"/>
          <a:ext cx="10757727" cy="58789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8098628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B71A2-7936-5855-2D00-410498519B29}"/>
            </a:ext>
          </a:extLst>
        </p:cNvPr>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736B71F5-C279-B233-01A3-617757C42C08}"/>
              </a:ext>
            </a:extLst>
          </p:cNvPr>
          <p:cNvGraphicFramePr/>
          <p:nvPr>
            <p:extLst>
              <p:ext uri="{D42A27DB-BD31-4B8C-83A1-F6EECF244321}">
                <p14:modId xmlns:p14="http://schemas.microsoft.com/office/powerpoint/2010/main" val="4089701914"/>
              </p:ext>
            </p:extLst>
          </p:nvPr>
        </p:nvGraphicFramePr>
        <p:xfrm>
          <a:off x="146050" y="529167"/>
          <a:ext cx="3594226" cy="31946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FC6FC398-5872-4039-2E96-7198D06738CC}"/>
              </a:ext>
            </a:extLst>
          </p:cNvPr>
          <p:cNvGraphicFramePr/>
          <p:nvPr>
            <p:extLst>
              <p:ext uri="{D42A27DB-BD31-4B8C-83A1-F6EECF244321}">
                <p14:modId xmlns:p14="http://schemas.microsoft.com/office/powerpoint/2010/main" val="2286305211"/>
              </p:ext>
            </p:extLst>
          </p:nvPr>
        </p:nvGraphicFramePr>
        <p:xfrm>
          <a:off x="3854513" y="529168"/>
          <a:ext cx="2912047" cy="319464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6" name="Table 5">
            <a:extLst>
              <a:ext uri="{FF2B5EF4-FFF2-40B4-BE49-F238E27FC236}">
                <a16:creationId xmlns:a16="http://schemas.microsoft.com/office/drawing/2014/main" id="{8B84A8B7-DD5A-2894-9273-037E8A541DE3}"/>
              </a:ext>
            </a:extLst>
          </p:cNvPr>
          <p:cNvGraphicFramePr>
            <a:graphicFrameLocks noGrp="1"/>
          </p:cNvGraphicFramePr>
          <p:nvPr>
            <p:extLst>
              <p:ext uri="{D42A27DB-BD31-4B8C-83A1-F6EECF244321}">
                <p14:modId xmlns:p14="http://schemas.microsoft.com/office/powerpoint/2010/main" val="2744639154"/>
              </p:ext>
            </p:extLst>
          </p:nvPr>
        </p:nvGraphicFramePr>
        <p:xfrm>
          <a:off x="6998209" y="4250942"/>
          <a:ext cx="3079241" cy="2133600"/>
        </p:xfrm>
        <a:graphic>
          <a:graphicData uri="http://schemas.openxmlformats.org/drawingml/2006/table">
            <a:tbl>
              <a:tblPr>
                <a:tableStyleId>{5940675A-B579-460E-94D1-54222C63F5DA}</a:tableStyleId>
              </a:tblPr>
              <a:tblGrid>
                <a:gridCol w="1298066">
                  <a:extLst>
                    <a:ext uri="{9D8B030D-6E8A-4147-A177-3AD203B41FA5}">
                      <a16:colId xmlns:a16="http://schemas.microsoft.com/office/drawing/2014/main" val="1592245732"/>
                    </a:ext>
                  </a:extLst>
                </a:gridCol>
                <a:gridCol w="1781175">
                  <a:extLst>
                    <a:ext uri="{9D8B030D-6E8A-4147-A177-3AD203B41FA5}">
                      <a16:colId xmlns:a16="http://schemas.microsoft.com/office/drawing/2014/main" val="1986341650"/>
                    </a:ext>
                  </a:extLst>
                </a:gridCol>
              </a:tblGrid>
              <a:tr h="234345">
                <a:tc>
                  <a:txBody>
                    <a:bodyPr/>
                    <a:lstStyle/>
                    <a:p>
                      <a:pPr algn="ctr">
                        <a:buNone/>
                      </a:pPr>
                      <a:r>
                        <a:rPr lang="en-US" sz="1400" b="1" dirty="0">
                          <a:solidFill>
                            <a:srgbClr val="C00000"/>
                          </a:solidFill>
                          <a:latin typeface="Times New Roman" panose="02020603050405020304" pitchFamily="18" charset="0"/>
                          <a:cs typeface="Times New Roman" panose="02020603050405020304" pitchFamily="18" charset="0"/>
                        </a:rPr>
                        <a:t>S</a:t>
                      </a:r>
                      <a:r>
                        <a:rPr lang="en-IN" sz="1400" b="1" dirty="0">
                          <a:solidFill>
                            <a:srgbClr val="C00000"/>
                          </a:solidFill>
                          <a:latin typeface="Times New Roman" panose="02020603050405020304" pitchFamily="18" charset="0"/>
                          <a:cs typeface="Times New Roman" panose="02020603050405020304" pitchFamily="18" charset="0"/>
                        </a:rPr>
                        <a:t>A</a:t>
                      </a:r>
                    </a:p>
                  </a:txBody>
                  <a:tcPr anchor="ctr"/>
                </a:tc>
                <a:tc>
                  <a:txBody>
                    <a:bodyPr/>
                    <a:lstStyle/>
                    <a:p>
                      <a:pPr>
                        <a:buNone/>
                      </a:pPr>
                      <a:r>
                        <a:rPr lang="en-IN" sz="1400" b="1" dirty="0">
                          <a:solidFill>
                            <a:srgbClr val="C00000"/>
                          </a:solidFill>
                          <a:latin typeface="Times New Roman" panose="02020603050405020304" pitchFamily="18" charset="0"/>
                          <a:cs typeface="Times New Roman" panose="02020603050405020304" pitchFamily="18" charset="0"/>
                        </a:rPr>
                        <a:t>Rank (index)</a:t>
                      </a:r>
                    </a:p>
                  </a:txBody>
                  <a:tcPr anchor="ctr"/>
                </a:tc>
                <a:extLst>
                  <a:ext uri="{0D108BD9-81ED-4DB2-BD59-A6C34878D82A}">
                    <a16:rowId xmlns:a16="http://schemas.microsoft.com/office/drawing/2014/main" val="1119673957"/>
                  </a:ext>
                </a:extLst>
              </a:tr>
              <a:tr h="234345">
                <a:tc>
                  <a:txBody>
                    <a:bodyPr/>
                    <a:lstStyle/>
                    <a:p>
                      <a:pPr algn="ctr">
                        <a:buNone/>
                      </a:pPr>
                      <a:r>
                        <a:rPr lang="en-IN" sz="1400" b="1" dirty="0">
                          <a:latin typeface="Times New Roman" panose="02020603050405020304" pitchFamily="18" charset="0"/>
                          <a:cs typeface="Times New Roman" panose="02020603050405020304" pitchFamily="18" charset="0"/>
                        </a:rPr>
                        <a:t>0</a:t>
                      </a:r>
                    </a:p>
                  </a:txBody>
                  <a:tcPr anchor="ctr"/>
                </a:tc>
                <a:tc>
                  <a:txBody>
                    <a:bodyPr/>
                    <a:lstStyle/>
                    <a:p>
                      <a:pPr algn="ctr">
                        <a:buNone/>
                      </a:pPr>
                      <a:r>
                        <a:rPr lang="en-IN" sz="1400" b="1">
                          <a:latin typeface="Times New Roman" panose="02020603050405020304" pitchFamily="18" charset="0"/>
                          <a:cs typeface="Times New Roman" panose="02020603050405020304" pitchFamily="18" charset="0"/>
                        </a:rPr>
                        <a:t>3</a:t>
                      </a:r>
                    </a:p>
                  </a:txBody>
                  <a:tcPr anchor="ctr"/>
                </a:tc>
                <a:extLst>
                  <a:ext uri="{0D108BD9-81ED-4DB2-BD59-A6C34878D82A}">
                    <a16:rowId xmlns:a16="http://schemas.microsoft.com/office/drawing/2014/main" val="2422131555"/>
                  </a:ext>
                </a:extLst>
              </a:tr>
              <a:tr h="234345">
                <a:tc>
                  <a:txBody>
                    <a:bodyPr/>
                    <a:lstStyle/>
                    <a:p>
                      <a:pPr algn="ctr">
                        <a:buNone/>
                      </a:pPr>
                      <a:r>
                        <a:rPr lang="en-IN" sz="1400" b="1" dirty="0">
                          <a:latin typeface="Times New Roman" panose="02020603050405020304" pitchFamily="18" charset="0"/>
                          <a:cs typeface="Times New Roman" panose="02020603050405020304" pitchFamily="18" charset="0"/>
                        </a:rPr>
                        <a:t>1</a:t>
                      </a:r>
                    </a:p>
                  </a:txBody>
                  <a:tcPr anchor="ctr"/>
                </a:tc>
                <a:tc>
                  <a:txBody>
                    <a:bodyPr/>
                    <a:lstStyle/>
                    <a:p>
                      <a:pPr algn="ctr">
                        <a:buNone/>
                      </a:pPr>
                      <a:r>
                        <a:rPr lang="en-IN" sz="1400" b="1" dirty="0">
                          <a:latin typeface="Times New Roman" panose="02020603050405020304" pitchFamily="18" charset="0"/>
                          <a:cs typeface="Times New Roman" panose="02020603050405020304" pitchFamily="18" charset="0"/>
                        </a:rPr>
                        <a:t>2</a:t>
                      </a:r>
                    </a:p>
                  </a:txBody>
                  <a:tcPr anchor="ctr"/>
                </a:tc>
                <a:extLst>
                  <a:ext uri="{0D108BD9-81ED-4DB2-BD59-A6C34878D82A}">
                    <a16:rowId xmlns:a16="http://schemas.microsoft.com/office/drawing/2014/main" val="2461420801"/>
                  </a:ext>
                </a:extLst>
              </a:tr>
              <a:tr h="234345">
                <a:tc>
                  <a:txBody>
                    <a:bodyPr/>
                    <a:lstStyle/>
                    <a:p>
                      <a:pPr algn="ctr">
                        <a:buNone/>
                      </a:pPr>
                      <a:r>
                        <a:rPr lang="en-IN" sz="1400" b="1">
                          <a:latin typeface="Times New Roman" panose="02020603050405020304" pitchFamily="18" charset="0"/>
                          <a:cs typeface="Times New Roman" panose="02020603050405020304" pitchFamily="18" charset="0"/>
                        </a:rPr>
                        <a:t>2</a:t>
                      </a:r>
                    </a:p>
                  </a:txBody>
                  <a:tcPr anchor="ctr"/>
                </a:tc>
                <a:tc>
                  <a:txBody>
                    <a:bodyPr/>
                    <a:lstStyle/>
                    <a:p>
                      <a:pPr algn="ctr">
                        <a:buNone/>
                      </a:pPr>
                      <a:r>
                        <a:rPr lang="en-IN" sz="1400" b="1" dirty="0">
                          <a:latin typeface="Times New Roman" panose="02020603050405020304" pitchFamily="18" charset="0"/>
                          <a:cs typeface="Times New Roman" panose="02020603050405020304" pitchFamily="18" charset="0"/>
                        </a:rPr>
                        <a:t>5</a:t>
                      </a:r>
                    </a:p>
                  </a:txBody>
                  <a:tcPr anchor="ctr"/>
                </a:tc>
                <a:extLst>
                  <a:ext uri="{0D108BD9-81ED-4DB2-BD59-A6C34878D82A}">
                    <a16:rowId xmlns:a16="http://schemas.microsoft.com/office/drawing/2014/main" val="2324052267"/>
                  </a:ext>
                </a:extLst>
              </a:tr>
              <a:tr h="234345">
                <a:tc>
                  <a:txBody>
                    <a:bodyPr/>
                    <a:lstStyle/>
                    <a:p>
                      <a:pPr algn="ctr">
                        <a:buNone/>
                      </a:pPr>
                      <a:r>
                        <a:rPr lang="en-IN" sz="1400" b="1" dirty="0">
                          <a:latin typeface="Times New Roman" panose="02020603050405020304" pitchFamily="18" charset="0"/>
                          <a:cs typeface="Times New Roman" panose="02020603050405020304" pitchFamily="18" charset="0"/>
                        </a:rPr>
                        <a:t>3</a:t>
                      </a:r>
                    </a:p>
                  </a:txBody>
                  <a:tcPr anchor="ctr"/>
                </a:tc>
                <a:tc>
                  <a:txBody>
                    <a:bodyPr/>
                    <a:lstStyle/>
                    <a:p>
                      <a:pPr algn="ctr">
                        <a:buNone/>
                      </a:pPr>
                      <a:r>
                        <a:rPr lang="en-IN" sz="1400" b="1"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2376754982"/>
                  </a:ext>
                </a:extLst>
              </a:tr>
              <a:tr h="234345">
                <a:tc>
                  <a:txBody>
                    <a:bodyPr/>
                    <a:lstStyle/>
                    <a:p>
                      <a:pPr algn="ctr">
                        <a:buNone/>
                      </a:pPr>
                      <a:r>
                        <a:rPr lang="en-IN" sz="1400" b="1">
                          <a:latin typeface="Times New Roman" panose="02020603050405020304" pitchFamily="18" charset="0"/>
                          <a:cs typeface="Times New Roman" panose="02020603050405020304" pitchFamily="18" charset="0"/>
                        </a:rPr>
                        <a:t>4</a:t>
                      </a:r>
                    </a:p>
                  </a:txBody>
                  <a:tcPr anchor="ctr"/>
                </a:tc>
                <a:tc>
                  <a:txBody>
                    <a:bodyPr/>
                    <a:lstStyle/>
                    <a:p>
                      <a:pPr algn="ctr">
                        <a:buNone/>
                      </a:pPr>
                      <a:r>
                        <a:rPr lang="en-IN" sz="1400" b="1" dirty="0">
                          <a:latin typeface="Times New Roman" panose="02020603050405020304" pitchFamily="18" charset="0"/>
                          <a:cs typeface="Times New Roman" panose="02020603050405020304" pitchFamily="18" charset="0"/>
                        </a:rPr>
                        <a:t>4</a:t>
                      </a:r>
                    </a:p>
                  </a:txBody>
                  <a:tcPr anchor="ctr"/>
                </a:tc>
                <a:extLst>
                  <a:ext uri="{0D108BD9-81ED-4DB2-BD59-A6C34878D82A}">
                    <a16:rowId xmlns:a16="http://schemas.microsoft.com/office/drawing/2014/main" val="4146825641"/>
                  </a:ext>
                </a:extLst>
              </a:tr>
              <a:tr h="234345">
                <a:tc>
                  <a:txBody>
                    <a:bodyPr/>
                    <a:lstStyle/>
                    <a:p>
                      <a:pPr algn="ctr">
                        <a:buNone/>
                      </a:pPr>
                      <a:r>
                        <a:rPr lang="en-IN" sz="1400" b="1" dirty="0">
                          <a:latin typeface="Times New Roman" panose="02020603050405020304" pitchFamily="18" charset="0"/>
                          <a:cs typeface="Times New Roman" panose="02020603050405020304" pitchFamily="18" charset="0"/>
                        </a:rPr>
                        <a:t>5</a:t>
                      </a:r>
                    </a:p>
                  </a:txBody>
                  <a:tcPr anchor="ctr"/>
                </a:tc>
                <a:tc>
                  <a:txBody>
                    <a:bodyPr/>
                    <a:lstStyle/>
                    <a:p>
                      <a:pPr algn="ctr">
                        <a:buNone/>
                      </a:pPr>
                      <a:r>
                        <a:rPr lang="en-IN" sz="1400" b="1" dirty="0">
                          <a:latin typeface="Times New Roman" panose="02020603050405020304" pitchFamily="18" charset="0"/>
                          <a:cs typeface="Times New Roman" panose="02020603050405020304" pitchFamily="18" charset="0"/>
                        </a:rPr>
                        <a:t>0</a:t>
                      </a:r>
                    </a:p>
                  </a:txBody>
                  <a:tcPr anchor="ctr"/>
                </a:tc>
                <a:extLst>
                  <a:ext uri="{0D108BD9-81ED-4DB2-BD59-A6C34878D82A}">
                    <a16:rowId xmlns:a16="http://schemas.microsoft.com/office/drawing/2014/main" val="2909853262"/>
                  </a:ext>
                </a:extLst>
              </a:tr>
            </a:tbl>
          </a:graphicData>
        </a:graphic>
      </p:graphicFrame>
      <p:graphicFrame>
        <p:nvGraphicFramePr>
          <p:cNvPr id="4" name="Diagram 3">
            <a:extLst>
              <a:ext uri="{FF2B5EF4-FFF2-40B4-BE49-F238E27FC236}">
                <a16:creationId xmlns:a16="http://schemas.microsoft.com/office/drawing/2014/main" id="{4D942EE7-0587-4E8F-667C-D39F41E04F7D}"/>
              </a:ext>
            </a:extLst>
          </p:cNvPr>
          <p:cNvGraphicFramePr/>
          <p:nvPr>
            <p:extLst>
              <p:ext uri="{D42A27DB-BD31-4B8C-83A1-F6EECF244321}">
                <p14:modId xmlns:p14="http://schemas.microsoft.com/office/powerpoint/2010/main" val="3910940514"/>
              </p:ext>
            </p:extLst>
          </p:nvPr>
        </p:nvGraphicFramePr>
        <p:xfrm>
          <a:off x="7112447" y="529168"/>
          <a:ext cx="4866193" cy="3128432"/>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8" name="TextBox 7">
            <a:extLst>
              <a:ext uri="{FF2B5EF4-FFF2-40B4-BE49-F238E27FC236}">
                <a16:creationId xmlns:a16="http://schemas.microsoft.com/office/drawing/2014/main" id="{A98F7464-E4A3-16BC-7201-D0CB1F1CB31E}"/>
              </a:ext>
            </a:extLst>
          </p:cNvPr>
          <p:cNvSpPr txBox="1"/>
          <p:nvPr/>
        </p:nvSpPr>
        <p:spPr>
          <a:xfrm>
            <a:off x="3337425" y="33635"/>
            <a:ext cx="6119812" cy="461665"/>
          </a:xfrm>
          <a:prstGeom prst="rect">
            <a:avLst/>
          </a:prstGeom>
          <a:solidFill>
            <a:schemeClr val="accent3">
              <a:lumMod val="20000"/>
              <a:lumOff val="80000"/>
            </a:schemeClr>
          </a:solidFill>
          <a:ln>
            <a:solidFill>
              <a:schemeClr val="accent1"/>
            </a:solidFill>
          </a:ln>
        </p:spPr>
        <p:txBody>
          <a:bodyPr wrap="square">
            <a:spAutoFit/>
          </a:bodyPr>
          <a:lstStyle/>
          <a:p>
            <a:pPr lvl="0" algn="ctr"/>
            <a:r>
              <a:rPr lang="en-IN" sz="2400" b="1" dirty="0"/>
              <a:t>Kasai Algorithm Steps</a:t>
            </a:r>
          </a:p>
        </p:txBody>
      </p:sp>
      <p:sp>
        <p:nvSpPr>
          <p:cNvPr id="9" name="Arrow: Right 8">
            <a:extLst>
              <a:ext uri="{FF2B5EF4-FFF2-40B4-BE49-F238E27FC236}">
                <a16:creationId xmlns:a16="http://schemas.microsoft.com/office/drawing/2014/main" id="{741D71B1-D642-721A-5D38-159C7F50AF30}"/>
              </a:ext>
            </a:extLst>
          </p:cNvPr>
          <p:cNvSpPr/>
          <p:nvPr/>
        </p:nvSpPr>
        <p:spPr>
          <a:xfrm>
            <a:off x="3571875" y="1457325"/>
            <a:ext cx="241300" cy="1428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Right 9">
            <a:extLst>
              <a:ext uri="{FF2B5EF4-FFF2-40B4-BE49-F238E27FC236}">
                <a16:creationId xmlns:a16="http://schemas.microsoft.com/office/drawing/2014/main" id="{320B5767-945D-EC5A-404C-E5A7BCD444EC}"/>
              </a:ext>
            </a:extLst>
          </p:cNvPr>
          <p:cNvSpPr/>
          <p:nvPr/>
        </p:nvSpPr>
        <p:spPr>
          <a:xfrm>
            <a:off x="7239000" y="1600200"/>
            <a:ext cx="155575" cy="1428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1" name="Table 10">
            <a:extLst>
              <a:ext uri="{FF2B5EF4-FFF2-40B4-BE49-F238E27FC236}">
                <a16:creationId xmlns:a16="http://schemas.microsoft.com/office/drawing/2014/main" id="{BB3D8B9F-63AA-E55E-338C-DA36876BDDD1}"/>
              </a:ext>
            </a:extLst>
          </p:cNvPr>
          <p:cNvGraphicFramePr>
            <a:graphicFrameLocks noGrp="1"/>
          </p:cNvGraphicFramePr>
          <p:nvPr>
            <p:extLst>
              <p:ext uri="{D42A27DB-BD31-4B8C-83A1-F6EECF244321}">
                <p14:modId xmlns:p14="http://schemas.microsoft.com/office/powerpoint/2010/main" val="2959765233"/>
              </p:ext>
            </p:extLst>
          </p:nvPr>
        </p:nvGraphicFramePr>
        <p:xfrm>
          <a:off x="193786" y="4219509"/>
          <a:ext cx="2005220" cy="2560320"/>
        </p:xfrm>
        <a:graphic>
          <a:graphicData uri="http://schemas.openxmlformats.org/drawingml/2006/table">
            <a:tbl>
              <a:tblPr>
                <a:tableStyleId>{5940675A-B579-460E-94D1-54222C63F5DA}</a:tableStyleId>
              </a:tblPr>
              <a:tblGrid>
                <a:gridCol w="882321">
                  <a:extLst>
                    <a:ext uri="{9D8B030D-6E8A-4147-A177-3AD203B41FA5}">
                      <a16:colId xmlns:a16="http://schemas.microsoft.com/office/drawing/2014/main" val="183366541"/>
                    </a:ext>
                  </a:extLst>
                </a:gridCol>
                <a:gridCol w="1122899">
                  <a:extLst>
                    <a:ext uri="{9D8B030D-6E8A-4147-A177-3AD203B41FA5}">
                      <a16:colId xmlns:a16="http://schemas.microsoft.com/office/drawing/2014/main" val="2703843319"/>
                    </a:ext>
                  </a:extLst>
                </a:gridCol>
              </a:tblGrid>
              <a:tr h="357612">
                <a:tc>
                  <a:txBody>
                    <a:bodyPr/>
                    <a:lstStyle/>
                    <a:p>
                      <a:pPr>
                        <a:buNone/>
                      </a:pPr>
                      <a:r>
                        <a:rPr lang="en-IN" sz="1800" b="1" dirty="0">
                          <a:solidFill>
                            <a:srgbClr val="C00000"/>
                          </a:solidFill>
                        </a:rPr>
                        <a:t>Index</a:t>
                      </a:r>
                    </a:p>
                  </a:txBody>
                  <a:tcPr anchor="ctr"/>
                </a:tc>
                <a:tc>
                  <a:txBody>
                    <a:bodyPr/>
                    <a:lstStyle/>
                    <a:p>
                      <a:pPr>
                        <a:buNone/>
                      </a:pPr>
                      <a:r>
                        <a:rPr lang="en-IN" sz="1800" b="1" dirty="0">
                          <a:solidFill>
                            <a:srgbClr val="C00000"/>
                          </a:solidFill>
                        </a:rPr>
                        <a:t>Suffix</a:t>
                      </a:r>
                    </a:p>
                  </a:txBody>
                  <a:tcPr anchor="ctr"/>
                </a:tc>
                <a:extLst>
                  <a:ext uri="{0D108BD9-81ED-4DB2-BD59-A6C34878D82A}">
                    <a16:rowId xmlns:a16="http://schemas.microsoft.com/office/drawing/2014/main" val="2843409344"/>
                  </a:ext>
                </a:extLst>
              </a:tr>
              <a:tr h="357612">
                <a:tc>
                  <a:txBody>
                    <a:bodyPr/>
                    <a:lstStyle/>
                    <a:p>
                      <a:pPr>
                        <a:buNone/>
                      </a:pPr>
                      <a:r>
                        <a:rPr lang="en-IN" sz="1800" b="1" dirty="0"/>
                        <a:t>0</a:t>
                      </a:r>
                    </a:p>
                  </a:txBody>
                  <a:tcPr anchor="ctr"/>
                </a:tc>
                <a:tc>
                  <a:txBody>
                    <a:bodyPr/>
                    <a:lstStyle/>
                    <a:p>
                      <a:pPr>
                        <a:buNone/>
                      </a:pPr>
                      <a:r>
                        <a:rPr lang="en-IN" sz="1800" b="1" dirty="0"/>
                        <a:t>banana</a:t>
                      </a:r>
                    </a:p>
                  </a:txBody>
                  <a:tcPr anchor="ctr"/>
                </a:tc>
                <a:extLst>
                  <a:ext uri="{0D108BD9-81ED-4DB2-BD59-A6C34878D82A}">
                    <a16:rowId xmlns:a16="http://schemas.microsoft.com/office/drawing/2014/main" val="978117086"/>
                  </a:ext>
                </a:extLst>
              </a:tr>
              <a:tr h="357612">
                <a:tc>
                  <a:txBody>
                    <a:bodyPr/>
                    <a:lstStyle/>
                    <a:p>
                      <a:pPr>
                        <a:buNone/>
                      </a:pPr>
                      <a:r>
                        <a:rPr lang="en-IN" sz="1800" b="1"/>
                        <a:t>1</a:t>
                      </a:r>
                    </a:p>
                  </a:txBody>
                  <a:tcPr anchor="ctr"/>
                </a:tc>
                <a:tc>
                  <a:txBody>
                    <a:bodyPr/>
                    <a:lstStyle/>
                    <a:p>
                      <a:pPr>
                        <a:buNone/>
                      </a:pPr>
                      <a:r>
                        <a:rPr lang="en-IN" sz="1800" b="1" dirty="0" err="1"/>
                        <a:t>anana</a:t>
                      </a:r>
                      <a:endParaRPr lang="en-IN" sz="1800" b="1" dirty="0"/>
                    </a:p>
                  </a:txBody>
                  <a:tcPr anchor="ctr"/>
                </a:tc>
                <a:extLst>
                  <a:ext uri="{0D108BD9-81ED-4DB2-BD59-A6C34878D82A}">
                    <a16:rowId xmlns:a16="http://schemas.microsoft.com/office/drawing/2014/main" val="2681743389"/>
                  </a:ext>
                </a:extLst>
              </a:tr>
              <a:tr h="357612">
                <a:tc>
                  <a:txBody>
                    <a:bodyPr/>
                    <a:lstStyle/>
                    <a:p>
                      <a:pPr>
                        <a:buNone/>
                      </a:pPr>
                      <a:r>
                        <a:rPr lang="en-IN" sz="1800" b="1" dirty="0"/>
                        <a:t>2</a:t>
                      </a:r>
                    </a:p>
                  </a:txBody>
                  <a:tcPr anchor="ctr"/>
                </a:tc>
                <a:tc>
                  <a:txBody>
                    <a:bodyPr/>
                    <a:lstStyle/>
                    <a:p>
                      <a:pPr>
                        <a:buNone/>
                      </a:pPr>
                      <a:r>
                        <a:rPr lang="en-IN" sz="1800" b="1" dirty="0"/>
                        <a:t>nana</a:t>
                      </a:r>
                    </a:p>
                  </a:txBody>
                  <a:tcPr anchor="ctr"/>
                </a:tc>
                <a:extLst>
                  <a:ext uri="{0D108BD9-81ED-4DB2-BD59-A6C34878D82A}">
                    <a16:rowId xmlns:a16="http://schemas.microsoft.com/office/drawing/2014/main" val="3526051325"/>
                  </a:ext>
                </a:extLst>
              </a:tr>
              <a:tr h="357612">
                <a:tc>
                  <a:txBody>
                    <a:bodyPr/>
                    <a:lstStyle/>
                    <a:p>
                      <a:pPr>
                        <a:buNone/>
                      </a:pPr>
                      <a:r>
                        <a:rPr lang="en-IN" sz="1800" b="1"/>
                        <a:t>3</a:t>
                      </a:r>
                    </a:p>
                  </a:txBody>
                  <a:tcPr anchor="ctr"/>
                </a:tc>
                <a:tc>
                  <a:txBody>
                    <a:bodyPr/>
                    <a:lstStyle/>
                    <a:p>
                      <a:pPr>
                        <a:buNone/>
                      </a:pPr>
                      <a:r>
                        <a:rPr lang="en-IN" sz="1800" b="1" dirty="0"/>
                        <a:t>ana</a:t>
                      </a:r>
                    </a:p>
                  </a:txBody>
                  <a:tcPr anchor="ctr"/>
                </a:tc>
                <a:extLst>
                  <a:ext uri="{0D108BD9-81ED-4DB2-BD59-A6C34878D82A}">
                    <a16:rowId xmlns:a16="http://schemas.microsoft.com/office/drawing/2014/main" val="40231538"/>
                  </a:ext>
                </a:extLst>
              </a:tr>
              <a:tr h="357612">
                <a:tc>
                  <a:txBody>
                    <a:bodyPr/>
                    <a:lstStyle/>
                    <a:p>
                      <a:pPr>
                        <a:buNone/>
                      </a:pPr>
                      <a:r>
                        <a:rPr lang="en-IN" sz="1800" b="1"/>
                        <a:t>4</a:t>
                      </a:r>
                    </a:p>
                  </a:txBody>
                  <a:tcPr anchor="ctr"/>
                </a:tc>
                <a:tc>
                  <a:txBody>
                    <a:bodyPr/>
                    <a:lstStyle/>
                    <a:p>
                      <a:pPr>
                        <a:buNone/>
                      </a:pPr>
                      <a:r>
                        <a:rPr lang="en-IN" sz="1800" b="1" dirty="0" err="1"/>
                        <a:t>na</a:t>
                      </a:r>
                      <a:endParaRPr lang="en-IN" sz="1800" b="1" dirty="0"/>
                    </a:p>
                  </a:txBody>
                  <a:tcPr anchor="ctr"/>
                </a:tc>
                <a:extLst>
                  <a:ext uri="{0D108BD9-81ED-4DB2-BD59-A6C34878D82A}">
                    <a16:rowId xmlns:a16="http://schemas.microsoft.com/office/drawing/2014/main" val="3955034218"/>
                  </a:ext>
                </a:extLst>
              </a:tr>
              <a:tr h="357612">
                <a:tc>
                  <a:txBody>
                    <a:bodyPr/>
                    <a:lstStyle/>
                    <a:p>
                      <a:pPr>
                        <a:buNone/>
                      </a:pPr>
                      <a:r>
                        <a:rPr lang="en-IN" sz="1800" b="1"/>
                        <a:t>5</a:t>
                      </a:r>
                    </a:p>
                  </a:txBody>
                  <a:tcPr anchor="ctr"/>
                </a:tc>
                <a:tc>
                  <a:txBody>
                    <a:bodyPr/>
                    <a:lstStyle/>
                    <a:p>
                      <a:pPr>
                        <a:buNone/>
                      </a:pPr>
                      <a:r>
                        <a:rPr lang="en-IN" sz="1800" b="1" dirty="0"/>
                        <a:t>a</a:t>
                      </a:r>
                    </a:p>
                  </a:txBody>
                  <a:tcPr anchor="ctr"/>
                </a:tc>
                <a:extLst>
                  <a:ext uri="{0D108BD9-81ED-4DB2-BD59-A6C34878D82A}">
                    <a16:rowId xmlns:a16="http://schemas.microsoft.com/office/drawing/2014/main" val="4134875709"/>
                  </a:ext>
                </a:extLst>
              </a:tr>
            </a:tbl>
          </a:graphicData>
        </a:graphic>
      </p:graphicFrame>
      <p:graphicFrame>
        <p:nvGraphicFramePr>
          <p:cNvPr id="13" name="Table 12">
            <a:extLst>
              <a:ext uri="{FF2B5EF4-FFF2-40B4-BE49-F238E27FC236}">
                <a16:creationId xmlns:a16="http://schemas.microsoft.com/office/drawing/2014/main" id="{3FCBE329-200F-D964-1482-A5B1A7B563FB}"/>
              </a:ext>
            </a:extLst>
          </p:cNvPr>
          <p:cNvGraphicFramePr>
            <a:graphicFrameLocks noGrp="1"/>
          </p:cNvGraphicFramePr>
          <p:nvPr>
            <p:extLst>
              <p:ext uri="{D42A27DB-BD31-4B8C-83A1-F6EECF244321}">
                <p14:modId xmlns:p14="http://schemas.microsoft.com/office/powerpoint/2010/main" val="1315283965"/>
              </p:ext>
            </p:extLst>
          </p:nvPr>
        </p:nvGraphicFramePr>
        <p:xfrm>
          <a:off x="2483050" y="4138862"/>
          <a:ext cx="1964133" cy="2133600"/>
        </p:xfrm>
        <a:graphic>
          <a:graphicData uri="http://schemas.openxmlformats.org/drawingml/2006/table">
            <a:tbl>
              <a:tblPr>
                <a:tableStyleId>{5940675A-B579-460E-94D1-54222C63F5DA}</a:tableStyleId>
              </a:tblPr>
              <a:tblGrid>
                <a:gridCol w="716358">
                  <a:extLst>
                    <a:ext uri="{9D8B030D-6E8A-4147-A177-3AD203B41FA5}">
                      <a16:colId xmlns:a16="http://schemas.microsoft.com/office/drawing/2014/main" val="1661349146"/>
                    </a:ext>
                  </a:extLst>
                </a:gridCol>
                <a:gridCol w="1247775">
                  <a:extLst>
                    <a:ext uri="{9D8B030D-6E8A-4147-A177-3AD203B41FA5}">
                      <a16:colId xmlns:a16="http://schemas.microsoft.com/office/drawing/2014/main" val="3029621555"/>
                    </a:ext>
                  </a:extLst>
                </a:gridCol>
              </a:tblGrid>
              <a:tr h="302528">
                <a:tc>
                  <a:txBody>
                    <a:bodyPr/>
                    <a:lstStyle/>
                    <a:p>
                      <a:pPr>
                        <a:buNone/>
                      </a:pPr>
                      <a:r>
                        <a:rPr lang="en-IN" sz="1400" b="1" dirty="0">
                          <a:solidFill>
                            <a:srgbClr val="C00000"/>
                          </a:solidFill>
                        </a:rPr>
                        <a:t>Rank</a:t>
                      </a:r>
                    </a:p>
                  </a:txBody>
                  <a:tcPr anchor="ctr"/>
                </a:tc>
                <a:tc>
                  <a:txBody>
                    <a:bodyPr/>
                    <a:lstStyle/>
                    <a:p>
                      <a:pPr>
                        <a:buNone/>
                      </a:pPr>
                      <a:r>
                        <a:rPr lang="en-IN" sz="1400" b="1" dirty="0">
                          <a:solidFill>
                            <a:srgbClr val="C00000"/>
                          </a:solidFill>
                        </a:rPr>
                        <a:t>Suffix</a:t>
                      </a:r>
                    </a:p>
                  </a:txBody>
                  <a:tcPr anchor="ctr"/>
                </a:tc>
                <a:extLst>
                  <a:ext uri="{0D108BD9-81ED-4DB2-BD59-A6C34878D82A}">
                    <a16:rowId xmlns:a16="http://schemas.microsoft.com/office/drawing/2014/main" val="1773476451"/>
                  </a:ext>
                </a:extLst>
              </a:tr>
              <a:tr h="302528">
                <a:tc>
                  <a:txBody>
                    <a:bodyPr/>
                    <a:lstStyle/>
                    <a:p>
                      <a:pPr>
                        <a:buNone/>
                      </a:pPr>
                      <a:r>
                        <a:rPr lang="en-IN" sz="1400" b="1" dirty="0"/>
                        <a:t>0</a:t>
                      </a:r>
                    </a:p>
                  </a:txBody>
                  <a:tcPr anchor="ctr"/>
                </a:tc>
                <a:tc>
                  <a:txBody>
                    <a:bodyPr/>
                    <a:lstStyle/>
                    <a:p>
                      <a:pPr>
                        <a:buNone/>
                      </a:pPr>
                      <a:r>
                        <a:rPr lang="en-IN" sz="1400" b="1" dirty="0"/>
                        <a:t>a</a:t>
                      </a:r>
                    </a:p>
                  </a:txBody>
                  <a:tcPr anchor="ctr"/>
                </a:tc>
                <a:extLst>
                  <a:ext uri="{0D108BD9-81ED-4DB2-BD59-A6C34878D82A}">
                    <a16:rowId xmlns:a16="http://schemas.microsoft.com/office/drawing/2014/main" val="687664861"/>
                  </a:ext>
                </a:extLst>
              </a:tr>
              <a:tr h="302528">
                <a:tc>
                  <a:txBody>
                    <a:bodyPr/>
                    <a:lstStyle/>
                    <a:p>
                      <a:pPr>
                        <a:buNone/>
                      </a:pPr>
                      <a:r>
                        <a:rPr lang="en-IN" sz="1400" b="1" dirty="0"/>
                        <a:t>1</a:t>
                      </a:r>
                    </a:p>
                  </a:txBody>
                  <a:tcPr anchor="ctr"/>
                </a:tc>
                <a:tc>
                  <a:txBody>
                    <a:bodyPr/>
                    <a:lstStyle/>
                    <a:p>
                      <a:pPr>
                        <a:buNone/>
                      </a:pPr>
                      <a:r>
                        <a:rPr lang="en-IN" sz="1400" b="1" dirty="0"/>
                        <a:t>ana</a:t>
                      </a:r>
                    </a:p>
                  </a:txBody>
                  <a:tcPr anchor="ctr"/>
                </a:tc>
                <a:extLst>
                  <a:ext uri="{0D108BD9-81ED-4DB2-BD59-A6C34878D82A}">
                    <a16:rowId xmlns:a16="http://schemas.microsoft.com/office/drawing/2014/main" val="596723857"/>
                  </a:ext>
                </a:extLst>
              </a:tr>
              <a:tr h="302528">
                <a:tc>
                  <a:txBody>
                    <a:bodyPr/>
                    <a:lstStyle/>
                    <a:p>
                      <a:pPr>
                        <a:buNone/>
                      </a:pPr>
                      <a:r>
                        <a:rPr lang="en-IN" sz="1400" b="1" dirty="0"/>
                        <a:t>2</a:t>
                      </a:r>
                    </a:p>
                  </a:txBody>
                  <a:tcPr anchor="ctr"/>
                </a:tc>
                <a:tc>
                  <a:txBody>
                    <a:bodyPr/>
                    <a:lstStyle/>
                    <a:p>
                      <a:pPr>
                        <a:buNone/>
                      </a:pPr>
                      <a:r>
                        <a:rPr lang="en-IN" sz="1400" b="1" dirty="0" err="1"/>
                        <a:t>anana</a:t>
                      </a:r>
                      <a:endParaRPr lang="en-IN" sz="1400" b="1" dirty="0"/>
                    </a:p>
                  </a:txBody>
                  <a:tcPr anchor="ctr"/>
                </a:tc>
                <a:extLst>
                  <a:ext uri="{0D108BD9-81ED-4DB2-BD59-A6C34878D82A}">
                    <a16:rowId xmlns:a16="http://schemas.microsoft.com/office/drawing/2014/main" val="166694825"/>
                  </a:ext>
                </a:extLst>
              </a:tr>
              <a:tr h="302528">
                <a:tc>
                  <a:txBody>
                    <a:bodyPr/>
                    <a:lstStyle/>
                    <a:p>
                      <a:pPr>
                        <a:buNone/>
                      </a:pPr>
                      <a:r>
                        <a:rPr lang="en-IN" sz="1400" b="1" dirty="0"/>
                        <a:t>3</a:t>
                      </a:r>
                    </a:p>
                  </a:txBody>
                  <a:tcPr anchor="ctr"/>
                </a:tc>
                <a:tc>
                  <a:txBody>
                    <a:bodyPr/>
                    <a:lstStyle/>
                    <a:p>
                      <a:pPr>
                        <a:buNone/>
                      </a:pPr>
                      <a:r>
                        <a:rPr lang="en-IN" sz="1400" b="1" dirty="0"/>
                        <a:t>banana</a:t>
                      </a:r>
                    </a:p>
                  </a:txBody>
                  <a:tcPr anchor="ctr"/>
                </a:tc>
                <a:extLst>
                  <a:ext uri="{0D108BD9-81ED-4DB2-BD59-A6C34878D82A}">
                    <a16:rowId xmlns:a16="http://schemas.microsoft.com/office/drawing/2014/main" val="1941960945"/>
                  </a:ext>
                </a:extLst>
              </a:tr>
              <a:tr h="302528">
                <a:tc>
                  <a:txBody>
                    <a:bodyPr/>
                    <a:lstStyle/>
                    <a:p>
                      <a:pPr>
                        <a:buNone/>
                      </a:pPr>
                      <a:r>
                        <a:rPr lang="en-IN" sz="1400" b="1"/>
                        <a:t>4</a:t>
                      </a:r>
                    </a:p>
                  </a:txBody>
                  <a:tcPr anchor="ctr"/>
                </a:tc>
                <a:tc>
                  <a:txBody>
                    <a:bodyPr/>
                    <a:lstStyle/>
                    <a:p>
                      <a:pPr>
                        <a:buNone/>
                      </a:pPr>
                      <a:r>
                        <a:rPr lang="en-IN" sz="1400" b="1" dirty="0" err="1"/>
                        <a:t>na</a:t>
                      </a:r>
                      <a:endParaRPr lang="en-IN" sz="1400" b="1" dirty="0"/>
                    </a:p>
                  </a:txBody>
                  <a:tcPr anchor="ctr"/>
                </a:tc>
                <a:extLst>
                  <a:ext uri="{0D108BD9-81ED-4DB2-BD59-A6C34878D82A}">
                    <a16:rowId xmlns:a16="http://schemas.microsoft.com/office/drawing/2014/main" val="4266786026"/>
                  </a:ext>
                </a:extLst>
              </a:tr>
              <a:tr h="302528">
                <a:tc>
                  <a:txBody>
                    <a:bodyPr/>
                    <a:lstStyle/>
                    <a:p>
                      <a:pPr>
                        <a:buNone/>
                      </a:pPr>
                      <a:r>
                        <a:rPr lang="en-IN" sz="1400" b="1"/>
                        <a:t>5</a:t>
                      </a:r>
                    </a:p>
                  </a:txBody>
                  <a:tcPr anchor="ctr"/>
                </a:tc>
                <a:tc>
                  <a:txBody>
                    <a:bodyPr/>
                    <a:lstStyle/>
                    <a:p>
                      <a:pPr>
                        <a:buNone/>
                      </a:pPr>
                      <a:r>
                        <a:rPr lang="en-IN" sz="1400" b="1" dirty="0"/>
                        <a:t>nana</a:t>
                      </a:r>
                    </a:p>
                  </a:txBody>
                  <a:tcPr anchor="ctr"/>
                </a:tc>
                <a:extLst>
                  <a:ext uri="{0D108BD9-81ED-4DB2-BD59-A6C34878D82A}">
                    <a16:rowId xmlns:a16="http://schemas.microsoft.com/office/drawing/2014/main" val="155807565"/>
                  </a:ext>
                </a:extLst>
              </a:tr>
            </a:tbl>
          </a:graphicData>
        </a:graphic>
      </p:graphicFrame>
      <p:sp>
        <p:nvSpPr>
          <p:cNvPr id="15" name="TextBox 14">
            <a:extLst>
              <a:ext uri="{FF2B5EF4-FFF2-40B4-BE49-F238E27FC236}">
                <a16:creationId xmlns:a16="http://schemas.microsoft.com/office/drawing/2014/main" id="{C97A3A38-81A6-F850-4683-FB50B0D44C82}"/>
              </a:ext>
            </a:extLst>
          </p:cNvPr>
          <p:cNvSpPr txBox="1"/>
          <p:nvPr/>
        </p:nvSpPr>
        <p:spPr>
          <a:xfrm>
            <a:off x="146050" y="3767235"/>
            <a:ext cx="2052956" cy="400110"/>
          </a:xfrm>
          <a:prstGeom prst="rect">
            <a:avLst/>
          </a:prstGeom>
          <a:solidFill>
            <a:schemeClr val="accent2">
              <a:lumMod val="20000"/>
              <a:lumOff val="80000"/>
            </a:schemeClr>
          </a:solidFill>
          <a:ln>
            <a:solidFill>
              <a:schemeClr val="accent1"/>
            </a:solidFill>
          </a:ln>
        </p:spPr>
        <p:txBody>
          <a:bodyPr wrap="square">
            <a:spAutoFit/>
          </a:bodyPr>
          <a:lstStyle/>
          <a:p>
            <a:pPr lvl="0">
              <a:buNone/>
            </a:pPr>
            <a:r>
              <a:rPr lang="en-IN" sz="2000" b="1" dirty="0">
                <a:highlight>
                  <a:srgbClr val="FFFF00"/>
                </a:highlight>
              </a:rPr>
              <a:t>Initial Array</a:t>
            </a:r>
          </a:p>
        </p:txBody>
      </p:sp>
      <p:sp>
        <p:nvSpPr>
          <p:cNvPr id="17" name="TextBox 16">
            <a:extLst>
              <a:ext uri="{FF2B5EF4-FFF2-40B4-BE49-F238E27FC236}">
                <a16:creationId xmlns:a16="http://schemas.microsoft.com/office/drawing/2014/main" id="{DDE83DFB-FF58-C784-A168-6AB20052894D}"/>
              </a:ext>
            </a:extLst>
          </p:cNvPr>
          <p:cNvSpPr txBox="1"/>
          <p:nvPr/>
        </p:nvSpPr>
        <p:spPr>
          <a:xfrm>
            <a:off x="2456136" y="3764821"/>
            <a:ext cx="1982076" cy="400110"/>
          </a:xfrm>
          <a:prstGeom prst="rect">
            <a:avLst/>
          </a:prstGeom>
          <a:solidFill>
            <a:schemeClr val="accent2">
              <a:lumMod val="20000"/>
              <a:lumOff val="80000"/>
            </a:schemeClr>
          </a:solidFill>
          <a:ln>
            <a:solidFill>
              <a:schemeClr val="accent1"/>
            </a:solidFill>
          </a:ln>
        </p:spPr>
        <p:txBody>
          <a:bodyPr wrap="square">
            <a:spAutoFit/>
          </a:bodyPr>
          <a:lstStyle/>
          <a:p>
            <a:pPr lvl="0">
              <a:buNone/>
            </a:pPr>
            <a:r>
              <a:rPr lang="en-IN" sz="2000" b="1" dirty="0">
                <a:highlight>
                  <a:srgbClr val="FFFF00"/>
                </a:highlight>
              </a:rPr>
              <a:t>Sorted Array</a:t>
            </a:r>
          </a:p>
        </p:txBody>
      </p:sp>
      <p:sp>
        <p:nvSpPr>
          <p:cNvPr id="19" name="TextBox 18">
            <a:extLst>
              <a:ext uri="{FF2B5EF4-FFF2-40B4-BE49-F238E27FC236}">
                <a16:creationId xmlns:a16="http://schemas.microsoft.com/office/drawing/2014/main" id="{7D3E7DF9-254B-3DFB-74F0-F7F36DF68EDE}"/>
              </a:ext>
            </a:extLst>
          </p:cNvPr>
          <p:cNvSpPr txBox="1"/>
          <p:nvPr/>
        </p:nvSpPr>
        <p:spPr>
          <a:xfrm>
            <a:off x="6998210" y="3897148"/>
            <a:ext cx="3079240" cy="400110"/>
          </a:xfrm>
          <a:prstGeom prst="rect">
            <a:avLst/>
          </a:prstGeom>
          <a:solidFill>
            <a:schemeClr val="accent2">
              <a:lumMod val="20000"/>
              <a:lumOff val="80000"/>
            </a:schemeClr>
          </a:solidFill>
          <a:ln>
            <a:solidFill>
              <a:schemeClr val="accent1"/>
            </a:solidFill>
          </a:ln>
        </p:spPr>
        <p:txBody>
          <a:bodyPr wrap="square">
            <a:spAutoFit/>
          </a:bodyPr>
          <a:lstStyle/>
          <a:p>
            <a:pPr lvl="0">
              <a:buNone/>
            </a:pPr>
            <a:r>
              <a:rPr lang="en-IN" sz="2000" b="1" dirty="0">
                <a:highlight>
                  <a:srgbClr val="FFFF00"/>
                </a:highlight>
              </a:rPr>
              <a:t>Rank Array</a:t>
            </a:r>
          </a:p>
        </p:txBody>
      </p:sp>
      <p:sp>
        <p:nvSpPr>
          <p:cNvPr id="21" name="TextBox 20">
            <a:extLst>
              <a:ext uri="{FF2B5EF4-FFF2-40B4-BE49-F238E27FC236}">
                <a16:creationId xmlns:a16="http://schemas.microsoft.com/office/drawing/2014/main" id="{04790092-7B09-E023-5272-FCAA0E333E5E}"/>
              </a:ext>
            </a:extLst>
          </p:cNvPr>
          <p:cNvSpPr txBox="1"/>
          <p:nvPr/>
        </p:nvSpPr>
        <p:spPr>
          <a:xfrm>
            <a:off x="2456136" y="6314477"/>
            <a:ext cx="3594225" cy="378063"/>
          </a:xfrm>
          <a:prstGeom prst="rect">
            <a:avLst/>
          </a:prstGeom>
          <a:solidFill>
            <a:schemeClr val="accent2">
              <a:lumMod val="20000"/>
              <a:lumOff val="80000"/>
            </a:schemeClr>
          </a:solidFill>
          <a:ln>
            <a:solidFill>
              <a:schemeClr val="accent1"/>
            </a:solidFill>
          </a:ln>
        </p:spPr>
        <p:txBody>
          <a:bodyPr wrap="square">
            <a:spAutoFit/>
          </a:bodyPr>
          <a:lstStyle/>
          <a:p>
            <a:pPr lvl="0">
              <a:buNone/>
            </a:pPr>
            <a:r>
              <a:rPr lang="en-IN" b="1" dirty="0"/>
              <a:t>Suffix Array    SA = [5,3,1,0,4,2]</a:t>
            </a:r>
          </a:p>
        </p:txBody>
      </p:sp>
      <p:sp>
        <p:nvSpPr>
          <p:cNvPr id="23" name="TextBox 22">
            <a:extLst>
              <a:ext uri="{FF2B5EF4-FFF2-40B4-BE49-F238E27FC236}">
                <a16:creationId xmlns:a16="http://schemas.microsoft.com/office/drawing/2014/main" id="{D09948B7-CC41-9E5D-D841-E7291CB864F4}"/>
              </a:ext>
            </a:extLst>
          </p:cNvPr>
          <p:cNvSpPr txBox="1"/>
          <p:nvPr/>
        </p:nvSpPr>
        <p:spPr>
          <a:xfrm>
            <a:off x="6949300" y="6415020"/>
            <a:ext cx="3404375" cy="338554"/>
          </a:xfrm>
          <a:prstGeom prst="rect">
            <a:avLst/>
          </a:prstGeom>
          <a:solidFill>
            <a:schemeClr val="accent2">
              <a:lumMod val="20000"/>
              <a:lumOff val="80000"/>
            </a:schemeClr>
          </a:solidFill>
          <a:ln>
            <a:solidFill>
              <a:schemeClr val="accent1"/>
            </a:solidFill>
          </a:ln>
        </p:spPr>
        <p:txBody>
          <a:bodyPr wrap="square">
            <a:spAutoFit/>
          </a:bodyPr>
          <a:lstStyle/>
          <a:p>
            <a:pPr lvl="0">
              <a:buNone/>
            </a:pPr>
            <a:r>
              <a:rPr lang="en-IN" sz="1600" b="1" dirty="0"/>
              <a:t>Rank Array       RA = [3,2,5,1,4,0]</a:t>
            </a:r>
          </a:p>
        </p:txBody>
      </p:sp>
      <p:sp>
        <p:nvSpPr>
          <p:cNvPr id="27" name="TextBox 26">
            <a:extLst>
              <a:ext uri="{FF2B5EF4-FFF2-40B4-BE49-F238E27FC236}">
                <a16:creationId xmlns:a16="http://schemas.microsoft.com/office/drawing/2014/main" id="{54FD6231-1F47-0F06-92DF-6968DB8D11A1}"/>
              </a:ext>
            </a:extLst>
          </p:cNvPr>
          <p:cNvSpPr txBox="1"/>
          <p:nvPr/>
        </p:nvSpPr>
        <p:spPr>
          <a:xfrm>
            <a:off x="10202768" y="4079389"/>
            <a:ext cx="1921669" cy="1631216"/>
          </a:xfrm>
          <a:prstGeom prst="rect">
            <a:avLst/>
          </a:prstGeom>
          <a:noFill/>
          <a:ln>
            <a:solidFill>
              <a:schemeClr val="accent1"/>
            </a:solidFill>
          </a:ln>
        </p:spPr>
        <p:txBody>
          <a:bodyPr wrap="square">
            <a:spAutoFit/>
          </a:bodyPr>
          <a:lstStyle/>
          <a:p>
            <a:r>
              <a:rPr lang="en-IN" sz="2000" dirty="0"/>
              <a:t>"At what position does this suffix appear in the suffix array?“</a:t>
            </a:r>
          </a:p>
        </p:txBody>
      </p:sp>
      <p:graphicFrame>
        <p:nvGraphicFramePr>
          <p:cNvPr id="14" name="Table 13">
            <a:extLst>
              <a:ext uri="{FF2B5EF4-FFF2-40B4-BE49-F238E27FC236}">
                <a16:creationId xmlns:a16="http://schemas.microsoft.com/office/drawing/2014/main" id="{AE1D3A7B-3B30-3A5B-18E2-C81777F84119}"/>
              </a:ext>
            </a:extLst>
          </p:cNvPr>
          <p:cNvGraphicFramePr>
            <a:graphicFrameLocks noGrp="1"/>
          </p:cNvGraphicFramePr>
          <p:nvPr>
            <p:extLst>
              <p:ext uri="{D42A27DB-BD31-4B8C-83A1-F6EECF244321}">
                <p14:modId xmlns:p14="http://schemas.microsoft.com/office/powerpoint/2010/main" val="317954236"/>
              </p:ext>
            </p:extLst>
          </p:nvPr>
        </p:nvGraphicFramePr>
        <p:xfrm>
          <a:off x="4589123" y="3868963"/>
          <a:ext cx="1209335" cy="2322261"/>
        </p:xfrm>
        <a:graphic>
          <a:graphicData uri="http://schemas.openxmlformats.org/drawingml/2006/table">
            <a:tbl>
              <a:tblPr>
                <a:tableStyleId>{5940675A-B579-460E-94D1-54222C63F5DA}</a:tableStyleId>
              </a:tblPr>
              <a:tblGrid>
                <a:gridCol w="628650">
                  <a:extLst>
                    <a:ext uri="{9D8B030D-6E8A-4147-A177-3AD203B41FA5}">
                      <a16:colId xmlns:a16="http://schemas.microsoft.com/office/drawing/2014/main" val="1661349146"/>
                    </a:ext>
                  </a:extLst>
                </a:gridCol>
                <a:gridCol w="580685">
                  <a:extLst>
                    <a:ext uri="{9D8B030D-6E8A-4147-A177-3AD203B41FA5}">
                      <a16:colId xmlns:a16="http://schemas.microsoft.com/office/drawing/2014/main" val="3029621555"/>
                    </a:ext>
                  </a:extLst>
                </a:gridCol>
              </a:tblGrid>
              <a:tr h="493461">
                <a:tc>
                  <a:txBody>
                    <a:bodyPr/>
                    <a:lstStyle/>
                    <a:p>
                      <a:pPr>
                        <a:buNone/>
                      </a:pPr>
                      <a:r>
                        <a:rPr lang="en-US" sz="1400" b="1" dirty="0">
                          <a:solidFill>
                            <a:srgbClr val="C00000"/>
                          </a:solidFill>
                        </a:rPr>
                        <a:t>Index</a:t>
                      </a:r>
                      <a:endParaRPr lang="en-IN" sz="1400" b="1" dirty="0">
                        <a:solidFill>
                          <a:srgbClr val="C00000"/>
                        </a:solidFill>
                      </a:endParaRPr>
                    </a:p>
                  </a:txBody>
                  <a:tcPr anchor="ctr"/>
                </a:tc>
                <a:tc>
                  <a:txBody>
                    <a:bodyPr/>
                    <a:lstStyle/>
                    <a:p>
                      <a:pPr>
                        <a:buNone/>
                      </a:pPr>
                      <a:r>
                        <a:rPr lang="en-US" sz="1400" b="1" dirty="0">
                          <a:solidFill>
                            <a:srgbClr val="C00000"/>
                          </a:solidFill>
                        </a:rPr>
                        <a:t>SA</a:t>
                      </a:r>
                      <a:endParaRPr lang="en-IN" sz="1400" b="1" dirty="0">
                        <a:solidFill>
                          <a:srgbClr val="C00000"/>
                        </a:solidFill>
                      </a:endParaRPr>
                    </a:p>
                  </a:txBody>
                  <a:tcPr anchor="ctr"/>
                </a:tc>
                <a:extLst>
                  <a:ext uri="{0D108BD9-81ED-4DB2-BD59-A6C34878D82A}">
                    <a16:rowId xmlns:a16="http://schemas.microsoft.com/office/drawing/2014/main" val="1773476451"/>
                  </a:ext>
                </a:extLst>
              </a:tr>
              <a:tr h="290271">
                <a:tc>
                  <a:txBody>
                    <a:bodyPr/>
                    <a:lstStyle/>
                    <a:p>
                      <a:pPr>
                        <a:buNone/>
                      </a:pPr>
                      <a:r>
                        <a:rPr lang="en-US" sz="1400" b="1" dirty="0"/>
                        <a:t>0</a:t>
                      </a:r>
                      <a:endParaRPr lang="en-IN" sz="1400" b="1" dirty="0"/>
                    </a:p>
                  </a:txBody>
                  <a:tcPr anchor="ctr"/>
                </a:tc>
                <a:tc>
                  <a:txBody>
                    <a:bodyPr/>
                    <a:lstStyle/>
                    <a:p>
                      <a:pPr algn="ctr">
                        <a:buNone/>
                      </a:pPr>
                      <a:r>
                        <a:rPr lang="en-US" sz="1400" b="1" dirty="0"/>
                        <a:t>5</a:t>
                      </a:r>
                      <a:endParaRPr lang="en-IN" sz="1400" b="1" dirty="0"/>
                    </a:p>
                  </a:txBody>
                  <a:tcPr anchor="ctr"/>
                </a:tc>
                <a:extLst>
                  <a:ext uri="{0D108BD9-81ED-4DB2-BD59-A6C34878D82A}">
                    <a16:rowId xmlns:a16="http://schemas.microsoft.com/office/drawing/2014/main" val="687664861"/>
                  </a:ext>
                </a:extLst>
              </a:tr>
              <a:tr h="290271">
                <a:tc>
                  <a:txBody>
                    <a:bodyPr/>
                    <a:lstStyle/>
                    <a:p>
                      <a:pPr>
                        <a:buNone/>
                      </a:pPr>
                      <a:r>
                        <a:rPr lang="en-US" sz="1400" b="1" dirty="0"/>
                        <a:t>1</a:t>
                      </a:r>
                      <a:endParaRPr lang="en-IN" sz="1400" b="1" dirty="0"/>
                    </a:p>
                  </a:txBody>
                  <a:tcPr anchor="ctr"/>
                </a:tc>
                <a:tc>
                  <a:txBody>
                    <a:bodyPr/>
                    <a:lstStyle/>
                    <a:p>
                      <a:pPr algn="ctr">
                        <a:buNone/>
                      </a:pPr>
                      <a:r>
                        <a:rPr lang="en-US" sz="1400" b="1" dirty="0"/>
                        <a:t>3</a:t>
                      </a:r>
                      <a:endParaRPr lang="en-IN" sz="1400" b="1" dirty="0"/>
                    </a:p>
                  </a:txBody>
                  <a:tcPr anchor="ctr"/>
                </a:tc>
                <a:extLst>
                  <a:ext uri="{0D108BD9-81ED-4DB2-BD59-A6C34878D82A}">
                    <a16:rowId xmlns:a16="http://schemas.microsoft.com/office/drawing/2014/main" val="596723857"/>
                  </a:ext>
                </a:extLst>
              </a:tr>
              <a:tr h="290271">
                <a:tc>
                  <a:txBody>
                    <a:bodyPr/>
                    <a:lstStyle/>
                    <a:p>
                      <a:pPr>
                        <a:buNone/>
                      </a:pPr>
                      <a:r>
                        <a:rPr lang="en-US" sz="1400" b="1" dirty="0"/>
                        <a:t>2</a:t>
                      </a:r>
                      <a:endParaRPr lang="en-IN" sz="1400" b="1" dirty="0"/>
                    </a:p>
                  </a:txBody>
                  <a:tcPr anchor="ctr"/>
                </a:tc>
                <a:tc>
                  <a:txBody>
                    <a:bodyPr/>
                    <a:lstStyle/>
                    <a:p>
                      <a:pPr algn="ctr">
                        <a:buNone/>
                      </a:pPr>
                      <a:r>
                        <a:rPr lang="en-US" sz="1400" b="1" dirty="0"/>
                        <a:t>1</a:t>
                      </a:r>
                      <a:endParaRPr lang="en-IN" sz="1400" b="1" dirty="0"/>
                    </a:p>
                  </a:txBody>
                  <a:tcPr anchor="ctr"/>
                </a:tc>
                <a:extLst>
                  <a:ext uri="{0D108BD9-81ED-4DB2-BD59-A6C34878D82A}">
                    <a16:rowId xmlns:a16="http://schemas.microsoft.com/office/drawing/2014/main" val="166694825"/>
                  </a:ext>
                </a:extLst>
              </a:tr>
              <a:tr h="290271">
                <a:tc>
                  <a:txBody>
                    <a:bodyPr/>
                    <a:lstStyle/>
                    <a:p>
                      <a:pPr>
                        <a:buNone/>
                      </a:pPr>
                      <a:r>
                        <a:rPr lang="en-US" sz="1400" b="1" dirty="0"/>
                        <a:t>3</a:t>
                      </a:r>
                      <a:endParaRPr lang="en-IN" sz="1400" b="1" dirty="0"/>
                    </a:p>
                  </a:txBody>
                  <a:tcPr anchor="ctr"/>
                </a:tc>
                <a:tc>
                  <a:txBody>
                    <a:bodyPr/>
                    <a:lstStyle/>
                    <a:p>
                      <a:pPr algn="ctr">
                        <a:buNone/>
                      </a:pPr>
                      <a:r>
                        <a:rPr lang="en-US" sz="1400" b="1" dirty="0"/>
                        <a:t>0</a:t>
                      </a:r>
                      <a:endParaRPr lang="en-IN" sz="1400" b="1" dirty="0"/>
                    </a:p>
                  </a:txBody>
                  <a:tcPr anchor="ctr"/>
                </a:tc>
                <a:extLst>
                  <a:ext uri="{0D108BD9-81ED-4DB2-BD59-A6C34878D82A}">
                    <a16:rowId xmlns:a16="http://schemas.microsoft.com/office/drawing/2014/main" val="1941960945"/>
                  </a:ext>
                </a:extLst>
              </a:tr>
              <a:tr h="290271">
                <a:tc>
                  <a:txBody>
                    <a:bodyPr/>
                    <a:lstStyle/>
                    <a:p>
                      <a:pPr>
                        <a:buNone/>
                      </a:pPr>
                      <a:r>
                        <a:rPr lang="en-US" sz="1400" b="1" dirty="0"/>
                        <a:t>4</a:t>
                      </a:r>
                      <a:endParaRPr lang="en-IN" sz="1400" b="1" dirty="0"/>
                    </a:p>
                  </a:txBody>
                  <a:tcPr anchor="ctr"/>
                </a:tc>
                <a:tc>
                  <a:txBody>
                    <a:bodyPr/>
                    <a:lstStyle/>
                    <a:p>
                      <a:pPr algn="ctr">
                        <a:buNone/>
                      </a:pPr>
                      <a:r>
                        <a:rPr lang="en-US" sz="1400" b="1" dirty="0"/>
                        <a:t>4</a:t>
                      </a:r>
                      <a:endParaRPr lang="en-IN" sz="1400" b="1" dirty="0"/>
                    </a:p>
                  </a:txBody>
                  <a:tcPr anchor="ctr"/>
                </a:tc>
                <a:extLst>
                  <a:ext uri="{0D108BD9-81ED-4DB2-BD59-A6C34878D82A}">
                    <a16:rowId xmlns:a16="http://schemas.microsoft.com/office/drawing/2014/main" val="4266786026"/>
                  </a:ext>
                </a:extLst>
              </a:tr>
              <a:tr h="290271">
                <a:tc>
                  <a:txBody>
                    <a:bodyPr/>
                    <a:lstStyle/>
                    <a:p>
                      <a:pPr>
                        <a:buNone/>
                      </a:pPr>
                      <a:r>
                        <a:rPr lang="en-US" sz="1400" b="1" dirty="0"/>
                        <a:t>5</a:t>
                      </a:r>
                      <a:endParaRPr lang="en-IN" sz="1400" b="1" dirty="0"/>
                    </a:p>
                  </a:txBody>
                  <a:tcPr anchor="ctr"/>
                </a:tc>
                <a:tc>
                  <a:txBody>
                    <a:bodyPr/>
                    <a:lstStyle/>
                    <a:p>
                      <a:pPr algn="ctr">
                        <a:buNone/>
                      </a:pPr>
                      <a:r>
                        <a:rPr lang="en-US" sz="1400" b="1" dirty="0"/>
                        <a:t>2</a:t>
                      </a:r>
                      <a:endParaRPr lang="en-IN" sz="1400" b="1" dirty="0"/>
                    </a:p>
                  </a:txBody>
                  <a:tcPr anchor="ctr"/>
                </a:tc>
                <a:extLst>
                  <a:ext uri="{0D108BD9-81ED-4DB2-BD59-A6C34878D82A}">
                    <a16:rowId xmlns:a16="http://schemas.microsoft.com/office/drawing/2014/main" val="155807565"/>
                  </a:ext>
                </a:extLst>
              </a:tr>
            </a:tbl>
          </a:graphicData>
        </a:graphic>
      </p:graphicFrame>
      <p:sp>
        <p:nvSpPr>
          <p:cNvPr id="18" name="TextBox 17">
            <a:extLst>
              <a:ext uri="{FF2B5EF4-FFF2-40B4-BE49-F238E27FC236}">
                <a16:creationId xmlns:a16="http://schemas.microsoft.com/office/drawing/2014/main" id="{4AB35EF7-BA93-0EE2-F49C-56B8737F014D}"/>
              </a:ext>
            </a:extLst>
          </p:cNvPr>
          <p:cNvSpPr txBox="1"/>
          <p:nvPr/>
        </p:nvSpPr>
        <p:spPr>
          <a:xfrm>
            <a:off x="5951317" y="4297258"/>
            <a:ext cx="794989" cy="923330"/>
          </a:xfrm>
          <a:prstGeom prst="rect">
            <a:avLst/>
          </a:prstGeom>
          <a:noFill/>
        </p:spPr>
        <p:txBody>
          <a:bodyPr wrap="square" rtlCol="0">
            <a:spAutoFit/>
          </a:bodyPr>
          <a:lstStyle/>
          <a:p>
            <a:r>
              <a:rPr lang="en-US" b="1" dirty="0"/>
              <a:t>Suffix array sorted</a:t>
            </a:r>
            <a:endParaRPr lang="en-IN" b="1" dirty="0"/>
          </a:p>
        </p:txBody>
      </p:sp>
    </p:spTree>
    <p:extLst>
      <p:ext uri="{BB962C8B-B14F-4D97-AF65-F5344CB8AC3E}">
        <p14:creationId xmlns:p14="http://schemas.microsoft.com/office/powerpoint/2010/main" val="42132648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57C24-FBA4-D99D-13C6-86484E571AA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47985D2-43E4-EF67-F9C0-E17E54ACCE7E}"/>
              </a:ext>
            </a:extLst>
          </p:cNvPr>
          <p:cNvSpPr txBox="1"/>
          <p:nvPr/>
        </p:nvSpPr>
        <p:spPr>
          <a:xfrm>
            <a:off x="242260" y="495567"/>
            <a:ext cx="3090220" cy="923330"/>
          </a:xfrm>
          <a:prstGeom prst="rect">
            <a:avLst/>
          </a:prstGeom>
          <a:solidFill>
            <a:schemeClr val="accent2">
              <a:lumMod val="20000"/>
              <a:lumOff val="80000"/>
            </a:schemeClr>
          </a:solidFill>
          <a:ln>
            <a:solidFill>
              <a:schemeClr val="accent1"/>
            </a:solidFill>
          </a:ln>
        </p:spPr>
        <p:txBody>
          <a:bodyPr wrap="square">
            <a:spAutoFit/>
          </a:bodyPr>
          <a:lstStyle/>
          <a:p>
            <a:pPr>
              <a:buNone/>
            </a:pPr>
            <a:r>
              <a:rPr lang="en-IN" b="1" dirty="0"/>
              <a:t>Goal of Kasai</a:t>
            </a:r>
          </a:p>
          <a:p>
            <a:pPr>
              <a:buNone/>
            </a:pPr>
            <a:r>
              <a:rPr lang="en-IN" b="1" dirty="0"/>
              <a:t>Kasai wants to build</a:t>
            </a:r>
          </a:p>
          <a:p>
            <a:pPr rtl="0">
              <a:buNone/>
            </a:pPr>
            <a:r>
              <a:rPr lang="en-IN" b="1" dirty="0">
                <a:latin typeface="Courier New" panose="02070309020205020404" pitchFamily="49" charset="0"/>
              </a:rPr>
              <a:t>LCP = ?</a:t>
            </a:r>
          </a:p>
        </p:txBody>
      </p:sp>
      <p:graphicFrame>
        <p:nvGraphicFramePr>
          <p:cNvPr id="4" name="Table 3">
            <a:extLst>
              <a:ext uri="{FF2B5EF4-FFF2-40B4-BE49-F238E27FC236}">
                <a16:creationId xmlns:a16="http://schemas.microsoft.com/office/drawing/2014/main" id="{0BB09432-4417-106F-7D39-283EE689EDC4}"/>
              </a:ext>
            </a:extLst>
          </p:cNvPr>
          <p:cNvGraphicFramePr>
            <a:graphicFrameLocks noGrp="1"/>
          </p:cNvGraphicFramePr>
          <p:nvPr>
            <p:extLst>
              <p:ext uri="{D42A27DB-BD31-4B8C-83A1-F6EECF244321}">
                <p14:modId xmlns:p14="http://schemas.microsoft.com/office/powerpoint/2010/main" val="1292824921"/>
              </p:ext>
            </p:extLst>
          </p:nvPr>
        </p:nvGraphicFramePr>
        <p:xfrm>
          <a:off x="104366" y="2522563"/>
          <a:ext cx="11874274" cy="4079405"/>
        </p:xfrm>
        <a:graphic>
          <a:graphicData uri="http://schemas.openxmlformats.org/drawingml/2006/table">
            <a:tbl>
              <a:tblPr>
                <a:tableStyleId>{5940675A-B579-460E-94D1-54222C63F5DA}</a:tableStyleId>
              </a:tblPr>
              <a:tblGrid>
                <a:gridCol w="692191">
                  <a:extLst>
                    <a:ext uri="{9D8B030D-6E8A-4147-A177-3AD203B41FA5}">
                      <a16:colId xmlns:a16="http://schemas.microsoft.com/office/drawing/2014/main" val="2624997396"/>
                    </a:ext>
                  </a:extLst>
                </a:gridCol>
                <a:gridCol w="826422">
                  <a:extLst>
                    <a:ext uri="{9D8B030D-6E8A-4147-A177-3AD203B41FA5}">
                      <a16:colId xmlns:a16="http://schemas.microsoft.com/office/drawing/2014/main" val="2026713615"/>
                    </a:ext>
                  </a:extLst>
                </a:gridCol>
                <a:gridCol w="1188005">
                  <a:extLst>
                    <a:ext uri="{9D8B030D-6E8A-4147-A177-3AD203B41FA5}">
                      <a16:colId xmlns:a16="http://schemas.microsoft.com/office/drawing/2014/main" val="2966329250"/>
                    </a:ext>
                  </a:extLst>
                </a:gridCol>
                <a:gridCol w="773777">
                  <a:extLst>
                    <a:ext uri="{9D8B030D-6E8A-4147-A177-3AD203B41FA5}">
                      <a16:colId xmlns:a16="http://schemas.microsoft.com/office/drawing/2014/main" val="2684572324"/>
                    </a:ext>
                  </a:extLst>
                </a:gridCol>
                <a:gridCol w="1946814">
                  <a:extLst>
                    <a:ext uri="{9D8B030D-6E8A-4147-A177-3AD203B41FA5}">
                      <a16:colId xmlns:a16="http://schemas.microsoft.com/office/drawing/2014/main" val="920884820"/>
                    </a:ext>
                  </a:extLst>
                </a:gridCol>
                <a:gridCol w="2666806">
                  <a:extLst>
                    <a:ext uri="{9D8B030D-6E8A-4147-A177-3AD203B41FA5}">
                      <a16:colId xmlns:a16="http://schemas.microsoft.com/office/drawing/2014/main" val="3784174792"/>
                    </a:ext>
                  </a:extLst>
                </a:gridCol>
                <a:gridCol w="1084625">
                  <a:extLst>
                    <a:ext uri="{9D8B030D-6E8A-4147-A177-3AD203B41FA5}">
                      <a16:colId xmlns:a16="http://schemas.microsoft.com/office/drawing/2014/main" val="3962861930"/>
                    </a:ext>
                  </a:extLst>
                </a:gridCol>
                <a:gridCol w="1305688">
                  <a:extLst>
                    <a:ext uri="{9D8B030D-6E8A-4147-A177-3AD203B41FA5}">
                      <a16:colId xmlns:a16="http://schemas.microsoft.com/office/drawing/2014/main" val="3609829075"/>
                    </a:ext>
                  </a:extLst>
                </a:gridCol>
                <a:gridCol w="1389946">
                  <a:extLst>
                    <a:ext uri="{9D8B030D-6E8A-4147-A177-3AD203B41FA5}">
                      <a16:colId xmlns:a16="http://schemas.microsoft.com/office/drawing/2014/main" val="1585080963"/>
                    </a:ext>
                  </a:extLst>
                </a:gridCol>
              </a:tblGrid>
              <a:tr h="794253">
                <a:tc>
                  <a:txBody>
                    <a:bodyPr/>
                    <a:lstStyle/>
                    <a:p>
                      <a:pPr algn="ctr">
                        <a:buNone/>
                      </a:pPr>
                      <a:r>
                        <a:rPr lang="en-IN" sz="1600" b="1" dirty="0">
                          <a:highlight>
                            <a:srgbClr val="FFFF00"/>
                          </a:highlight>
                          <a:latin typeface="Times New Roman" panose="02020603050405020304" pitchFamily="18" charset="0"/>
                          <a:cs typeface="Times New Roman" panose="02020603050405020304" pitchFamily="18" charset="0"/>
                        </a:rPr>
                        <a:t>Step</a:t>
                      </a:r>
                    </a:p>
                  </a:txBody>
                  <a:tcPr marL="47817" marR="47817" marT="23908" marB="23908" anchor="ctr"/>
                </a:tc>
                <a:tc>
                  <a:txBody>
                    <a:bodyPr/>
                    <a:lstStyle/>
                    <a:p>
                      <a:pPr algn="ctr">
                        <a:buNone/>
                      </a:pPr>
                      <a:r>
                        <a:rPr lang="en-IN" sz="1600" b="1" dirty="0">
                          <a:highlight>
                            <a:srgbClr val="FFFF00"/>
                          </a:highlight>
                          <a:latin typeface="Times New Roman" panose="02020603050405020304" pitchFamily="18" charset="0"/>
                          <a:cs typeface="Times New Roman" panose="02020603050405020304" pitchFamily="18" charset="0"/>
                        </a:rPr>
                        <a:t>Current Index (</a:t>
                      </a:r>
                      <a:r>
                        <a:rPr lang="en-IN" sz="1600" b="1" dirty="0" err="1">
                          <a:highlight>
                            <a:srgbClr val="FFFF00"/>
                          </a:highlight>
                          <a:latin typeface="Times New Roman" panose="02020603050405020304" pitchFamily="18" charset="0"/>
                          <a:cs typeface="Times New Roman" panose="02020603050405020304" pitchFamily="18" charset="0"/>
                        </a:rPr>
                        <a:t>i</a:t>
                      </a:r>
                      <a:r>
                        <a:rPr lang="en-IN" sz="1600" b="1" dirty="0">
                          <a:highlight>
                            <a:srgbClr val="FFFF00"/>
                          </a:highlight>
                          <a:latin typeface="Times New Roman" panose="02020603050405020304" pitchFamily="18" charset="0"/>
                          <a:cs typeface="Times New Roman" panose="02020603050405020304" pitchFamily="18" charset="0"/>
                        </a:rPr>
                        <a:t>)</a:t>
                      </a:r>
                    </a:p>
                  </a:txBody>
                  <a:tcPr marL="47817" marR="47817" marT="23908" marB="23908" anchor="ctr"/>
                </a:tc>
                <a:tc>
                  <a:txBody>
                    <a:bodyPr/>
                    <a:lstStyle/>
                    <a:p>
                      <a:pPr algn="ctr">
                        <a:buNone/>
                      </a:pPr>
                      <a:r>
                        <a:rPr lang="en-IN" sz="1600" b="1" dirty="0">
                          <a:highlight>
                            <a:srgbClr val="FFFF00"/>
                          </a:highlight>
                          <a:latin typeface="Times New Roman" panose="02020603050405020304" pitchFamily="18" charset="0"/>
                          <a:cs typeface="Times New Roman" panose="02020603050405020304" pitchFamily="18" charset="0"/>
                        </a:rPr>
                        <a:t>Current Suffix</a:t>
                      </a:r>
                    </a:p>
                  </a:txBody>
                  <a:tcPr marL="47817" marR="47817" marT="23908" marB="23908" anchor="ctr"/>
                </a:tc>
                <a:tc>
                  <a:txBody>
                    <a:bodyPr/>
                    <a:lstStyle/>
                    <a:p>
                      <a:pPr algn="ctr">
                        <a:buNone/>
                      </a:pPr>
                      <a:r>
                        <a:rPr lang="en-IN" sz="1600" b="1" dirty="0">
                          <a:highlight>
                            <a:srgbClr val="FFFF00"/>
                          </a:highlight>
                          <a:latin typeface="Times New Roman" panose="02020603050405020304" pitchFamily="18" charset="0"/>
                          <a:cs typeface="Times New Roman" panose="02020603050405020304" pitchFamily="18" charset="0"/>
                        </a:rPr>
                        <a:t>Rank[</a:t>
                      </a:r>
                      <a:r>
                        <a:rPr lang="en-IN" sz="1600" b="1" dirty="0" err="1">
                          <a:highlight>
                            <a:srgbClr val="FFFF00"/>
                          </a:highlight>
                          <a:latin typeface="Times New Roman" panose="02020603050405020304" pitchFamily="18" charset="0"/>
                          <a:cs typeface="Times New Roman" panose="02020603050405020304" pitchFamily="18" charset="0"/>
                        </a:rPr>
                        <a:t>i</a:t>
                      </a:r>
                      <a:r>
                        <a:rPr lang="en-IN" sz="1600" b="1" dirty="0">
                          <a:highlight>
                            <a:srgbClr val="FFFF00"/>
                          </a:highlight>
                          <a:latin typeface="Times New Roman" panose="02020603050405020304" pitchFamily="18" charset="0"/>
                          <a:cs typeface="Times New Roman" panose="02020603050405020304" pitchFamily="18" charset="0"/>
                        </a:rPr>
                        <a:t>]</a:t>
                      </a:r>
                    </a:p>
                  </a:txBody>
                  <a:tcPr marL="47817" marR="47817" marT="23908" marB="23908" anchor="ctr"/>
                </a:tc>
                <a:tc>
                  <a:txBody>
                    <a:bodyPr/>
                    <a:lstStyle/>
                    <a:p>
                      <a:pPr algn="ctr">
                        <a:buNone/>
                      </a:pPr>
                      <a:r>
                        <a:rPr lang="en-IN" sz="1600" b="1" dirty="0">
                          <a:highlight>
                            <a:srgbClr val="FFFF00"/>
                          </a:highlight>
                          <a:latin typeface="Times New Roman" panose="02020603050405020304" pitchFamily="18" charset="0"/>
                          <a:cs typeface="Times New Roman" panose="02020603050405020304" pitchFamily="18" charset="0"/>
                        </a:rPr>
                        <a:t>Previous Suffix in SA </a:t>
                      </a:r>
                    </a:p>
                    <a:p>
                      <a:pPr algn="ctr">
                        <a:buNone/>
                      </a:pPr>
                      <a:r>
                        <a:rPr lang="en-IN" sz="1600" b="1" dirty="0">
                          <a:highlight>
                            <a:srgbClr val="FFFF00"/>
                          </a:highlight>
                          <a:latin typeface="Times New Roman" panose="02020603050405020304" pitchFamily="18" charset="0"/>
                          <a:cs typeface="Times New Roman" panose="02020603050405020304" pitchFamily="18" charset="0"/>
                        </a:rPr>
                        <a:t>(SA[Rank[</a:t>
                      </a:r>
                      <a:r>
                        <a:rPr lang="en-IN" sz="1600" b="1" dirty="0" err="1">
                          <a:highlight>
                            <a:srgbClr val="FFFF00"/>
                          </a:highlight>
                          <a:latin typeface="Times New Roman" panose="02020603050405020304" pitchFamily="18" charset="0"/>
                          <a:cs typeface="Times New Roman" panose="02020603050405020304" pitchFamily="18" charset="0"/>
                        </a:rPr>
                        <a:t>i</a:t>
                      </a:r>
                      <a:r>
                        <a:rPr lang="en-IN" sz="1600" b="1" dirty="0">
                          <a:highlight>
                            <a:srgbClr val="FFFF00"/>
                          </a:highlight>
                          <a:latin typeface="Times New Roman" panose="02020603050405020304" pitchFamily="18" charset="0"/>
                          <a:cs typeface="Times New Roman" panose="02020603050405020304" pitchFamily="18" charset="0"/>
                        </a:rPr>
                        <a:t>]-1])</a:t>
                      </a:r>
                    </a:p>
                  </a:txBody>
                  <a:tcPr marL="47817" marR="47817" marT="23908" marB="23908" anchor="ctr"/>
                </a:tc>
                <a:tc>
                  <a:txBody>
                    <a:bodyPr/>
                    <a:lstStyle/>
                    <a:p>
                      <a:pPr algn="ctr">
                        <a:buNone/>
                      </a:pPr>
                      <a:r>
                        <a:rPr lang="en-IN" sz="1600" b="1" dirty="0">
                          <a:highlight>
                            <a:srgbClr val="FFFF00"/>
                          </a:highlight>
                          <a:latin typeface="Times New Roman" panose="02020603050405020304" pitchFamily="18" charset="0"/>
                          <a:cs typeface="Times New Roman" panose="02020603050405020304" pitchFamily="18" charset="0"/>
                        </a:rPr>
                        <a:t>Characters Compared</a:t>
                      </a:r>
                    </a:p>
                  </a:txBody>
                  <a:tcPr marL="47817" marR="47817" marT="23908" marB="23908" anchor="ctr"/>
                </a:tc>
                <a:tc>
                  <a:txBody>
                    <a:bodyPr/>
                    <a:lstStyle/>
                    <a:p>
                      <a:pPr algn="ctr">
                        <a:buNone/>
                      </a:pPr>
                      <a:r>
                        <a:rPr lang="en-IN" sz="1600" b="1" dirty="0">
                          <a:highlight>
                            <a:srgbClr val="FFFF00"/>
                          </a:highlight>
                          <a:latin typeface="Times New Roman" panose="02020603050405020304" pitchFamily="18" charset="0"/>
                          <a:cs typeface="Times New Roman" panose="02020603050405020304" pitchFamily="18" charset="0"/>
                        </a:rPr>
                        <a:t>LCP Found</a:t>
                      </a:r>
                    </a:p>
                  </a:txBody>
                  <a:tcPr marL="47817" marR="47817" marT="23908" marB="23908" anchor="ctr"/>
                </a:tc>
                <a:tc>
                  <a:txBody>
                    <a:bodyPr/>
                    <a:lstStyle/>
                    <a:p>
                      <a:pPr algn="ctr">
                        <a:buNone/>
                      </a:pPr>
                      <a:r>
                        <a:rPr lang="en-IN" sz="1600" b="1" dirty="0">
                          <a:highlight>
                            <a:srgbClr val="FFFF00"/>
                          </a:highlight>
                          <a:latin typeface="Times New Roman" panose="02020603050405020304" pitchFamily="18" charset="0"/>
                          <a:cs typeface="Times New Roman" panose="02020603050405020304" pitchFamily="18" charset="0"/>
                        </a:rPr>
                        <a:t>Store at LCP Position</a:t>
                      </a:r>
                    </a:p>
                  </a:txBody>
                  <a:tcPr marL="47817" marR="47817" marT="23908" marB="23908" anchor="ctr"/>
                </a:tc>
                <a:tc>
                  <a:txBody>
                    <a:bodyPr/>
                    <a:lstStyle/>
                    <a:p>
                      <a:pPr algn="ctr">
                        <a:buNone/>
                      </a:pPr>
                      <a:r>
                        <a:rPr lang="en-IN" sz="1600" b="1" dirty="0">
                          <a:highlight>
                            <a:srgbClr val="FFFF00"/>
                          </a:highlight>
                          <a:latin typeface="Times New Roman" panose="02020603050405020304" pitchFamily="18" charset="0"/>
                          <a:cs typeface="Times New Roman" panose="02020603050405020304" pitchFamily="18" charset="0"/>
                        </a:rPr>
                        <a:t>k after storing</a:t>
                      </a:r>
                    </a:p>
                  </a:txBody>
                  <a:tcPr marL="47817" marR="47817" marT="23908" marB="23908" anchor="ctr"/>
                </a:tc>
                <a:extLst>
                  <a:ext uri="{0D108BD9-81ED-4DB2-BD59-A6C34878D82A}">
                    <a16:rowId xmlns:a16="http://schemas.microsoft.com/office/drawing/2014/main" val="3886248329"/>
                  </a:ext>
                </a:extLst>
              </a:tr>
              <a:tr h="319389">
                <a:tc>
                  <a:txBody>
                    <a:bodyPr/>
                    <a:lstStyle/>
                    <a:p>
                      <a:pPr algn="ctr">
                        <a:buNone/>
                      </a:pPr>
                      <a:r>
                        <a:rPr lang="en-IN" sz="1700" b="1" dirty="0">
                          <a:latin typeface="Times New Roman" panose="02020603050405020304" pitchFamily="18" charset="0"/>
                          <a:cs typeface="Times New Roman" panose="02020603050405020304" pitchFamily="18" charset="0"/>
                        </a:rPr>
                        <a:t>1</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0</a:t>
                      </a:r>
                    </a:p>
                  </a:txBody>
                  <a:tcPr marL="47817" marR="47817" marT="23908" marB="23908" anchor="ctr"/>
                </a:tc>
                <a:tc>
                  <a:txBody>
                    <a:bodyPr/>
                    <a:lstStyle/>
                    <a:p>
                      <a:pPr>
                        <a:buNone/>
                      </a:pPr>
                      <a:r>
                        <a:rPr lang="en-IN" sz="1700" b="1" dirty="0">
                          <a:latin typeface="Times New Roman" panose="02020603050405020304" pitchFamily="18" charset="0"/>
                          <a:cs typeface="Times New Roman" panose="02020603050405020304" pitchFamily="18" charset="0"/>
                        </a:rPr>
                        <a:t>BANANA</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3</a:t>
                      </a:r>
                    </a:p>
                  </a:txBody>
                  <a:tcPr marL="47817" marR="47817" marT="23908" marB="23908" anchor="ctr"/>
                </a:tc>
                <a:tc>
                  <a:txBody>
                    <a:bodyPr/>
                    <a:lstStyle/>
                    <a:p>
                      <a:pPr>
                        <a:buNone/>
                      </a:pPr>
                      <a:r>
                        <a:rPr lang="en-IN" sz="1700" b="1" dirty="0">
                          <a:latin typeface="Times New Roman" panose="02020603050405020304" pitchFamily="18" charset="0"/>
                          <a:cs typeface="Times New Roman" panose="02020603050405020304" pitchFamily="18" charset="0"/>
                        </a:rPr>
                        <a:t>ANANA</a:t>
                      </a:r>
                    </a:p>
                  </a:txBody>
                  <a:tcPr marL="47817" marR="47817" marT="23908" marB="23908" anchor="ctr"/>
                </a:tc>
                <a:tc>
                  <a:txBody>
                    <a:bodyPr/>
                    <a:lstStyle/>
                    <a:p>
                      <a:pPr>
                        <a:buNone/>
                      </a:pPr>
                      <a:r>
                        <a:rPr lang="en-IN" sz="1700" b="1">
                          <a:latin typeface="Times New Roman" panose="02020603050405020304" pitchFamily="18" charset="0"/>
                          <a:cs typeface="Times New Roman" panose="02020603050405020304" pitchFamily="18" charset="0"/>
                        </a:rPr>
                        <a:t>B vs A → Different</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0</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LCP[3]=0</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0</a:t>
                      </a:r>
                    </a:p>
                  </a:txBody>
                  <a:tcPr marL="47817" marR="47817" marT="23908" marB="23908" anchor="ctr"/>
                </a:tc>
                <a:extLst>
                  <a:ext uri="{0D108BD9-81ED-4DB2-BD59-A6C34878D82A}">
                    <a16:rowId xmlns:a16="http://schemas.microsoft.com/office/drawing/2014/main" val="3292374865"/>
                  </a:ext>
                </a:extLst>
              </a:tr>
              <a:tr h="319389">
                <a:tc>
                  <a:txBody>
                    <a:bodyPr/>
                    <a:lstStyle/>
                    <a:p>
                      <a:pPr algn="ctr">
                        <a:buNone/>
                      </a:pPr>
                      <a:r>
                        <a:rPr lang="en-IN" sz="1700" b="1" dirty="0">
                          <a:latin typeface="Times New Roman" panose="02020603050405020304" pitchFamily="18" charset="0"/>
                          <a:cs typeface="Times New Roman" panose="02020603050405020304" pitchFamily="18" charset="0"/>
                        </a:rPr>
                        <a:t>2</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1</a:t>
                      </a:r>
                    </a:p>
                  </a:txBody>
                  <a:tcPr marL="47817" marR="47817" marT="23908" marB="23908" anchor="ctr"/>
                </a:tc>
                <a:tc>
                  <a:txBody>
                    <a:bodyPr/>
                    <a:lstStyle/>
                    <a:p>
                      <a:pPr>
                        <a:buNone/>
                      </a:pPr>
                      <a:r>
                        <a:rPr lang="en-IN" sz="1700" b="1" dirty="0">
                          <a:latin typeface="Times New Roman" panose="02020603050405020304" pitchFamily="18" charset="0"/>
                          <a:cs typeface="Times New Roman" panose="02020603050405020304" pitchFamily="18" charset="0"/>
                        </a:rPr>
                        <a:t>ANANA</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2</a:t>
                      </a:r>
                    </a:p>
                  </a:txBody>
                  <a:tcPr marL="47817" marR="47817" marT="23908" marB="23908" anchor="ctr"/>
                </a:tc>
                <a:tc>
                  <a:txBody>
                    <a:bodyPr/>
                    <a:lstStyle/>
                    <a:p>
                      <a:pPr>
                        <a:buNone/>
                      </a:pPr>
                      <a:r>
                        <a:rPr lang="en-IN" sz="1700" b="1" dirty="0">
                          <a:latin typeface="Times New Roman" panose="02020603050405020304" pitchFamily="18" charset="0"/>
                          <a:cs typeface="Times New Roman" panose="02020603050405020304" pitchFamily="18" charset="0"/>
                        </a:rPr>
                        <a:t>ANA</a:t>
                      </a:r>
                    </a:p>
                  </a:txBody>
                  <a:tcPr marL="47817" marR="47817" marT="23908" marB="23908" anchor="ctr"/>
                </a:tc>
                <a:tc>
                  <a:txBody>
                    <a:bodyPr/>
                    <a:lstStyle/>
                    <a:p>
                      <a:pPr>
                        <a:buNone/>
                      </a:pPr>
                      <a:r>
                        <a:rPr lang="en-IN" sz="1700" b="1">
                          <a:latin typeface="Times New Roman" panose="02020603050405020304" pitchFamily="18" charset="0"/>
                          <a:cs typeface="Times New Roman" panose="02020603050405020304" pitchFamily="18" charset="0"/>
                        </a:rPr>
                        <a:t>A=A, N=N, A=A</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3</a:t>
                      </a:r>
                    </a:p>
                  </a:txBody>
                  <a:tcPr marL="47817" marR="47817" marT="23908" marB="23908" anchor="ctr"/>
                </a:tc>
                <a:tc>
                  <a:txBody>
                    <a:bodyPr/>
                    <a:lstStyle/>
                    <a:p>
                      <a:pPr algn="ctr">
                        <a:buNone/>
                      </a:pPr>
                      <a:r>
                        <a:rPr lang="en-IN" sz="1700" b="1">
                          <a:latin typeface="Times New Roman" panose="02020603050405020304" pitchFamily="18" charset="0"/>
                          <a:cs typeface="Times New Roman" panose="02020603050405020304" pitchFamily="18" charset="0"/>
                        </a:rPr>
                        <a:t>LCP[2]=3</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(3−1)=2</a:t>
                      </a:r>
                    </a:p>
                  </a:txBody>
                  <a:tcPr marL="47817" marR="47817" marT="23908" marB="23908" anchor="ctr"/>
                </a:tc>
                <a:extLst>
                  <a:ext uri="{0D108BD9-81ED-4DB2-BD59-A6C34878D82A}">
                    <a16:rowId xmlns:a16="http://schemas.microsoft.com/office/drawing/2014/main" val="3585484357"/>
                  </a:ext>
                </a:extLst>
              </a:tr>
              <a:tr h="1277560">
                <a:tc>
                  <a:txBody>
                    <a:bodyPr/>
                    <a:lstStyle/>
                    <a:p>
                      <a:pPr algn="ctr">
                        <a:buNone/>
                      </a:pPr>
                      <a:r>
                        <a:rPr lang="en-IN" sz="1700" b="1" dirty="0">
                          <a:latin typeface="Times New Roman" panose="02020603050405020304" pitchFamily="18" charset="0"/>
                          <a:cs typeface="Times New Roman" panose="02020603050405020304" pitchFamily="18" charset="0"/>
                        </a:rPr>
                        <a:t>3</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2</a:t>
                      </a:r>
                    </a:p>
                  </a:txBody>
                  <a:tcPr marL="47817" marR="47817" marT="23908" marB="23908" anchor="ctr"/>
                </a:tc>
                <a:tc>
                  <a:txBody>
                    <a:bodyPr/>
                    <a:lstStyle/>
                    <a:p>
                      <a:pPr>
                        <a:buNone/>
                      </a:pPr>
                      <a:r>
                        <a:rPr lang="en-IN" sz="1700" b="1" dirty="0">
                          <a:latin typeface="Times New Roman" panose="02020603050405020304" pitchFamily="18" charset="0"/>
                          <a:cs typeface="Times New Roman" panose="02020603050405020304" pitchFamily="18" charset="0"/>
                        </a:rPr>
                        <a:t>NANA</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5</a:t>
                      </a:r>
                    </a:p>
                  </a:txBody>
                  <a:tcPr marL="47817" marR="47817" marT="23908" marB="23908" anchor="ctr"/>
                </a:tc>
                <a:tc>
                  <a:txBody>
                    <a:bodyPr/>
                    <a:lstStyle/>
                    <a:p>
                      <a:pPr>
                        <a:buNone/>
                      </a:pPr>
                      <a:r>
                        <a:rPr lang="en-IN" sz="1700" b="1" dirty="0">
                          <a:latin typeface="Times New Roman" panose="02020603050405020304" pitchFamily="18" charset="0"/>
                          <a:cs typeface="Times New Roman" panose="02020603050405020304" pitchFamily="18" charset="0"/>
                        </a:rPr>
                        <a:t>NA</a:t>
                      </a:r>
                    </a:p>
                  </a:txBody>
                  <a:tcPr marL="47817" marR="47817" marT="23908" marB="23908" anchor="ctr"/>
                </a:tc>
                <a:tc>
                  <a:txBody>
                    <a:bodyPr/>
                    <a:lstStyle/>
                    <a:p>
                      <a:pPr>
                        <a:buNone/>
                      </a:pPr>
                      <a:r>
                        <a:rPr lang="en-IN" sz="1700" b="1" dirty="0">
                          <a:latin typeface="Times New Roman" panose="02020603050405020304" pitchFamily="18" charset="0"/>
                          <a:cs typeface="Times New Roman" panose="02020603050405020304" pitchFamily="18" charset="0"/>
                        </a:rPr>
                        <a:t>First 2 chars already known (NA), no extra comparison needed</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2</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LCP[5]=2</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(2−1)=1</a:t>
                      </a:r>
                    </a:p>
                  </a:txBody>
                  <a:tcPr marL="47817" marR="47817" marT="23908" marB="23908" anchor="ctr"/>
                </a:tc>
                <a:extLst>
                  <a:ext uri="{0D108BD9-81ED-4DB2-BD59-A6C34878D82A}">
                    <a16:rowId xmlns:a16="http://schemas.microsoft.com/office/drawing/2014/main" val="3079721676"/>
                  </a:ext>
                </a:extLst>
              </a:tr>
              <a:tr h="593153">
                <a:tc>
                  <a:txBody>
                    <a:bodyPr/>
                    <a:lstStyle/>
                    <a:p>
                      <a:pPr algn="ctr">
                        <a:buNone/>
                      </a:pPr>
                      <a:r>
                        <a:rPr lang="en-IN" sz="1700" b="1" dirty="0">
                          <a:latin typeface="Times New Roman" panose="02020603050405020304" pitchFamily="18" charset="0"/>
                          <a:cs typeface="Times New Roman" panose="02020603050405020304" pitchFamily="18" charset="0"/>
                        </a:rPr>
                        <a:t>4</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3</a:t>
                      </a:r>
                    </a:p>
                  </a:txBody>
                  <a:tcPr marL="47817" marR="47817" marT="23908" marB="23908" anchor="ctr"/>
                </a:tc>
                <a:tc>
                  <a:txBody>
                    <a:bodyPr/>
                    <a:lstStyle/>
                    <a:p>
                      <a:pPr>
                        <a:buNone/>
                      </a:pPr>
                      <a:r>
                        <a:rPr lang="en-IN" sz="1700" b="1" dirty="0">
                          <a:latin typeface="Times New Roman" panose="02020603050405020304" pitchFamily="18" charset="0"/>
                          <a:cs typeface="Times New Roman" panose="02020603050405020304" pitchFamily="18" charset="0"/>
                        </a:rPr>
                        <a:t>ANA</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1</a:t>
                      </a:r>
                    </a:p>
                  </a:txBody>
                  <a:tcPr marL="47817" marR="47817" marT="23908" marB="23908" anchor="ctr"/>
                </a:tc>
                <a:tc>
                  <a:txBody>
                    <a:bodyPr/>
                    <a:lstStyle/>
                    <a:p>
                      <a:pPr>
                        <a:buNone/>
                      </a:pPr>
                      <a:r>
                        <a:rPr lang="en-IN" sz="1700" b="1" dirty="0">
                          <a:latin typeface="Times New Roman" panose="02020603050405020304" pitchFamily="18" charset="0"/>
                          <a:cs typeface="Times New Roman" panose="02020603050405020304" pitchFamily="18" charset="0"/>
                        </a:rPr>
                        <a:t>A</a:t>
                      </a:r>
                    </a:p>
                  </a:txBody>
                  <a:tcPr marL="47817" marR="47817" marT="23908" marB="23908" anchor="ctr"/>
                </a:tc>
                <a:tc>
                  <a:txBody>
                    <a:bodyPr/>
                    <a:lstStyle/>
                    <a:p>
                      <a:pPr>
                        <a:buNone/>
                      </a:pPr>
                      <a:r>
                        <a:rPr lang="en-IN" sz="1700" b="1">
                          <a:latin typeface="Times New Roman" panose="02020603050405020304" pitchFamily="18" charset="0"/>
                          <a:cs typeface="Times New Roman" panose="02020603050405020304" pitchFamily="18" charset="0"/>
                        </a:rPr>
                        <a:t>First 1 char already known (A)</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1</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LCP[1]=1</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0 (1−1)</a:t>
                      </a:r>
                    </a:p>
                  </a:txBody>
                  <a:tcPr marL="47817" marR="47817" marT="23908" marB="23908" anchor="ctr"/>
                </a:tc>
                <a:extLst>
                  <a:ext uri="{0D108BD9-81ED-4DB2-BD59-A6C34878D82A}">
                    <a16:rowId xmlns:a16="http://schemas.microsoft.com/office/drawing/2014/main" val="4225674408"/>
                  </a:ext>
                </a:extLst>
              </a:tr>
              <a:tr h="319389">
                <a:tc>
                  <a:txBody>
                    <a:bodyPr/>
                    <a:lstStyle/>
                    <a:p>
                      <a:pPr algn="ctr">
                        <a:buNone/>
                      </a:pPr>
                      <a:r>
                        <a:rPr lang="en-IN" sz="1700" b="1" dirty="0">
                          <a:latin typeface="Times New Roman" panose="02020603050405020304" pitchFamily="18" charset="0"/>
                          <a:cs typeface="Times New Roman" panose="02020603050405020304" pitchFamily="18" charset="0"/>
                        </a:rPr>
                        <a:t>5</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4</a:t>
                      </a:r>
                    </a:p>
                  </a:txBody>
                  <a:tcPr marL="47817" marR="47817" marT="23908" marB="23908" anchor="ctr"/>
                </a:tc>
                <a:tc>
                  <a:txBody>
                    <a:bodyPr/>
                    <a:lstStyle/>
                    <a:p>
                      <a:pPr>
                        <a:buNone/>
                      </a:pPr>
                      <a:r>
                        <a:rPr lang="en-IN" sz="1700" b="1" dirty="0">
                          <a:latin typeface="Times New Roman" panose="02020603050405020304" pitchFamily="18" charset="0"/>
                          <a:cs typeface="Times New Roman" panose="02020603050405020304" pitchFamily="18" charset="0"/>
                        </a:rPr>
                        <a:t>NA</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4</a:t>
                      </a:r>
                    </a:p>
                  </a:txBody>
                  <a:tcPr marL="47817" marR="47817" marT="23908" marB="23908" anchor="ctr"/>
                </a:tc>
                <a:tc>
                  <a:txBody>
                    <a:bodyPr/>
                    <a:lstStyle/>
                    <a:p>
                      <a:pPr>
                        <a:buNone/>
                      </a:pPr>
                      <a:r>
                        <a:rPr lang="en-IN" sz="1700" b="1" dirty="0">
                          <a:latin typeface="Times New Roman" panose="02020603050405020304" pitchFamily="18" charset="0"/>
                          <a:cs typeface="Times New Roman" panose="02020603050405020304" pitchFamily="18" charset="0"/>
                        </a:rPr>
                        <a:t>BANANA</a:t>
                      </a:r>
                    </a:p>
                  </a:txBody>
                  <a:tcPr marL="47817" marR="47817" marT="23908" marB="23908" anchor="ctr"/>
                </a:tc>
                <a:tc>
                  <a:txBody>
                    <a:bodyPr/>
                    <a:lstStyle/>
                    <a:p>
                      <a:pPr>
                        <a:buNone/>
                      </a:pPr>
                      <a:r>
                        <a:rPr lang="en-IN" sz="1700" b="1">
                          <a:latin typeface="Times New Roman" panose="02020603050405020304" pitchFamily="18" charset="0"/>
                          <a:cs typeface="Times New Roman" panose="02020603050405020304" pitchFamily="18" charset="0"/>
                        </a:rPr>
                        <a:t>N vs B → Different</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0</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LCP[4]=0</a:t>
                      </a:r>
                    </a:p>
                  </a:txBody>
                  <a:tcPr marL="47817" marR="47817" marT="23908" marB="23908" anchor="ctr"/>
                </a:tc>
                <a:tc>
                  <a:txBody>
                    <a:bodyPr/>
                    <a:lstStyle/>
                    <a:p>
                      <a:pPr algn="ctr">
                        <a:buNone/>
                      </a:pPr>
                      <a:r>
                        <a:rPr lang="en-IN" sz="1700" b="1">
                          <a:latin typeface="Times New Roman" panose="02020603050405020304" pitchFamily="18" charset="0"/>
                          <a:cs typeface="Times New Roman" panose="02020603050405020304" pitchFamily="18" charset="0"/>
                        </a:rPr>
                        <a:t>0</a:t>
                      </a:r>
                    </a:p>
                  </a:txBody>
                  <a:tcPr marL="47817" marR="47817" marT="23908" marB="23908" anchor="ctr"/>
                </a:tc>
                <a:extLst>
                  <a:ext uri="{0D108BD9-81ED-4DB2-BD59-A6C34878D82A}">
                    <a16:rowId xmlns:a16="http://schemas.microsoft.com/office/drawing/2014/main" val="3806952020"/>
                  </a:ext>
                </a:extLst>
              </a:tr>
              <a:tr h="456272">
                <a:tc>
                  <a:txBody>
                    <a:bodyPr/>
                    <a:lstStyle/>
                    <a:p>
                      <a:pPr algn="ctr">
                        <a:buNone/>
                      </a:pPr>
                      <a:r>
                        <a:rPr lang="en-IN" sz="1700" b="1" dirty="0">
                          <a:latin typeface="Times New Roman" panose="02020603050405020304" pitchFamily="18" charset="0"/>
                          <a:cs typeface="Times New Roman" panose="02020603050405020304" pitchFamily="18" charset="0"/>
                        </a:rPr>
                        <a:t>6</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5</a:t>
                      </a:r>
                    </a:p>
                  </a:txBody>
                  <a:tcPr marL="47817" marR="47817" marT="23908" marB="23908" anchor="ctr"/>
                </a:tc>
                <a:tc>
                  <a:txBody>
                    <a:bodyPr/>
                    <a:lstStyle/>
                    <a:p>
                      <a:pPr>
                        <a:buNone/>
                      </a:pPr>
                      <a:r>
                        <a:rPr lang="en-IN" sz="1700" b="1" dirty="0">
                          <a:latin typeface="Times New Roman" panose="02020603050405020304" pitchFamily="18" charset="0"/>
                          <a:cs typeface="Times New Roman" panose="02020603050405020304" pitchFamily="18" charset="0"/>
                        </a:rPr>
                        <a:t>A</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0</a:t>
                      </a:r>
                    </a:p>
                  </a:txBody>
                  <a:tcPr marL="47817" marR="47817" marT="23908" marB="23908" anchor="ctr"/>
                </a:tc>
                <a:tc>
                  <a:txBody>
                    <a:bodyPr/>
                    <a:lstStyle/>
                    <a:p>
                      <a:pPr>
                        <a:buNone/>
                      </a:pPr>
                      <a:r>
                        <a:rPr lang="en-IN" sz="1700" b="1" dirty="0">
                          <a:latin typeface="Times New Roman" panose="02020603050405020304" pitchFamily="18" charset="0"/>
                          <a:cs typeface="Times New Roman" panose="02020603050405020304" pitchFamily="18" charset="0"/>
                        </a:rPr>
                        <a:t>No previous suffix</a:t>
                      </a:r>
                    </a:p>
                  </a:txBody>
                  <a:tcPr marL="47817" marR="47817" marT="23908" marB="23908" anchor="ctr"/>
                </a:tc>
                <a:tc>
                  <a:txBody>
                    <a:bodyPr/>
                    <a:lstStyle/>
                    <a:p>
                      <a:pPr>
                        <a:buNone/>
                      </a:pPr>
                      <a:r>
                        <a:rPr lang="en-IN" sz="1700" b="1" dirty="0">
                          <a:latin typeface="Times New Roman" panose="02020603050405020304" pitchFamily="18" charset="0"/>
                          <a:cs typeface="Times New Roman" panose="02020603050405020304" pitchFamily="18" charset="0"/>
                        </a:rPr>
                        <a:t>Skip</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a:t>
                      </a:r>
                    </a:p>
                  </a:txBody>
                  <a:tcPr marL="47817" marR="47817" marT="23908" marB="23908" anchor="ctr"/>
                </a:tc>
                <a:tc>
                  <a:txBody>
                    <a:bodyPr/>
                    <a:lstStyle/>
                    <a:p>
                      <a:pPr algn="ctr">
                        <a:buNone/>
                      </a:pPr>
                      <a:r>
                        <a:rPr lang="en-IN" sz="1700" b="1" dirty="0">
                          <a:latin typeface="Times New Roman" panose="02020603050405020304" pitchFamily="18" charset="0"/>
                          <a:cs typeface="Times New Roman" panose="02020603050405020304" pitchFamily="18" charset="0"/>
                        </a:rPr>
                        <a:t>0</a:t>
                      </a:r>
                    </a:p>
                  </a:txBody>
                  <a:tcPr marL="47817" marR="47817" marT="23908" marB="23908" anchor="ctr"/>
                </a:tc>
                <a:extLst>
                  <a:ext uri="{0D108BD9-81ED-4DB2-BD59-A6C34878D82A}">
                    <a16:rowId xmlns:a16="http://schemas.microsoft.com/office/drawing/2014/main" val="1406213947"/>
                  </a:ext>
                </a:extLst>
              </a:tr>
            </a:tbl>
          </a:graphicData>
        </a:graphic>
      </p:graphicFrame>
      <p:graphicFrame>
        <p:nvGraphicFramePr>
          <p:cNvPr id="6" name="Table 5">
            <a:extLst>
              <a:ext uri="{FF2B5EF4-FFF2-40B4-BE49-F238E27FC236}">
                <a16:creationId xmlns:a16="http://schemas.microsoft.com/office/drawing/2014/main" id="{0DB5CB70-CCB8-BB6C-3C04-497FFFBB200E}"/>
              </a:ext>
            </a:extLst>
          </p:cNvPr>
          <p:cNvGraphicFramePr>
            <a:graphicFrameLocks noGrp="1"/>
          </p:cNvGraphicFramePr>
          <p:nvPr>
            <p:extLst>
              <p:ext uri="{D42A27DB-BD31-4B8C-83A1-F6EECF244321}">
                <p14:modId xmlns:p14="http://schemas.microsoft.com/office/powerpoint/2010/main" val="1387685023"/>
              </p:ext>
            </p:extLst>
          </p:nvPr>
        </p:nvGraphicFramePr>
        <p:xfrm>
          <a:off x="7686472" y="151168"/>
          <a:ext cx="1984416" cy="2133600"/>
        </p:xfrm>
        <a:graphic>
          <a:graphicData uri="http://schemas.openxmlformats.org/drawingml/2006/table">
            <a:tbl>
              <a:tblPr>
                <a:tableStyleId>{5940675A-B579-460E-94D1-54222C63F5DA}</a:tableStyleId>
              </a:tblPr>
              <a:tblGrid>
                <a:gridCol w="822807">
                  <a:extLst>
                    <a:ext uri="{9D8B030D-6E8A-4147-A177-3AD203B41FA5}">
                      <a16:colId xmlns:a16="http://schemas.microsoft.com/office/drawing/2014/main" val="1661349146"/>
                    </a:ext>
                  </a:extLst>
                </a:gridCol>
                <a:gridCol w="1161609">
                  <a:extLst>
                    <a:ext uri="{9D8B030D-6E8A-4147-A177-3AD203B41FA5}">
                      <a16:colId xmlns:a16="http://schemas.microsoft.com/office/drawing/2014/main" val="3029621555"/>
                    </a:ext>
                  </a:extLst>
                </a:gridCol>
              </a:tblGrid>
              <a:tr h="282625">
                <a:tc>
                  <a:txBody>
                    <a:bodyPr/>
                    <a:lstStyle/>
                    <a:p>
                      <a:pPr algn="ctr">
                        <a:buNone/>
                      </a:pPr>
                      <a:r>
                        <a:rPr lang="en-IN" sz="1400" b="1" dirty="0">
                          <a:solidFill>
                            <a:srgbClr val="C00000"/>
                          </a:solidFill>
                          <a:highlight>
                            <a:srgbClr val="FFFF00"/>
                          </a:highlight>
                        </a:rPr>
                        <a:t>Rank</a:t>
                      </a:r>
                    </a:p>
                  </a:txBody>
                  <a:tcPr anchor="ctr"/>
                </a:tc>
                <a:tc>
                  <a:txBody>
                    <a:bodyPr/>
                    <a:lstStyle/>
                    <a:p>
                      <a:pPr algn="ctr">
                        <a:buNone/>
                      </a:pPr>
                      <a:r>
                        <a:rPr lang="en-IN" sz="1400" b="1" dirty="0">
                          <a:solidFill>
                            <a:srgbClr val="C00000"/>
                          </a:solidFill>
                          <a:highlight>
                            <a:srgbClr val="FFFF00"/>
                          </a:highlight>
                        </a:rPr>
                        <a:t>Suffix</a:t>
                      </a:r>
                    </a:p>
                  </a:txBody>
                  <a:tcPr anchor="ctr"/>
                </a:tc>
                <a:extLst>
                  <a:ext uri="{0D108BD9-81ED-4DB2-BD59-A6C34878D82A}">
                    <a16:rowId xmlns:a16="http://schemas.microsoft.com/office/drawing/2014/main" val="1773476451"/>
                  </a:ext>
                </a:extLst>
              </a:tr>
              <a:tr h="282625">
                <a:tc>
                  <a:txBody>
                    <a:bodyPr/>
                    <a:lstStyle/>
                    <a:p>
                      <a:pPr algn="ctr">
                        <a:buNone/>
                      </a:pPr>
                      <a:r>
                        <a:rPr lang="en-IN" sz="1400" b="1" dirty="0"/>
                        <a:t>0</a:t>
                      </a:r>
                    </a:p>
                  </a:txBody>
                  <a:tcPr anchor="ctr"/>
                </a:tc>
                <a:tc>
                  <a:txBody>
                    <a:bodyPr/>
                    <a:lstStyle/>
                    <a:p>
                      <a:pPr algn="ctr">
                        <a:buNone/>
                      </a:pPr>
                      <a:r>
                        <a:rPr lang="en-IN" sz="1400" b="1" dirty="0"/>
                        <a:t>a</a:t>
                      </a:r>
                    </a:p>
                  </a:txBody>
                  <a:tcPr anchor="ctr"/>
                </a:tc>
                <a:extLst>
                  <a:ext uri="{0D108BD9-81ED-4DB2-BD59-A6C34878D82A}">
                    <a16:rowId xmlns:a16="http://schemas.microsoft.com/office/drawing/2014/main" val="687664861"/>
                  </a:ext>
                </a:extLst>
              </a:tr>
              <a:tr h="282625">
                <a:tc>
                  <a:txBody>
                    <a:bodyPr/>
                    <a:lstStyle/>
                    <a:p>
                      <a:pPr algn="ctr">
                        <a:buNone/>
                      </a:pPr>
                      <a:r>
                        <a:rPr lang="en-IN" sz="1400" b="1" dirty="0"/>
                        <a:t>1</a:t>
                      </a:r>
                    </a:p>
                  </a:txBody>
                  <a:tcPr anchor="ctr"/>
                </a:tc>
                <a:tc>
                  <a:txBody>
                    <a:bodyPr/>
                    <a:lstStyle/>
                    <a:p>
                      <a:pPr algn="ctr">
                        <a:buNone/>
                      </a:pPr>
                      <a:r>
                        <a:rPr lang="en-IN" sz="1400" b="1" dirty="0"/>
                        <a:t>ana</a:t>
                      </a:r>
                    </a:p>
                  </a:txBody>
                  <a:tcPr anchor="ctr"/>
                </a:tc>
                <a:extLst>
                  <a:ext uri="{0D108BD9-81ED-4DB2-BD59-A6C34878D82A}">
                    <a16:rowId xmlns:a16="http://schemas.microsoft.com/office/drawing/2014/main" val="596723857"/>
                  </a:ext>
                </a:extLst>
              </a:tr>
              <a:tr h="282625">
                <a:tc>
                  <a:txBody>
                    <a:bodyPr/>
                    <a:lstStyle/>
                    <a:p>
                      <a:pPr algn="ctr">
                        <a:buNone/>
                      </a:pPr>
                      <a:r>
                        <a:rPr lang="en-IN" sz="1400" b="1" dirty="0"/>
                        <a:t>2</a:t>
                      </a:r>
                    </a:p>
                  </a:txBody>
                  <a:tcPr anchor="ctr"/>
                </a:tc>
                <a:tc>
                  <a:txBody>
                    <a:bodyPr/>
                    <a:lstStyle/>
                    <a:p>
                      <a:pPr algn="ctr">
                        <a:buNone/>
                      </a:pPr>
                      <a:r>
                        <a:rPr lang="en-IN" sz="1400" b="1" dirty="0" err="1"/>
                        <a:t>anana</a:t>
                      </a:r>
                      <a:endParaRPr lang="en-IN" sz="1400" b="1" dirty="0"/>
                    </a:p>
                  </a:txBody>
                  <a:tcPr anchor="ctr"/>
                </a:tc>
                <a:extLst>
                  <a:ext uri="{0D108BD9-81ED-4DB2-BD59-A6C34878D82A}">
                    <a16:rowId xmlns:a16="http://schemas.microsoft.com/office/drawing/2014/main" val="166694825"/>
                  </a:ext>
                </a:extLst>
              </a:tr>
              <a:tr h="282625">
                <a:tc>
                  <a:txBody>
                    <a:bodyPr/>
                    <a:lstStyle/>
                    <a:p>
                      <a:pPr algn="ctr">
                        <a:buNone/>
                      </a:pPr>
                      <a:r>
                        <a:rPr lang="en-IN" sz="1400" b="1" dirty="0"/>
                        <a:t>3</a:t>
                      </a:r>
                    </a:p>
                  </a:txBody>
                  <a:tcPr anchor="ctr"/>
                </a:tc>
                <a:tc>
                  <a:txBody>
                    <a:bodyPr/>
                    <a:lstStyle/>
                    <a:p>
                      <a:pPr algn="ctr">
                        <a:buNone/>
                      </a:pPr>
                      <a:r>
                        <a:rPr lang="en-IN" sz="1400" b="1" dirty="0"/>
                        <a:t>banana</a:t>
                      </a:r>
                    </a:p>
                  </a:txBody>
                  <a:tcPr anchor="ctr"/>
                </a:tc>
                <a:extLst>
                  <a:ext uri="{0D108BD9-81ED-4DB2-BD59-A6C34878D82A}">
                    <a16:rowId xmlns:a16="http://schemas.microsoft.com/office/drawing/2014/main" val="1941960945"/>
                  </a:ext>
                </a:extLst>
              </a:tr>
              <a:tr h="282625">
                <a:tc>
                  <a:txBody>
                    <a:bodyPr/>
                    <a:lstStyle/>
                    <a:p>
                      <a:pPr algn="ctr">
                        <a:buNone/>
                      </a:pPr>
                      <a:r>
                        <a:rPr lang="en-IN" sz="1400" b="1"/>
                        <a:t>4</a:t>
                      </a:r>
                    </a:p>
                  </a:txBody>
                  <a:tcPr anchor="ctr"/>
                </a:tc>
                <a:tc>
                  <a:txBody>
                    <a:bodyPr/>
                    <a:lstStyle/>
                    <a:p>
                      <a:pPr algn="ctr">
                        <a:buNone/>
                      </a:pPr>
                      <a:r>
                        <a:rPr lang="en-IN" sz="1400" b="1" dirty="0" err="1"/>
                        <a:t>na</a:t>
                      </a:r>
                      <a:endParaRPr lang="en-IN" sz="1400" b="1" dirty="0"/>
                    </a:p>
                  </a:txBody>
                  <a:tcPr anchor="ctr"/>
                </a:tc>
                <a:extLst>
                  <a:ext uri="{0D108BD9-81ED-4DB2-BD59-A6C34878D82A}">
                    <a16:rowId xmlns:a16="http://schemas.microsoft.com/office/drawing/2014/main" val="4266786026"/>
                  </a:ext>
                </a:extLst>
              </a:tr>
              <a:tr h="282625">
                <a:tc>
                  <a:txBody>
                    <a:bodyPr/>
                    <a:lstStyle/>
                    <a:p>
                      <a:pPr algn="ctr">
                        <a:buNone/>
                      </a:pPr>
                      <a:r>
                        <a:rPr lang="en-IN" sz="1400" b="1"/>
                        <a:t>5</a:t>
                      </a:r>
                    </a:p>
                  </a:txBody>
                  <a:tcPr anchor="ctr"/>
                </a:tc>
                <a:tc>
                  <a:txBody>
                    <a:bodyPr/>
                    <a:lstStyle/>
                    <a:p>
                      <a:pPr algn="ctr">
                        <a:buNone/>
                      </a:pPr>
                      <a:r>
                        <a:rPr lang="en-IN" sz="1400" b="1" dirty="0"/>
                        <a:t>nana</a:t>
                      </a:r>
                    </a:p>
                  </a:txBody>
                  <a:tcPr anchor="ctr"/>
                </a:tc>
                <a:extLst>
                  <a:ext uri="{0D108BD9-81ED-4DB2-BD59-A6C34878D82A}">
                    <a16:rowId xmlns:a16="http://schemas.microsoft.com/office/drawing/2014/main" val="155807565"/>
                  </a:ext>
                </a:extLst>
              </a:tr>
            </a:tbl>
          </a:graphicData>
        </a:graphic>
      </p:graphicFrame>
      <p:sp>
        <p:nvSpPr>
          <p:cNvPr id="8" name="TextBox 7">
            <a:extLst>
              <a:ext uri="{FF2B5EF4-FFF2-40B4-BE49-F238E27FC236}">
                <a16:creationId xmlns:a16="http://schemas.microsoft.com/office/drawing/2014/main" id="{6E0F68A2-19BE-6E6E-0111-2EE77E417E30}"/>
              </a:ext>
            </a:extLst>
          </p:cNvPr>
          <p:cNvSpPr txBox="1"/>
          <p:nvPr/>
        </p:nvSpPr>
        <p:spPr>
          <a:xfrm>
            <a:off x="9899312" y="141624"/>
            <a:ext cx="2191976" cy="707886"/>
          </a:xfrm>
          <a:prstGeom prst="rect">
            <a:avLst/>
          </a:prstGeom>
          <a:solidFill>
            <a:schemeClr val="accent2">
              <a:lumMod val="20000"/>
              <a:lumOff val="80000"/>
            </a:schemeClr>
          </a:solidFill>
          <a:ln>
            <a:solidFill>
              <a:schemeClr val="accent1"/>
            </a:solidFill>
          </a:ln>
        </p:spPr>
        <p:txBody>
          <a:bodyPr wrap="square">
            <a:spAutoFit/>
          </a:bodyPr>
          <a:lstStyle/>
          <a:p>
            <a:pPr lvl="0">
              <a:buNone/>
            </a:pPr>
            <a:r>
              <a:rPr lang="en-IN" sz="2000" b="1" dirty="0"/>
              <a:t>Suffix Array</a:t>
            </a:r>
          </a:p>
          <a:p>
            <a:pPr lvl="0">
              <a:buNone/>
            </a:pPr>
            <a:r>
              <a:rPr lang="en-IN" sz="2000" b="1" dirty="0"/>
              <a:t>SA = [5,3,1,0,4,2]</a:t>
            </a:r>
          </a:p>
        </p:txBody>
      </p:sp>
      <p:graphicFrame>
        <p:nvGraphicFramePr>
          <p:cNvPr id="5" name="Table 4">
            <a:extLst>
              <a:ext uri="{FF2B5EF4-FFF2-40B4-BE49-F238E27FC236}">
                <a16:creationId xmlns:a16="http://schemas.microsoft.com/office/drawing/2014/main" id="{186E29D6-24D3-42F7-9EFD-DD0514F9E625}"/>
              </a:ext>
            </a:extLst>
          </p:cNvPr>
          <p:cNvGraphicFramePr>
            <a:graphicFrameLocks noGrp="1"/>
          </p:cNvGraphicFramePr>
          <p:nvPr>
            <p:extLst>
              <p:ext uri="{D42A27DB-BD31-4B8C-83A1-F6EECF244321}">
                <p14:modId xmlns:p14="http://schemas.microsoft.com/office/powerpoint/2010/main" val="1825894296"/>
              </p:ext>
            </p:extLst>
          </p:nvPr>
        </p:nvGraphicFramePr>
        <p:xfrm>
          <a:off x="3437413" y="129145"/>
          <a:ext cx="1790457" cy="2211343"/>
        </p:xfrm>
        <a:graphic>
          <a:graphicData uri="http://schemas.openxmlformats.org/drawingml/2006/table">
            <a:tbl>
              <a:tblPr>
                <a:tableStyleId>{5940675A-B579-460E-94D1-54222C63F5DA}</a:tableStyleId>
              </a:tblPr>
              <a:tblGrid>
                <a:gridCol w="1143662">
                  <a:extLst>
                    <a:ext uri="{9D8B030D-6E8A-4147-A177-3AD203B41FA5}">
                      <a16:colId xmlns:a16="http://schemas.microsoft.com/office/drawing/2014/main" val="1592245732"/>
                    </a:ext>
                  </a:extLst>
                </a:gridCol>
                <a:gridCol w="646795">
                  <a:extLst>
                    <a:ext uri="{9D8B030D-6E8A-4147-A177-3AD203B41FA5}">
                      <a16:colId xmlns:a16="http://schemas.microsoft.com/office/drawing/2014/main" val="1986341650"/>
                    </a:ext>
                  </a:extLst>
                </a:gridCol>
              </a:tblGrid>
              <a:tr h="382543">
                <a:tc>
                  <a:txBody>
                    <a:bodyPr/>
                    <a:lstStyle/>
                    <a:p>
                      <a:pPr algn="ctr">
                        <a:buNone/>
                      </a:pPr>
                      <a:r>
                        <a:rPr lang="en-IN" sz="1200" b="1" dirty="0">
                          <a:solidFill>
                            <a:srgbClr val="C00000"/>
                          </a:solidFill>
                          <a:highlight>
                            <a:srgbClr val="FFFF00"/>
                          </a:highlight>
                          <a:latin typeface="Times New Roman" panose="02020603050405020304" pitchFamily="18" charset="0"/>
                          <a:cs typeface="Times New Roman" panose="02020603050405020304" pitchFamily="18" charset="0"/>
                        </a:rPr>
                        <a:t>Suffix Index</a:t>
                      </a:r>
                    </a:p>
                  </a:txBody>
                  <a:tcPr anchor="ctr"/>
                </a:tc>
                <a:tc>
                  <a:txBody>
                    <a:bodyPr/>
                    <a:lstStyle/>
                    <a:p>
                      <a:pPr algn="ctr">
                        <a:buNone/>
                      </a:pPr>
                      <a:r>
                        <a:rPr lang="en-IN" sz="1200" b="1" dirty="0">
                          <a:solidFill>
                            <a:srgbClr val="C00000"/>
                          </a:solidFill>
                          <a:highlight>
                            <a:srgbClr val="FFFF00"/>
                          </a:highlight>
                          <a:latin typeface="Times New Roman" panose="02020603050405020304" pitchFamily="18" charset="0"/>
                          <a:cs typeface="Times New Roman" panose="02020603050405020304" pitchFamily="18" charset="0"/>
                        </a:rPr>
                        <a:t>Rank</a:t>
                      </a:r>
                    </a:p>
                  </a:txBody>
                  <a:tcPr anchor="ctr"/>
                </a:tc>
                <a:extLst>
                  <a:ext uri="{0D108BD9-81ED-4DB2-BD59-A6C34878D82A}">
                    <a16:rowId xmlns:a16="http://schemas.microsoft.com/office/drawing/2014/main" val="1119673957"/>
                  </a:ext>
                </a:extLst>
              </a:tr>
              <a:tr h="271523">
                <a:tc>
                  <a:txBody>
                    <a:bodyPr/>
                    <a:lstStyle/>
                    <a:p>
                      <a:pPr algn="ctr">
                        <a:buNone/>
                      </a:pPr>
                      <a:r>
                        <a:rPr lang="en-IN" sz="1400" b="1" dirty="0">
                          <a:latin typeface="Times New Roman" panose="02020603050405020304" pitchFamily="18" charset="0"/>
                          <a:cs typeface="Times New Roman" panose="02020603050405020304" pitchFamily="18" charset="0"/>
                        </a:rPr>
                        <a:t>0</a:t>
                      </a:r>
                    </a:p>
                  </a:txBody>
                  <a:tcPr anchor="ctr"/>
                </a:tc>
                <a:tc>
                  <a:txBody>
                    <a:bodyPr/>
                    <a:lstStyle/>
                    <a:p>
                      <a:pPr algn="ctr">
                        <a:buNone/>
                      </a:pPr>
                      <a:r>
                        <a:rPr lang="en-IN" sz="1400" b="1" dirty="0">
                          <a:latin typeface="Times New Roman" panose="02020603050405020304" pitchFamily="18" charset="0"/>
                          <a:cs typeface="Times New Roman" panose="02020603050405020304" pitchFamily="18" charset="0"/>
                        </a:rPr>
                        <a:t>3</a:t>
                      </a:r>
                    </a:p>
                  </a:txBody>
                  <a:tcPr anchor="ctr"/>
                </a:tc>
                <a:extLst>
                  <a:ext uri="{0D108BD9-81ED-4DB2-BD59-A6C34878D82A}">
                    <a16:rowId xmlns:a16="http://schemas.microsoft.com/office/drawing/2014/main" val="2422131555"/>
                  </a:ext>
                </a:extLst>
              </a:tr>
              <a:tr h="271523">
                <a:tc>
                  <a:txBody>
                    <a:bodyPr/>
                    <a:lstStyle/>
                    <a:p>
                      <a:pPr algn="ctr">
                        <a:buNone/>
                      </a:pPr>
                      <a:r>
                        <a:rPr lang="en-IN" sz="1400" b="1" dirty="0">
                          <a:latin typeface="Times New Roman" panose="02020603050405020304" pitchFamily="18" charset="0"/>
                          <a:cs typeface="Times New Roman" panose="02020603050405020304" pitchFamily="18" charset="0"/>
                        </a:rPr>
                        <a:t>1</a:t>
                      </a:r>
                    </a:p>
                  </a:txBody>
                  <a:tcPr anchor="ctr"/>
                </a:tc>
                <a:tc>
                  <a:txBody>
                    <a:bodyPr/>
                    <a:lstStyle/>
                    <a:p>
                      <a:pPr algn="ctr">
                        <a:buNone/>
                      </a:pPr>
                      <a:r>
                        <a:rPr lang="en-IN" sz="1400" b="1" dirty="0">
                          <a:latin typeface="Times New Roman" panose="02020603050405020304" pitchFamily="18" charset="0"/>
                          <a:cs typeface="Times New Roman" panose="02020603050405020304" pitchFamily="18" charset="0"/>
                        </a:rPr>
                        <a:t>2</a:t>
                      </a:r>
                    </a:p>
                  </a:txBody>
                  <a:tcPr anchor="ctr"/>
                </a:tc>
                <a:extLst>
                  <a:ext uri="{0D108BD9-81ED-4DB2-BD59-A6C34878D82A}">
                    <a16:rowId xmlns:a16="http://schemas.microsoft.com/office/drawing/2014/main" val="2461420801"/>
                  </a:ext>
                </a:extLst>
              </a:tr>
              <a:tr h="271523">
                <a:tc>
                  <a:txBody>
                    <a:bodyPr/>
                    <a:lstStyle/>
                    <a:p>
                      <a:pPr algn="ctr">
                        <a:buNone/>
                      </a:pPr>
                      <a:r>
                        <a:rPr lang="en-IN" sz="1400" b="1" dirty="0">
                          <a:latin typeface="Times New Roman" panose="02020603050405020304" pitchFamily="18" charset="0"/>
                          <a:cs typeface="Times New Roman" panose="02020603050405020304" pitchFamily="18" charset="0"/>
                        </a:rPr>
                        <a:t>2</a:t>
                      </a:r>
                    </a:p>
                  </a:txBody>
                  <a:tcPr anchor="ctr"/>
                </a:tc>
                <a:tc>
                  <a:txBody>
                    <a:bodyPr/>
                    <a:lstStyle/>
                    <a:p>
                      <a:pPr algn="ctr">
                        <a:buNone/>
                      </a:pPr>
                      <a:r>
                        <a:rPr lang="en-IN" sz="1400" b="1" dirty="0">
                          <a:latin typeface="Times New Roman" panose="02020603050405020304" pitchFamily="18" charset="0"/>
                          <a:cs typeface="Times New Roman" panose="02020603050405020304" pitchFamily="18" charset="0"/>
                        </a:rPr>
                        <a:t>5</a:t>
                      </a:r>
                    </a:p>
                  </a:txBody>
                  <a:tcPr anchor="ctr"/>
                </a:tc>
                <a:extLst>
                  <a:ext uri="{0D108BD9-81ED-4DB2-BD59-A6C34878D82A}">
                    <a16:rowId xmlns:a16="http://schemas.microsoft.com/office/drawing/2014/main" val="2324052267"/>
                  </a:ext>
                </a:extLst>
              </a:tr>
              <a:tr h="271523">
                <a:tc>
                  <a:txBody>
                    <a:bodyPr/>
                    <a:lstStyle/>
                    <a:p>
                      <a:pPr algn="ctr">
                        <a:buNone/>
                      </a:pPr>
                      <a:r>
                        <a:rPr lang="en-IN" sz="1400" b="1" dirty="0">
                          <a:latin typeface="Times New Roman" panose="02020603050405020304" pitchFamily="18" charset="0"/>
                          <a:cs typeface="Times New Roman" panose="02020603050405020304" pitchFamily="18" charset="0"/>
                        </a:rPr>
                        <a:t>3</a:t>
                      </a:r>
                    </a:p>
                  </a:txBody>
                  <a:tcPr anchor="ctr"/>
                </a:tc>
                <a:tc>
                  <a:txBody>
                    <a:bodyPr/>
                    <a:lstStyle/>
                    <a:p>
                      <a:pPr algn="ctr">
                        <a:buNone/>
                      </a:pPr>
                      <a:r>
                        <a:rPr lang="en-IN" sz="1400" b="1"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2376754982"/>
                  </a:ext>
                </a:extLst>
              </a:tr>
              <a:tr h="271523">
                <a:tc>
                  <a:txBody>
                    <a:bodyPr/>
                    <a:lstStyle/>
                    <a:p>
                      <a:pPr algn="ctr">
                        <a:buNone/>
                      </a:pPr>
                      <a:r>
                        <a:rPr lang="en-IN" sz="1400" b="1" dirty="0">
                          <a:latin typeface="Times New Roman" panose="02020603050405020304" pitchFamily="18" charset="0"/>
                          <a:cs typeface="Times New Roman" panose="02020603050405020304" pitchFamily="18" charset="0"/>
                        </a:rPr>
                        <a:t>4</a:t>
                      </a:r>
                    </a:p>
                  </a:txBody>
                  <a:tcPr anchor="ctr"/>
                </a:tc>
                <a:tc>
                  <a:txBody>
                    <a:bodyPr/>
                    <a:lstStyle/>
                    <a:p>
                      <a:pPr algn="ctr">
                        <a:buNone/>
                      </a:pPr>
                      <a:r>
                        <a:rPr lang="en-IN" sz="1400" b="1" dirty="0">
                          <a:latin typeface="Times New Roman" panose="02020603050405020304" pitchFamily="18" charset="0"/>
                          <a:cs typeface="Times New Roman" panose="02020603050405020304" pitchFamily="18" charset="0"/>
                        </a:rPr>
                        <a:t>4</a:t>
                      </a:r>
                    </a:p>
                  </a:txBody>
                  <a:tcPr anchor="ctr"/>
                </a:tc>
                <a:extLst>
                  <a:ext uri="{0D108BD9-81ED-4DB2-BD59-A6C34878D82A}">
                    <a16:rowId xmlns:a16="http://schemas.microsoft.com/office/drawing/2014/main" val="4146825641"/>
                  </a:ext>
                </a:extLst>
              </a:tr>
              <a:tr h="271523">
                <a:tc>
                  <a:txBody>
                    <a:bodyPr/>
                    <a:lstStyle/>
                    <a:p>
                      <a:pPr algn="ctr">
                        <a:buNone/>
                      </a:pPr>
                      <a:r>
                        <a:rPr lang="en-IN" sz="1400" b="1" dirty="0">
                          <a:latin typeface="Times New Roman" panose="02020603050405020304" pitchFamily="18" charset="0"/>
                          <a:cs typeface="Times New Roman" panose="02020603050405020304" pitchFamily="18" charset="0"/>
                        </a:rPr>
                        <a:t>5</a:t>
                      </a:r>
                    </a:p>
                  </a:txBody>
                  <a:tcPr anchor="ctr"/>
                </a:tc>
                <a:tc>
                  <a:txBody>
                    <a:bodyPr/>
                    <a:lstStyle/>
                    <a:p>
                      <a:pPr algn="ctr">
                        <a:buNone/>
                      </a:pPr>
                      <a:r>
                        <a:rPr lang="en-IN" sz="1400" b="1" dirty="0">
                          <a:latin typeface="Times New Roman" panose="02020603050405020304" pitchFamily="18" charset="0"/>
                          <a:cs typeface="Times New Roman" panose="02020603050405020304" pitchFamily="18" charset="0"/>
                        </a:rPr>
                        <a:t>0</a:t>
                      </a:r>
                    </a:p>
                  </a:txBody>
                  <a:tcPr anchor="ctr"/>
                </a:tc>
                <a:extLst>
                  <a:ext uri="{0D108BD9-81ED-4DB2-BD59-A6C34878D82A}">
                    <a16:rowId xmlns:a16="http://schemas.microsoft.com/office/drawing/2014/main" val="2909853262"/>
                  </a:ext>
                </a:extLst>
              </a:tr>
            </a:tbl>
          </a:graphicData>
        </a:graphic>
      </p:graphicFrame>
      <p:sp>
        <p:nvSpPr>
          <p:cNvPr id="9" name="TextBox 8">
            <a:extLst>
              <a:ext uri="{FF2B5EF4-FFF2-40B4-BE49-F238E27FC236}">
                <a16:creationId xmlns:a16="http://schemas.microsoft.com/office/drawing/2014/main" id="{DA6AF0FC-BB1E-3C09-18A1-5AA9302C060F}"/>
              </a:ext>
            </a:extLst>
          </p:cNvPr>
          <p:cNvSpPr txBox="1"/>
          <p:nvPr/>
        </p:nvSpPr>
        <p:spPr>
          <a:xfrm>
            <a:off x="5346157" y="129145"/>
            <a:ext cx="1878900" cy="400110"/>
          </a:xfrm>
          <a:prstGeom prst="rect">
            <a:avLst/>
          </a:prstGeom>
          <a:solidFill>
            <a:schemeClr val="accent2">
              <a:lumMod val="20000"/>
              <a:lumOff val="80000"/>
            </a:schemeClr>
          </a:solidFill>
          <a:ln>
            <a:solidFill>
              <a:schemeClr val="accent1"/>
            </a:solidFill>
          </a:ln>
        </p:spPr>
        <p:txBody>
          <a:bodyPr wrap="square">
            <a:spAutoFit/>
          </a:bodyPr>
          <a:lstStyle/>
          <a:p>
            <a:pPr lvl="0">
              <a:buNone/>
            </a:pPr>
            <a:r>
              <a:rPr lang="en-IN" sz="2000" b="1" dirty="0"/>
              <a:t>Rank Array</a:t>
            </a:r>
          </a:p>
        </p:txBody>
      </p:sp>
      <p:sp>
        <p:nvSpPr>
          <p:cNvPr id="11" name="TextBox 10">
            <a:extLst>
              <a:ext uri="{FF2B5EF4-FFF2-40B4-BE49-F238E27FC236}">
                <a16:creationId xmlns:a16="http://schemas.microsoft.com/office/drawing/2014/main" id="{B89FADA3-9478-8ABA-B3C1-1F51EA11CD1D}"/>
              </a:ext>
            </a:extLst>
          </p:cNvPr>
          <p:cNvSpPr txBox="1"/>
          <p:nvPr/>
        </p:nvSpPr>
        <p:spPr>
          <a:xfrm>
            <a:off x="5359512" y="1418897"/>
            <a:ext cx="2079320" cy="707886"/>
          </a:xfrm>
          <a:prstGeom prst="rect">
            <a:avLst/>
          </a:prstGeom>
          <a:solidFill>
            <a:schemeClr val="accent2">
              <a:lumMod val="20000"/>
              <a:lumOff val="80000"/>
            </a:schemeClr>
          </a:solidFill>
          <a:ln>
            <a:solidFill>
              <a:schemeClr val="accent1"/>
            </a:solidFill>
          </a:ln>
        </p:spPr>
        <p:txBody>
          <a:bodyPr wrap="square">
            <a:spAutoFit/>
          </a:bodyPr>
          <a:lstStyle/>
          <a:p>
            <a:pPr lvl="0">
              <a:buNone/>
            </a:pPr>
            <a:r>
              <a:rPr lang="en-IN" sz="2000" b="1" dirty="0"/>
              <a:t>Rank Array</a:t>
            </a:r>
          </a:p>
          <a:p>
            <a:pPr lvl="0">
              <a:buNone/>
            </a:pPr>
            <a:r>
              <a:rPr lang="en-IN" sz="2000" b="1" dirty="0"/>
              <a:t>RA = [3,2,5,1,4,0]</a:t>
            </a:r>
          </a:p>
        </p:txBody>
      </p:sp>
    </p:spTree>
    <p:extLst>
      <p:ext uri="{BB962C8B-B14F-4D97-AF65-F5344CB8AC3E}">
        <p14:creationId xmlns:p14="http://schemas.microsoft.com/office/powerpoint/2010/main" val="171776058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9FB13-4B7D-AA29-ED52-5F48D7BA38B8}"/>
              </a:ext>
            </a:extLst>
          </p:cNvPr>
          <p:cNvSpPr>
            <a:spLocks noGrp="1"/>
          </p:cNvSpPr>
          <p:nvPr>
            <p:ph type="title"/>
          </p:nvPr>
        </p:nvSpPr>
        <p:spPr>
          <a:xfrm>
            <a:off x="929640" y="111933"/>
            <a:ext cx="10515600" cy="685772"/>
          </a:xfrm>
        </p:spPr>
        <p:txBody>
          <a:bodyPr/>
          <a:lstStyle/>
          <a:p>
            <a:pPr algn="ctr"/>
            <a:r>
              <a:rPr lang="en-US" b="1" dirty="0">
                <a:solidFill>
                  <a:srgbClr val="1E03BD"/>
                </a:solidFill>
                <a:latin typeface="+mn-lt"/>
              </a:rPr>
              <a:t>KASAI  Algorithm</a:t>
            </a:r>
            <a:endParaRPr lang="en-IN" dirty="0">
              <a:latin typeface="+mn-lt"/>
            </a:endParaRPr>
          </a:p>
        </p:txBody>
      </p:sp>
      <p:sp>
        <p:nvSpPr>
          <p:cNvPr id="3" name="Content Placeholder 2">
            <a:extLst>
              <a:ext uri="{FF2B5EF4-FFF2-40B4-BE49-F238E27FC236}">
                <a16:creationId xmlns:a16="http://schemas.microsoft.com/office/drawing/2014/main" id="{3C66D209-E7C9-80CE-4437-8D88843AFA7C}"/>
              </a:ext>
            </a:extLst>
          </p:cNvPr>
          <p:cNvSpPr>
            <a:spLocks noGrp="1"/>
          </p:cNvSpPr>
          <p:nvPr>
            <p:ph idx="1"/>
          </p:nvPr>
        </p:nvSpPr>
        <p:spPr>
          <a:xfrm>
            <a:off x="5641848" y="1155470"/>
            <a:ext cx="5711952" cy="5021494"/>
          </a:xfrm>
        </p:spPr>
        <p:txBody>
          <a:bodyPr/>
          <a:lstStyle/>
          <a:p>
            <a:pPr marL="0" indent="0">
              <a:buNone/>
            </a:pPr>
            <a:r>
              <a:rPr lang="en-IN" sz="1800" dirty="0"/>
              <a:t>Step 4:  Search the pattern</a:t>
            </a:r>
          </a:p>
          <a:p>
            <a:pPr marL="0" indent="0">
              <a:buNone/>
            </a:pPr>
            <a:r>
              <a:rPr lang="en-IN" sz="1800" dirty="0"/>
              <a:t>pattern is: P = ANA</a:t>
            </a:r>
          </a:p>
          <a:p>
            <a:pPr marL="0" indent="0">
              <a:buNone/>
            </a:pPr>
            <a:r>
              <a:rPr lang="en-IN" sz="1800" dirty="0"/>
              <a:t>Pattern length:  m = 3</a:t>
            </a:r>
          </a:p>
          <a:p>
            <a:pPr marL="0" indent="0">
              <a:buNone/>
            </a:pPr>
            <a:r>
              <a:rPr lang="en-IN" sz="1800" dirty="0"/>
              <a:t>Since the suffixes are sorted, search among them for suffixes beginning with ANA.</a:t>
            </a:r>
          </a:p>
          <a:p>
            <a:pPr marL="0" indent="0">
              <a:buNone/>
            </a:pPr>
            <a:r>
              <a:rPr lang="sv-SE" sz="1800" dirty="0"/>
              <a:t>SA[1] = 3 → ANA</a:t>
            </a:r>
          </a:p>
          <a:p>
            <a:pPr marL="0" indent="0">
              <a:buNone/>
            </a:pPr>
            <a:r>
              <a:rPr lang="sv-SE" sz="1800" dirty="0"/>
              <a:t>SA[2] = 1 → ANANA</a:t>
            </a:r>
          </a:p>
          <a:p>
            <a:pPr marL="0" indent="0">
              <a:buNone/>
            </a:pPr>
            <a:r>
              <a:rPr lang="en-IN" sz="1800" dirty="0"/>
              <a:t>Now look at: LCP[2] = 3</a:t>
            </a:r>
          </a:p>
          <a:p>
            <a:pPr marL="0" indent="0">
              <a:buNone/>
            </a:pPr>
            <a:r>
              <a:rPr lang="en-IN" sz="1800" dirty="0"/>
              <a:t>This means:</a:t>
            </a:r>
          </a:p>
          <a:p>
            <a:pPr marL="0" indent="0">
              <a:buNone/>
            </a:pPr>
            <a:r>
              <a:rPr lang="en-IN" sz="1800" dirty="0"/>
              <a:t>Suffix SA[1] = ANA </a:t>
            </a:r>
          </a:p>
          <a:p>
            <a:pPr marL="0" indent="0">
              <a:buNone/>
            </a:pPr>
            <a:r>
              <a:rPr lang="en-IN" sz="1800" dirty="0"/>
              <a:t>Suffix SA[2] = ANANA Common prefix = ANA Length = 3</a:t>
            </a:r>
          </a:p>
          <a:p>
            <a:pPr marL="0" indent="0">
              <a:buNone/>
            </a:pPr>
            <a:r>
              <a:rPr lang="en-IN" sz="1800" dirty="0" err="1"/>
              <a:t>Since:LCP</a:t>
            </a:r>
            <a:r>
              <a:rPr lang="en-IN" sz="1800" dirty="0"/>
              <a:t>[2] &gt;= pattern length,3 &gt;= 3…. the pattern ANA occurs in both suffixes.</a:t>
            </a:r>
          </a:p>
          <a:p>
            <a:pPr marL="0" indent="0">
              <a:buNone/>
            </a:pPr>
            <a:r>
              <a:rPr lang="en-IN" sz="1800" dirty="0"/>
              <a:t>Therefore the actual positions in the original text are: SA[1] = 3,  SA[2] = 1</a:t>
            </a:r>
          </a:p>
          <a:p>
            <a:r>
              <a:rPr lang="en-IN" sz="1800" dirty="0"/>
              <a:t>So: ANA occurs at positions 1 and 3.</a:t>
            </a:r>
          </a:p>
          <a:p>
            <a:pPr marL="0" indent="0">
              <a:buNone/>
            </a:pPr>
            <a:endParaRPr lang="en-IN" sz="1800" dirty="0"/>
          </a:p>
        </p:txBody>
      </p:sp>
      <p:sp>
        <p:nvSpPr>
          <p:cNvPr id="4" name="Footer Placeholder 3">
            <a:extLst>
              <a:ext uri="{FF2B5EF4-FFF2-40B4-BE49-F238E27FC236}">
                <a16:creationId xmlns:a16="http://schemas.microsoft.com/office/drawing/2014/main" id="{554D9027-3DF4-069F-4C5E-232745071ABD}"/>
              </a:ext>
            </a:extLst>
          </p:cNvPr>
          <p:cNvSpPr>
            <a:spLocks noGrp="1"/>
          </p:cNvSpPr>
          <p:nvPr>
            <p:ph type="ftr" sz="quarter" idx="11"/>
          </p:nvPr>
        </p:nvSpPr>
        <p:spPr/>
        <p:txBody>
          <a:bodyPr/>
          <a:lstStyle/>
          <a:p>
            <a:r>
              <a:rPr lang="en-AU"/>
              <a:t>DSA-3 </a:t>
            </a:r>
          </a:p>
        </p:txBody>
      </p:sp>
      <p:sp>
        <p:nvSpPr>
          <p:cNvPr id="5" name="Slide Number Placeholder 4">
            <a:extLst>
              <a:ext uri="{FF2B5EF4-FFF2-40B4-BE49-F238E27FC236}">
                <a16:creationId xmlns:a16="http://schemas.microsoft.com/office/drawing/2014/main" id="{66421CC3-A141-D197-C678-6B6C950B7245}"/>
              </a:ext>
            </a:extLst>
          </p:cNvPr>
          <p:cNvSpPr>
            <a:spLocks noGrp="1"/>
          </p:cNvSpPr>
          <p:nvPr>
            <p:ph type="sldNum" sz="quarter" idx="12"/>
          </p:nvPr>
        </p:nvSpPr>
        <p:spPr/>
        <p:txBody>
          <a:bodyPr/>
          <a:lstStyle/>
          <a:p>
            <a:fld id="{68187FF5-4BF9-4B21-B0D2-9B7FF2B27D7F}" type="slidenum">
              <a:rPr lang="en-AU" smtClean="0"/>
              <a:pPr/>
              <a:t>152</a:t>
            </a:fld>
            <a:endParaRPr lang="en-AU"/>
          </a:p>
        </p:txBody>
      </p:sp>
      <p:graphicFrame>
        <p:nvGraphicFramePr>
          <p:cNvPr id="7" name="Table 6">
            <a:extLst>
              <a:ext uri="{FF2B5EF4-FFF2-40B4-BE49-F238E27FC236}">
                <a16:creationId xmlns:a16="http://schemas.microsoft.com/office/drawing/2014/main" id="{D4BC5AFD-4A97-8C0F-1617-681AB8D451FD}"/>
              </a:ext>
            </a:extLst>
          </p:cNvPr>
          <p:cNvGraphicFramePr>
            <a:graphicFrameLocks noGrp="1"/>
          </p:cNvGraphicFramePr>
          <p:nvPr>
            <p:extLst>
              <p:ext uri="{D42A27DB-BD31-4B8C-83A1-F6EECF244321}">
                <p14:modId xmlns:p14="http://schemas.microsoft.com/office/powerpoint/2010/main" val="2171373757"/>
              </p:ext>
            </p:extLst>
          </p:nvPr>
        </p:nvGraphicFramePr>
        <p:xfrm>
          <a:off x="445008" y="1230284"/>
          <a:ext cx="4803648" cy="2560320"/>
        </p:xfrm>
        <a:graphic>
          <a:graphicData uri="http://schemas.openxmlformats.org/drawingml/2006/table">
            <a:tbl>
              <a:tblPr/>
              <a:tblGrid>
                <a:gridCol w="1200912">
                  <a:extLst>
                    <a:ext uri="{9D8B030D-6E8A-4147-A177-3AD203B41FA5}">
                      <a16:colId xmlns:a16="http://schemas.microsoft.com/office/drawing/2014/main" val="4098803496"/>
                    </a:ext>
                  </a:extLst>
                </a:gridCol>
                <a:gridCol w="1200912">
                  <a:extLst>
                    <a:ext uri="{9D8B030D-6E8A-4147-A177-3AD203B41FA5}">
                      <a16:colId xmlns:a16="http://schemas.microsoft.com/office/drawing/2014/main" val="540741092"/>
                    </a:ext>
                  </a:extLst>
                </a:gridCol>
                <a:gridCol w="1200912">
                  <a:extLst>
                    <a:ext uri="{9D8B030D-6E8A-4147-A177-3AD203B41FA5}">
                      <a16:colId xmlns:a16="http://schemas.microsoft.com/office/drawing/2014/main" val="3039753686"/>
                    </a:ext>
                  </a:extLst>
                </a:gridCol>
                <a:gridCol w="1200912">
                  <a:extLst>
                    <a:ext uri="{9D8B030D-6E8A-4147-A177-3AD203B41FA5}">
                      <a16:colId xmlns:a16="http://schemas.microsoft.com/office/drawing/2014/main" val="3933001527"/>
                    </a:ext>
                  </a:extLst>
                </a:gridCol>
              </a:tblGrid>
              <a:tr h="315355">
                <a:tc>
                  <a:txBody>
                    <a:bodyPr/>
                    <a:lstStyle/>
                    <a:p>
                      <a:pPr algn="ctr">
                        <a:buNone/>
                      </a:pPr>
                      <a:r>
                        <a:rPr lang="en-IN" b="1" dirty="0" err="1">
                          <a:solidFill>
                            <a:srgbClr val="1E03BD"/>
                          </a:solidFill>
                        </a:rPr>
                        <a:t>i</a:t>
                      </a:r>
                      <a:endParaRPr lang="en-IN" b="1" dirty="0">
                        <a:solidFill>
                          <a:srgbClr val="1E03BD"/>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solidFill>
                            <a:srgbClr val="1E03BD"/>
                          </a:solidFill>
                        </a:rPr>
                        <a:t>SA[</a:t>
                      </a:r>
                      <a:r>
                        <a:rPr lang="en-IN" b="1" dirty="0" err="1">
                          <a:solidFill>
                            <a:srgbClr val="1E03BD"/>
                          </a:solidFill>
                        </a:rPr>
                        <a:t>i</a:t>
                      </a:r>
                      <a:r>
                        <a:rPr lang="en-IN" b="1" dirty="0">
                          <a:solidFill>
                            <a:srgbClr val="1E03BD"/>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solidFill>
                            <a:srgbClr val="1E03BD"/>
                          </a:solidFill>
                        </a:rPr>
                        <a:t>Suffix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solidFill>
                            <a:srgbClr val="1E03BD"/>
                          </a:solidFill>
                        </a:rPr>
                        <a:t>LCP[</a:t>
                      </a:r>
                      <a:r>
                        <a:rPr lang="en-IN" b="1" dirty="0" err="1">
                          <a:solidFill>
                            <a:srgbClr val="1E03BD"/>
                          </a:solidFill>
                        </a:rPr>
                        <a:t>i</a:t>
                      </a:r>
                      <a:r>
                        <a:rPr lang="en-IN" b="1" dirty="0">
                          <a:solidFill>
                            <a:srgbClr val="1E03BD"/>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6919587"/>
                  </a:ext>
                </a:extLst>
              </a:tr>
              <a:tr h="315355">
                <a:tc>
                  <a:txBody>
                    <a:bodyPr/>
                    <a:lstStyle/>
                    <a:p>
                      <a:pPr algn="ctr">
                        <a:buNone/>
                      </a:pPr>
                      <a:r>
                        <a:rPr lang="en-IN">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solidFill>
                            <a:schemeClr val="tx1"/>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dirty="0">
                          <a:solidFill>
                            <a:schemeClr val="tx1"/>
                          </a:solidFill>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9715940"/>
                  </a:ext>
                </a:extLst>
              </a:tr>
              <a:tr h="315355">
                <a:tc>
                  <a:txBody>
                    <a:bodyPr/>
                    <a:lstStyle/>
                    <a:p>
                      <a:pPr algn="ctr">
                        <a:buNone/>
                      </a:pPr>
                      <a:r>
                        <a:rPr lang="en-IN">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dirty="0">
                          <a:solidFill>
                            <a:schemeClr val="tx1"/>
                          </a:solidFill>
                        </a:rPr>
                        <a:t>ANA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8349307"/>
                  </a:ext>
                </a:extLst>
              </a:tr>
              <a:tr h="315355">
                <a:tc>
                  <a:txBody>
                    <a:bodyPr/>
                    <a:lstStyle/>
                    <a:p>
                      <a:pPr algn="ctr">
                        <a:buNone/>
                      </a:pPr>
                      <a:r>
                        <a:rPr lang="en-IN">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a:solidFill>
                            <a:schemeClr val="tx1"/>
                          </a:solidFill>
                        </a:rPr>
                        <a:t>ANANA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solidFill>
                            <a:schemeClr val="tx1"/>
                          </a:solidFill>
                        </a:rPr>
                        <a:t>3</a:t>
                      </a:r>
                      <a:endParaRPr lang="en-IN"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2555192"/>
                  </a:ext>
                </a:extLst>
              </a:tr>
              <a:tr h="315355">
                <a:tc>
                  <a:txBody>
                    <a:bodyPr/>
                    <a:lstStyle/>
                    <a:p>
                      <a:pPr algn="ctr">
                        <a:buNone/>
                      </a:pPr>
                      <a:r>
                        <a:rPr lang="en-IN">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dirty="0">
                          <a:solidFill>
                            <a:schemeClr val="tx1"/>
                          </a:solidFill>
                        </a:rPr>
                        <a:t>BANANA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1841088"/>
                  </a:ext>
                </a:extLst>
              </a:tr>
              <a:tr h="315355">
                <a:tc>
                  <a:txBody>
                    <a:bodyPr/>
                    <a:lstStyle/>
                    <a:p>
                      <a:pPr algn="ctr">
                        <a:buNone/>
                      </a:pPr>
                      <a:r>
                        <a:rPr lang="en-IN">
                          <a:solidFill>
                            <a:schemeClr val="tx1"/>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solidFill>
                            <a:schemeClr val="tx1"/>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dirty="0">
                          <a:solidFill>
                            <a:schemeClr val="tx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4981575"/>
                  </a:ext>
                </a:extLst>
              </a:tr>
              <a:tr h="315355">
                <a:tc>
                  <a:txBody>
                    <a:bodyPr/>
                    <a:lstStyle/>
                    <a:p>
                      <a:pPr algn="ctr">
                        <a:buNone/>
                      </a:pPr>
                      <a:r>
                        <a:rPr lang="en-IN">
                          <a:solidFill>
                            <a:schemeClr val="tx1"/>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dirty="0">
                          <a:solidFill>
                            <a:schemeClr val="tx1"/>
                          </a:solidFill>
                        </a:rPr>
                        <a:t>NANA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7182439"/>
                  </a:ext>
                </a:extLst>
              </a:tr>
            </a:tbl>
          </a:graphicData>
        </a:graphic>
      </p:graphicFrame>
      <p:sp>
        <p:nvSpPr>
          <p:cNvPr id="9" name="TextBox 8">
            <a:extLst>
              <a:ext uri="{FF2B5EF4-FFF2-40B4-BE49-F238E27FC236}">
                <a16:creationId xmlns:a16="http://schemas.microsoft.com/office/drawing/2014/main" id="{EC8D5BCF-F3E3-069D-7B89-10CDEE75D50A}"/>
              </a:ext>
            </a:extLst>
          </p:cNvPr>
          <p:cNvSpPr txBox="1"/>
          <p:nvPr/>
        </p:nvSpPr>
        <p:spPr>
          <a:xfrm>
            <a:off x="445008" y="4466951"/>
            <a:ext cx="4803648" cy="923330"/>
          </a:xfrm>
          <a:prstGeom prst="rect">
            <a:avLst/>
          </a:prstGeom>
          <a:noFill/>
        </p:spPr>
        <p:txBody>
          <a:bodyPr wrap="square">
            <a:spAutoFit/>
          </a:bodyPr>
          <a:lstStyle/>
          <a:p>
            <a:r>
              <a:rPr lang="en-IN" dirty="0"/>
              <a:t>search is performed using the </a:t>
            </a:r>
            <a:r>
              <a:rPr lang="en-IN" b="1" dirty="0"/>
              <a:t>suffix array</a:t>
            </a:r>
            <a:r>
              <a:rPr lang="en-IN" dirty="0"/>
              <a:t>, while </a:t>
            </a:r>
            <a:r>
              <a:rPr lang="en-IN" b="1" dirty="0"/>
              <a:t>Kasai provides the LCP array</a:t>
            </a:r>
            <a:r>
              <a:rPr lang="en-IN" dirty="0"/>
              <a:t> used to identify the common-prefix/matching region.</a:t>
            </a:r>
          </a:p>
        </p:txBody>
      </p:sp>
    </p:spTree>
    <p:extLst>
      <p:ext uri="{BB962C8B-B14F-4D97-AF65-F5344CB8AC3E}">
        <p14:creationId xmlns:p14="http://schemas.microsoft.com/office/powerpoint/2010/main" val="46335483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0C01F-D0D7-9385-AB9C-844F3649AA3F}"/>
              </a:ext>
            </a:extLst>
          </p:cNvPr>
          <p:cNvSpPr>
            <a:spLocks noGrp="1"/>
          </p:cNvSpPr>
          <p:nvPr>
            <p:ph type="title"/>
          </p:nvPr>
        </p:nvSpPr>
        <p:spPr>
          <a:xfrm>
            <a:off x="838200" y="81168"/>
            <a:ext cx="10515600" cy="685772"/>
          </a:xfrm>
        </p:spPr>
        <p:txBody>
          <a:bodyPr/>
          <a:lstStyle/>
          <a:p>
            <a:pPr algn="ctr"/>
            <a:r>
              <a:rPr lang="en-US" sz="4000" b="1" dirty="0">
                <a:solidFill>
                  <a:srgbClr val="1E03BD"/>
                </a:solidFill>
                <a:latin typeface="+mn-lt"/>
              </a:rPr>
              <a:t>KASAI  PROCEDURE</a:t>
            </a:r>
            <a:endParaRPr lang="en-IN" sz="4000" b="1" dirty="0">
              <a:solidFill>
                <a:srgbClr val="1E03BD"/>
              </a:solidFill>
              <a:latin typeface="+mn-lt"/>
            </a:endParaRPr>
          </a:p>
        </p:txBody>
      </p:sp>
      <p:sp>
        <p:nvSpPr>
          <p:cNvPr id="3" name="Content Placeholder 2">
            <a:extLst>
              <a:ext uri="{FF2B5EF4-FFF2-40B4-BE49-F238E27FC236}">
                <a16:creationId xmlns:a16="http://schemas.microsoft.com/office/drawing/2014/main" id="{E029E169-E508-FA3A-D83E-CFC9E5D3CD24}"/>
              </a:ext>
            </a:extLst>
          </p:cNvPr>
          <p:cNvSpPr>
            <a:spLocks noGrp="1"/>
          </p:cNvSpPr>
          <p:nvPr>
            <p:ph idx="1"/>
          </p:nvPr>
        </p:nvSpPr>
        <p:spPr>
          <a:xfrm>
            <a:off x="227076" y="766940"/>
            <a:ext cx="11737848" cy="5021494"/>
          </a:xfrm>
        </p:spPr>
        <p:txBody>
          <a:bodyPr/>
          <a:lstStyle/>
          <a:p>
            <a:pPr marL="0" indent="0">
              <a:buNone/>
            </a:pPr>
            <a:r>
              <a:rPr lang="en-IN" sz="2000" dirty="0"/>
              <a:t>For any source text and pattern, use these steps:</a:t>
            </a:r>
          </a:p>
          <a:p>
            <a:pPr marL="0" indent="0">
              <a:buNone/>
            </a:pPr>
            <a:r>
              <a:rPr lang="en-IN" sz="2000" b="1" dirty="0"/>
              <a:t>1. Construct the suffix array</a:t>
            </a:r>
          </a:p>
          <a:p>
            <a:pPr marL="0" indent="0">
              <a:buNone/>
            </a:pPr>
            <a:r>
              <a:rPr lang="en-IN" sz="2000" dirty="0"/>
              <a:t>SA = sorted starting indices of all suffixes</a:t>
            </a:r>
          </a:p>
          <a:p>
            <a:pPr marL="0" indent="0">
              <a:buNone/>
            </a:pPr>
            <a:r>
              <a:rPr lang="en-IN" sz="2000" b="1" dirty="0"/>
              <a:t>2. Apply Kasai</a:t>
            </a:r>
          </a:p>
          <a:p>
            <a:pPr marL="0" indent="0">
              <a:buNone/>
            </a:pPr>
            <a:r>
              <a:rPr lang="en-IN" sz="2000" dirty="0"/>
              <a:t>Kasai constructs: LCP[</a:t>
            </a:r>
            <a:r>
              <a:rPr lang="en-IN" sz="2000" dirty="0" err="1"/>
              <a:t>i</a:t>
            </a:r>
            <a:r>
              <a:rPr lang="en-IN" sz="2000" dirty="0"/>
              <a:t>] = LCP(SA[</a:t>
            </a:r>
            <a:r>
              <a:rPr lang="en-IN" sz="2000" dirty="0" err="1"/>
              <a:t>i</a:t>
            </a:r>
            <a:r>
              <a:rPr lang="en-IN" sz="2000" dirty="0"/>
              <a:t>], SA[i-1])</a:t>
            </a:r>
          </a:p>
          <a:p>
            <a:pPr marL="0" indent="0">
              <a:buNone/>
            </a:pPr>
            <a:r>
              <a:rPr lang="en-IN" sz="2000" b="1" dirty="0"/>
              <a:t>3. Search the pattern in the suffix array</a:t>
            </a:r>
          </a:p>
          <a:p>
            <a:pPr marL="0" indent="0">
              <a:buNone/>
            </a:pPr>
            <a:r>
              <a:rPr lang="en-IN" sz="2000" dirty="0"/>
              <a:t>Because the suffixes are sorted, use </a:t>
            </a:r>
            <a:r>
              <a:rPr lang="en-IN" sz="2000" b="1" dirty="0"/>
              <a:t>binary search</a:t>
            </a:r>
            <a:r>
              <a:rPr lang="en-IN" sz="2000" dirty="0"/>
              <a:t> to find the range of suffixes that can start with the pattern.</a:t>
            </a:r>
          </a:p>
          <a:p>
            <a:pPr marL="0" indent="0">
              <a:buNone/>
            </a:pPr>
            <a:r>
              <a:rPr lang="en-IN" sz="2000" b="1" dirty="0"/>
              <a:t>4. Use LCP values</a:t>
            </a:r>
          </a:p>
          <a:p>
            <a:pPr marL="0" indent="0">
              <a:buNone/>
            </a:pPr>
            <a:r>
              <a:rPr lang="en-IN" sz="2000" dirty="0"/>
              <a:t>For a pattern of length m:</a:t>
            </a:r>
          </a:p>
          <a:p>
            <a:pPr marL="0" indent="0">
              <a:buNone/>
            </a:pPr>
            <a:r>
              <a:rPr lang="en-IN" sz="2000" dirty="0"/>
              <a:t>if LCP &gt;= m</a:t>
            </a:r>
          </a:p>
          <a:p>
            <a:pPr marL="0" indent="0">
              <a:buNone/>
            </a:pPr>
            <a:r>
              <a:rPr lang="en-IN" sz="2000" dirty="0"/>
              <a:t>       ↓</a:t>
            </a:r>
          </a:p>
          <a:p>
            <a:pPr marL="0" indent="0">
              <a:buNone/>
            </a:pPr>
            <a:r>
              <a:rPr lang="en-IN" sz="2000" dirty="0"/>
              <a:t>the complete pattern is common to the relevant suffixes</a:t>
            </a:r>
          </a:p>
          <a:p>
            <a:pPr marL="0" indent="0">
              <a:buNone/>
            </a:pPr>
            <a:r>
              <a:rPr lang="en-IN" sz="2000" b="1" dirty="0"/>
              <a:t>5. Get the original positions</a:t>
            </a:r>
          </a:p>
          <a:p>
            <a:pPr marL="0" indent="0">
              <a:buNone/>
            </a:pPr>
            <a:r>
              <a:rPr lang="en-IN" sz="2000" dirty="0"/>
              <a:t>For every matching suffix: position = SA[</a:t>
            </a:r>
            <a:r>
              <a:rPr lang="en-IN" sz="2000" dirty="0" err="1"/>
              <a:t>i</a:t>
            </a:r>
            <a:r>
              <a:rPr lang="en-IN" sz="2000" dirty="0"/>
              <a:t>], These are the positions where the pattern occurs in the source text.</a:t>
            </a:r>
          </a:p>
          <a:p>
            <a:pPr marL="0" indent="0">
              <a:buNone/>
            </a:pPr>
            <a:endParaRPr lang="en-IN" sz="2000" dirty="0"/>
          </a:p>
        </p:txBody>
      </p:sp>
      <p:sp>
        <p:nvSpPr>
          <p:cNvPr id="4" name="Footer Placeholder 3">
            <a:extLst>
              <a:ext uri="{FF2B5EF4-FFF2-40B4-BE49-F238E27FC236}">
                <a16:creationId xmlns:a16="http://schemas.microsoft.com/office/drawing/2014/main" id="{733C1E65-E1A1-91A6-550F-24422F195285}"/>
              </a:ext>
            </a:extLst>
          </p:cNvPr>
          <p:cNvSpPr>
            <a:spLocks noGrp="1"/>
          </p:cNvSpPr>
          <p:nvPr>
            <p:ph type="ftr" sz="quarter" idx="11"/>
          </p:nvPr>
        </p:nvSpPr>
        <p:spPr/>
        <p:txBody>
          <a:bodyPr/>
          <a:lstStyle/>
          <a:p>
            <a:r>
              <a:rPr lang="en-AU"/>
              <a:t>DSA-3 </a:t>
            </a:r>
          </a:p>
        </p:txBody>
      </p:sp>
      <p:sp>
        <p:nvSpPr>
          <p:cNvPr id="5" name="Slide Number Placeholder 4">
            <a:extLst>
              <a:ext uri="{FF2B5EF4-FFF2-40B4-BE49-F238E27FC236}">
                <a16:creationId xmlns:a16="http://schemas.microsoft.com/office/drawing/2014/main" id="{0B89B766-A797-579D-6C11-711EB51D8BDE}"/>
              </a:ext>
            </a:extLst>
          </p:cNvPr>
          <p:cNvSpPr>
            <a:spLocks noGrp="1"/>
          </p:cNvSpPr>
          <p:nvPr>
            <p:ph type="sldNum" sz="quarter" idx="12"/>
          </p:nvPr>
        </p:nvSpPr>
        <p:spPr/>
        <p:txBody>
          <a:bodyPr/>
          <a:lstStyle/>
          <a:p>
            <a:fld id="{68187FF5-4BF9-4B21-B0D2-9B7FF2B27D7F}" type="slidenum">
              <a:rPr lang="en-AU" smtClean="0"/>
              <a:pPr/>
              <a:t>153</a:t>
            </a:fld>
            <a:endParaRPr lang="en-AU"/>
          </a:p>
        </p:txBody>
      </p:sp>
    </p:spTree>
    <p:extLst>
      <p:ext uri="{BB962C8B-B14F-4D97-AF65-F5344CB8AC3E}">
        <p14:creationId xmlns:p14="http://schemas.microsoft.com/office/powerpoint/2010/main" val="248203985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B35EC-1E49-E5FD-2F80-AB18B61AFDC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7D925C4-AFF5-2081-7C64-C3A78654BA7A}"/>
              </a:ext>
            </a:extLst>
          </p:cNvPr>
          <p:cNvSpPr txBox="1"/>
          <p:nvPr/>
        </p:nvSpPr>
        <p:spPr>
          <a:xfrm>
            <a:off x="349727" y="274290"/>
            <a:ext cx="5579269" cy="6309420"/>
          </a:xfrm>
          <a:prstGeom prst="rect">
            <a:avLst/>
          </a:prstGeom>
          <a:noFill/>
          <a:ln>
            <a:solidFill>
              <a:schemeClr val="accent1"/>
            </a:solidFill>
          </a:ln>
        </p:spPr>
        <p:txBody>
          <a:bodyPr wrap="square">
            <a:spAutoFit/>
          </a:bodyPr>
          <a:lstStyle/>
          <a:p>
            <a:pPr algn="ctr">
              <a:buNone/>
            </a:pPr>
            <a:r>
              <a:rPr lang="en-IN" sz="2000" b="1" dirty="0">
                <a:highlight>
                  <a:srgbClr val="FFFF00"/>
                </a:highlight>
              </a:rPr>
              <a:t>Kasai  Algorithm</a:t>
            </a:r>
            <a:endParaRPr lang="en-IN" sz="1600" b="1" dirty="0">
              <a:highlight>
                <a:srgbClr val="FFFF00"/>
              </a:highlight>
            </a:endParaRPr>
          </a:p>
          <a:p>
            <a:pPr>
              <a:buFont typeface="+mj-lt"/>
              <a:buAutoNum type="arabicPeriod"/>
            </a:pPr>
            <a:r>
              <a:rPr lang="en-IN" sz="1600" b="1" dirty="0"/>
              <a:t>Create the Rank Array</a:t>
            </a:r>
            <a:r>
              <a:rPr lang="en-IN" sz="1600" dirty="0"/>
              <a:t> </a:t>
            </a:r>
          </a:p>
          <a:p>
            <a:pPr marL="742950" lvl="1" indent="-285750">
              <a:buFont typeface="+mj-lt"/>
              <a:buAutoNum type="arabicPeriod"/>
            </a:pPr>
            <a:r>
              <a:rPr lang="en-IN" sz="1600" dirty="0"/>
              <a:t>Create an array </a:t>
            </a:r>
            <a:r>
              <a:rPr lang="en-IN" sz="1600" dirty="0">
                <a:latin typeface="Courier New" panose="02070309020205020404" pitchFamily="49" charset="0"/>
              </a:rPr>
              <a:t>Rank</a:t>
            </a:r>
            <a:r>
              <a:rPr lang="en-IN" sz="1600" dirty="0"/>
              <a:t> of size </a:t>
            </a:r>
            <a:r>
              <a:rPr lang="en-IN" sz="1600" dirty="0">
                <a:latin typeface="Courier New" panose="02070309020205020404" pitchFamily="49" charset="0"/>
              </a:rPr>
              <a:t>n</a:t>
            </a:r>
            <a:r>
              <a:rPr lang="en-IN" sz="1600" dirty="0"/>
              <a:t>. </a:t>
            </a:r>
          </a:p>
          <a:p>
            <a:pPr marL="742950" lvl="1" indent="-285750">
              <a:buFont typeface="+mj-lt"/>
              <a:buAutoNum type="arabicPeriod"/>
            </a:pPr>
            <a:r>
              <a:rPr lang="en-IN" sz="1600" dirty="0"/>
              <a:t>For each position </a:t>
            </a:r>
            <a:r>
              <a:rPr lang="en-IN" sz="1600" dirty="0" err="1">
                <a:latin typeface="Courier New" panose="02070309020205020404" pitchFamily="49" charset="0"/>
              </a:rPr>
              <a:t>i</a:t>
            </a:r>
            <a:r>
              <a:rPr lang="en-IN" sz="1600" dirty="0"/>
              <a:t> in the Suffix Array: </a:t>
            </a:r>
          </a:p>
          <a:p>
            <a:pPr marL="1143000" lvl="2" indent="-228600">
              <a:buFont typeface="+mj-lt"/>
              <a:buAutoNum type="arabicPeriod"/>
            </a:pPr>
            <a:r>
              <a:rPr lang="en-IN" sz="1600" dirty="0"/>
              <a:t>Set </a:t>
            </a:r>
            <a:r>
              <a:rPr lang="en-IN" sz="1600" dirty="0">
                <a:latin typeface="Courier New" panose="02070309020205020404" pitchFamily="49" charset="0"/>
              </a:rPr>
              <a:t>Rank[SA[</a:t>
            </a:r>
            <a:r>
              <a:rPr lang="en-IN" sz="1600" dirty="0" err="1">
                <a:latin typeface="Courier New" panose="02070309020205020404" pitchFamily="49" charset="0"/>
              </a:rPr>
              <a:t>i</a:t>
            </a:r>
            <a:r>
              <a:rPr lang="en-IN" sz="1600" dirty="0">
                <a:latin typeface="Courier New" panose="02070309020205020404" pitchFamily="49" charset="0"/>
              </a:rPr>
              <a:t>]] = </a:t>
            </a:r>
            <a:r>
              <a:rPr lang="en-IN" sz="1600" dirty="0" err="1">
                <a:latin typeface="Courier New" panose="02070309020205020404" pitchFamily="49" charset="0"/>
              </a:rPr>
              <a:t>i</a:t>
            </a:r>
            <a:r>
              <a:rPr lang="en-IN" sz="1600" dirty="0"/>
              <a:t>. </a:t>
            </a:r>
          </a:p>
          <a:p>
            <a:pPr marL="742950" lvl="1" indent="-285750">
              <a:buFont typeface="+mj-lt"/>
              <a:buAutoNum type="arabicPeriod"/>
            </a:pPr>
            <a:r>
              <a:rPr lang="en-IN" sz="1600" dirty="0"/>
              <a:t>The Rank array stores the position of each suffix in the sorted Suffix Array. </a:t>
            </a:r>
          </a:p>
          <a:p>
            <a:pPr>
              <a:buFont typeface="+mj-lt"/>
              <a:buAutoNum type="arabicPeriod"/>
            </a:pPr>
            <a:r>
              <a:rPr lang="en-IN" sz="1600" b="1" dirty="0"/>
              <a:t>Initialize the LCP Array</a:t>
            </a:r>
            <a:r>
              <a:rPr lang="en-IN" sz="1600" dirty="0"/>
              <a:t> </a:t>
            </a:r>
          </a:p>
          <a:p>
            <a:pPr marL="742950" lvl="1" indent="-285750">
              <a:buFont typeface="+mj-lt"/>
              <a:buAutoNum type="arabicPeriod"/>
            </a:pPr>
            <a:r>
              <a:rPr lang="en-IN" sz="1600" dirty="0"/>
              <a:t>Create an array </a:t>
            </a:r>
            <a:r>
              <a:rPr lang="en-IN" sz="1600" dirty="0">
                <a:latin typeface="Courier New" panose="02070309020205020404" pitchFamily="49" charset="0"/>
              </a:rPr>
              <a:t>LCP</a:t>
            </a:r>
            <a:r>
              <a:rPr lang="en-IN" sz="1600" dirty="0"/>
              <a:t> of size </a:t>
            </a:r>
            <a:r>
              <a:rPr lang="en-IN" sz="1600" dirty="0">
                <a:latin typeface="Courier New" panose="02070309020205020404" pitchFamily="49" charset="0"/>
              </a:rPr>
              <a:t>n</a:t>
            </a:r>
            <a:r>
              <a:rPr lang="en-IN" sz="1600" dirty="0"/>
              <a:t>. </a:t>
            </a:r>
          </a:p>
          <a:p>
            <a:pPr marL="742950" lvl="1" indent="-285750">
              <a:buFont typeface="+mj-lt"/>
              <a:buAutoNum type="arabicPeriod"/>
            </a:pPr>
            <a:r>
              <a:rPr lang="en-IN" sz="1600" dirty="0"/>
              <a:t>Set all elements to </a:t>
            </a:r>
            <a:r>
              <a:rPr lang="en-IN" sz="1600" dirty="0">
                <a:latin typeface="Courier New" panose="02070309020205020404" pitchFamily="49" charset="0"/>
              </a:rPr>
              <a:t>0</a:t>
            </a:r>
            <a:r>
              <a:rPr lang="en-IN" sz="1600" dirty="0"/>
              <a:t>. </a:t>
            </a:r>
          </a:p>
          <a:p>
            <a:pPr>
              <a:buFont typeface="+mj-lt"/>
              <a:buAutoNum type="arabicPeriod"/>
            </a:pPr>
            <a:r>
              <a:rPr lang="en-IN" sz="1600" b="1" dirty="0"/>
              <a:t>Initialize a Variable</a:t>
            </a:r>
            <a:r>
              <a:rPr lang="en-IN" sz="1600" dirty="0"/>
              <a:t> </a:t>
            </a:r>
          </a:p>
          <a:p>
            <a:pPr marL="742950" lvl="1" indent="-285750">
              <a:buFont typeface="+mj-lt"/>
              <a:buAutoNum type="arabicPeriod"/>
            </a:pPr>
            <a:r>
              <a:rPr lang="en-IN" sz="1600" dirty="0"/>
              <a:t>Set </a:t>
            </a:r>
            <a:r>
              <a:rPr lang="en-IN" sz="1600" dirty="0">
                <a:latin typeface="Courier New" panose="02070309020205020404" pitchFamily="49" charset="0"/>
              </a:rPr>
              <a:t>k = 0</a:t>
            </a:r>
            <a:r>
              <a:rPr lang="en-IN" sz="1600" dirty="0"/>
              <a:t>. </a:t>
            </a:r>
          </a:p>
          <a:p>
            <a:pPr marL="742950" lvl="1" indent="-285750">
              <a:buFont typeface="+mj-lt"/>
              <a:buAutoNum type="arabicPeriod"/>
            </a:pPr>
            <a:r>
              <a:rPr lang="en-IN" sz="1600" dirty="0">
                <a:latin typeface="Courier New" panose="02070309020205020404" pitchFamily="49" charset="0"/>
              </a:rPr>
              <a:t>k</a:t>
            </a:r>
            <a:r>
              <a:rPr lang="en-IN" sz="1600" dirty="0"/>
              <a:t> stores the length of the Longest Common Prefix (LCP) computed in the previous iteration. </a:t>
            </a:r>
          </a:p>
          <a:p>
            <a:pPr>
              <a:buFont typeface="+mj-lt"/>
              <a:buAutoNum type="arabicPeriod"/>
            </a:pPr>
            <a:r>
              <a:rPr lang="en-IN" sz="1600" b="1" dirty="0"/>
              <a:t>Traverse All Suffixes</a:t>
            </a:r>
            <a:r>
              <a:rPr lang="en-IN" sz="1600" dirty="0"/>
              <a:t> </a:t>
            </a:r>
          </a:p>
          <a:p>
            <a:pPr marL="742950" lvl="1" indent="-285750">
              <a:buFont typeface="+mj-lt"/>
              <a:buAutoNum type="arabicPeriod"/>
            </a:pPr>
            <a:r>
              <a:rPr lang="en-IN" sz="1600" dirty="0"/>
              <a:t>For each suffix starting at index </a:t>
            </a:r>
            <a:r>
              <a:rPr lang="en-IN" sz="1600" dirty="0" err="1">
                <a:latin typeface="Courier New" panose="02070309020205020404" pitchFamily="49" charset="0"/>
              </a:rPr>
              <a:t>i</a:t>
            </a:r>
            <a:r>
              <a:rPr lang="en-IN" sz="1600" dirty="0"/>
              <a:t> from </a:t>
            </a:r>
            <a:r>
              <a:rPr lang="en-IN" sz="1600" dirty="0">
                <a:latin typeface="Courier New" panose="02070309020205020404" pitchFamily="49" charset="0"/>
              </a:rPr>
              <a:t>0</a:t>
            </a:r>
            <a:r>
              <a:rPr lang="en-IN" sz="1600" dirty="0"/>
              <a:t> to </a:t>
            </a:r>
            <a:r>
              <a:rPr lang="en-IN" sz="1600" dirty="0">
                <a:latin typeface="Courier New" panose="02070309020205020404" pitchFamily="49" charset="0"/>
              </a:rPr>
              <a:t>n−1</a:t>
            </a:r>
            <a:r>
              <a:rPr lang="en-IN" sz="1600" dirty="0"/>
              <a:t>: </a:t>
            </a:r>
          </a:p>
          <a:p>
            <a:pPr>
              <a:buFont typeface="+mj-lt"/>
              <a:buAutoNum type="arabicPeriod"/>
            </a:pPr>
            <a:r>
              <a:rPr lang="en-IN" sz="1600" b="1" dirty="0"/>
              <a:t>Check if the Current Suffix is the First in the Suffix Array</a:t>
            </a:r>
            <a:r>
              <a:rPr lang="en-IN" sz="1600" dirty="0"/>
              <a:t> </a:t>
            </a:r>
          </a:p>
          <a:p>
            <a:pPr marL="742950" lvl="1" indent="-285750">
              <a:buFont typeface="+mj-lt"/>
              <a:buAutoNum type="arabicPeriod"/>
            </a:pPr>
            <a:r>
              <a:rPr lang="en-IN" sz="1600" dirty="0"/>
              <a:t>If </a:t>
            </a:r>
            <a:r>
              <a:rPr lang="en-IN" sz="1600" dirty="0">
                <a:latin typeface="Courier New" panose="02070309020205020404" pitchFamily="49" charset="0"/>
              </a:rPr>
              <a:t>Rank[</a:t>
            </a:r>
            <a:r>
              <a:rPr lang="en-IN" sz="1600" dirty="0" err="1">
                <a:latin typeface="Courier New" panose="02070309020205020404" pitchFamily="49" charset="0"/>
              </a:rPr>
              <a:t>i</a:t>
            </a:r>
            <a:r>
              <a:rPr lang="en-IN" sz="1600" dirty="0">
                <a:latin typeface="Courier New" panose="02070309020205020404" pitchFamily="49" charset="0"/>
              </a:rPr>
              <a:t>] == 0</a:t>
            </a:r>
            <a:r>
              <a:rPr lang="en-IN" sz="1600" dirty="0"/>
              <a:t>: </a:t>
            </a:r>
          </a:p>
          <a:p>
            <a:pPr marL="1143000" lvl="2" indent="-228600">
              <a:buFont typeface="+mj-lt"/>
              <a:buAutoNum type="arabicPeriod"/>
            </a:pPr>
            <a:r>
              <a:rPr lang="en-IN" sz="1600" dirty="0"/>
              <a:t>Set </a:t>
            </a:r>
            <a:r>
              <a:rPr lang="en-IN" sz="1600" dirty="0">
                <a:latin typeface="Courier New" panose="02070309020205020404" pitchFamily="49" charset="0"/>
              </a:rPr>
              <a:t>LCP[0] = 0</a:t>
            </a:r>
            <a:r>
              <a:rPr lang="en-IN" sz="1600" dirty="0"/>
              <a:t>. </a:t>
            </a:r>
          </a:p>
          <a:p>
            <a:pPr marL="1143000" lvl="2" indent="-228600">
              <a:buFont typeface="+mj-lt"/>
              <a:buAutoNum type="arabicPeriod"/>
            </a:pPr>
            <a:r>
              <a:rPr lang="en-IN" sz="1600" dirty="0"/>
              <a:t>Continue to the next suffix. </a:t>
            </a:r>
          </a:p>
          <a:p>
            <a:pPr>
              <a:buFont typeface="+mj-lt"/>
              <a:buAutoNum type="arabicPeriod"/>
            </a:pPr>
            <a:r>
              <a:rPr lang="en-IN" sz="1600" b="1" dirty="0"/>
              <a:t>Find the Previous Suffix in the Suffix Array</a:t>
            </a:r>
            <a:r>
              <a:rPr lang="en-IN" sz="1600" dirty="0"/>
              <a:t> </a:t>
            </a:r>
          </a:p>
          <a:p>
            <a:pPr marL="742950" lvl="1" indent="-285750">
              <a:buFont typeface="+mj-lt"/>
              <a:buAutoNum type="arabicPeriod"/>
            </a:pPr>
            <a:r>
              <a:rPr lang="en-IN" sz="1600" dirty="0"/>
              <a:t>Compute</a:t>
            </a:r>
          </a:p>
          <a:p>
            <a:pPr marL="742950" lvl="1" indent="-285750">
              <a:buFont typeface="+mj-lt"/>
              <a:buAutoNum type="arabicPeriod"/>
            </a:pPr>
            <a:r>
              <a:rPr lang="en-IN" sz="1600" dirty="0">
                <a:latin typeface="Courier New" panose="02070309020205020404" pitchFamily="49" charset="0"/>
              </a:rPr>
              <a:t>j = SA[Rank[</a:t>
            </a:r>
            <a:r>
              <a:rPr lang="en-IN" sz="1600" dirty="0" err="1">
                <a:latin typeface="Courier New" panose="02070309020205020404" pitchFamily="49" charset="0"/>
              </a:rPr>
              <a:t>i</a:t>
            </a:r>
            <a:r>
              <a:rPr lang="en-IN" sz="1600" dirty="0">
                <a:latin typeface="Courier New" panose="02070309020205020404" pitchFamily="49" charset="0"/>
              </a:rPr>
              <a:t>] − 1]</a:t>
            </a:r>
          </a:p>
          <a:p>
            <a:pPr marL="742950" lvl="1" indent="-285750">
              <a:buFont typeface="+mj-lt"/>
              <a:buAutoNum type="arabicPeriod"/>
            </a:pPr>
            <a:r>
              <a:rPr lang="en-IN" sz="1600" dirty="0"/>
              <a:t>Here, </a:t>
            </a:r>
            <a:r>
              <a:rPr lang="en-IN" sz="1600" dirty="0">
                <a:latin typeface="Courier New" panose="02070309020205020404" pitchFamily="49" charset="0"/>
              </a:rPr>
              <a:t>j</a:t>
            </a:r>
            <a:r>
              <a:rPr lang="en-IN" sz="1600" dirty="0"/>
              <a:t> is the starting index of the previous suffix in lexicographical order. </a:t>
            </a:r>
          </a:p>
        </p:txBody>
      </p:sp>
      <p:sp>
        <p:nvSpPr>
          <p:cNvPr id="5" name="TextBox 4">
            <a:extLst>
              <a:ext uri="{FF2B5EF4-FFF2-40B4-BE49-F238E27FC236}">
                <a16:creationId xmlns:a16="http://schemas.microsoft.com/office/drawing/2014/main" id="{AD828E90-10C6-E287-815B-8C42A1574093}"/>
              </a:ext>
            </a:extLst>
          </p:cNvPr>
          <p:cNvSpPr txBox="1"/>
          <p:nvPr/>
        </p:nvSpPr>
        <p:spPr>
          <a:xfrm>
            <a:off x="6646928" y="399412"/>
            <a:ext cx="5186202" cy="6001643"/>
          </a:xfrm>
          <a:prstGeom prst="rect">
            <a:avLst/>
          </a:prstGeom>
          <a:noFill/>
          <a:ln>
            <a:solidFill>
              <a:schemeClr val="accent1"/>
            </a:solidFill>
          </a:ln>
        </p:spPr>
        <p:txBody>
          <a:bodyPr wrap="square">
            <a:spAutoFit/>
          </a:bodyPr>
          <a:lstStyle/>
          <a:p>
            <a:r>
              <a:rPr lang="en-IN" sz="1600" b="1" dirty="0"/>
              <a:t>7. Compare the Two Suffixes</a:t>
            </a:r>
            <a:r>
              <a:rPr lang="en-IN" sz="1600" dirty="0"/>
              <a:t> </a:t>
            </a:r>
          </a:p>
          <a:p>
            <a:pPr marL="742950" lvl="1" indent="-285750">
              <a:buFont typeface="+mj-lt"/>
              <a:buAutoNum type="arabicPeriod"/>
            </a:pPr>
            <a:r>
              <a:rPr lang="en-IN" sz="1600" dirty="0"/>
              <a:t>Compare the suffixes starting at indices </a:t>
            </a:r>
            <a:r>
              <a:rPr lang="en-IN" sz="1600" dirty="0" err="1">
                <a:latin typeface="Courier New" panose="02070309020205020404" pitchFamily="49" charset="0"/>
              </a:rPr>
              <a:t>i</a:t>
            </a:r>
            <a:r>
              <a:rPr lang="en-IN" sz="1600" dirty="0"/>
              <a:t> and </a:t>
            </a:r>
            <a:r>
              <a:rPr lang="en-IN" sz="1600" dirty="0">
                <a:latin typeface="Courier New" panose="02070309020205020404" pitchFamily="49" charset="0"/>
              </a:rPr>
              <a:t>j</a:t>
            </a:r>
            <a:r>
              <a:rPr lang="en-IN" sz="1600" dirty="0"/>
              <a:t>. </a:t>
            </a:r>
          </a:p>
          <a:p>
            <a:pPr marL="742950" lvl="1" indent="-285750">
              <a:buFont typeface="+mj-lt"/>
              <a:buAutoNum type="arabicPeriod"/>
            </a:pPr>
            <a:r>
              <a:rPr lang="en-IN" sz="1600" dirty="0"/>
              <a:t>Start comparison from the </a:t>
            </a:r>
            <a:r>
              <a:rPr lang="en-IN" sz="1600" dirty="0">
                <a:latin typeface="Courier New" panose="02070309020205020404" pitchFamily="49" charset="0"/>
              </a:rPr>
              <a:t>k</a:t>
            </a:r>
            <a:r>
              <a:rPr lang="en-IN" sz="1600" dirty="0"/>
              <a:t>th character (not from the first character). </a:t>
            </a:r>
          </a:p>
          <a:p>
            <a:pPr marL="742950" lvl="1" indent="-285750">
              <a:buFont typeface="+mj-lt"/>
              <a:buAutoNum type="arabicPeriod"/>
            </a:pPr>
            <a:r>
              <a:rPr lang="en-IN" sz="1600" dirty="0"/>
              <a:t>While: </a:t>
            </a:r>
          </a:p>
          <a:p>
            <a:pPr marL="1143000" lvl="2" indent="-228600">
              <a:buFont typeface="+mj-lt"/>
              <a:buAutoNum type="arabicPeriod"/>
            </a:pPr>
            <a:r>
              <a:rPr lang="en-IN" sz="1600" dirty="0" err="1">
                <a:latin typeface="Courier New" panose="02070309020205020404" pitchFamily="49" charset="0"/>
              </a:rPr>
              <a:t>i</a:t>
            </a:r>
            <a:r>
              <a:rPr lang="en-IN" sz="1600" dirty="0">
                <a:latin typeface="Courier New" panose="02070309020205020404" pitchFamily="49" charset="0"/>
              </a:rPr>
              <a:t> + k &lt; n</a:t>
            </a:r>
            <a:r>
              <a:rPr lang="en-IN" sz="1600" dirty="0"/>
              <a:t>, </a:t>
            </a:r>
          </a:p>
          <a:p>
            <a:pPr marL="1143000" lvl="2" indent="-228600">
              <a:buFont typeface="+mj-lt"/>
              <a:buAutoNum type="arabicPeriod"/>
            </a:pPr>
            <a:r>
              <a:rPr lang="en-IN" sz="1600" dirty="0">
                <a:latin typeface="Courier New" panose="02070309020205020404" pitchFamily="49" charset="0"/>
              </a:rPr>
              <a:t>j + k &lt; n</a:t>
            </a:r>
            <a:r>
              <a:rPr lang="en-IN" sz="1600" dirty="0"/>
              <a:t>, and </a:t>
            </a:r>
          </a:p>
          <a:p>
            <a:pPr marL="1143000" lvl="2" indent="-228600">
              <a:buFont typeface="+mj-lt"/>
              <a:buAutoNum type="arabicPeriod"/>
            </a:pPr>
            <a:r>
              <a:rPr lang="en-IN" sz="1600" dirty="0">
                <a:latin typeface="Courier New" panose="02070309020205020404" pitchFamily="49" charset="0"/>
              </a:rPr>
              <a:t>S[</a:t>
            </a:r>
            <a:r>
              <a:rPr lang="en-IN" sz="1600" dirty="0" err="1">
                <a:latin typeface="Courier New" panose="02070309020205020404" pitchFamily="49" charset="0"/>
              </a:rPr>
              <a:t>i</a:t>
            </a:r>
            <a:r>
              <a:rPr lang="en-IN" sz="1600" dirty="0">
                <a:latin typeface="Courier New" panose="02070309020205020404" pitchFamily="49" charset="0"/>
              </a:rPr>
              <a:t> + k] == S[j + k]</a:t>
            </a:r>
            <a:r>
              <a:rPr lang="en-IN" sz="1600" dirty="0"/>
              <a:t>, </a:t>
            </a:r>
          </a:p>
          <a:p>
            <a:pPr marL="1143000" lvl="2" indent="-228600">
              <a:buFont typeface="+mj-lt"/>
              <a:buAutoNum type="arabicPeriod"/>
            </a:pPr>
            <a:r>
              <a:rPr lang="en-IN" sz="1600" dirty="0"/>
              <a:t>Increment </a:t>
            </a:r>
            <a:r>
              <a:rPr lang="en-IN" sz="1600" dirty="0">
                <a:latin typeface="Courier New" panose="02070309020205020404" pitchFamily="49" charset="0"/>
              </a:rPr>
              <a:t>k</a:t>
            </a:r>
            <a:r>
              <a:rPr lang="en-IN" sz="1600" dirty="0"/>
              <a:t> by </a:t>
            </a:r>
            <a:r>
              <a:rPr lang="en-IN" sz="1600" dirty="0">
                <a:latin typeface="Courier New" panose="02070309020205020404" pitchFamily="49" charset="0"/>
              </a:rPr>
              <a:t>1</a:t>
            </a:r>
            <a:r>
              <a:rPr lang="en-IN" sz="1600" dirty="0"/>
              <a:t>. </a:t>
            </a:r>
          </a:p>
          <a:p>
            <a:r>
              <a:rPr lang="en-IN" sz="1600" b="1" dirty="0"/>
              <a:t>8. Store the LCP Value</a:t>
            </a:r>
            <a:r>
              <a:rPr lang="en-IN" sz="1600" dirty="0"/>
              <a:t> </a:t>
            </a:r>
          </a:p>
          <a:p>
            <a:pPr marL="742950" lvl="1" indent="-285750">
              <a:buFont typeface="+mj-lt"/>
              <a:buAutoNum type="arabicPeriod"/>
            </a:pPr>
            <a:r>
              <a:rPr lang="en-IN" sz="1600" dirty="0"/>
              <a:t>Store the computed LCP length in</a:t>
            </a:r>
          </a:p>
          <a:p>
            <a:pPr marL="742950" lvl="1" indent="-285750" rtl="0">
              <a:buFont typeface="+mj-lt"/>
              <a:buAutoNum type="arabicPeriod"/>
            </a:pPr>
            <a:r>
              <a:rPr lang="en-IN" sz="1600" dirty="0">
                <a:latin typeface="Courier New" panose="02070309020205020404" pitchFamily="49" charset="0"/>
              </a:rPr>
              <a:t>LCP[Rank[</a:t>
            </a:r>
            <a:r>
              <a:rPr lang="en-IN" sz="1600" dirty="0" err="1">
                <a:latin typeface="Courier New" panose="02070309020205020404" pitchFamily="49" charset="0"/>
              </a:rPr>
              <a:t>i</a:t>
            </a:r>
            <a:r>
              <a:rPr lang="en-IN" sz="1600" dirty="0">
                <a:latin typeface="Courier New" panose="02070309020205020404" pitchFamily="49" charset="0"/>
              </a:rPr>
              <a:t>]] = k</a:t>
            </a:r>
          </a:p>
          <a:p>
            <a:r>
              <a:rPr lang="en-IN" sz="1600" b="1" dirty="0"/>
              <a:t>9. Reuse the Previous Comparison</a:t>
            </a:r>
            <a:r>
              <a:rPr lang="en-IN" sz="1600" dirty="0"/>
              <a:t> </a:t>
            </a:r>
          </a:p>
          <a:p>
            <a:pPr marL="742950" lvl="1" indent="-285750">
              <a:buFont typeface="+mj-lt"/>
              <a:buAutoNum type="arabicPeriod"/>
            </a:pPr>
            <a:r>
              <a:rPr lang="en-IN" sz="1600" dirty="0"/>
              <a:t>If </a:t>
            </a:r>
            <a:r>
              <a:rPr lang="en-IN" sz="1600" dirty="0">
                <a:latin typeface="Courier New" panose="02070309020205020404" pitchFamily="49" charset="0"/>
              </a:rPr>
              <a:t>k &gt; 0</a:t>
            </a:r>
            <a:r>
              <a:rPr lang="en-IN" sz="1600" dirty="0"/>
              <a:t>, decrement it by one:</a:t>
            </a:r>
          </a:p>
          <a:p>
            <a:pPr marL="742950" lvl="1" indent="-285750" rtl="0">
              <a:buFont typeface="+mj-lt"/>
              <a:buAutoNum type="arabicPeriod"/>
            </a:pPr>
            <a:r>
              <a:rPr lang="en-IN" sz="1600" dirty="0">
                <a:latin typeface="Courier New" panose="02070309020205020404" pitchFamily="49" charset="0"/>
              </a:rPr>
              <a:t>k = k − 1</a:t>
            </a:r>
          </a:p>
          <a:p>
            <a:pPr marL="742950" lvl="1" indent="-285750">
              <a:buFont typeface="+mj-lt"/>
              <a:buAutoNum type="arabicPeriod"/>
            </a:pPr>
            <a:r>
              <a:rPr lang="en-IN" sz="1600" dirty="0"/>
              <a:t>This avoids re-comparing characters that are already known to match. </a:t>
            </a:r>
          </a:p>
          <a:p>
            <a:r>
              <a:rPr lang="en-IN" sz="1600" b="1" dirty="0"/>
              <a:t>10. Repeat</a:t>
            </a:r>
            <a:r>
              <a:rPr lang="en-IN" sz="1600" dirty="0"/>
              <a:t> </a:t>
            </a:r>
          </a:p>
          <a:p>
            <a:pPr marL="742950" lvl="1" indent="-285750">
              <a:buFont typeface="+mj-lt"/>
              <a:buAutoNum type="arabicPeriod"/>
            </a:pPr>
            <a:r>
              <a:rPr lang="en-IN" sz="1600" dirty="0"/>
              <a:t>Repeat Steps </a:t>
            </a:r>
            <a:r>
              <a:rPr lang="en-IN" sz="1600" b="1" dirty="0"/>
              <a:t>5–9</a:t>
            </a:r>
            <a:r>
              <a:rPr lang="en-IN" sz="1600" dirty="0"/>
              <a:t> until all suffixes have been processed. </a:t>
            </a:r>
          </a:p>
          <a:p>
            <a:r>
              <a:rPr lang="en-IN" sz="1600" b="1" dirty="0"/>
              <a:t>11. Return the LCP Array</a:t>
            </a:r>
            <a:r>
              <a:rPr lang="en-IN" sz="1600" dirty="0"/>
              <a:t> </a:t>
            </a:r>
          </a:p>
          <a:p>
            <a:pPr marL="742950" lvl="1" indent="-285750">
              <a:buFont typeface="+mj-lt"/>
              <a:buAutoNum type="arabicPeriod"/>
            </a:pPr>
            <a:r>
              <a:rPr lang="en-IN" sz="1600" dirty="0"/>
              <a:t>The completed </a:t>
            </a:r>
            <a:r>
              <a:rPr lang="en-IN" sz="1600" dirty="0">
                <a:latin typeface="Courier New" panose="02070309020205020404" pitchFamily="49" charset="0"/>
              </a:rPr>
              <a:t>LCP</a:t>
            </a:r>
            <a:r>
              <a:rPr lang="en-IN" sz="1600" dirty="0"/>
              <a:t> array contains the longest common prefix lengths between adjacent suffixes in the sorted Suffix Array.</a:t>
            </a:r>
          </a:p>
        </p:txBody>
      </p:sp>
      <p:sp>
        <p:nvSpPr>
          <p:cNvPr id="6" name="Arrow: Right 5">
            <a:extLst>
              <a:ext uri="{FF2B5EF4-FFF2-40B4-BE49-F238E27FC236}">
                <a16:creationId xmlns:a16="http://schemas.microsoft.com/office/drawing/2014/main" id="{000D1D7E-2B3D-99CA-E60C-3FAB8D0DBA94}"/>
              </a:ext>
            </a:extLst>
          </p:cNvPr>
          <p:cNvSpPr/>
          <p:nvPr/>
        </p:nvSpPr>
        <p:spPr>
          <a:xfrm>
            <a:off x="6010275" y="3007042"/>
            <a:ext cx="564517" cy="3488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0412236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64F80-2955-1618-309C-8C337476BABA}"/>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489CEA0B-9899-55F1-9391-C211F5AFCC0D}"/>
              </a:ext>
            </a:extLst>
          </p:cNvPr>
          <p:cNvSpPr txBox="1"/>
          <p:nvPr/>
        </p:nvSpPr>
        <p:spPr>
          <a:xfrm>
            <a:off x="1391031" y="920621"/>
            <a:ext cx="9438894" cy="5016758"/>
          </a:xfrm>
          <a:prstGeom prst="rect">
            <a:avLst/>
          </a:prstGeom>
          <a:noFill/>
          <a:ln>
            <a:solidFill>
              <a:schemeClr val="accent1"/>
            </a:solidFill>
          </a:ln>
        </p:spPr>
        <p:txBody>
          <a:bodyPr wrap="square">
            <a:spAutoFit/>
          </a:bodyPr>
          <a:lstStyle/>
          <a:p>
            <a:pPr>
              <a:buNone/>
            </a:pPr>
            <a:r>
              <a:rPr lang="en-IN" sz="4000" b="1" dirty="0"/>
              <a:t>Applications of Suffix Arrays</a:t>
            </a:r>
          </a:p>
          <a:p>
            <a:pPr>
              <a:buNone/>
            </a:pPr>
            <a:endParaRPr lang="en-IN" sz="4000" b="1" dirty="0"/>
          </a:p>
          <a:p>
            <a:pPr marL="285750" indent="-285750">
              <a:buFont typeface="Wingdings" panose="05000000000000000000" pitchFamily="2" charset="2"/>
              <a:buChar char="v"/>
            </a:pPr>
            <a:r>
              <a:rPr lang="en-IN" sz="4000" dirty="0"/>
              <a:t>Pattern searching </a:t>
            </a:r>
          </a:p>
          <a:p>
            <a:pPr marL="285750" indent="-285750">
              <a:buFont typeface="Wingdings" panose="05000000000000000000" pitchFamily="2" charset="2"/>
              <a:buChar char="v"/>
            </a:pPr>
            <a:r>
              <a:rPr lang="en-IN" sz="4000" dirty="0"/>
              <a:t>Longest repeated substring </a:t>
            </a:r>
          </a:p>
          <a:p>
            <a:pPr marL="285750" indent="-285750">
              <a:buFont typeface="Wingdings" panose="05000000000000000000" pitchFamily="2" charset="2"/>
              <a:buChar char="v"/>
            </a:pPr>
            <a:r>
              <a:rPr lang="en-IN" sz="4000" dirty="0"/>
              <a:t>Longest common substring </a:t>
            </a:r>
          </a:p>
          <a:p>
            <a:pPr marL="285750" indent="-285750">
              <a:buFont typeface="Wingdings" panose="05000000000000000000" pitchFamily="2" charset="2"/>
              <a:buChar char="v"/>
            </a:pPr>
            <a:r>
              <a:rPr lang="en-IN" sz="4000" dirty="0"/>
              <a:t>Document similarity </a:t>
            </a:r>
          </a:p>
          <a:p>
            <a:pPr marL="285750" indent="-285750">
              <a:buFont typeface="Wingdings" panose="05000000000000000000" pitchFamily="2" charset="2"/>
              <a:buChar char="v"/>
            </a:pPr>
            <a:r>
              <a:rPr lang="en-IN" sz="4000" dirty="0"/>
              <a:t>Genome sequence analysis </a:t>
            </a:r>
          </a:p>
          <a:p>
            <a:pPr marL="285750" indent="-285750">
              <a:buFont typeface="Wingdings" panose="05000000000000000000" pitchFamily="2" charset="2"/>
              <a:buChar char="v"/>
            </a:pPr>
            <a:r>
              <a:rPr lang="en-IN" sz="4000" dirty="0"/>
              <a:t>Data compression</a:t>
            </a:r>
          </a:p>
        </p:txBody>
      </p:sp>
    </p:spTree>
    <p:extLst>
      <p:ext uri="{BB962C8B-B14F-4D97-AF65-F5344CB8AC3E}">
        <p14:creationId xmlns:p14="http://schemas.microsoft.com/office/powerpoint/2010/main" val="309924323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B250F-7AD5-972B-2489-920C0842E6F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5A660F0-5575-9CF1-E6F7-AD66DD992402}"/>
              </a:ext>
            </a:extLst>
          </p:cNvPr>
          <p:cNvSpPr txBox="1"/>
          <p:nvPr/>
        </p:nvSpPr>
        <p:spPr>
          <a:xfrm>
            <a:off x="1091944" y="2048103"/>
            <a:ext cx="9236392" cy="2308324"/>
          </a:xfrm>
          <a:prstGeom prst="rect">
            <a:avLst/>
          </a:prstGeom>
          <a:noFill/>
        </p:spPr>
        <p:txBody>
          <a:bodyPr wrap="square">
            <a:spAutoFit/>
          </a:bodyPr>
          <a:lstStyle/>
          <a:p>
            <a:pPr>
              <a:lnSpc>
                <a:spcPct val="150000"/>
              </a:lnSpc>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Rank Array Construction: </a:t>
            </a:r>
            <a:r>
              <a:rPr lang="en-IN" sz="3200" b="1" dirty="0">
                <a:latin typeface="Times New Roman" panose="02020603050405020304" pitchFamily="18" charset="0"/>
                <a:cs typeface="Times New Roman" panose="02020603050405020304" pitchFamily="18" charset="0"/>
              </a:rPr>
              <a:t>O(n)</a:t>
            </a:r>
            <a:r>
              <a:rPr lang="en-IN" sz="3200" dirty="0">
                <a:latin typeface="Times New Roman" panose="02020603050405020304" pitchFamily="18" charset="0"/>
                <a:cs typeface="Times New Roman" panose="02020603050405020304" pitchFamily="18" charset="0"/>
              </a:rPr>
              <a:t> </a:t>
            </a:r>
          </a:p>
          <a:p>
            <a:pPr>
              <a:lnSpc>
                <a:spcPct val="150000"/>
              </a:lnSpc>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LCP Construction (Kasai Algorithm): </a:t>
            </a:r>
            <a:r>
              <a:rPr lang="en-IN" sz="3200" b="1" dirty="0">
                <a:latin typeface="Times New Roman" panose="02020603050405020304" pitchFamily="18" charset="0"/>
                <a:cs typeface="Times New Roman" panose="02020603050405020304" pitchFamily="18" charset="0"/>
              </a:rPr>
              <a:t>O(n) </a:t>
            </a:r>
          </a:p>
          <a:p>
            <a:pPr>
              <a:lnSpc>
                <a:spcPct val="150000"/>
              </a:lnSpc>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Overall Complexity: </a:t>
            </a:r>
            <a:r>
              <a:rPr lang="en-IN" sz="3200" b="1" dirty="0">
                <a:latin typeface="Times New Roman" panose="02020603050405020304" pitchFamily="18" charset="0"/>
                <a:cs typeface="Times New Roman" panose="02020603050405020304" pitchFamily="18" charset="0"/>
              </a:rPr>
              <a:t>O(n)</a:t>
            </a:r>
          </a:p>
        </p:txBody>
      </p:sp>
      <p:sp>
        <p:nvSpPr>
          <p:cNvPr id="2" name="Rectangle 1"/>
          <p:cNvSpPr/>
          <p:nvPr/>
        </p:nvSpPr>
        <p:spPr>
          <a:xfrm>
            <a:off x="4746210" y="198205"/>
            <a:ext cx="3980898" cy="905056"/>
          </a:xfrm>
          <a:prstGeom prst="rect">
            <a:avLst/>
          </a:prstGeom>
        </p:spPr>
        <p:txBody>
          <a:bodyPr wrap="none">
            <a:spAutoFit/>
          </a:bodyPr>
          <a:lstStyle/>
          <a:p>
            <a:pPr>
              <a:lnSpc>
                <a:spcPct val="150000"/>
              </a:lnSpc>
              <a:buNone/>
            </a:pPr>
            <a:r>
              <a:rPr lang="en-IN" sz="4000" b="1" dirty="0">
                <a:latin typeface="Times New Roman" panose="02020603050405020304" pitchFamily="18" charset="0"/>
                <a:cs typeface="Times New Roman" panose="02020603050405020304" pitchFamily="18" charset="0"/>
              </a:rPr>
              <a:t>Time Complexity</a:t>
            </a:r>
          </a:p>
        </p:txBody>
      </p:sp>
    </p:spTree>
    <p:extLst>
      <p:ext uri="{BB962C8B-B14F-4D97-AF65-F5344CB8AC3E}">
        <p14:creationId xmlns:p14="http://schemas.microsoft.com/office/powerpoint/2010/main" val="217498345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101980" y="69442"/>
            <a:ext cx="8050602" cy="584775"/>
          </a:xfrm>
          <a:prstGeom prst="rect">
            <a:avLst/>
          </a:prstGeom>
        </p:spPr>
        <p:txBody>
          <a:bodyPr wrap="none">
            <a:spAutoFit/>
          </a:bodyPr>
          <a:lstStyle/>
          <a:p>
            <a:pPr algn="ctr"/>
            <a:r>
              <a:rPr lang="en-US" sz="3200" b="1" dirty="0">
                <a:solidFill>
                  <a:srgbClr val="0070C0"/>
                </a:solidFill>
                <a:latin typeface="Times New Roman" panose="02020603050405020304" pitchFamily="18" charset="0"/>
                <a:ea typeface="Times New Roman" panose="02020603050405020304" pitchFamily="18" charset="0"/>
              </a:rPr>
              <a:t>Types of String Pattern Matching algorithms</a:t>
            </a:r>
            <a:endParaRPr lang="en-US" sz="3200" dirty="0">
              <a:solidFill>
                <a:srgbClr val="0070C0"/>
              </a:solidFill>
              <a:latin typeface="Times New Roman" panose="02020603050405020304" pitchFamily="18" charset="0"/>
              <a:ea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646450295"/>
              </p:ext>
            </p:extLst>
          </p:nvPr>
        </p:nvGraphicFramePr>
        <p:xfrm>
          <a:off x="673896" y="901487"/>
          <a:ext cx="10906770" cy="5582818"/>
        </p:xfrm>
        <a:graphic>
          <a:graphicData uri="http://schemas.openxmlformats.org/drawingml/2006/table">
            <a:tbl>
              <a:tblPr firstRow="1" firstCol="1" bandRow="1">
                <a:tableStyleId>{2D5ABB26-0587-4C30-8999-92F81FD0307C}</a:tableStyleId>
              </a:tblPr>
              <a:tblGrid>
                <a:gridCol w="3685294">
                  <a:extLst>
                    <a:ext uri="{9D8B030D-6E8A-4147-A177-3AD203B41FA5}">
                      <a16:colId xmlns:a16="http://schemas.microsoft.com/office/drawing/2014/main" val="1286553323"/>
                    </a:ext>
                  </a:extLst>
                </a:gridCol>
                <a:gridCol w="7221476">
                  <a:extLst>
                    <a:ext uri="{9D8B030D-6E8A-4147-A177-3AD203B41FA5}">
                      <a16:colId xmlns:a16="http://schemas.microsoft.com/office/drawing/2014/main" val="2699022575"/>
                    </a:ext>
                  </a:extLst>
                </a:gridCol>
              </a:tblGrid>
              <a:tr h="522645">
                <a:tc>
                  <a:txBody>
                    <a:bodyPr/>
                    <a:lstStyle/>
                    <a:p>
                      <a:pPr marL="0" marR="0" algn="ctr">
                        <a:lnSpc>
                          <a:spcPct val="107000"/>
                        </a:lnSpc>
                        <a:spcBef>
                          <a:spcPts val="0"/>
                        </a:spcBef>
                        <a:spcAft>
                          <a:spcPts val="0"/>
                        </a:spcAft>
                      </a:pPr>
                      <a:r>
                        <a:rPr lang="en-US" sz="2400" b="1" kern="0" dirty="0">
                          <a:solidFill>
                            <a:srgbClr val="FF0000"/>
                          </a:solidFill>
                          <a:effectLst/>
                        </a:rPr>
                        <a:t>Algorithm</a:t>
                      </a:r>
                      <a:endParaRPr lang="en-US" sz="2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400" b="1" kern="0" dirty="0">
                          <a:solidFill>
                            <a:srgbClr val="FF0000"/>
                          </a:solidFill>
                          <a:effectLst/>
                        </a:rPr>
                        <a:t>Time Complexity</a:t>
                      </a:r>
                      <a:endParaRPr lang="en-US" sz="2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5133903"/>
                  </a:ext>
                </a:extLst>
              </a:tr>
              <a:tr h="522645">
                <a:tc>
                  <a:txBody>
                    <a:bodyPr/>
                    <a:lstStyle/>
                    <a:p>
                      <a:pPr marL="0" marR="0" algn="l">
                        <a:lnSpc>
                          <a:spcPct val="107000"/>
                        </a:lnSpc>
                        <a:spcBef>
                          <a:spcPts val="0"/>
                        </a:spcBef>
                        <a:spcAft>
                          <a:spcPts val="0"/>
                        </a:spcAft>
                      </a:pPr>
                      <a:r>
                        <a:rPr lang="en-US" sz="2400" b="1" kern="0" dirty="0">
                          <a:solidFill>
                            <a:srgbClr val="1E03BD"/>
                          </a:solidFill>
                          <a:effectLst/>
                        </a:rPr>
                        <a:t>Naïve</a:t>
                      </a:r>
                      <a:endParaRPr lang="en-US" sz="2400" b="1" kern="100" dirty="0">
                        <a:solidFill>
                          <a:srgbClr val="1E03BD"/>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b="1" kern="0" dirty="0">
                          <a:solidFill>
                            <a:srgbClr val="0070C0"/>
                          </a:solidFill>
                          <a:effectLst/>
                        </a:rPr>
                        <a:t>O(nm)  </a:t>
                      </a:r>
                      <a:r>
                        <a:rPr lang="en-US" sz="2000" b="1" kern="0" dirty="0">
                          <a:effectLst/>
                        </a:rPr>
                        <a:t>n is length of text and m is length of pattern</a:t>
                      </a:r>
                      <a:endParaRPr lang="en-US" sz="20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6314575"/>
                  </a:ext>
                </a:extLst>
              </a:tr>
              <a:tr h="522645">
                <a:tc>
                  <a:txBody>
                    <a:bodyPr/>
                    <a:lstStyle/>
                    <a:p>
                      <a:pPr marL="0" marR="0" algn="l">
                        <a:lnSpc>
                          <a:spcPct val="107000"/>
                        </a:lnSpc>
                        <a:spcBef>
                          <a:spcPts val="0"/>
                        </a:spcBef>
                        <a:spcAft>
                          <a:spcPts val="0"/>
                        </a:spcAft>
                      </a:pPr>
                      <a:r>
                        <a:rPr lang="en-US" sz="2400" b="1" kern="0" dirty="0">
                          <a:solidFill>
                            <a:srgbClr val="1E03BD"/>
                          </a:solidFill>
                          <a:effectLst/>
                        </a:rPr>
                        <a:t>Rabin-Karp</a:t>
                      </a:r>
                      <a:endParaRPr lang="en-US" sz="2400" b="1" kern="100" dirty="0">
                        <a:solidFill>
                          <a:srgbClr val="1E03BD"/>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b="1" kern="0" dirty="0">
                          <a:effectLst/>
                        </a:rPr>
                        <a:t>Average </a:t>
                      </a:r>
                      <a:r>
                        <a:rPr lang="en-US" sz="2400" b="1" kern="0" dirty="0">
                          <a:solidFill>
                            <a:srgbClr val="0070C0"/>
                          </a:solidFill>
                          <a:effectLst/>
                        </a:rPr>
                        <a:t>O(</a:t>
                      </a:r>
                      <a:r>
                        <a:rPr lang="en-US" sz="2400" b="1" kern="0" dirty="0" err="1">
                          <a:solidFill>
                            <a:srgbClr val="0070C0"/>
                          </a:solidFill>
                          <a:effectLst/>
                        </a:rPr>
                        <a:t>n+m</a:t>
                      </a:r>
                      <a:r>
                        <a:rPr lang="en-US" sz="2400" b="1" kern="0" dirty="0">
                          <a:solidFill>
                            <a:srgbClr val="0070C0"/>
                          </a:solidFill>
                          <a:effectLst/>
                        </a:rPr>
                        <a:t>)</a:t>
                      </a:r>
                      <a:r>
                        <a:rPr lang="en-US" sz="2400" b="1" kern="0" dirty="0">
                          <a:effectLst/>
                        </a:rPr>
                        <a:t>, </a:t>
                      </a:r>
                      <a:r>
                        <a:rPr lang="en-US" sz="2000" b="1" kern="0" dirty="0">
                          <a:effectLst/>
                        </a:rPr>
                        <a:t>n is length of text and m is length of pattern</a:t>
                      </a:r>
                      <a:endParaRPr lang="en-US" sz="20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3095533"/>
                  </a:ext>
                </a:extLst>
              </a:tr>
              <a:tr h="522645">
                <a:tc>
                  <a:txBody>
                    <a:bodyPr/>
                    <a:lstStyle/>
                    <a:p>
                      <a:pPr marL="0" marR="0" algn="l">
                        <a:lnSpc>
                          <a:spcPct val="107000"/>
                        </a:lnSpc>
                        <a:spcBef>
                          <a:spcPts val="0"/>
                        </a:spcBef>
                        <a:spcAft>
                          <a:spcPts val="0"/>
                        </a:spcAft>
                      </a:pPr>
                      <a:r>
                        <a:rPr lang="en-US" sz="2400" b="1" kern="0" dirty="0">
                          <a:solidFill>
                            <a:srgbClr val="1E03BD"/>
                          </a:solidFill>
                          <a:effectLst/>
                        </a:rPr>
                        <a:t>Knuth-Morris-Pratt (KMP)</a:t>
                      </a:r>
                      <a:endParaRPr lang="en-US" sz="2400" b="1" kern="100" dirty="0">
                        <a:solidFill>
                          <a:srgbClr val="1E03BD"/>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b="1" kern="0" dirty="0">
                          <a:solidFill>
                            <a:srgbClr val="0070C0"/>
                          </a:solidFill>
                          <a:effectLst/>
                        </a:rPr>
                        <a:t>O(</a:t>
                      </a:r>
                      <a:r>
                        <a:rPr lang="en-US" sz="2400" b="1" kern="0" dirty="0" err="1">
                          <a:solidFill>
                            <a:srgbClr val="0070C0"/>
                          </a:solidFill>
                          <a:effectLst/>
                        </a:rPr>
                        <a:t>n+m</a:t>
                      </a:r>
                      <a:r>
                        <a:rPr lang="en-US" sz="2400" b="1" kern="0" dirty="0">
                          <a:solidFill>
                            <a:srgbClr val="0070C0"/>
                          </a:solidFill>
                          <a:effectLst/>
                        </a:rPr>
                        <a:t>)</a:t>
                      </a:r>
                      <a:r>
                        <a:rPr lang="en-US" sz="2400" b="1" kern="0" dirty="0">
                          <a:effectLst/>
                        </a:rPr>
                        <a:t>, </a:t>
                      </a:r>
                      <a:r>
                        <a:rPr lang="en-US" sz="2000" b="1" kern="0" dirty="0">
                          <a:effectLst/>
                        </a:rPr>
                        <a:t>n is length of text and m is length of pattern</a:t>
                      </a:r>
                      <a:endParaRPr lang="en-US" sz="20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6704950"/>
                  </a:ext>
                </a:extLst>
              </a:tr>
              <a:tr h="522645">
                <a:tc>
                  <a:txBody>
                    <a:bodyPr/>
                    <a:lstStyle/>
                    <a:p>
                      <a:pPr marL="0" marR="0">
                        <a:lnSpc>
                          <a:spcPct val="107000"/>
                        </a:lnSpc>
                        <a:spcBef>
                          <a:spcPts val="0"/>
                        </a:spcBef>
                        <a:spcAft>
                          <a:spcPts val="0"/>
                        </a:spcAft>
                      </a:pPr>
                      <a:r>
                        <a:rPr lang="en-US" sz="2400" b="1" kern="0" dirty="0">
                          <a:effectLst/>
                        </a:rPr>
                        <a:t>Boyer-Moore</a:t>
                      </a:r>
                      <a:endParaRPr lang="en-US" sz="24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b="1" kern="0" dirty="0">
                          <a:effectLst/>
                        </a:rPr>
                        <a:t>Best practical performance</a:t>
                      </a:r>
                      <a:endParaRPr lang="en-US" sz="24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9204796"/>
                  </a:ext>
                </a:extLst>
              </a:tr>
              <a:tr h="522645">
                <a:tc>
                  <a:txBody>
                    <a:bodyPr/>
                    <a:lstStyle/>
                    <a:p>
                      <a:pPr marL="0" marR="0">
                        <a:lnSpc>
                          <a:spcPct val="107000"/>
                        </a:lnSpc>
                        <a:spcBef>
                          <a:spcPts val="0"/>
                        </a:spcBef>
                        <a:spcAft>
                          <a:spcPts val="0"/>
                        </a:spcAft>
                      </a:pPr>
                      <a:r>
                        <a:rPr lang="en-US" sz="2400" b="1" kern="0" dirty="0">
                          <a:solidFill>
                            <a:srgbClr val="1E03BD"/>
                          </a:solidFill>
                          <a:effectLst/>
                        </a:rPr>
                        <a:t>Z Algorithm</a:t>
                      </a:r>
                      <a:endParaRPr lang="en-US" sz="2400" b="1" kern="100" dirty="0">
                        <a:solidFill>
                          <a:srgbClr val="1E03BD"/>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b="1" kern="0" dirty="0">
                          <a:solidFill>
                            <a:srgbClr val="0070C0"/>
                          </a:solidFill>
                          <a:effectLst/>
                        </a:rPr>
                        <a:t>O(</a:t>
                      </a:r>
                      <a:r>
                        <a:rPr lang="en-US" sz="2400" b="1" kern="0" dirty="0" err="1">
                          <a:solidFill>
                            <a:srgbClr val="0070C0"/>
                          </a:solidFill>
                          <a:effectLst/>
                        </a:rPr>
                        <a:t>n+m</a:t>
                      </a:r>
                      <a:r>
                        <a:rPr lang="en-US" sz="2400" b="1" kern="0" dirty="0">
                          <a:solidFill>
                            <a:srgbClr val="0070C0"/>
                          </a:solidFill>
                          <a:effectLst/>
                        </a:rPr>
                        <a:t>), </a:t>
                      </a:r>
                      <a:r>
                        <a:rPr lang="en-US" sz="2000" b="1" kern="0" dirty="0">
                          <a:effectLst/>
                        </a:rPr>
                        <a:t>n is length of text and m is length of pattern</a:t>
                      </a:r>
                      <a:endParaRPr lang="en-US" sz="20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469397"/>
                  </a:ext>
                </a:extLst>
              </a:tr>
              <a:tr h="2446948">
                <a:tc>
                  <a:txBody>
                    <a:bodyPr/>
                    <a:lstStyle/>
                    <a:p>
                      <a:pPr marL="0" marR="0">
                        <a:lnSpc>
                          <a:spcPct val="107000"/>
                        </a:lnSpc>
                        <a:spcBef>
                          <a:spcPts val="0"/>
                        </a:spcBef>
                        <a:spcAft>
                          <a:spcPts val="0"/>
                        </a:spcAft>
                      </a:pPr>
                      <a:r>
                        <a:rPr lang="en-US" sz="2400" b="1" kern="0" dirty="0" err="1">
                          <a:solidFill>
                            <a:srgbClr val="1E03BD"/>
                          </a:solidFill>
                          <a:effectLst/>
                        </a:rPr>
                        <a:t>Aho-Corasick</a:t>
                      </a:r>
                      <a:endParaRPr lang="en-US" sz="2400" b="1" kern="100" dirty="0">
                        <a:solidFill>
                          <a:srgbClr val="1E03BD"/>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b="1" kern="0" dirty="0">
                          <a:effectLst/>
                        </a:rPr>
                        <a:t>Multiple pattern matching</a:t>
                      </a:r>
                    </a:p>
                    <a:p>
                      <a:pPr marL="0" marR="0" algn="l">
                        <a:lnSpc>
                          <a:spcPct val="107000"/>
                        </a:lnSpc>
                        <a:spcBef>
                          <a:spcPts val="0"/>
                        </a:spcBef>
                        <a:spcAft>
                          <a:spcPts val="0"/>
                        </a:spcAft>
                      </a:pPr>
                      <a:r>
                        <a:rPr lang="en-IN" sz="2400" b="1" dirty="0">
                          <a:solidFill>
                            <a:srgbClr val="0070C0"/>
                          </a:solidFill>
                        </a:rPr>
                        <a:t>O(m x Ʃ + n + z)</a:t>
                      </a:r>
                    </a:p>
                    <a:p>
                      <a:pPr marL="0" marR="0" algn="l">
                        <a:lnSpc>
                          <a:spcPct val="107000"/>
                        </a:lnSpc>
                        <a:spcBef>
                          <a:spcPts val="0"/>
                        </a:spcBef>
                        <a:spcAft>
                          <a:spcPts val="0"/>
                        </a:spcAft>
                      </a:pPr>
                      <a:r>
                        <a:rPr lang="en-IN" sz="2400" b="1" dirty="0"/>
                        <a:t>m-m = total length of all patterns</a:t>
                      </a:r>
                      <a:br>
                        <a:rPr lang="en-IN" sz="2400" b="1" dirty="0"/>
                      </a:br>
                      <a:r>
                        <a:rPr lang="en-IN" sz="2400" b="1" dirty="0"/>
                        <a:t>Σ = size of the alphabet</a:t>
                      </a:r>
                    </a:p>
                    <a:p>
                      <a:pPr marL="0" marR="0" algn="l">
                        <a:lnSpc>
                          <a:spcPct val="107000"/>
                        </a:lnSpc>
                        <a:spcBef>
                          <a:spcPts val="0"/>
                        </a:spcBef>
                        <a:spcAft>
                          <a:spcPts val="0"/>
                        </a:spcAft>
                      </a:pPr>
                      <a:r>
                        <a:rPr lang="en-IN" sz="2400" b="1" dirty="0"/>
                        <a:t>n = length of the input text</a:t>
                      </a:r>
                      <a:br>
                        <a:rPr lang="en-IN" sz="2400" b="1" dirty="0"/>
                      </a:br>
                      <a:r>
                        <a:rPr lang="en-IN" sz="2400" b="1" dirty="0"/>
                        <a:t>z = total number of pattern occurrences (matches)</a:t>
                      </a:r>
                      <a:endParaRPr lang="en-US" sz="24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8541166"/>
                  </a:ext>
                </a:extLst>
              </a:tr>
            </a:tbl>
          </a:graphicData>
        </a:graphic>
      </p:graphicFrame>
    </p:spTree>
    <p:extLst>
      <p:ext uri="{BB962C8B-B14F-4D97-AF65-F5344CB8AC3E}">
        <p14:creationId xmlns:p14="http://schemas.microsoft.com/office/powerpoint/2010/main" val="8252327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AU">
                <a:solidFill>
                  <a:srgbClr val="C00000"/>
                </a:solidFill>
              </a:rPr>
              <a:t>DSA-3 </a:t>
            </a:r>
          </a:p>
        </p:txBody>
      </p:sp>
      <p:sp>
        <p:nvSpPr>
          <p:cNvPr id="3" name="Slide Number Placeholder 2"/>
          <p:cNvSpPr>
            <a:spLocks noGrp="1"/>
          </p:cNvSpPr>
          <p:nvPr>
            <p:ph type="sldNum" sz="quarter" idx="12"/>
          </p:nvPr>
        </p:nvSpPr>
        <p:spPr/>
        <p:txBody>
          <a:bodyPr/>
          <a:lstStyle/>
          <a:p>
            <a:fld id="{68187FF5-4BF9-4B21-B0D2-9B7FF2B27D7F}" type="slidenum">
              <a:rPr lang="en-AU" smtClean="0"/>
              <a:pPr/>
              <a:t>158</a:t>
            </a:fld>
            <a:endParaRPr lang="en-AU"/>
          </a:p>
        </p:txBody>
      </p:sp>
      <p:sp>
        <p:nvSpPr>
          <p:cNvPr id="4" name="Rectangle 3"/>
          <p:cNvSpPr/>
          <p:nvPr/>
        </p:nvSpPr>
        <p:spPr>
          <a:xfrm>
            <a:off x="4026947" y="2361048"/>
            <a:ext cx="4361679" cy="1569660"/>
          </a:xfrm>
          <a:prstGeom prst="rect">
            <a:avLst/>
          </a:prstGeom>
          <a:noFill/>
        </p:spPr>
        <p:txBody>
          <a:bodyPr wrap="square" lIns="91440" tIns="45720" rIns="91440" bIns="45720">
            <a:spAutoFit/>
          </a:bodyPr>
          <a:lstStyle/>
          <a:p>
            <a:pPr algn="ctr"/>
            <a:r>
              <a:rPr lang="en-US" sz="9600" b="1" cap="none" spc="0" dirty="0">
                <a:ln w="22225">
                  <a:solidFill>
                    <a:schemeClr val="accent2"/>
                  </a:solidFill>
                  <a:prstDash val="solid"/>
                </a:ln>
                <a:solidFill>
                  <a:schemeClr val="accent2">
                    <a:lumMod val="40000"/>
                    <a:lumOff val="60000"/>
                  </a:schemeClr>
                </a:solidFill>
                <a:effectLst>
                  <a:glow rad="127000">
                    <a:srgbClr val="92D050"/>
                  </a:glow>
                </a:effectLst>
                <a:latin typeface="Freestyle Script" panose="030804020302050B0404" pitchFamily="66" charset="0"/>
                <a:ea typeface="Ebrima" panose="02000000000000000000" pitchFamily="2" charset="0"/>
                <a:cs typeface="Ebrima" panose="02000000000000000000" pitchFamily="2" charset="0"/>
              </a:rPr>
              <a:t>Thankyou</a:t>
            </a:r>
          </a:p>
        </p:txBody>
      </p:sp>
    </p:spTree>
    <p:extLst>
      <p:ext uri="{BB962C8B-B14F-4D97-AF65-F5344CB8AC3E}">
        <p14:creationId xmlns:p14="http://schemas.microsoft.com/office/powerpoint/2010/main" val="9729477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ata_x0020_Base_x0020_Secuirty xmlns="e55cc92a-1539-4df1-9458-c91bde0a752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7C8CA6BD4B6BB458EC4DF3BC6B8455E" ma:contentTypeVersion="3" ma:contentTypeDescription="Create a new document." ma:contentTypeScope="" ma:versionID="54dd32af46607e74e95a970489d169e9">
  <xsd:schema xmlns:xsd="http://www.w3.org/2001/XMLSchema" xmlns:xs="http://www.w3.org/2001/XMLSchema" xmlns:p="http://schemas.microsoft.com/office/2006/metadata/properties" xmlns:ns2="5e62a2dd-ff91-4591-8d2f-adadc8198891" xmlns:ns3="e55cc92a-1539-4df1-9458-c91bde0a752f" targetNamespace="http://schemas.microsoft.com/office/2006/metadata/properties" ma:root="true" ma:fieldsID="f933b677abdf242d07459fbbd4282fb3" ns2:_="" ns3:_="">
    <xsd:import namespace="5e62a2dd-ff91-4591-8d2f-adadc8198891"/>
    <xsd:import namespace="e55cc92a-1539-4df1-9458-c91bde0a752f"/>
    <xsd:element name="properties">
      <xsd:complexType>
        <xsd:sequence>
          <xsd:element name="documentManagement">
            <xsd:complexType>
              <xsd:all>
                <xsd:element ref="ns2:SharedWithUsers" minOccurs="0"/>
                <xsd:element ref="ns2:SharedWithDetails" minOccurs="0"/>
                <xsd:element ref="ns3:Data_x0020_Base_x0020_Secuir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62a2dd-ff91-4591-8d2f-adadc8198891"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55cc92a-1539-4df1-9458-c91bde0a752f" elementFormDefault="qualified">
    <xsd:import namespace="http://schemas.microsoft.com/office/2006/documentManagement/types"/>
    <xsd:import namespace="http://schemas.microsoft.com/office/infopath/2007/PartnerControls"/>
    <xsd:element name="Data_x0020_Base_x0020_Secuirty" ma:index="10" nillable="true" ma:displayName="Data Base " ma:internalName="Data_x0020_Base_x0020_Secuirt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6989B67-2555-4DB6-B147-5FFEA8141233}">
  <ds:schemaRefs>
    <ds:schemaRef ds:uri="http://purl.org/dc/elements/1.1/"/>
    <ds:schemaRef ds:uri="http://schemas.microsoft.com/office/2006/metadata/properties"/>
    <ds:schemaRef ds:uri="http://schemas.microsoft.com/office/2006/documentManagement/types"/>
    <ds:schemaRef ds:uri="http://purl.org/dc/terms/"/>
    <ds:schemaRef ds:uri="5e62a2dd-ff91-4591-8d2f-adadc8198891"/>
    <ds:schemaRef ds:uri="http://purl.org/dc/dcmitype/"/>
    <ds:schemaRef ds:uri="http://schemas.microsoft.com/office/infopath/2007/PartnerControls"/>
    <ds:schemaRef ds:uri="http://schemas.openxmlformats.org/package/2006/metadata/core-properties"/>
    <ds:schemaRef ds:uri="e55cc92a-1539-4df1-9458-c91bde0a752f"/>
    <ds:schemaRef ds:uri="http://www.w3.org/XML/1998/namespace"/>
  </ds:schemaRefs>
</ds:datastoreItem>
</file>

<file path=customXml/itemProps2.xml><?xml version="1.0" encoding="utf-8"?>
<ds:datastoreItem xmlns:ds="http://schemas.openxmlformats.org/officeDocument/2006/customXml" ds:itemID="{1FE2E494-7E83-48A3-A37B-6A0EF14651A9}">
  <ds:schemaRefs>
    <ds:schemaRef ds:uri="http://schemas.microsoft.com/sharepoint/v3/contenttype/forms"/>
  </ds:schemaRefs>
</ds:datastoreItem>
</file>

<file path=customXml/itemProps3.xml><?xml version="1.0" encoding="utf-8"?>
<ds:datastoreItem xmlns:ds="http://schemas.openxmlformats.org/officeDocument/2006/customXml" ds:itemID="{C34C7BD7-3D85-4085-8918-1206224A05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62a2dd-ff91-4591-8d2f-adadc8198891"/>
    <ds:schemaRef ds:uri="e55cc92a-1539-4df1-9458-c91bde0a752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14519</TotalTime>
  <Words>18839</Words>
  <Application>Microsoft Office PowerPoint</Application>
  <PresentationFormat>Widescreen</PresentationFormat>
  <Paragraphs>4222</Paragraphs>
  <Slides>158</Slides>
  <Notes>19</Notes>
  <HiddenSlides>5</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158</vt:i4>
      </vt:variant>
    </vt:vector>
  </HeadingPairs>
  <TitlesOfParts>
    <vt:vector size="171" baseType="lpstr">
      <vt:lpstr>ＭＳ Ｐゴシック</vt:lpstr>
      <vt:lpstr>Arial</vt:lpstr>
      <vt:lpstr>BioRhyme ExtraBold</vt:lpstr>
      <vt:lpstr>Calibri</vt:lpstr>
      <vt:lpstr>Cambria Math</vt:lpstr>
      <vt:lpstr>Consolas</vt:lpstr>
      <vt:lpstr>Courier New</vt:lpstr>
      <vt:lpstr>Freestyle Script</vt:lpstr>
      <vt:lpstr>Poppins</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KMP Algorithm works</vt:lpstr>
      <vt:lpstr>Working of KMP</vt:lpstr>
      <vt:lpstr>Working of KMP</vt:lpstr>
      <vt:lpstr>Working of KMP</vt:lpstr>
      <vt:lpstr>Working of KMP</vt:lpstr>
      <vt:lpstr>Working of KMP</vt:lpstr>
      <vt:lpstr>Working of KMP</vt:lpstr>
      <vt:lpstr>Working of KMP</vt:lpstr>
      <vt:lpstr>Working of KMP</vt:lpstr>
      <vt:lpstr>Working of KMP</vt:lpstr>
      <vt:lpstr>Working of KMP</vt:lpstr>
      <vt:lpstr>Working of KMP</vt:lpstr>
      <vt:lpstr>Working of KMP</vt:lpstr>
      <vt:lpstr>Working of KMP</vt:lpstr>
      <vt:lpstr>Working of KMP</vt:lpstr>
      <vt:lpstr>How KMP Algorithm works</vt:lpstr>
      <vt:lpstr>How KMP Algorithm works</vt:lpstr>
      <vt:lpstr>How KMP Algorithm works</vt:lpstr>
      <vt:lpstr>How KMP Algorithm works</vt:lpstr>
      <vt:lpstr>How KMP Algorithm works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KASAI  Algorithm</vt:lpstr>
      <vt:lpstr>KASAI  PROCEDURE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Veeraiah</dc:creator>
  <cp:lastModifiedBy>sireesha vikkurty</cp:lastModifiedBy>
  <cp:revision>298</cp:revision>
  <dcterms:modified xsi:type="dcterms:W3CDTF">2026-08-19T04:22:24Z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0x01010057C8CA6BD4B6BB458EC4DF3BC6B8455E</vt:lpwstr>
  </property>
</Properties>
</file>