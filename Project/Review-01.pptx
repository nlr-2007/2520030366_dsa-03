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Farm Assist Advanced Search System</a:t>
            </a:r>
          </a:p>
        </p:txBody>
      </p:sp>
      <p:sp>
        <p:nvSpPr>
          <p:cNvPr id="3" name="Subtitle 2"/>
          <p:cNvSpPr>
            <a:spLocks noGrp="1"/>
          </p:cNvSpPr>
          <p:nvPr>
            <p:ph type="subTitle" idx="1"/>
          </p:nvPr>
        </p:nvSpPr>
        <p:spPr>
          <a:xfrm>
            <a:off x="4307482" y="3224275"/>
            <a:ext cx="4551284" cy="1396014"/>
          </a:xfrm>
        </p:spPr>
        <p:txBody>
          <a:bodyPr/>
          <a:lstStyle/>
          <a:p>
            <a:r>
              <a:rPr lang="en-US" dirty="0">
                <a:solidFill>
                  <a:srgbClr val="0070C0"/>
                </a:solidFill>
              </a:rPr>
              <a:t>Team Members</a:t>
            </a:r>
          </a:p>
          <a:p>
            <a:r>
              <a:rPr lang="en-US" dirty="0" err="1">
                <a:solidFill>
                  <a:srgbClr val="0070C0"/>
                </a:solidFill>
              </a:rPr>
              <a:t>Nimma</a:t>
            </a:r>
            <a:r>
              <a:rPr lang="en-US" dirty="0">
                <a:solidFill>
                  <a:srgbClr val="0070C0"/>
                </a:solidFill>
              </a:rPr>
              <a:t> Lokesh Reddy  2520030366</a:t>
            </a:r>
          </a:p>
          <a:p>
            <a:r>
              <a:rPr lang="en-US" dirty="0" err="1">
                <a:solidFill>
                  <a:srgbClr val="0070C0"/>
                </a:solidFill>
              </a:rPr>
              <a:t>Ramagiri</a:t>
            </a:r>
            <a:r>
              <a:rPr lang="en-US" dirty="0">
                <a:solidFill>
                  <a:srgbClr val="0070C0"/>
                </a:solidFill>
              </a:rPr>
              <a:t> Rishik Rao 2520030333</a:t>
            </a:r>
          </a:p>
          <a:p>
            <a:r>
              <a:rPr lang="en-US" dirty="0">
                <a:solidFill>
                  <a:srgbClr val="0070C0"/>
                </a:solidFill>
              </a:rPr>
              <a:t>Yashwanth Manoj 2520030369</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solidFill>
                <a:srgbClr val="000000"/>
              </a:solidFill>
              <a:latin typeface="Calibri" panose="020F0502020204030204" pitchFamily="34" charset="0"/>
              <a:ea typeface="Calibri" panose="020F0502020204030204" pitchFamily="34" charset="0"/>
              <a:cs typeface="Gautami" panose="020B0502040204020203" pitchFamily="34" charset="0"/>
            </a:endParaRPr>
          </a:p>
          <a:p>
            <a:pPr marL="171450" algn="ctr">
              <a:lnSpc>
                <a:spcPct val="107000"/>
              </a:lnSpc>
              <a:spcAft>
                <a:spcPts val="800"/>
              </a:spcAft>
            </a:pPr>
            <a:r>
              <a:rPr lang="en-IN" sz="1800" b="1" kern="100" dirty="0">
                <a:solidFill>
                  <a:srgbClr val="000000"/>
                </a:solidFill>
                <a:effectLst/>
                <a:latin typeface="Calibri" panose="020F0502020204030204" pitchFamily="34" charset="0"/>
                <a:ea typeface="Calibri" panose="020F0502020204030204" pitchFamily="34" charset="0"/>
                <a:cs typeface="Gautami" panose="020B0502040204020203" pitchFamily="34" charset="0"/>
              </a:rPr>
              <a:t>Dr. V. </a:t>
            </a:r>
            <a:r>
              <a:rPr lang="en-IN" sz="1800" b="1" kern="100" dirty="0">
                <a:solidFill>
                  <a:srgbClr val="000000"/>
                </a:solidFill>
                <a:latin typeface="Calibri" panose="020F0502020204030204" pitchFamily="34" charset="0"/>
                <a:ea typeface="Calibri" panose="020F0502020204030204" pitchFamily="34" charset="0"/>
                <a:cs typeface="Gautami" panose="020B0502040204020203" pitchFamily="34" charset="0"/>
              </a:rPr>
              <a:t>Sireesha </a:t>
            </a:r>
            <a:br>
              <a:rPr lang="en-IN" sz="1800" b="1" kern="100" dirty="0">
                <a:solidFill>
                  <a:srgbClr val="000000"/>
                </a:solidFill>
                <a:latin typeface="Calibri" panose="020F0502020204030204" pitchFamily="34" charset="0"/>
                <a:ea typeface="Calibri" panose="020F0502020204030204" pitchFamily="34" charset="0"/>
                <a:cs typeface="Gautami" panose="020B0502040204020203" pitchFamily="34" charset="0"/>
              </a:rPr>
            </a:br>
            <a:r>
              <a:rPr lang="en-IN" sz="1800" b="1" kern="100" dirty="0">
                <a:solidFill>
                  <a:srgbClr val="000000"/>
                </a:solidFill>
                <a:latin typeface="Calibri" panose="020F0502020204030204" pitchFamily="34" charset="0"/>
                <a:ea typeface="Calibri" panose="020F0502020204030204" pitchFamily="34" charset="0"/>
                <a:cs typeface="Gautami" panose="020B0502040204020203" pitchFamily="34" charset="0"/>
              </a:rPr>
              <a:t>Assistant Professor</a:t>
            </a:r>
            <a:endParaRPr lang="en-IN" sz="1800" b="1"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FCD2DB13-F5A8-96AD-2122-86D64E988404}"/>
              </a:ext>
            </a:extLst>
          </p:cNvPr>
          <p:cNvSpPr txBox="1"/>
          <p:nvPr/>
        </p:nvSpPr>
        <p:spPr>
          <a:xfrm>
            <a:off x="335707" y="1031428"/>
            <a:ext cx="11520583" cy="5093702"/>
          </a:xfrm>
          <a:prstGeom prst="rect">
            <a:avLst/>
          </a:prstGeom>
          <a:noFill/>
        </p:spPr>
        <p:txBody>
          <a:bodyPr wrap="square" rtlCol="0">
            <a:spAutoFit/>
          </a:bodyPr>
          <a:lstStyle/>
          <a:p>
            <a:pPr algn="just"/>
            <a:r>
              <a:rPr lang="en-US" sz="2500" dirty="0" err="1">
                <a:latin typeface="Times New Roman" panose="02020603050405020304" pitchFamily="18" charset="0"/>
                <a:cs typeface="Times New Roman" panose="02020603050405020304" pitchFamily="18" charset="0"/>
              </a:rPr>
              <a:t>FarmAssist</a:t>
            </a:r>
            <a:r>
              <a:rPr lang="en-US" sz="2500" dirty="0">
                <a:latin typeface="Times New Roman" panose="02020603050405020304" pitchFamily="18" charset="0"/>
                <a:cs typeface="Times New Roman" panose="02020603050405020304" pitchFamily="18" charset="0"/>
              </a:rPr>
              <a:t> is an agricultural knowledge search system designed to help farmers quickly access information about crops, diseases, symptoms, fertilizers, and cultivation methods. The system uses advanced data structures and algorithms to improve search accuracy and speed. KMP supports exact crop and disease searches, while Rabin-Karp searches across multiple agricultural documents. Aho-</a:t>
            </a:r>
            <a:r>
              <a:rPr lang="en-US" sz="2500" dirty="0" err="1">
                <a:latin typeface="Times New Roman" panose="02020603050405020304" pitchFamily="18" charset="0"/>
                <a:cs typeface="Times New Roman" panose="02020603050405020304" pitchFamily="18" charset="0"/>
              </a:rPr>
              <a:t>Corasick</a:t>
            </a:r>
            <a:r>
              <a:rPr lang="en-US" sz="2500" dirty="0">
                <a:latin typeface="Times New Roman" panose="02020603050405020304" pitchFamily="18" charset="0"/>
                <a:cs typeface="Times New Roman" panose="02020603050405020304" pitchFamily="18" charset="0"/>
              </a:rPr>
              <a:t> identifies several symptoms in a single query, and Edit Distance corrects spelling mistakes. Suffix Array and LCP are used to recommend related articles. Bipartite Matching connects crops with suitable fertilizers, and the Knapsack algorithm selects the best fertilizer combination within a given budget. Randomized </a:t>
            </a:r>
            <a:r>
              <a:rPr lang="en-US" sz="2500" dirty="0" err="1">
                <a:latin typeface="Times New Roman" panose="02020603050405020304" pitchFamily="18" charset="0"/>
                <a:cs typeface="Times New Roman" panose="02020603050405020304" pitchFamily="18" charset="0"/>
              </a:rPr>
              <a:t>QuickSort</a:t>
            </a:r>
            <a:r>
              <a:rPr lang="en-US" sz="2500" dirty="0">
                <a:latin typeface="Times New Roman" panose="02020603050405020304" pitchFamily="18" charset="0"/>
                <a:cs typeface="Times New Roman" panose="02020603050405020304" pitchFamily="18" charset="0"/>
              </a:rPr>
              <a:t> ranks the search results according to relevance. The system stores verified agricultural records and presents matching information in a simple and understandable format. </a:t>
            </a:r>
            <a:r>
              <a:rPr lang="en-US" sz="2500" dirty="0" err="1">
                <a:latin typeface="Times New Roman" panose="02020603050405020304" pitchFamily="18" charset="0"/>
                <a:cs typeface="Times New Roman" panose="02020603050405020304" pitchFamily="18" charset="0"/>
              </a:rPr>
              <a:t>FarmAssist</a:t>
            </a:r>
            <a:r>
              <a:rPr lang="en-US" sz="2500" dirty="0">
                <a:latin typeface="Times New Roman" panose="02020603050405020304" pitchFamily="18" charset="0"/>
                <a:cs typeface="Times New Roman" panose="02020603050405020304" pitchFamily="18" charset="0"/>
              </a:rPr>
              <a:t> aims to reduce the time required to find useful farming information and support better crop-management decisions.</a:t>
            </a:r>
            <a:endParaRPr lang="en-IN" sz="2500" dirty="0">
              <a:latin typeface="Times New Roman" panose="02020603050405020304" pitchFamily="18" charset="0"/>
              <a:cs typeface="Times New Roman" panose="02020603050405020304" pitchFamily="18" charset="0"/>
            </a:endParaRPr>
          </a:p>
          <a:p>
            <a:pPr algn="just"/>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3F06C8DC-AA46-522C-AA1A-5C12D8EAD016}"/>
              </a:ext>
            </a:extLst>
          </p:cNvPr>
          <p:cNvSpPr txBox="1"/>
          <p:nvPr/>
        </p:nvSpPr>
        <p:spPr>
          <a:xfrm>
            <a:off x="843029" y="1138854"/>
            <a:ext cx="10044046" cy="5093702"/>
          </a:xfrm>
          <a:prstGeom prst="rect">
            <a:avLst/>
          </a:prstGeom>
          <a:noFill/>
        </p:spPr>
        <p:txBody>
          <a:bodyPr wrap="square" rtlCol="0">
            <a:spAutoFit/>
          </a:bodyPr>
          <a:lstStyle/>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Farmers need quick, reliable answers about crop diseases; expert advice is not always reachable</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 farmer's question is not a database query — it is a sentence, with the disease and symptom buried inside it</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Finding many keywords in one sentence, and matching them against many records, is a </a:t>
            </a:r>
            <a:r>
              <a:rPr lang="en-IN" sz="2500" b="1" dirty="0">
                <a:latin typeface="Times New Roman" panose="02020603050405020304" pitchFamily="18" charset="0"/>
                <a:cs typeface="Times New Roman" panose="02020603050405020304" pitchFamily="18" charset="0"/>
              </a:rPr>
              <a:t>string-matching problem</a:t>
            </a:r>
            <a:endParaRPr lang="en-IN" sz="25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Classical pattern-matching algorithms solve it exactly, quickly, and without any training data</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The project is built in core Java — no libraries, no build tool, no </a:t>
            </a:r>
            <a:r>
              <a:rPr lang="en-IN" sz="2500" dirty="0" err="1">
                <a:latin typeface="Times New Roman" panose="02020603050405020304" pitchFamily="18" charset="0"/>
                <a:cs typeface="Times New Roman" panose="02020603050405020304" pitchFamily="18" charset="0"/>
              </a:rPr>
              <a:t>String.contains</a:t>
            </a:r>
            <a:r>
              <a:rPr lang="en-IN" sz="2500" dirty="0">
                <a:latin typeface="Times New Roman" panose="02020603050405020304" pitchFamily="18" charset="0"/>
                <a:cs typeface="Times New Roman" panose="02020603050405020304" pitchFamily="18" charset="0"/>
              </a:rPr>
              <a:t>()</a:t>
            </a:r>
          </a:p>
          <a:p>
            <a:pPr marL="285750" lvl="0" indent="-285750" algn="just">
              <a:buFont typeface="Arial" panose="020B0604020202020204" pitchFamily="34" charset="0"/>
              <a:buChar char="•"/>
            </a:pPr>
            <a:r>
              <a:rPr lang="en-IN" sz="2500" b="1" dirty="0">
                <a:latin typeface="Times New Roman" panose="02020603050405020304" pitchFamily="18" charset="0"/>
                <a:cs typeface="Times New Roman" panose="02020603050405020304" pitchFamily="18" charset="0"/>
              </a:rPr>
              <a:t>Review 1 </a:t>
            </a:r>
            <a:r>
              <a:rPr lang="en-IN" sz="2500" dirty="0">
                <a:latin typeface="Times New Roman" panose="02020603050405020304" pitchFamily="18" charset="0"/>
                <a:cs typeface="Times New Roman" panose="02020603050405020304" pitchFamily="18" charset="0"/>
              </a:rPr>
              <a:t>is a working </a:t>
            </a:r>
            <a:r>
              <a:rPr lang="en-IN" sz="2500" b="1" dirty="0">
                <a:latin typeface="Times New Roman" panose="02020603050405020304" pitchFamily="18" charset="0"/>
                <a:cs typeface="Times New Roman" panose="02020603050405020304" pitchFamily="18" charset="0"/>
              </a:rPr>
              <a:t>three-algorithm </a:t>
            </a:r>
            <a:r>
              <a:rPr lang="en-IN" sz="2500" dirty="0">
                <a:latin typeface="Times New Roman" panose="02020603050405020304" pitchFamily="18" charset="0"/>
                <a:cs typeface="Times New Roman" panose="02020603050405020304" pitchFamily="18" charset="0"/>
              </a:rPr>
              <a:t>build; the full system extends it further</a:t>
            </a:r>
            <a:br>
              <a:rPr lang="en-IN" sz="2500" dirty="0">
                <a:latin typeface="Times New Roman" panose="02020603050405020304" pitchFamily="18" charset="0"/>
                <a:cs typeface="Times New Roman" panose="02020603050405020304" pitchFamily="18" charset="0"/>
              </a:rPr>
            </a:br>
            <a:endParaRPr lang="en-IN"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5" name="Table 4">
            <a:extLst>
              <a:ext uri="{FF2B5EF4-FFF2-40B4-BE49-F238E27FC236}">
                <a16:creationId xmlns:a16="http://schemas.microsoft.com/office/drawing/2014/main" id="{49A0C0AE-8F60-24C8-CA18-9E635A3CDB06}"/>
              </a:ext>
            </a:extLst>
          </p:cNvPr>
          <p:cNvGraphicFramePr>
            <a:graphicFrameLocks noGrp="1"/>
          </p:cNvGraphicFramePr>
          <p:nvPr>
            <p:extLst>
              <p:ext uri="{D42A27DB-BD31-4B8C-83A1-F6EECF244321}">
                <p14:modId xmlns:p14="http://schemas.microsoft.com/office/powerpoint/2010/main" val="2562919374"/>
              </p:ext>
            </p:extLst>
          </p:nvPr>
        </p:nvGraphicFramePr>
        <p:xfrm>
          <a:off x="712234" y="1143949"/>
          <a:ext cx="11090988" cy="3688080"/>
        </p:xfrm>
        <a:graphic>
          <a:graphicData uri="http://schemas.openxmlformats.org/drawingml/2006/table">
            <a:tbl>
              <a:tblPr>
                <a:tableStyleId>{5C22544A-7EE6-4342-B048-85BDC9FD1C3A}</a:tableStyleId>
              </a:tblPr>
              <a:tblGrid>
                <a:gridCol w="2772747">
                  <a:extLst>
                    <a:ext uri="{9D8B030D-6E8A-4147-A177-3AD203B41FA5}">
                      <a16:colId xmlns:a16="http://schemas.microsoft.com/office/drawing/2014/main" val="1959964710"/>
                    </a:ext>
                  </a:extLst>
                </a:gridCol>
                <a:gridCol w="2772747">
                  <a:extLst>
                    <a:ext uri="{9D8B030D-6E8A-4147-A177-3AD203B41FA5}">
                      <a16:colId xmlns:a16="http://schemas.microsoft.com/office/drawing/2014/main" val="983109658"/>
                    </a:ext>
                  </a:extLst>
                </a:gridCol>
                <a:gridCol w="2772747">
                  <a:extLst>
                    <a:ext uri="{9D8B030D-6E8A-4147-A177-3AD203B41FA5}">
                      <a16:colId xmlns:a16="http://schemas.microsoft.com/office/drawing/2014/main" val="294040973"/>
                    </a:ext>
                  </a:extLst>
                </a:gridCol>
                <a:gridCol w="2772747">
                  <a:extLst>
                    <a:ext uri="{9D8B030D-6E8A-4147-A177-3AD203B41FA5}">
                      <a16:colId xmlns:a16="http://schemas.microsoft.com/office/drawing/2014/main" val="1957411760"/>
                    </a:ext>
                  </a:extLst>
                </a:gridCol>
              </a:tblGrid>
              <a:tr h="0">
                <a:tc>
                  <a:txBody>
                    <a:bodyPr/>
                    <a:lstStyle/>
                    <a:p>
                      <a:pPr algn="just">
                        <a:buNone/>
                      </a:pPr>
                      <a:r>
                        <a:rPr lang="en-IN" sz="1800">
                          <a:effectLst/>
                          <a:latin typeface="Times New Roman" panose="02020603050405020304" pitchFamily="18" charset="0"/>
                          <a:cs typeface="Times New Roman" panose="02020603050405020304" pitchFamily="18" charset="0"/>
                        </a:rPr>
                        <a:t>Paper</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Author(s)</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Year</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Contribution to our work</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extLst>
                  <a:ext uri="{0D108BD9-81ED-4DB2-BD59-A6C34878D82A}">
                    <a16:rowId xmlns:a16="http://schemas.microsoft.com/office/drawing/2014/main" val="3551966617"/>
                  </a:ext>
                </a:extLst>
              </a:tr>
              <a:tr h="0">
                <a:tc>
                  <a:txBody>
                    <a:bodyPr/>
                    <a:lstStyle/>
                    <a:p>
                      <a:pPr algn="just">
                        <a:buNone/>
                      </a:pPr>
                      <a:r>
                        <a:rPr lang="en-IN" sz="1800">
                          <a:effectLst/>
                          <a:latin typeface="Times New Roman" panose="02020603050405020304" pitchFamily="18" charset="0"/>
                          <a:cs typeface="Times New Roman" panose="02020603050405020304" pitchFamily="18" charset="0"/>
                        </a:rPr>
                        <a:t>Fast Pattern Matching in Strings, SIAM J. Computing</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Knuth, Morris, Pratt</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dirty="0">
                          <a:effectLst/>
                          <a:latin typeface="Times New Roman" panose="02020603050405020304" pitchFamily="18" charset="0"/>
                          <a:cs typeface="Times New Roman" panose="02020603050405020304" pitchFamily="18" charset="0"/>
                        </a:rPr>
                        <a:t>1977</a:t>
                      </a:r>
                      <a:endParaRPr lang="en-IN" sz="1800" b="0" i="0" dirty="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dirty="0">
                          <a:effectLst/>
                          <a:latin typeface="Times New Roman" panose="02020603050405020304" pitchFamily="18" charset="0"/>
                          <a:cs typeface="Times New Roman" panose="02020603050405020304" pitchFamily="18" charset="0"/>
                        </a:rPr>
                        <a:t>Linear-time exact search using the LPS/failure table — used to match symptoms to disease records</a:t>
                      </a:r>
                      <a:endParaRPr lang="en-IN" sz="1800" b="0" i="0" dirty="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extLst>
                  <a:ext uri="{0D108BD9-81ED-4DB2-BD59-A6C34878D82A}">
                    <a16:rowId xmlns:a16="http://schemas.microsoft.com/office/drawing/2014/main" val="2760296955"/>
                  </a:ext>
                </a:extLst>
              </a:tr>
              <a:tr h="0">
                <a:tc>
                  <a:txBody>
                    <a:bodyPr/>
                    <a:lstStyle/>
                    <a:p>
                      <a:pPr algn="just">
                        <a:buNone/>
                      </a:pPr>
                      <a:r>
                        <a:rPr lang="en-IN" sz="1800">
                          <a:effectLst/>
                          <a:latin typeface="Times New Roman" panose="02020603050405020304" pitchFamily="18" charset="0"/>
                          <a:cs typeface="Times New Roman" panose="02020603050405020304" pitchFamily="18" charset="0"/>
                        </a:rPr>
                        <a:t>Efficient String Matching: An Aid to Bibliographic Search, CACM</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Aho, Corasick</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1975</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dirty="0">
                          <a:effectLst/>
                          <a:latin typeface="Times New Roman" panose="02020603050405020304" pitchFamily="18" charset="0"/>
                          <a:cs typeface="Times New Roman" panose="02020603050405020304" pitchFamily="18" charset="0"/>
                        </a:rPr>
                        <a:t>Trie with failure links; finds all patterns in one pass — used to extract crops/symptoms from the question</a:t>
                      </a:r>
                      <a:endParaRPr lang="en-IN" sz="1800" b="0" i="0" dirty="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extLst>
                  <a:ext uri="{0D108BD9-81ED-4DB2-BD59-A6C34878D82A}">
                    <a16:rowId xmlns:a16="http://schemas.microsoft.com/office/drawing/2014/main" val="3125522739"/>
                  </a:ext>
                </a:extLst>
              </a:tr>
              <a:tr h="0">
                <a:tc>
                  <a:txBody>
                    <a:bodyPr/>
                    <a:lstStyle/>
                    <a:p>
                      <a:pPr algn="just">
                        <a:buNone/>
                      </a:pPr>
                      <a:r>
                        <a:rPr lang="en-IN" sz="1800">
                          <a:effectLst/>
                          <a:latin typeface="Times New Roman" panose="02020603050405020304" pitchFamily="18" charset="0"/>
                          <a:cs typeface="Times New Roman" panose="02020603050405020304" pitchFamily="18" charset="0"/>
                        </a:rPr>
                        <a:t>Efficient Randomized Pattern-Matching Algorithms, IBM J. R&amp;D</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Karp, Rabin</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a:effectLst/>
                          <a:latin typeface="Times New Roman" panose="02020603050405020304" pitchFamily="18" charset="0"/>
                          <a:cs typeface="Times New Roman" panose="02020603050405020304" pitchFamily="18" charset="0"/>
                        </a:rPr>
                        <a:t>1987</a:t>
                      </a:r>
                      <a:endParaRPr lang="en-IN" sz="1800" b="0" i="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tc>
                  <a:txBody>
                    <a:bodyPr/>
                    <a:lstStyle/>
                    <a:p>
                      <a:pPr algn="just">
                        <a:buNone/>
                      </a:pPr>
                      <a:r>
                        <a:rPr lang="en-IN" sz="1800" dirty="0">
                          <a:effectLst/>
                          <a:latin typeface="Times New Roman" panose="02020603050405020304" pitchFamily="18" charset="0"/>
                          <a:cs typeface="Times New Roman" panose="02020603050405020304" pitchFamily="18" charset="0"/>
                        </a:rPr>
                        <a:t>Rolling-hash matching in expected linear time — used to score article relevance</a:t>
                      </a:r>
                      <a:endParaRPr lang="en-IN" sz="1800" b="0" i="0" dirty="0">
                        <a:solidFill>
                          <a:srgbClr val="BFBFBF"/>
                        </a:solidFill>
                        <a:effectLst/>
                        <a:latin typeface="Times New Roman" panose="02020603050405020304" pitchFamily="18" charset="0"/>
                        <a:cs typeface="Times New Roman" panose="02020603050405020304" pitchFamily="18" charset="0"/>
                      </a:endParaRPr>
                    </a:p>
                  </a:txBody>
                  <a:tcPr marL="15240" marR="15240" marT="15240" marB="15240" anchor="ctr"/>
                </a:tc>
                <a:extLst>
                  <a:ext uri="{0D108BD9-81ED-4DB2-BD59-A6C34878D82A}">
                    <a16:rowId xmlns:a16="http://schemas.microsoft.com/office/drawing/2014/main" val="3952419654"/>
                  </a:ext>
                </a:extLst>
              </a:tr>
            </a:tbl>
          </a:graphicData>
        </a:graphic>
      </p:graphicFrame>
      <p:sp>
        <p:nvSpPr>
          <p:cNvPr id="7" name="TextBox 6">
            <a:extLst>
              <a:ext uri="{FF2B5EF4-FFF2-40B4-BE49-F238E27FC236}">
                <a16:creationId xmlns:a16="http://schemas.microsoft.com/office/drawing/2014/main" id="{E55DBEA7-3801-BADC-2B5A-AD9F1D4C8524}"/>
              </a:ext>
            </a:extLst>
          </p:cNvPr>
          <p:cNvSpPr txBox="1"/>
          <p:nvPr/>
        </p:nvSpPr>
        <p:spPr>
          <a:xfrm>
            <a:off x="712234" y="5252386"/>
            <a:ext cx="11090987" cy="646331"/>
          </a:xfrm>
          <a:prstGeom prst="rect">
            <a:avLst/>
          </a:prstGeom>
          <a:noFill/>
        </p:spPr>
        <p:txBody>
          <a:bodyPr wrap="square">
            <a:spAutoFit/>
          </a:bodyPr>
          <a:lstStyle/>
          <a:p>
            <a:pPr indent="0" algn="just">
              <a:buNone/>
            </a:pPr>
            <a:r>
              <a:rPr lang="en-IN" sz="1800" b="1" i="0" dirty="0">
                <a:solidFill>
                  <a:schemeClr val="tx1"/>
                </a:solidFill>
                <a:effectLst/>
                <a:latin typeface="+mn-lt"/>
              </a:rPr>
              <a:t>Findings:</a:t>
            </a:r>
            <a:r>
              <a:rPr lang="en-IN" sz="1800" b="0" i="0" dirty="0">
                <a:solidFill>
                  <a:schemeClr val="tx1"/>
                </a:solidFill>
                <a:effectLst/>
                <a:latin typeface="+mn-lt"/>
              </a:rPr>
              <a:t> naïve search costs O(</a:t>
            </a:r>
            <a:r>
              <a:rPr lang="en-IN" sz="1800" b="0" i="0" dirty="0" err="1">
                <a:solidFill>
                  <a:schemeClr val="tx1"/>
                </a:solidFill>
                <a:effectLst/>
                <a:latin typeface="+mn-lt"/>
              </a:rPr>
              <a:t>n×m</a:t>
            </a:r>
            <a:r>
              <a:rPr lang="en-IN" sz="1800" b="0" i="0" dirty="0">
                <a:solidFill>
                  <a:schemeClr val="tx1"/>
                </a:solidFill>
                <a:effectLst/>
                <a:latin typeface="+mn-lt"/>
              </a:rPr>
              <a:t>) per pattern and repeats work for every keyword. KMP removes the backtracking, Aho–</a:t>
            </a:r>
            <a:r>
              <a:rPr lang="en-IN" sz="1800" b="0" i="0" dirty="0" err="1">
                <a:solidFill>
                  <a:schemeClr val="tx1"/>
                </a:solidFill>
                <a:effectLst/>
                <a:latin typeface="+mn-lt"/>
              </a:rPr>
              <a:t>Corasick</a:t>
            </a:r>
            <a:r>
              <a:rPr lang="en-IN" sz="1800" b="0" i="0" dirty="0">
                <a:solidFill>
                  <a:schemeClr val="tx1"/>
                </a:solidFill>
                <a:effectLst/>
                <a:latin typeface="+mn-lt"/>
              </a:rPr>
              <a:t> removes the per-pattern repetition, and Rabin–Karp makes repeated scanning cheap through hashing.</a:t>
            </a:r>
            <a:endParaRPr lang="en-IN" sz="1800" b="0" i="0" dirty="0">
              <a:solidFill>
                <a:srgbClr val="BFBFBF"/>
              </a:solidFill>
              <a:effectLst/>
              <a:latin typeface="-apple-syste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8" name="TextBox 7">
            <a:extLst>
              <a:ext uri="{FF2B5EF4-FFF2-40B4-BE49-F238E27FC236}">
                <a16:creationId xmlns:a16="http://schemas.microsoft.com/office/drawing/2014/main" id="{72C64EE2-4FF8-80A1-71C9-9876D496D8B3}"/>
              </a:ext>
            </a:extLst>
          </p:cNvPr>
          <p:cNvSpPr txBox="1"/>
          <p:nvPr/>
        </p:nvSpPr>
        <p:spPr>
          <a:xfrm>
            <a:off x="429209" y="877469"/>
            <a:ext cx="11392677" cy="6247864"/>
          </a:xfrm>
          <a:prstGeom prst="rect">
            <a:avLst/>
          </a:prstGeom>
          <a:noFill/>
        </p:spPr>
        <p:txBody>
          <a:bodyPr wrap="square" rtlCol="0">
            <a:spAutoFit/>
          </a:bodyPr>
          <a:lstStyle/>
          <a:p>
            <a:pPr algn="just"/>
            <a:r>
              <a:rPr lang="en-IN" sz="2500" b="1" dirty="0">
                <a:latin typeface="Times New Roman" panose="02020603050405020304" pitchFamily="18" charset="0"/>
                <a:cs typeface="Times New Roman" panose="02020603050405020304" pitchFamily="18" charset="0"/>
              </a:rPr>
              <a:t>Problem Statement</a:t>
            </a:r>
            <a:endParaRPr lang="en-IN" sz="25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Farming advice is hard to reach offline, and a general search engine cannot rank agricultural records it does not hold</a:t>
            </a: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 farmer's sentence mixes crop names, symptoms and disease names in no fixed order</a:t>
            </a: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Scanning every keyword against every record separately is too slow and repeats work</a:t>
            </a:r>
          </a:p>
          <a:p>
            <a:pPr algn="just"/>
            <a:r>
              <a:rPr lang="en-IN" sz="2500" b="1" dirty="0">
                <a:latin typeface="Times New Roman" panose="02020603050405020304" pitchFamily="18" charset="0"/>
                <a:cs typeface="Times New Roman" panose="02020603050405020304" pitchFamily="18" charset="0"/>
              </a:rPr>
              <a:t>Objectives</a:t>
            </a: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Detect every crop, symptom and disease named in a question in a </a:t>
            </a:r>
            <a:r>
              <a:rPr lang="en-IN" sz="2500" b="1" dirty="0">
                <a:latin typeface="Times New Roman" panose="02020603050405020304" pitchFamily="18" charset="0"/>
                <a:cs typeface="Times New Roman" panose="02020603050405020304" pitchFamily="18" charset="0"/>
              </a:rPr>
              <a:t>single pass</a:t>
            </a:r>
            <a:endParaRPr lang="en-IN" sz="25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Match the reported symptoms </a:t>
            </a:r>
            <a:r>
              <a:rPr lang="en-IN" sz="2500" b="1" dirty="0">
                <a:latin typeface="Times New Roman" panose="02020603050405020304" pitchFamily="18" charset="0"/>
                <a:cs typeface="Times New Roman" panose="02020603050405020304" pitchFamily="18" charset="0"/>
              </a:rPr>
              <a:t>exactly</a:t>
            </a:r>
            <a:r>
              <a:rPr lang="en-IN" sz="2500" dirty="0">
                <a:latin typeface="Times New Roman" panose="02020603050405020304" pitchFamily="18" charset="0"/>
                <a:cs typeface="Times New Roman" panose="02020603050405020304" pitchFamily="18" charset="0"/>
              </a:rPr>
              <a:t> against stored disease records</a:t>
            </a: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Rank the articles by how often the search terms actually occur</a:t>
            </a: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Implement all three algorithms from first principles, no built-in search</a:t>
            </a:r>
          </a:p>
          <a:p>
            <a:pPr marL="342900" lvl="0" indent="-34290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Make the algorithm usage visible on screen while it runs</a:t>
            </a:r>
          </a:p>
          <a:p>
            <a:pPr marL="342900" indent="-342900" algn="just">
              <a:buFont typeface="Arial" panose="020B0604020202020204" pitchFamily="34" charset="0"/>
              <a:buChar char="•"/>
            </a:pPr>
            <a:br>
              <a:rPr lang="en-IN" sz="2500" dirty="0">
                <a:latin typeface="Times New Roman" panose="02020603050405020304" pitchFamily="18" charset="0"/>
                <a:cs typeface="Times New Roman" panose="02020603050405020304" pitchFamily="18" charset="0"/>
              </a:rPr>
            </a:br>
            <a:endParaRPr lang="en-IN" sz="25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9CC1E3B6-DF36-7148-112C-BE18E0DFFCC8}"/>
              </a:ext>
            </a:extLst>
          </p:cNvPr>
          <p:cNvPicPr>
            <a:picLocks noChangeAspect="1"/>
          </p:cNvPicPr>
          <p:nvPr/>
        </p:nvPicPr>
        <p:blipFill>
          <a:blip r:embed="rId2"/>
          <a:stretch>
            <a:fillRect/>
          </a:stretch>
        </p:blipFill>
        <p:spPr>
          <a:xfrm>
            <a:off x="1943877" y="1054360"/>
            <a:ext cx="8304245" cy="52251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D230D4B2-BD75-51A3-1415-D2046287E350}"/>
              </a:ext>
            </a:extLst>
          </p:cNvPr>
          <p:cNvSpPr txBox="1"/>
          <p:nvPr/>
        </p:nvSpPr>
        <p:spPr>
          <a:xfrm>
            <a:off x="72491" y="1028343"/>
            <a:ext cx="5152652" cy="5632311"/>
          </a:xfrm>
          <a:prstGeom prst="rect">
            <a:avLst/>
          </a:prstGeom>
          <a:noFill/>
        </p:spPr>
        <p:txBody>
          <a:bodyPr wrap="square" rtlCol="0">
            <a:spAutoFit/>
          </a:bodyPr>
          <a:lstStyle/>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Working console application — </a:t>
            </a:r>
            <a:r>
              <a:rPr lang="en-IN" b="1" dirty="0">
                <a:latin typeface="Times New Roman" panose="02020603050405020304" pitchFamily="18" charset="0"/>
                <a:cs typeface="Times New Roman" panose="02020603050405020304" pitchFamily="18" charset="0"/>
              </a:rPr>
              <a:t>12 articles, 8 disease records, 30 keyword patterns</a:t>
            </a: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Input: my tomato has brown spots and yellowing</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Aho–</a:t>
            </a:r>
            <a:r>
              <a:rPr lang="en-IN" dirty="0" err="1">
                <a:latin typeface="Times New Roman" panose="02020603050405020304" pitchFamily="18" charset="0"/>
                <a:cs typeface="Times New Roman" panose="02020603050405020304" pitchFamily="18" charset="0"/>
              </a:rPr>
              <a:t>Corasick</a:t>
            </a:r>
            <a:r>
              <a:rPr lang="en-IN" dirty="0">
                <a:latin typeface="Times New Roman" panose="02020603050405020304" pitchFamily="18" charset="0"/>
                <a:cs typeface="Times New Roman" panose="02020603050405020304" pitchFamily="18" charset="0"/>
              </a:rPr>
              <a:t> → crops=[tomato] symptoms=[brown spots, yellowing] in one pass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KMP → 16 exact symptom searches over 8 records → </a:t>
            </a:r>
            <a:r>
              <a:rPr lang="en-IN" b="1" dirty="0">
                <a:latin typeface="Times New Roman" panose="02020603050405020304" pitchFamily="18" charset="0"/>
                <a:cs typeface="Times New Roman" panose="02020603050405020304" pitchFamily="18" charset="0"/>
              </a:rPr>
              <a:t>Early Blight ranked first (score 8)</a:t>
            </a: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Rabin–Karp → 36 scans over 12 articles → 4 matched, top article returned with snippet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Word-boundary rule verified: "rice" is </a:t>
            </a:r>
            <a:r>
              <a:rPr lang="en-IN" b="1" dirty="0">
                <a:latin typeface="Times New Roman" panose="02020603050405020304" pitchFamily="18" charset="0"/>
                <a:cs typeface="Times New Roman" panose="02020603050405020304" pitchFamily="18" charset="0"/>
              </a:rPr>
              <a:t>not</a:t>
            </a:r>
            <a:r>
              <a:rPr lang="en-IN" dirty="0">
                <a:latin typeface="Times New Roman" panose="02020603050405020304" pitchFamily="18" charset="0"/>
                <a:cs typeface="Times New Roman" panose="02020603050405020304" pitchFamily="18" charset="0"/>
              </a:rPr>
              <a:t> matched inside "price", "spot" not inside "spots"</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Validation</a:t>
            </a:r>
            <a:endParaRPr lang="en-IN"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All three cross-checked against Java's </a:t>
            </a:r>
            <a:r>
              <a:rPr lang="en-IN" dirty="0" err="1">
                <a:latin typeface="Times New Roman" panose="02020603050405020304" pitchFamily="18" charset="0"/>
                <a:cs typeface="Times New Roman" panose="02020603050405020304" pitchFamily="18" charset="0"/>
              </a:rPr>
              <a:t>String.indexOf</a:t>
            </a:r>
            <a:r>
              <a:rPr lang="en-IN" dirty="0">
                <a:latin typeface="Times New Roman" panose="02020603050405020304" pitchFamily="18" charset="0"/>
                <a:cs typeface="Times New Roman" panose="02020603050405020304" pitchFamily="18" charset="0"/>
              </a:rPr>
              <a:t> over </a:t>
            </a:r>
            <a:r>
              <a:rPr lang="en-IN" b="1" dirty="0">
                <a:latin typeface="Times New Roman" panose="02020603050405020304" pitchFamily="18" charset="0"/>
                <a:cs typeface="Times New Roman" panose="02020603050405020304" pitchFamily="18" charset="0"/>
              </a:rPr>
              <a:t>4,000 randomised test cases</a:t>
            </a:r>
            <a:r>
              <a:rPr lang="en-IN" dirty="0">
                <a:latin typeface="Times New Roman" panose="02020603050405020304" pitchFamily="18" charset="0"/>
                <a:cs typeface="Times New Roman" panose="02020603050405020304" pitchFamily="18" charset="0"/>
              </a:rPr>
              <a:t> — 100% agreement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Edge cases passed: empty pattern, pattern longer than text, overlapping matches (</a:t>
            </a:r>
            <a:r>
              <a:rPr lang="en-IN" dirty="0" err="1">
                <a:latin typeface="Times New Roman" panose="02020603050405020304" pitchFamily="18" charset="0"/>
                <a:cs typeface="Times New Roman" panose="02020603050405020304" pitchFamily="18" charset="0"/>
              </a:rPr>
              <a:t>aaa</a:t>
            </a:r>
            <a:r>
              <a:rPr lang="en-IN" dirty="0">
                <a:latin typeface="Times New Roman" panose="02020603050405020304" pitchFamily="18" charset="0"/>
                <a:cs typeface="Times New Roman" panose="02020603050405020304" pitchFamily="18" charset="0"/>
              </a:rPr>
              <a:t> in </a:t>
            </a:r>
            <a:r>
              <a:rPr lang="en-IN" dirty="0" err="1">
                <a:latin typeface="Times New Roman" panose="02020603050405020304" pitchFamily="18" charset="0"/>
                <a:cs typeface="Times New Roman" panose="02020603050405020304" pitchFamily="18" charset="0"/>
              </a:rPr>
              <a:t>aaaa</a:t>
            </a:r>
            <a:r>
              <a:rPr lang="en-IN" dirty="0">
                <a:latin typeface="Times New Roman" panose="02020603050405020304" pitchFamily="18" charset="0"/>
                <a:cs typeface="Times New Roman" panose="02020603050405020304" pitchFamily="18" charset="0"/>
              </a:rPr>
              <a:t>), LPS of </a:t>
            </a:r>
            <a:r>
              <a:rPr lang="en-IN" dirty="0" err="1">
                <a:latin typeface="Times New Roman" panose="02020603050405020304" pitchFamily="18" charset="0"/>
                <a:cs typeface="Times New Roman" panose="02020603050405020304" pitchFamily="18" charset="0"/>
              </a:rPr>
              <a:t>ababaca</a:t>
            </a:r>
            <a:r>
              <a:rPr lang="en-IN" dirty="0">
                <a:latin typeface="Times New Roman" panose="02020603050405020304" pitchFamily="18" charset="0"/>
                <a:cs typeface="Times New Roman" panose="02020603050405020304" pitchFamily="18" charset="0"/>
              </a:rPr>
              <a:t> = [0,0,1,2,3,0,1]</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DCAD2BA-98DC-9BA4-6C21-E1F2AC6E2876}"/>
              </a:ext>
            </a:extLst>
          </p:cNvPr>
          <p:cNvPicPr>
            <a:picLocks noChangeAspect="1"/>
          </p:cNvPicPr>
          <p:nvPr/>
        </p:nvPicPr>
        <p:blipFill>
          <a:blip r:embed="rId2"/>
          <a:stretch>
            <a:fillRect/>
          </a:stretch>
        </p:blipFill>
        <p:spPr>
          <a:xfrm>
            <a:off x="5439746" y="1226326"/>
            <a:ext cx="6593633" cy="4633362"/>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1971CEF6-31DC-83AB-58BE-047D3092F57F}"/>
              </a:ext>
            </a:extLst>
          </p:cNvPr>
          <p:cNvSpPr txBox="1"/>
          <p:nvPr/>
        </p:nvSpPr>
        <p:spPr>
          <a:xfrm>
            <a:off x="2492167" y="1352940"/>
            <a:ext cx="7394973" cy="5093702"/>
          </a:xfrm>
          <a:prstGeom prst="rect">
            <a:avLst/>
          </a:prstGeom>
          <a:noFill/>
        </p:spPr>
        <p:txBody>
          <a:bodyPr wrap="none" rtlCol="0">
            <a:spAutoFit/>
          </a:bodyPr>
          <a:lstStyle/>
          <a:p>
            <a:pPr algn="just"/>
            <a:r>
              <a:rPr lang="en-IN" sz="2500" b="1" dirty="0">
                <a:latin typeface="Times New Roman" panose="02020603050405020304" pitchFamily="18" charset="0"/>
                <a:cs typeface="Times New Roman" panose="02020603050405020304" pitchFamily="18" charset="0"/>
              </a:rPr>
              <a:t>Hardware</a:t>
            </a:r>
            <a:endParaRPr lang="en-IN" sz="2500" dirty="0">
              <a:latin typeface="Times New Roman" panose="02020603050405020304" pitchFamily="18" charset="0"/>
              <a:cs typeface="Times New Roman" panose="02020603050405020304" pitchFamily="18" charset="0"/>
            </a:endParaRPr>
          </a:p>
          <a:p>
            <a:pPr lvl="0" algn="just"/>
            <a:r>
              <a:rPr lang="en-IN" sz="2500" dirty="0">
                <a:latin typeface="Times New Roman" panose="02020603050405020304" pitchFamily="18" charset="0"/>
                <a:cs typeface="Times New Roman" panose="02020603050405020304" pitchFamily="18" charset="0"/>
              </a:rPr>
              <a:t>Processor: any dual-core, 1 GHz or above</a:t>
            </a:r>
          </a:p>
          <a:p>
            <a:pPr lvl="0" algn="just"/>
            <a:r>
              <a:rPr lang="en-IN" sz="2500" dirty="0">
                <a:latin typeface="Times New Roman" panose="02020603050405020304" pitchFamily="18" charset="0"/>
                <a:cs typeface="Times New Roman" panose="02020603050405020304" pitchFamily="18" charset="0"/>
              </a:rPr>
              <a:t>RAM: 2 GB minimum (4 GB recommended)</a:t>
            </a:r>
          </a:p>
          <a:p>
            <a:pPr lvl="0" algn="just"/>
            <a:r>
              <a:rPr lang="en-IN" sz="2500" dirty="0">
                <a:latin typeface="Times New Roman" panose="02020603050405020304" pitchFamily="18" charset="0"/>
                <a:cs typeface="Times New Roman" panose="02020603050405020304" pitchFamily="18" charset="0"/>
              </a:rPr>
              <a:t>Disk: under 5 MB for source, data and compiled classes</a:t>
            </a:r>
          </a:p>
          <a:p>
            <a:pPr lvl="0" algn="just"/>
            <a:r>
              <a:rPr lang="en-IN" sz="2500" dirty="0">
                <a:latin typeface="Times New Roman" panose="02020603050405020304" pitchFamily="18" charset="0"/>
                <a:cs typeface="Times New Roman" panose="02020603050405020304" pitchFamily="18" charset="0"/>
              </a:rPr>
              <a:t>Display: standard terminal / command prompt</a:t>
            </a:r>
          </a:p>
          <a:p>
            <a:pPr lvl="0" algn="just"/>
            <a:r>
              <a:rPr lang="en-IN" sz="2500" b="1" dirty="0">
                <a:latin typeface="Times New Roman" panose="02020603050405020304" pitchFamily="18" charset="0"/>
                <a:cs typeface="Times New Roman" panose="02020603050405020304" pitchFamily="18" charset="0"/>
              </a:rPr>
              <a:t>No internet connection required</a:t>
            </a:r>
            <a:endParaRPr lang="en-IN" sz="2500" dirty="0">
              <a:latin typeface="Times New Roman" panose="02020603050405020304" pitchFamily="18" charset="0"/>
              <a:cs typeface="Times New Roman" panose="02020603050405020304" pitchFamily="18" charset="0"/>
            </a:endParaRPr>
          </a:p>
          <a:p>
            <a:pPr algn="just"/>
            <a:r>
              <a:rPr lang="en-IN" sz="2500" b="1" dirty="0">
                <a:latin typeface="Times New Roman" panose="02020603050405020304" pitchFamily="18" charset="0"/>
                <a:cs typeface="Times New Roman" panose="02020603050405020304" pitchFamily="18" charset="0"/>
              </a:rPr>
              <a:t>Software</a:t>
            </a:r>
            <a:endParaRPr lang="en-IN" sz="2500" dirty="0">
              <a:latin typeface="Times New Roman" panose="02020603050405020304" pitchFamily="18" charset="0"/>
              <a:cs typeface="Times New Roman" panose="02020603050405020304" pitchFamily="18" charset="0"/>
            </a:endParaRPr>
          </a:p>
          <a:p>
            <a:pPr lvl="0" algn="just"/>
            <a:r>
              <a:rPr lang="en-IN" sz="2500" dirty="0">
                <a:latin typeface="Times New Roman" panose="02020603050405020304" pitchFamily="18" charset="0"/>
                <a:cs typeface="Times New Roman" panose="02020603050405020304" pitchFamily="18" charset="0"/>
              </a:rPr>
              <a:t>OS: Windows 10/11 (also runs on Linux and macOS)</a:t>
            </a:r>
          </a:p>
          <a:p>
            <a:pPr lvl="0" algn="just"/>
            <a:r>
              <a:rPr lang="en-IN" sz="2500" dirty="0">
                <a:latin typeface="Times New Roman" panose="02020603050405020304" pitchFamily="18" charset="0"/>
                <a:cs typeface="Times New Roman" panose="02020603050405020304" pitchFamily="18" charset="0"/>
              </a:rPr>
              <a:t>JDK 21 or above — developed and tested on </a:t>
            </a:r>
            <a:r>
              <a:rPr lang="en-IN" sz="2500" b="1" dirty="0">
                <a:latin typeface="Times New Roman" panose="02020603050405020304" pitchFamily="18" charset="0"/>
                <a:cs typeface="Times New Roman" panose="02020603050405020304" pitchFamily="18" charset="0"/>
              </a:rPr>
              <a:t>JDK 25</a:t>
            </a:r>
            <a:endParaRPr lang="en-IN" sz="2500" dirty="0">
              <a:latin typeface="Times New Roman" panose="02020603050405020304" pitchFamily="18" charset="0"/>
              <a:cs typeface="Times New Roman" panose="02020603050405020304" pitchFamily="18" charset="0"/>
            </a:endParaRPr>
          </a:p>
          <a:p>
            <a:pPr lvl="0" algn="just"/>
            <a:r>
              <a:rPr lang="en-IN" sz="2500" dirty="0">
                <a:latin typeface="Times New Roman" panose="02020603050405020304" pitchFamily="18" charset="0"/>
                <a:cs typeface="Times New Roman" panose="02020603050405020304" pitchFamily="18" charset="0"/>
              </a:rPr>
              <a:t>Any text editor or IDE (VS Code / IntelliJ / Notepad++)</a:t>
            </a:r>
          </a:p>
          <a:p>
            <a:pPr lvl="0" algn="just"/>
            <a:r>
              <a:rPr lang="en-IN" sz="2500" b="1" dirty="0">
                <a:latin typeface="Times New Roman" panose="02020603050405020304" pitchFamily="18" charset="0"/>
                <a:cs typeface="Times New Roman" panose="02020603050405020304" pitchFamily="18" charset="0"/>
              </a:rPr>
              <a:t>No external libraries, no frameworks, no build tool</a:t>
            </a:r>
            <a:endParaRPr lang="en-IN" sz="2500" dirty="0">
              <a:latin typeface="Times New Roman" panose="02020603050405020304" pitchFamily="18" charset="0"/>
              <a:cs typeface="Times New Roman" panose="02020603050405020304" pitchFamily="18" charset="0"/>
            </a:endParaRPr>
          </a:p>
          <a:p>
            <a:pPr lvl="0" algn="just"/>
            <a:r>
              <a:rPr lang="en-IN" sz="2500" dirty="0">
                <a:latin typeface="Times New Roman" panose="02020603050405020304" pitchFamily="18" charset="0"/>
                <a:cs typeface="Times New Roman" panose="02020603050405020304" pitchFamily="18" charset="0"/>
              </a:rPr>
              <a:t>Data stored as plain .txt files, pipe-separated</a:t>
            </a:r>
          </a:p>
          <a:p>
            <a:pPr algn="just"/>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3BBF1A19-09EC-1752-8F25-79B98537E889}"/>
              </a:ext>
            </a:extLst>
          </p:cNvPr>
          <p:cNvSpPr txBox="1"/>
          <p:nvPr/>
        </p:nvSpPr>
        <p:spPr>
          <a:xfrm>
            <a:off x="798728" y="1266869"/>
            <a:ext cx="10286039" cy="4324261"/>
          </a:xfrm>
          <a:prstGeom prst="rect">
            <a:avLst/>
          </a:prstGeom>
          <a:noFill/>
        </p:spPr>
        <p:txBody>
          <a:bodyPr wrap="square" rtlCol="0">
            <a:spAutoFit/>
          </a:bodyPr>
          <a:lstStyle/>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 farming question in plain English is answered correctly using only classical string algorithms</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Aho–</a:t>
            </a:r>
            <a:r>
              <a:rPr lang="en-IN" sz="2500" dirty="0" err="1">
                <a:latin typeface="Times New Roman" panose="02020603050405020304" pitchFamily="18" charset="0"/>
                <a:cs typeface="Times New Roman" panose="02020603050405020304" pitchFamily="18" charset="0"/>
              </a:rPr>
              <a:t>Corasick</a:t>
            </a:r>
            <a:r>
              <a:rPr lang="en-IN" sz="2500" dirty="0">
                <a:latin typeface="Times New Roman" panose="02020603050405020304" pitchFamily="18" charset="0"/>
                <a:cs typeface="Times New Roman" panose="02020603050405020304" pitchFamily="18" charset="0"/>
              </a:rPr>
              <a:t> makes keyword extraction independent of the number of patterns — one pass, always</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KMP gives exact symptom matching with no backtracking over the text</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Rabin–Karp makes relevance scoring cheap through rolling hashes</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The system runs fully offline, in core Java, with no library doing the searching</a:t>
            </a:r>
          </a:p>
          <a:p>
            <a:pPr marL="285750" lvl="0" indent="-285750" algn="just">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Demonstrates that classical DSA solves a real problem without any AI</a:t>
            </a:r>
          </a:p>
          <a:p>
            <a:pPr marL="285750" indent="-285750" algn="just">
              <a:buFont typeface="Arial" panose="020B0604020202020204" pitchFamily="34" charset="0"/>
              <a:buChar char="•"/>
            </a:pPr>
            <a:br>
              <a:rPr lang="en-IN" sz="2500" dirty="0">
                <a:latin typeface="Times New Roman" panose="02020603050405020304" pitchFamily="18" charset="0"/>
                <a:cs typeface="Times New Roman" panose="02020603050405020304" pitchFamily="18" charset="0"/>
              </a:rPr>
            </a:br>
            <a:endParaRPr lang="en-IN"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2B90E9D7-4168-FA79-F93F-49CC6E5189E2}"/>
              </a:ext>
            </a:extLst>
          </p:cNvPr>
          <p:cNvSpPr txBox="1"/>
          <p:nvPr/>
        </p:nvSpPr>
        <p:spPr>
          <a:xfrm>
            <a:off x="709125" y="1459230"/>
            <a:ext cx="9254457" cy="3939540"/>
          </a:xfrm>
          <a:prstGeom prst="rect">
            <a:avLst/>
          </a:prstGeom>
          <a:noFill/>
        </p:spPr>
        <p:txBody>
          <a:bodyPr wrap="none" rtlCol="0">
            <a:spAutoFit/>
          </a:bodyPr>
          <a:lstStyle/>
          <a:p>
            <a:pPr lvl="0" algn="just"/>
            <a:r>
              <a:rPr lang="en-IN" sz="2500" b="1" dirty="0">
                <a:latin typeface="Times New Roman" panose="02020603050405020304" pitchFamily="18" charset="0"/>
                <a:cs typeface="Times New Roman" panose="02020603050405020304" pitchFamily="18" charset="0"/>
              </a:rPr>
              <a:t>Edit Distance</a:t>
            </a:r>
            <a:r>
              <a:rPr lang="en-IN" sz="2500" dirty="0">
                <a:latin typeface="Times New Roman" panose="02020603050405020304" pitchFamily="18" charset="0"/>
                <a:cs typeface="Times New Roman" panose="02020603050405020304" pitchFamily="18" charset="0"/>
              </a:rPr>
              <a:t> — repair spelling ("</a:t>
            </a:r>
            <a:r>
              <a:rPr lang="en-IN" sz="2500" dirty="0" err="1">
                <a:latin typeface="Times New Roman" panose="02020603050405020304" pitchFamily="18" charset="0"/>
                <a:cs typeface="Times New Roman" panose="02020603050405020304" pitchFamily="18" charset="0"/>
              </a:rPr>
              <a:t>tomatoe</a:t>
            </a:r>
            <a:r>
              <a:rPr lang="en-IN" sz="2500" dirty="0">
                <a:latin typeface="Times New Roman" panose="02020603050405020304" pitchFamily="18" charset="0"/>
                <a:cs typeface="Times New Roman" panose="02020603050405020304" pitchFamily="18" charset="0"/>
              </a:rPr>
              <a:t>" → "tomato")</a:t>
            </a:r>
          </a:p>
          <a:p>
            <a:pPr lvl="0" algn="just"/>
            <a:r>
              <a:rPr lang="en-IN" sz="2500" b="1" dirty="0">
                <a:latin typeface="Times New Roman" panose="02020603050405020304" pitchFamily="18" charset="0"/>
                <a:cs typeface="Times New Roman" panose="02020603050405020304" pitchFamily="18" charset="0"/>
              </a:rPr>
              <a:t>Suffix Array + LCP</a:t>
            </a:r>
            <a:r>
              <a:rPr lang="en-IN" sz="2500" dirty="0">
                <a:latin typeface="Times New Roman" panose="02020603050405020304" pitchFamily="18" charset="0"/>
                <a:cs typeface="Times New Roman" panose="02020603050405020304" pitchFamily="18" charset="0"/>
              </a:rPr>
              <a:t> — related articles by longest common substring</a:t>
            </a:r>
          </a:p>
          <a:p>
            <a:pPr lvl="0" algn="just"/>
            <a:r>
              <a:rPr lang="en-IN" sz="2500" b="1" dirty="0">
                <a:latin typeface="Times New Roman" panose="02020603050405020304" pitchFamily="18" charset="0"/>
                <a:cs typeface="Times New Roman" panose="02020603050405020304" pitchFamily="18" charset="0"/>
              </a:rPr>
              <a:t>0/1 Knapsack</a:t>
            </a:r>
            <a:r>
              <a:rPr lang="en-IN" sz="2500" dirty="0">
                <a:latin typeface="Times New Roman" panose="02020603050405020304" pitchFamily="18" charset="0"/>
                <a:cs typeface="Times New Roman" panose="02020603050405020304" pitchFamily="18" charset="0"/>
              </a:rPr>
              <a:t> — best fertilizer basket within a budget</a:t>
            </a:r>
          </a:p>
          <a:p>
            <a:pPr lvl="0" algn="just"/>
            <a:r>
              <a:rPr lang="en-IN" sz="2500" b="1" dirty="0">
                <a:latin typeface="Times New Roman" panose="02020603050405020304" pitchFamily="18" charset="0"/>
                <a:cs typeface="Times New Roman" panose="02020603050405020304" pitchFamily="18" charset="0"/>
              </a:rPr>
              <a:t>Bipartite Matching</a:t>
            </a:r>
            <a:r>
              <a:rPr lang="en-IN" sz="2500" dirty="0">
                <a:latin typeface="Times New Roman" panose="02020603050405020304" pitchFamily="18" charset="0"/>
                <a:cs typeface="Times New Roman" panose="02020603050405020304" pitchFamily="18" charset="0"/>
              </a:rPr>
              <a:t> — one distinct fertilizer per crop</a:t>
            </a:r>
          </a:p>
          <a:p>
            <a:pPr lvl="0" algn="just"/>
            <a:r>
              <a:rPr lang="en-IN" sz="2500" b="1" dirty="0">
                <a:latin typeface="Times New Roman" panose="02020603050405020304" pitchFamily="18" charset="0"/>
                <a:cs typeface="Times New Roman" panose="02020603050405020304" pitchFamily="18" charset="0"/>
              </a:rPr>
              <a:t>Randomized </a:t>
            </a:r>
            <a:r>
              <a:rPr lang="en-IN" sz="2500" b="1" dirty="0" err="1">
                <a:latin typeface="Times New Roman" panose="02020603050405020304" pitchFamily="18" charset="0"/>
                <a:cs typeface="Times New Roman" panose="02020603050405020304" pitchFamily="18" charset="0"/>
              </a:rPr>
              <a:t>QuickSort</a:t>
            </a:r>
            <a:r>
              <a:rPr lang="en-IN" sz="2500" dirty="0">
                <a:latin typeface="Times New Roman" panose="02020603050405020304" pitchFamily="18" charset="0"/>
                <a:cs typeface="Times New Roman" panose="02020603050405020304" pitchFamily="18" charset="0"/>
              </a:rPr>
              <a:t> — replace the insertion sort used for ranking</a:t>
            </a:r>
          </a:p>
          <a:p>
            <a:pPr lvl="0" algn="just"/>
            <a:r>
              <a:rPr lang="en-IN" sz="2500" dirty="0">
                <a:latin typeface="Times New Roman" panose="02020603050405020304" pitchFamily="18" charset="0"/>
                <a:cs typeface="Times New Roman" panose="02020603050405020304" pitchFamily="18" charset="0"/>
              </a:rPr>
              <a:t>Expand the knowledge base beyond 12 articles and 8 diseases</a:t>
            </a:r>
          </a:p>
          <a:p>
            <a:pPr lvl="0" algn="just"/>
            <a:r>
              <a:rPr lang="en-IN" sz="2500" dirty="0">
                <a:latin typeface="Times New Roman" panose="02020603050405020304" pitchFamily="18" charset="0"/>
                <a:cs typeface="Times New Roman" panose="02020603050405020304" pitchFamily="18" charset="0"/>
              </a:rPr>
              <a:t>Regional language support (Hindi/Telugu crop names)</a:t>
            </a:r>
          </a:p>
          <a:p>
            <a:pPr lvl="0" algn="just"/>
            <a:r>
              <a:rPr lang="en-IN" sz="2500" dirty="0">
                <a:latin typeface="Times New Roman" panose="02020603050405020304" pitchFamily="18" charset="0"/>
                <a:cs typeface="Times New Roman" panose="02020603050405020304" pitchFamily="18" charset="0"/>
              </a:rPr>
              <a:t>Package as a single runnable JAR, and later a mobile or web front end</a:t>
            </a:r>
          </a:p>
          <a:p>
            <a:pPr algn="just"/>
            <a:br>
              <a:rPr lang="en-IN" sz="2500" dirty="0">
                <a:latin typeface="Times New Roman" panose="02020603050405020304" pitchFamily="18" charset="0"/>
                <a:cs typeface="Times New Roman" panose="02020603050405020304" pitchFamily="18" charset="0"/>
              </a:rPr>
            </a:br>
            <a:endParaRPr lang="en-IN" sz="2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1011</Words>
  <Application>Microsoft Office PowerPoint</Application>
  <PresentationFormat>Widescreen</PresentationFormat>
  <Paragraphs>98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-apple-system</vt:lpstr>
      <vt:lpstr>Arial</vt:lpstr>
      <vt:lpstr>Calibri</vt:lpstr>
      <vt:lpstr>Times New Roman</vt:lpstr>
      <vt:lpstr>Office Theme</vt:lpstr>
      <vt:lpstr>       Data Structures and Algorithms -3 (25CS2103E)  Farm Assist Advanced Search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NIMMA LOKESHREDDY</cp:lastModifiedBy>
  <cp:revision>22</cp:revision>
  <dcterms:created xsi:type="dcterms:W3CDTF">2024-08-29T05:25:00Z</dcterms:created>
  <dcterms:modified xsi:type="dcterms:W3CDTF">2026-08-26T18:20:30Z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