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Farm Assist Advanced Search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07482" y="3224275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 err="1">
                <a:solidFill>
                  <a:srgbClr val="0070C0"/>
                </a:solidFill>
              </a:rPr>
              <a:t>Nimma</a:t>
            </a:r>
            <a:r>
              <a:rPr lang="en-US" dirty="0">
                <a:solidFill>
                  <a:srgbClr val="0070C0"/>
                </a:solidFill>
              </a:rPr>
              <a:t> Lokesh Reddy  2520030366</a:t>
            </a:r>
          </a:p>
          <a:p>
            <a:r>
              <a:rPr lang="en-US" dirty="0" err="1">
                <a:solidFill>
                  <a:srgbClr val="0070C0"/>
                </a:solidFill>
              </a:rPr>
              <a:t>Ramagiri</a:t>
            </a:r>
            <a:r>
              <a:rPr lang="en-US" dirty="0">
                <a:solidFill>
                  <a:srgbClr val="0070C0"/>
                </a:solidFill>
              </a:rPr>
              <a:t> Rishik Rao 2520030333</a:t>
            </a:r>
          </a:p>
          <a:p>
            <a:r>
              <a:rPr lang="en-US" dirty="0">
                <a:solidFill>
                  <a:srgbClr val="0070C0"/>
                </a:solidFill>
              </a:rPr>
              <a:t>Yashwanth Manoj 2520030369</a:t>
            </a: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Dr. V. </a:t>
            </a:r>
            <a:r>
              <a:rPr lang="en-IN" sz="1800" b="1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Sireesha </a:t>
            </a:r>
            <a:br>
              <a:rPr lang="en-IN" sz="1800" b="1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</a:br>
            <a:r>
              <a:rPr lang="en-IN" sz="1800" b="1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Assistant Professor</a:t>
            </a: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36109" y="221673"/>
            <a:ext cx="4719782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00000" y="1000000"/>
            <a:ext cx="60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2200" b="0" i="0">
                <a:solidFill>
                  <a:srgbClr val="262626"/>
                </a:solidFill>
                <a:latin typeface="Times New Roman"/>
                <a:cs typeface="Times New Roman"/>
              </a:rPr>
              <a:t>Abstract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2200" b="0" i="0">
                <a:solidFill>
                  <a:srgbClr val="262626"/>
                </a:solidFill>
                <a:latin typeface="Times New Roman"/>
                <a:cs typeface="Times New Roman"/>
              </a:rPr>
              <a:t>Introduction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2200" b="0" i="0">
                <a:solidFill>
                  <a:srgbClr val="262626"/>
                </a:solidFill>
                <a:latin typeface="Times New Roman"/>
                <a:cs typeface="Times New Roman"/>
              </a:rPr>
              <a:t>Literature Survey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2200" b="0" i="0">
                <a:solidFill>
                  <a:srgbClr val="262626"/>
                </a:solidFill>
                <a:latin typeface="Times New Roman"/>
                <a:cs typeface="Times New Roman"/>
              </a:rPr>
              <a:t>Problem Statement and Objectives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2200" b="0" i="0">
                <a:solidFill>
                  <a:srgbClr val="262626"/>
                </a:solidFill>
                <a:latin typeface="Times New Roman"/>
                <a:cs typeface="Times New Roman"/>
              </a:rPr>
              <a:t>How a Question is Answered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2200" b="0" i="0">
                <a:solidFill>
                  <a:srgbClr val="262626"/>
                </a:solidFill>
                <a:latin typeface="Times New Roman"/>
                <a:cs typeface="Times New Roman"/>
              </a:rPr>
              <a:t>Course Outcomes Covered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2200" b="0" i="0">
                <a:solidFill>
                  <a:srgbClr val="262626"/>
                </a:solidFill>
                <a:latin typeface="Times New Roman"/>
                <a:cs typeface="Times New Roman"/>
              </a:rPr>
              <a:t>CO-wise Explanation of the Algorithms (CO1 to CO6)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2200" b="0" i="0">
                <a:solidFill>
                  <a:srgbClr val="262626"/>
                </a:solidFill>
                <a:latin typeface="Times New Roman"/>
                <a:cs typeface="Times New Roman"/>
              </a:rPr>
              <a:t>Flow Chart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2200" b="0" i="0">
                <a:solidFill>
                  <a:srgbClr val="262626"/>
                </a:solidFill>
                <a:latin typeface="Times New Roman"/>
                <a:cs typeface="Times New Roman"/>
              </a:rPr>
              <a:t>Results (Screenshots)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2200" b="0" i="0">
                <a:solidFill>
                  <a:srgbClr val="262626"/>
                </a:solidFill>
                <a:latin typeface="Times New Roman"/>
                <a:cs typeface="Times New Roman"/>
              </a:rPr>
              <a:t>Hardware and Software Requirements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2200" b="0" i="0">
                <a:solidFill>
                  <a:srgbClr val="262626"/>
                </a:solidFill>
                <a:latin typeface="Times New Roman"/>
                <a:cs typeface="Times New Roman"/>
              </a:rPr>
              <a:t>Conclusion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2200" b="0" i="0">
                <a:solidFill>
                  <a:srgbClr val="262626"/>
                </a:solidFill>
                <a:latin typeface="Times New Roman"/>
                <a:cs typeface="Times New Roman"/>
              </a:rPr>
              <a:t>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36109" y="221673"/>
            <a:ext cx="4719782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000000"/>
            <a:ext cx="10992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Kisaan Krushi AI (FarmAssist) is a console chat assistant that answers a farmer's questions about crops, diseases, pests and fertilizers, plans crops for a climate, builds a fertilizer basket inside a budget, supplies many fields from a shop's limited stock, and reports live weather.</a:t>
            </a:r>
          </a:p>
          <a:p>
            <a:pPr algn="just">
              <a:spcAft>
                <a:spcPts val="1000"/>
              </a:spcAft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There is no machine-learning model. Every answer comes from </a:t>
            </a:r>
            <a:r>
              <a:rPr sz="1900" b="1" i="0">
                <a:solidFill>
                  <a:srgbClr val="262626"/>
                </a:solidFill>
                <a:latin typeface="Times New Roman"/>
                <a:cs typeface="Times New Roman"/>
              </a:rPr>
              <a:t>thirteen classic algorithms</a:t>
            </a: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 written from scratch in core Java and run over a local knowledge base of 63 crops, 64 diseases, 44 pests, 38 fertilizers and 62 articles.</a:t>
            </a:r>
          </a:p>
          <a:p>
            <a:pPr algn="just">
              <a:spcAft>
                <a:spcPts val="1000"/>
              </a:spcAft>
            </a:pPr>
            <a:r>
              <a:rPr sz="1900" b="1" i="0">
                <a:solidFill>
                  <a:srgbClr val="262626"/>
                </a:solidFill>
                <a:latin typeface="Times New Roman"/>
                <a:cs typeface="Times New Roman"/>
              </a:rPr>
              <a:t>String algorithms</a:t>
            </a: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 (KMP, Rabin-Karp, Aho-Corasick, Suffix Array + LCP, Trie) find and rank the answer. </a:t>
            </a:r>
            <a:r>
              <a:rPr sz="1900" b="1" i="0">
                <a:solidFill>
                  <a:srgbClr val="262626"/>
                </a:solidFill>
                <a:latin typeface="Times New Roman"/>
                <a:cs typeface="Times New Roman"/>
              </a:rPr>
              <a:t>Dynamic programming</a:t>
            </a: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 (Edit Distance, 0/1 Knapsack, Bitmask DP) fixes spelling and chooses the best basket and the best field assignment. </a:t>
            </a:r>
            <a:r>
              <a:rPr sz="1900" b="1" i="0">
                <a:solidFill>
                  <a:srgbClr val="262626"/>
                </a:solidFill>
                <a:latin typeface="Times New Roman"/>
                <a:cs typeface="Times New Roman"/>
              </a:rPr>
              <a:t>Network flow</a:t>
            </a: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 (Edmonds-Karp with min cut) supplies many fields from limited stock. </a:t>
            </a:r>
            <a:r>
              <a:rPr sz="1900" b="1" i="0">
                <a:solidFill>
                  <a:srgbClr val="262626"/>
                </a:solidFill>
                <a:latin typeface="Times New Roman"/>
                <a:cs typeface="Times New Roman"/>
              </a:rPr>
              <a:t>Approximation algorithms</a:t>
            </a: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 (greedy Set Cover, greedy Knapsack) handle the NP-hard cases with proven bounds. </a:t>
            </a:r>
            <a:r>
              <a:rPr sz="1900" b="1" i="0">
                <a:solidFill>
                  <a:srgbClr val="262626"/>
                </a:solidFill>
                <a:latin typeface="Times New Roman"/>
                <a:cs typeface="Times New Roman"/>
              </a:rPr>
              <a:t>Randomised and parallel algorithms</a:t>
            </a: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 (Randomized QuickSort, fork/join map, reduce and prefix sum) rank results and score the crop table on all cores.</a:t>
            </a:r>
          </a:p>
          <a:p>
            <a:pPr algn="just">
              <a:spcAft>
                <a:spcPts val="1000"/>
              </a:spcAft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An optional trace shows which algorithm ran and what it found, so the algorithms do visible work on screen. The project covers all six course outcomes of DSA-3.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36109" y="221673"/>
            <a:ext cx="4719782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050000"/>
            <a:ext cx="10892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/>
              <a:buChar char="•"/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Farmers need quick, reliable answers; an expert is not always reachable and internet search cannot rank records it does not hold</a:t>
            </a:r>
          </a:p>
          <a:p>
            <a:pPr marL="285750" indent="-285750" algn="just">
              <a:spcAft>
                <a:spcPts val="800"/>
              </a:spcAft>
              <a:buFont typeface="Arial"/>
              <a:buChar char="•"/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A farmer's question is a plain sentence, often with spelling mistakes and local names (paddy, bhindi, dhan), with the crop and symptom buried inside it</a:t>
            </a:r>
          </a:p>
          <a:p>
            <a:pPr marL="285750" indent="-285750" algn="just">
              <a:spcAft>
                <a:spcPts val="800"/>
              </a:spcAft>
              <a:buFont typeface="Arial"/>
              <a:buChar char="•"/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Review 1 built the three string-matching algorithms; this review completes the full system with </a:t>
            </a:r>
            <a:r>
              <a:rPr sz="1900" b="1" i="0">
                <a:solidFill>
                  <a:srgbClr val="262626"/>
                </a:solidFill>
                <a:latin typeface="Times New Roman"/>
                <a:cs typeface="Times New Roman"/>
              </a:rPr>
              <a:t>thirteen algorithms</a:t>
            </a: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 across strings, DP, network flow, NP-hard approximation and parallel computing</a:t>
            </a:r>
          </a:p>
          <a:p>
            <a:pPr marL="285750" indent="-285750" algn="just">
              <a:spcAft>
                <a:spcPts val="800"/>
              </a:spcAft>
              <a:buFont typeface="Arial"/>
              <a:buChar char="•"/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Beyond search, the farmer also needs decisions: what to buy inside a budget, which bag goes to which field, how to supply many fields from limited stock, the fewest products for the whole farm</a:t>
            </a:r>
          </a:p>
          <a:p>
            <a:pPr marL="285750" indent="-285750" algn="just">
              <a:spcAft>
                <a:spcPts val="800"/>
              </a:spcAft>
              <a:buFont typeface="Arial"/>
              <a:buChar char="•"/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Every algorithm is implemented from first principles in core Java (no String.contains, no Collections.sort) and its work is shown live with `trace on`</a:t>
            </a:r>
          </a:p>
          <a:p>
            <a:pPr marL="285750" indent="-285750" algn="just">
              <a:spcAft>
                <a:spcPts val="800"/>
              </a:spcAft>
              <a:buFont typeface="Arial"/>
              <a:buChar char="•"/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The result is a working terminal chat with live search suggestions, live weather and an `algo demo` command that runs all thirteen algorithms on hand-checkable inputs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36109" y="221673"/>
            <a:ext cx="4719782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" y="950000"/>
          <a:ext cx="11042000" cy="4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7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Paper / Work</a:t>
                      </a:r>
                    </a:p>
                  </a:txBody>
                  <a:tcPr marL="60000" marR="60000" marT="30000" marB="300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Author(s)</a:t>
                      </a:r>
                    </a:p>
                  </a:txBody>
                  <a:tcPr marL="60000" marR="60000" marT="30000" marB="300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</a:p>
                  </a:txBody>
                  <a:tcPr marL="60000" marR="60000" marT="30000" marB="300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What we took from it</a:t>
                      </a:r>
                    </a:p>
                  </a:txBody>
                  <a:tcPr marL="60000" marR="60000" marT="30000" marB="3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Fast Pattern Matching in Strings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Knuth, Morris, Pratt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1977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Linear-time exact search with the failure table - symptom matching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Efficient String Matching: An Aid to Bibliographic Search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Aho, Corasick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1975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Trie with failure links - all crops/symptoms found in one pass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Efficient Randomized Pattern-Matching Algorithms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Karp, Rabin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1987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Rolling hash search - cheap relevance scoring (Monte Carlo idea)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Theoretical Improvements in Algorithmic Efficiency for Network Flow Problems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Edmonds, Karp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1972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Shortest augmenting paths make Ford-Fulkerson polynomial - field supply and min cut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A Greedy Heuristic for the Set-Covering Problem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Chvatal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1979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Greedy set cover is within H(n) of optimal - fewest fertilizers for the farm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Prefix Sums and Their Applications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Blelloch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1990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Work-efficient parallel scan - running costs in the greedy knapsack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0000" y="5950000"/>
            <a:ext cx="109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7F7F7F"/>
                </a:solidFill>
                <a:latin typeface="Times New Roman"/>
                <a:cs typeface="Times New Roman"/>
              </a:rPr>
              <a:t>Findings: naive search repeats work per keyword; KMP removes backtracking, Aho-Corasick removes per-pattern repetition, Rabin-Karp makes rescanning cheap. For the NP-hard problems we use approximations with proven ratios instead of brute force.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06000" y="221673"/>
            <a:ext cx="678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000000"/>
            <a:ext cx="5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  <a:cs typeface="Times New Roman"/>
              </a:rPr>
              <a:t>Problem Statement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Times New Roman"/>
                <a:cs typeface="Times New Roman"/>
              </a:rPr>
              <a:t>Farming advice is hard to reach offline and comes in many forms: search, diagnosis, buying, allocation and planning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Times New Roman"/>
                <a:cs typeface="Times New Roman"/>
              </a:rPr>
              <a:t>A farmer's sentence mixes crop names, symptoms, typos and local words in no fixed order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Times New Roman"/>
                <a:cs typeface="Times New Roman"/>
              </a:rPr>
              <a:t>Some of the decisions (best basket, fewest products) are NP-hard, so brute force does not scale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Times New Roman"/>
                <a:cs typeface="Times New Roman"/>
              </a:rPr>
              <a:t>Large tables (63 crops) should use all the cores of the machine, not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0000" y="1000000"/>
            <a:ext cx="49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  <a:cs typeface="Times New Roman"/>
              </a:rPr>
              <a:t>Objectives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Times New Roman"/>
                <a:cs typeface="Times New Roman"/>
              </a:rPr>
              <a:t>Detect every crop, disease, pest, symptom and fertilizer in a question in one pass, after fixing spelling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Times New Roman"/>
                <a:cs typeface="Times New Roman"/>
              </a:rPr>
              <a:t>Rank search results and diagnose diseases from symptoms exactly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Times New Roman"/>
                <a:cs typeface="Times New Roman"/>
              </a:rPr>
              <a:t>Choose the best fertilizer basket inside a budget, and the best bag for each field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Times New Roman"/>
                <a:cs typeface="Times New Roman"/>
              </a:rPr>
              <a:t>Supply many fields from limited shop stock and explain the bottleneck (min cut)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Times New Roman"/>
                <a:cs typeface="Times New Roman"/>
              </a:rPr>
              <a:t>Solve the NP-hard cases with approximation algorithms that carry a proven guarantee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Times New Roman"/>
                <a:cs typeface="Times New Roman"/>
              </a:rPr>
              <a:t>Score the crop table in parallel and show work/span; make every algorithm visible on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76000" y="221673"/>
            <a:ext cx="564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How a Question is Answered</a:t>
            </a:r>
          </a:p>
        </p:txBody>
      </p:sp>
      <p:sp>
        <p:nvSpPr>
          <p:cNvPr id="4" name="Oval 3"/>
          <p:cNvSpPr/>
          <p:nvPr/>
        </p:nvSpPr>
        <p:spPr>
          <a:xfrm>
            <a:off x="700000" y="104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0000" y="1000000"/>
            <a:ext cx="102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262626"/>
                </a:solidFill>
                <a:latin typeface="Times New Roman"/>
                <a:cs typeface="Times New Roman"/>
              </a:rPr>
              <a:t>Small talk / weather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"hi", "weather in guntur" are answered directly</a:t>
            </a:r>
          </a:p>
        </p:txBody>
      </p:sp>
      <p:sp>
        <p:nvSpPr>
          <p:cNvPr id="6" name="Oval 5"/>
          <p:cNvSpPr/>
          <p:nvPr/>
        </p:nvSpPr>
        <p:spPr>
          <a:xfrm>
            <a:off x="700000" y="192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0000" y="1880000"/>
            <a:ext cx="102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262626"/>
                </a:solidFill>
                <a:latin typeface="Times New Roman"/>
                <a:cs typeface="Times New Roman"/>
              </a:rPr>
              <a:t>Fix the words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Edit Distance fixes typos, word-splitter unsticks "lateblight", Aho-Corasick maps "paddy" to rice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280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0000" y="2760000"/>
            <a:ext cx="102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262626"/>
                </a:solidFill>
                <a:latin typeface="Times New Roman"/>
                <a:cs typeface="Times New Roman"/>
              </a:rPr>
              <a:t>Find the entities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Aho-Corasick finds every crop, disease, pest, symptom, fertilizer in ONE pass</a:t>
            </a:r>
          </a:p>
        </p:txBody>
      </p:sp>
      <p:sp>
        <p:nvSpPr>
          <p:cNvPr id="10" name="Oval 9"/>
          <p:cNvSpPr/>
          <p:nvPr/>
        </p:nvSpPr>
        <p:spPr>
          <a:xfrm>
            <a:off x="700000" y="368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0000" y="3640000"/>
            <a:ext cx="102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262626"/>
                </a:solidFill>
                <a:latin typeface="Times New Roman"/>
                <a:cs typeface="Times New Roman"/>
              </a:rPr>
              <a:t>Route the question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Keyword rules decide which feature (and so which algorithm) answers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456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0000" y="4520000"/>
            <a:ext cx="102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262626"/>
                </a:solidFill>
                <a:latin typeface="Times New Roman"/>
                <a:cs typeface="Times New Roman"/>
              </a:rPr>
              <a:t>Run the algorithm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Knapsack / Matching + Bitmask DP / Max Flow / Set Cover / KMP + QuickSort / Rabin-Karp + Suffix Array / Parallel planner</a:t>
            </a:r>
          </a:p>
        </p:txBody>
      </p:sp>
      <p:sp>
        <p:nvSpPr>
          <p:cNvPr id="14" name="Oval 13"/>
          <p:cNvSpPr/>
          <p:nvPr/>
        </p:nvSpPr>
        <p:spPr>
          <a:xfrm>
            <a:off x="700000" y="544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0000" y="5400000"/>
            <a:ext cx="102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262626"/>
                </a:solidFill>
                <a:latin typeface="Times New Roman"/>
                <a:cs typeface="Times New Roman"/>
              </a:rPr>
              <a:t>Show the answer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Table or card on a 78-column grid, with the algorithm trace in the gutter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561000" y="221673"/>
            <a:ext cx="507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Course Outcomes Covered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" y="950000"/>
          <a:ext cx="11092000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7142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</a:t>
                      </a:r>
                    </a:p>
                  </a:txBody>
                  <a:tcPr marL="60000" marR="60000" marT="30000" marB="300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 outcome (short)</a:t>
                      </a:r>
                    </a:p>
                  </a:txBody>
                  <a:tcPr marL="60000" marR="60000" marT="30000" marB="300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Algorithms in the project</a:t>
                      </a:r>
                    </a:p>
                  </a:txBody>
                  <a:tcPr marL="60000" marR="60000" marT="30000" marB="300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 in the chat</a:t>
                      </a:r>
                    </a:p>
                  </a:txBody>
                  <a:tcPr marL="60000" marR="60000" marT="30000" marB="3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14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CO1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Recognise the problem class and pick the right strategy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Intent routing picks a different algorithm family per question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Every question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14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CO2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Linear-time string algorithms and suffix structures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KMP, Rabin-Karp, Aho-Corasick, Suffix Array + LCP, Trie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Search, diagnosis, spell/synonym, live suggestions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14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CO3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Advanced DP patterns (DP on subsets)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Bitmask DP</a:t>
                      </a:r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 for the assignment; 0/1 Knapsack, Edit Distance, word-segmentation DP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match fertilizers for rice cotton banana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14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CO4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Network flow, max-flow / min-cut duality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Edmonds-Karp max flow + min cut</a:t>
                      </a:r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; Kuhn's bipartite matching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supply 40 fields of rice and 12 fields of cotton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14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CO5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NP-completeness and approximation algorithms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Greedy Set Cover</a:t>
                      </a:r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 (H(n) bound), </a:t>
                      </a:r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Greedy Knapsack</a:t>
                      </a:r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 (1/2 bound) beside the exact pseudo-polynomial DP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fewest fertilizers for rice wheat cotton banana; budget basket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14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CO6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Randomised and parallel algorithms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Randomized QuickSort</a:t>
                      </a:r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 (Las Vegas), Rabin-Karp hash (Monte Carlo); </a:t>
                      </a:r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fork/join map, reduce, prefix sum</a:t>
                      </a:r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 with work-span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ranking; crop planner; greedy knapsack</a:t>
                      </a:r>
                    </a:p>
                  </a:txBody>
                  <a:tcPr marL="60000" marR="60000" marT="30000" marB="30000">
                    <a:solidFill>
                      <a:srgbClr val="FB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0000" y="6330000"/>
            <a:ext cx="109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7F7F7F"/>
                </a:solidFill>
                <a:latin typeface="Times New Roman"/>
                <a:cs typeface="Times New Roman"/>
              </a:rPr>
              <a:t>Type  trace on  in the chat and every step prints the algorithm name, table size, augmenting paths, approximation bound or work/span.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611000" y="221673"/>
            <a:ext cx="697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CO1 - Choosing the Right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950000"/>
            <a:ext cx="5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In simple words: look at the question, decide what kind of problem it is, then pick the algorithm that fits.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A search question ("how to grow rice") is a </a:t>
            </a: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string-matching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problem, so Rabin-Karp and KMP run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A budget question ("under 3000") is a </a:t>
            </a: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knapsack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problem, so dynamic programming runs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"One bag per field" is a </a:t>
            </a: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matching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problem; "many fields, limited stock" is a </a:t>
            </a: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flow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problem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"Fewest products for all my crops" is </a:t>
            </a: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set cover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, which is NP-hard, so an approximation runs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"Which crops suit low rainfall" scores a whole table, so a </a:t>
            </a: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parallel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map + reduce runs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The IntentDetector class does this routing with keyword rules; the trace prints the class it chose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0000" y="1050000"/>
            <a:ext cx="4300000" cy="44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trace on + a few questions showing 'Intent routing'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5600000"/>
            <a:ext cx="109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7F7F7F"/>
                </a:solidFill>
                <a:latin typeface="Times New Roman"/>
                <a:cs typeface="Times New Roman"/>
              </a:rPr>
              <a:t>Replace the grey box with a screenshot of the chat output (trace 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561000" y="221673"/>
            <a:ext cx="507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CO2 - String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950000"/>
            <a:ext cx="5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In simple words: find words inside text fast, without checking every position again and again.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KMP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- builds a small failure table for the pattern, then scans the text once and never steps backwards. Used to match a symptom exactly inside a disease record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Rabin-Karp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- turns each window of text into a number (a rolling hash) and compares numbers instead of strings. Used to count how often search words appear in every article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Aho-Corasick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- puts all 285 known words into one trie with failure links, so one pass over the sentence finds every crop, disease, pest and symptom at once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Suffix Array + LCP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- sorts all suffixes of two articles to find their longest common substring, which gives 'related reading'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Trie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- prefix tree that gives the live suggestions under the search box on every keystroke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0000" y="1050000"/>
            <a:ext cx="4300000" cy="44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my tomatoe has yelow leaves and brown spots (diagnosis with trace)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5600000"/>
            <a:ext cx="109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7F7F7F"/>
                </a:solidFill>
                <a:latin typeface="Times New Roman"/>
                <a:cs typeface="Times New Roman"/>
              </a:rPr>
              <a:t>Replace the grey box with a screenshot of the chat output (trace 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326000" y="221673"/>
            <a:ext cx="754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CO3 - Dynamic Programming on Subsets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950000"/>
            <a:ext cx="5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In simple words: solve a big problem by remembering answers to smaller pieces, where a piece is 'which fields are already served'.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A farmer names a few crops (say 4). Every subset of those crops fits in the bits of one number: bit 0 = rice served, bit 1 = cotton served, and so on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Bitmask DP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table: dp[i][mask] = best total benefit after looking at the first i fertilizers with exactly the fields in mask served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For each fertilizer we either leave it on the shelf, or give it to one field that is still unserved and that it suits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Bipartite Matching only tells us HOW MANY fields can be served; the bitmask DP tells us the BEST way, e.g. 4 crops x 30 bags = 496 states, benefit 342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Other DP in the project: </a:t>
            </a: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0/1 Knapsack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(budget table), </a:t>
            </a: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Edit Distance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(spelling), </a:t>
            </a: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word-segmentation DP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("lateblight" to "late blight")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0000" y="1050000"/>
            <a:ext cx="4300000" cy="44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match fertilizers for rice cotton banana groundnut (Bitmask DP trace)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5600000"/>
            <a:ext cx="109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7F7F7F"/>
                </a:solidFill>
                <a:latin typeface="Times New Roman"/>
                <a:cs typeface="Times New Roman"/>
              </a:rPr>
              <a:t>Replace the grey box with a screenshot of the chat output (trace 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96000" y="221673"/>
            <a:ext cx="640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CO4 - Network Flow and Min 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950000"/>
            <a:ext cx="5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In simple words: push 'bags' through a pipe network from the fields to the shop shelves and see how many get through.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Network: source -&gt; each crop (capacity = number of fields) -&gt; each suitable fertilizer -&gt; sink (capacity = bags in stock)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Edmonds-Karp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: repeatedly find the shortest path with spare room (BFS), push as much as it allows, and add a reverse edge so a bad choice can be undone later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The </a:t>
            </a: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maximum flow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is the largest number of fields that can be supplied, e.g. 36 of 52 fields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Min cut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: after the last path, everything still reachable from the source forms a cut whose capacity equals the flow - it names the bottleneck: 18 shelves x 2 bags = 36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Bipartite Matching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(Kuhn) is the same idea with capacity 1 everywhere: one bag per crop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0000" y="1050000"/>
            <a:ext cx="4300000" cy="44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supply 40 fields of rice and 12 fields of cotton (Max Flow + Min Cut trace)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5600000"/>
            <a:ext cx="109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7F7F7F"/>
                </a:solidFill>
                <a:latin typeface="Times New Roman"/>
                <a:cs typeface="Times New Roman"/>
              </a:rPr>
              <a:t>Replace the grey box with a screenshot of the chat output (trace 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146000" y="221673"/>
            <a:ext cx="790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CO5 - NP-hard Problems and Approximation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950000"/>
            <a:ext cx="5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In simple words: some problems have no fast exact algorithm, so we use a fast method with a guaranteed 'not worse than' promise.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Set Cover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is NP-hard (Vertex Cover reduces to it). Question: fewest fertilizer products that suit every crop on the farm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Greedy rule: always take the product that covers the most crops still uncovered. Proven to use at most H(n) = 1 + 1/2 + ... + 1/n times the optimum (H(4) = 2.08)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Knapsack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is NP-hard (Subset Sum reduces to it). Our exact DP is only pseudo-polynomial: it grows with the budget NUMBER, not its digits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Greedy Knapsack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: sort by benefit per rupee, take what fits, compare with the single best item. Proven to reach at least 1/2 of the optimum, in O(n log n)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The chat shows both answers side by side: greedy benefit 339 vs exact 366 for tomato under Rs 3000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0000" y="1050000"/>
            <a:ext cx="4300000" cy="44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fewest fertilizers for rice wheat cotton banana (Set Cover) + budget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5600000"/>
            <a:ext cx="109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7F7F7F"/>
                </a:solidFill>
                <a:latin typeface="Times New Roman"/>
                <a:cs typeface="Times New Roman"/>
              </a:rPr>
              <a:t>Replace the grey box with a screenshot of the chat output (trace on).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146000" y="221673"/>
            <a:ext cx="790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CO6 - Randomised and Parallel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950000"/>
            <a:ext cx="5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In simple words: use randomness to avoid worst cases, and use all CPU cores when the work can be split.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Randomized QuickSort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picks a random pivot, so already-sorted search results cannot trigger the O(n^2) worst case. Las Vegas: always correct, only the time is random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Rabin-Karp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hashing is the Monte Carlo idea: a hash match may be wrong, so we verify it - without that check it would be a Monte Carlo algorithm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Parallel map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: the 63 crops are scored on a fork/join tree, each leaf on its own thread; </a:t>
            </a: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parallel reduce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 finds the best score up the tree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Parallel prefix sum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: two sweeps (up and down) over the tree give running costs for the greedy knapsack</a:t>
            </a:r>
          </a:p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262626"/>
                </a:solidFill>
                <a:latin typeface="Times New Roman"/>
                <a:cs typeface="Times New Roman"/>
              </a:rPr>
              <a:t>Work and span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: work = total steps (63), span = longest chain (11). Brent's bound: time &lt;= work/p + span with p cores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0000" y="1050000"/>
            <a:ext cx="4300000" cy="44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which crops suit low rainfall (Parallel map / reduce trace)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5600000"/>
            <a:ext cx="109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7F7F7F"/>
                </a:solidFill>
                <a:latin typeface="Times New Roman"/>
                <a:cs typeface="Times New Roman"/>
              </a:rPr>
              <a:t>Replace the grey box with a screenshot of the chat output (trace on).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36109" y="221673"/>
            <a:ext cx="4719782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0000" y="950000"/>
            <a:ext cx="9192000" cy="53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Insert the flow chart image here (question -&gt; fix words -&gt; find entities -&gt; route -&gt; algorithm -&gt; answer)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96000" y="221673"/>
            <a:ext cx="640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Results - Search and Diagnosis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000" y="1000000"/>
            <a:ext cx="5371000" cy="47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how to grow rice  (Rabin-Karp + KMP + QuickSort + Suffix Array)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71000" y="1000000"/>
            <a:ext cx="5371000" cy="47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my tomatoe has yelow leaves  (Edit Distance + Aho-Corasick + KMP)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5900000"/>
            <a:ext cx="109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7F7F7F"/>
                </a:solidFill>
                <a:latin typeface="Times New Roman"/>
                <a:cs typeface="Times New Roman"/>
              </a:rPr>
              <a:t>Add screenshots from the terminal; keep  trace on  so the algorithm names are visible.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01000" y="221673"/>
            <a:ext cx="659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Results - Buying and Allocation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000" y="1000000"/>
            <a:ext cx="5371000" cy="47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suggest fertilizer for tomato under 3000  (Knapsack + greedy 1/2-approx)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71000" y="1000000"/>
            <a:ext cx="5371000" cy="47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match fertilizers for rice cotton banana groundnut  (Matching + Bitmask DP)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5900000"/>
            <a:ext cx="109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7F7F7F"/>
                </a:solidFill>
                <a:latin typeface="Times New Roman"/>
                <a:cs typeface="Times New Roman"/>
              </a:rPr>
              <a:t>Add screenshots from the terminal; keep  trace on  so the algorithm names are visible.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21000" y="221673"/>
            <a:ext cx="735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Results - Supply, Cover and Planner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000" y="1000000"/>
            <a:ext cx="3480666" cy="47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supply 40 fields of rice and 12 fields of cotton  (Max Flow + Min Cut)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666" y="1000000"/>
            <a:ext cx="3480666" cy="47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fewest fertilizers for rice wheat cotton banana  (Set Cover)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61332" y="1000000"/>
            <a:ext cx="3480666" cy="47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which crops suit low rainfall  (Parallel map + reduce)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5900000"/>
            <a:ext cx="109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7F7F7F"/>
                </a:solidFill>
                <a:latin typeface="Times New Roman"/>
                <a:cs typeface="Times New Roman"/>
              </a:rPr>
              <a:t>Add screenshots from the terminal; keep  trace on  so the algorithm names are visible.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31000" y="221673"/>
            <a:ext cx="773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Results - algo demo and Live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000" y="1000000"/>
            <a:ext cx="5371000" cy="47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algo demo  (sections 9-13: Bitmask, Max Flow, Set Cover, Greedy, Parallel)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71000" y="1000000"/>
            <a:ext cx="5371000" cy="4700000"/>
          </a:xfrm>
          <a:prstGeom prst="roundRect">
            <a:avLst/>
          </a:prstGeom>
          <a:solidFill>
            <a:srgbClr val="F3F3F3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F7F7F"/>
                </a:solidFill>
                <a:latin typeface="Calibri"/>
                <a:cs typeface="Calibri"/>
              </a:rPr>
              <a:t>📷  SCREENSHOT</a:t>
            </a:r>
          </a:p>
          <a:p>
            <a:pPr algn="ctr"/>
            <a:r>
              <a:rPr sz="1300" b="0" i="1">
                <a:solidFill>
                  <a:srgbClr val="7F7F7F"/>
                </a:solidFill>
                <a:latin typeface="Calibri"/>
                <a:cs typeface="Calibri"/>
              </a:rPr>
              <a:t>live search box + weather in guntur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5900000"/>
            <a:ext cx="109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7F7F7F"/>
                </a:solidFill>
                <a:latin typeface="Times New Roman"/>
                <a:cs typeface="Times New Roman"/>
              </a:rPr>
              <a:t>Add screenshots from the terminal; keep  trace on  so the algorithm names are visible.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516000" y="221673"/>
            <a:ext cx="7160000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Hardware and Software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000000"/>
            <a:ext cx="5000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  <a:cs typeface="Times New Roman"/>
              </a:rPr>
              <a:t>Hardware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262626"/>
                </a:solidFill>
                <a:latin typeface="Times New Roman"/>
                <a:cs typeface="Times New Roman"/>
              </a:rPr>
              <a:t>Processor: any dual-core, 1 GHz or above (more cores speed up the parallel planner)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262626"/>
                </a:solidFill>
                <a:latin typeface="Times New Roman"/>
                <a:cs typeface="Times New Roman"/>
              </a:rPr>
              <a:t>RAM: 2 GB minimum (4 GB recommended)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262626"/>
                </a:solidFill>
                <a:latin typeface="Times New Roman"/>
                <a:cs typeface="Times New Roman"/>
              </a:rPr>
              <a:t>Disk: under 10 MB for source, data, library and compiled classes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262626"/>
                </a:solidFill>
                <a:latin typeface="Times New Roman"/>
                <a:cs typeface="Times New Roman"/>
              </a:rPr>
              <a:t>Display: Windows Terminal or any terminal with UTF-8 (ASCII mode available)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262626"/>
                </a:solidFill>
                <a:latin typeface="Times New Roman"/>
                <a:cs typeface="Times New Roman"/>
              </a:rPr>
              <a:t>Internet only for the live weather feature; everything else runs offline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0000" y="1000000"/>
            <a:ext cx="5000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  <a:cs typeface="Times New Roman"/>
              </a:rPr>
              <a:t>Software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262626"/>
                </a:solidFill>
                <a:latin typeface="Times New Roman"/>
                <a:cs typeface="Times New Roman"/>
              </a:rPr>
              <a:t>OS: Windows 10/11 (also runs on Linux and macOS)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262626"/>
                </a:solidFill>
                <a:latin typeface="Times New Roman"/>
                <a:cs typeface="Times New Roman"/>
              </a:rPr>
              <a:t>JDK 21 or above; developed and tested on JDK 21 and JDK 25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262626"/>
                </a:solidFill>
                <a:latin typeface="Times New Roman"/>
                <a:cs typeface="Times New Roman"/>
              </a:rPr>
              <a:t>Any editor or IDE (VS Code / IntelliJ / Notepad++); no build tool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262626"/>
                </a:solidFill>
                <a:latin typeface="Times New Roman"/>
                <a:cs typeface="Times New Roman"/>
              </a:rPr>
              <a:t>One library: JLine 3 jar, used only to read keys for the live search box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262626"/>
                </a:solidFill>
                <a:latin typeface="Times New Roman"/>
                <a:cs typeface="Times New Roman"/>
              </a:rPr>
              <a:t>Data as plain pipe-separated .txt files; OpenWeatherMap key in data/weather.txt (optional)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36109" y="221673"/>
            <a:ext cx="4719782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050000"/>
            <a:ext cx="10892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/>
              <a:buChar char="•"/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A farming question in plain English, with typos and local words, is answered correctly by classical algorithms alone - no AI model</a:t>
            </a:r>
          </a:p>
          <a:p>
            <a:pPr marL="285750" indent="-285750" algn="just">
              <a:spcAft>
                <a:spcPts val="800"/>
              </a:spcAft>
              <a:buFont typeface="Arial"/>
              <a:buChar char="•"/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Thirteen algorithms do real, visible work: five string algorithms, three DP patterns including DP on subsets, max flow with min cut, two approximation algorithms with proven bounds, and randomised plus parallel primitives</a:t>
            </a:r>
          </a:p>
          <a:p>
            <a:pPr marL="285750" indent="-285750" algn="just">
              <a:spcAft>
                <a:spcPts val="800"/>
              </a:spcAft>
              <a:buFont typeface="Arial"/>
              <a:buChar char="•"/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The NP-hard decisions (basket, shopping list) are handled honestly: exact DP where the input is small, greedy approximation with a guarantee where it is not</a:t>
            </a:r>
          </a:p>
          <a:p>
            <a:pPr marL="285750" indent="-285750" algn="just">
              <a:spcAft>
                <a:spcPts val="800"/>
              </a:spcAft>
              <a:buFont typeface="Arial"/>
              <a:buChar char="•"/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The crop table is scored on all cores with a fork/join map-reduce, and the trace reports work and span</a:t>
            </a:r>
          </a:p>
          <a:p>
            <a:pPr marL="285750" indent="-285750" algn="just">
              <a:spcAft>
                <a:spcPts val="800"/>
              </a:spcAft>
              <a:buFont typeface="Arial"/>
              <a:buChar char="•"/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All six course outcomes of DSA-3 are covered by working features that can be demonstrated live with  trace on  and  algo demo</a:t>
            </a:r>
          </a:p>
          <a:p>
            <a:pPr marL="285750" indent="-285750" algn="just">
              <a:spcAft>
                <a:spcPts val="800"/>
              </a:spcAft>
              <a:buFont typeface="Arial"/>
              <a:buChar char="•"/>
            </a:pPr>
            <a:r>
              <a:rPr sz="1900" b="0" i="0">
                <a:solidFill>
                  <a:srgbClr val="262626"/>
                </a:solidFill>
                <a:latin typeface="Times New Roman"/>
                <a:cs typeface="Times New Roman"/>
              </a:rPr>
              <a:t>Fully offline core Java, one small input library, plain text knowledge base that grows by adding a line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0"/>
            <a:ext cx="2101850" cy="90011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36109" y="221673"/>
            <a:ext cx="4719782" cy="56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cs typeface="Calibri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050000"/>
            <a:ext cx="10892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262626"/>
                </a:solidFill>
                <a:latin typeface="Times New Roman"/>
                <a:cs typeface="Times New Roman"/>
              </a:rPr>
              <a:t>Dinic's algorithm for max flow and the FPTAS for knapsack, to show the faster versions of CO4 and CO5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262626"/>
                </a:solidFill>
                <a:latin typeface="Times New Roman"/>
                <a:cs typeface="Times New Roman"/>
              </a:rPr>
              <a:t>Interval DP for a crop-rotation planner across seasons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262626"/>
                </a:solidFill>
                <a:latin typeface="Times New Roman"/>
                <a:cs typeface="Times New Roman"/>
              </a:rPr>
              <a:t>Suffix automaton for the related-reading feature and Z-function as a second exact matcher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262626"/>
                </a:solidFill>
                <a:latin typeface="Times New Roman"/>
                <a:cs typeface="Times New Roman"/>
              </a:rPr>
              <a:t>Larger knowledge base with district-level prices and stock pulled from a live source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262626"/>
                </a:solidFill>
                <a:latin typeface="Times New Roman"/>
                <a:cs typeface="Times New Roman"/>
              </a:rPr>
              <a:t>Regional language interface (Hindi / Telugu) beyond the current synonym table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262626"/>
                </a:solidFill>
                <a:latin typeface="Times New Roman"/>
                <a:cs typeface="Times New Roman"/>
              </a:rPr>
              <a:t>Package as a single runnable JAR, then a mobile or web front end on the same engine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  <a:cs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3054</Words>
  <Application>Microsoft Office PowerPoint</Application>
  <PresentationFormat>Widescreen</PresentationFormat>
  <Paragraphs>242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       Data Structures and Algorithms -3 (25CS2103E)  Farm Assist Advanced Search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NIMMA LOKESHREDDY</cp:lastModifiedBy>
  <cp:revision>22</cp:revision>
  <dcterms:created xsi:type="dcterms:W3CDTF">2024-08-29T05:25:00Z</dcterms:created>
  <dcterms:modified xsi:type="dcterms:W3CDTF">2026-09-20T16:40:10Z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