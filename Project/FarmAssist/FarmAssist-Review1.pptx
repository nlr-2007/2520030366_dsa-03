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Segoe UI Semibold"/>
              </a:rPr>
              <a:t>FarmAssist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7ED989"/>
                </a:solidFill>
                <a:latin typeface="Segoe UI"/>
              </a:rPr>
              <a:t>Sophie  •  your digital agriculture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An algorithm-based agricultural knowledge search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Review 1   |   DSA-3 (25CS2103E)   |   Team 20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250" b="0">
                <a:solidFill>
                  <a:srgbClr val="7ED989"/>
                </a:solidFill>
                <a:latin typeface="Segoe UI"/>
              </a:rPr>
              <a:t>Nimma Lokesh Reddy (2520030366)    Ramagiri Rishik Rao (2520030333)    Manne Yashwanth Manoj (2520030369)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789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B3634"/>
                </a:solidFill>
                <a:latin typeface="Segoe UI"/>
              </a:rPr>
              <a:t>▪  A farmer's question is messy, not a database query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It carries typos, joined words and local names: “my tomatoe has yelow leaves”, “lateblight”, “paddy” for rice, “bhindi” for okra.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700" b="1">
                <a:solidFill>
                  <a:srgbClr val="2B3634"/>
                </a:solidFill>
                <a:latin typeface="Segoe UI"/>
              </a:rPr>
              <a:t>▪  Agricultural advice online assumes connectivity and literacy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A village user may have neither, and a general search engine cannot rank agronomic records it does not hold.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700" b="1">
                <a:solidFill>
                  <a:srgbClr val="2B3634"/>
                </a:solidFill>
                <a:latin typeface="Segoe UI"/>
              </a:rPr>
              <a:t>▪  The useful answers are computations, not lookups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Which fertilizers fit a budget, which bag goes to which crop, which disease matches the symptoms actually seen — each is a classic algorithmic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789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B3634"/>
                </a:solidFill>
                <a:latin typeface="Segoe UI"/>
              </a:rPr>
              <a:t>▪  Answer farming questions offline, with no AI and no network call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Every answer is computed from a local agricultural database.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700" b="1">
                <a:solidFill>
                  <a:srgbClr val="2B3634"/>
                </a:solidFill>
                <a:latin typeface="Segoe UI"/>
              </a:rPr>
              <a:t>▪  Implement eight classical algorithms from first principles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No String.contains(), no Collections.sort() — the string searching, spelling repair, ranking, budgeting and assignment are all our own.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700" b="1">
                <a:solidFill>
                  <a:srgbClr val="2B3634"/>
                </a:solidFill>
                <a:latin typeface="Segoe UI"/>
              </a:rPr>
              <a:t>▪  Make the algorithm usage visible while it runs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The program prints a live trace naming the algorithm behind every step.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1700" b="1">
                <a:solidFill>
                  <a:srgbClr val="2B3634"/>
                </a:solidFill>
                <a:latin typeface="Segoe UI"/>
              </a:rPr>
              <a:t>▪  Tolerate the way people actually type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450" b="0">
                <a:solidFill>
                  <a:srgbClr val="6B7A77"/>
                </a:solidFill>
                <a:latin typeface="Segoe UI"/>
              </a:rPr>
              <a:t>     Spelling repair, joined-word splitting and local-name rewriting before the question is ever interpreted.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1965960" cy="54864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2821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73352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B3634"/>
                </a:solidFill>
                <a:latin typeface="Segoe UI"/>
              </a:rPr>
              <a:t>raw text, exactly as the farmer types it, typos and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12264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D989"/>
                </a:solidFill>
                <a:latin typeface="Segoe U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13432"/>
            <a:ext cx="1965960" cy="548640"/>
          </a:xfrm>
          <a:prstGeom prst="rect">
            <a:avLst/>
          </a:prstGeom>
          <a:solidFill>
            <a:srgbClr val="F3F7F4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414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F7D4F"/>
                </a:solidFill>
                <a:latin typeface="Segoe UI"/>
              </a:rPr>
              <a:t>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86584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B3634"/>
                </a:solidFill>
                <a:latin typeface="Segoe UI"/>
              </a:rPr>
              <a:t>Edit Distance fixes the spelling; a word-segmentation DP unsticks joined words, so lateblight becomes late blight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25496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D989"/>
                </a:solidFill>
                <a:latin typeface="Segoe U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026664"/>
            <a:ext cx="1965960" cy="548640"/>
          </a:xfrm>
          <a:prstGeom prst="rect">
            <a:avLst/>
          </a:prstGeom>
          <a:solidFill>
            <a:srgbClr val="F3F7F4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546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F7D4F"/>
                </a:solidFill>
                <a:latin typeface="Segoe UI"/>
              </a:rPr>
              <a:t>Normalise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099816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B3634"/>
                </a:solidFill>
                <a:latin typeface="Segoe UI"/>
              </a:rPr>
              <a:t>a second Aho-Corasick automaton rewrites local and Hindi names: paddy, dhan and chawal all become 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5387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D989"/>
                </a:solidFill>
                <a:latin typeface="Segoe U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39896"/>
            <a:ext cx="1965960" cy="548640"/>
          </a:xfrm>
          <a:prstGeom prst="rect">
            <a:avLst/>
          </a:prstGeom>
          <a:solidFill>
            <a:srgbClr val="F3F7F4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F7D4F"/>
                </a:solidFill>
                <a:latin typeface="Segoe UI"/>
              </a:rPr>
              <a:t>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81304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B3634"/>
                </a:solidFill>
                <a:latin typeface="Segoe UI"/>
              </a:rPr>
              <a:t>one Aho-Corasick pass over 285 patterns finds every crop, disease, pest, fertilizer and symptom in the sentence at once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25196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D989"/>
                </a:solidFill>
                <a:latin typeface="Segoe U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453128"/>
            <a:ext cx="1965960" cy="548640"/>
          </a:xfrm>
          <a:prstGeom prst="rect">
            <a:avLst/>
          </a:prstGeom>
          <a:solidFill>
            <a:srgbClr val="F3F7F4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811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F7D4F"/>
                </a:solidFill>
                <a:latin typeface="Segoe UI"/>
              </a:rPr>
              <a:t>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2628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B3634"/>
                </a:solidFill>
                <a:latin typeface="Segoe UI"/>
              </a:rPr>
              <a:t>the entities found, and the shape of the question, decide which of the nine features answers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96519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D989"/>
                </a:solidFill>
                <a:latin typeface="Segoe U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166360"/>
            <a:ext cx="1965960" cy="54864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943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239512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B3634"/>
                </a:solidFill>
                <a:latin typeface="Segoe UI"/>
              </a:rPr>
              <a:t>Knapsack for a budget, Bipartite Matching for many crops, KMP with QuickSort for a diagnosis, or Rabin-Karp search with Suffix Array related reading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The eight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789919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546"/>
                <a:gridCol w="2157984"/>
                <a:gridCol w="8146389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Algorithm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What it does in the system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KMP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Matches a symptom or damage keyword inside a disease or pest record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Rabin-Karp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Rolling-hash scan of 271 documents to score relevance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Aho-Corasick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Finds every crop, disease, pest and fertilizer in one pass over 285 patterns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Edit Distance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Spelling repair, and the “closest match” fallback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Suffix Array + LCP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Related articles, by longest common substring (Kasai)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0/1 Knapsack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Best basket of fertilizer within a budget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Bipartite Matching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One different fertilizer for each crop (Kuhn's method)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2B363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Randomized QuickSort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Ranks results, diseases, pests and related articles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Modules and knowledge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51206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1433779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Lines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algo — the eight algorithms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691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engine — search, diagnosis, routing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1530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ui — chat loop and screens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1735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model — the records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util — algorithm trace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98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Total, 30 source files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4180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417320"/>
          <a:ext cx="51206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1433779"/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Knowledge base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Rows</a:t>
                      </a:r>
                    </a:p>
                  </a:txBody>
                  <a:tcPr marL="109728" marR="73152" marT="41148" marB="41148" anchor="ctr">
                    <a:solidFill>
                      <a:srgbClr val="2F7D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Crops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Diseases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Pests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44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Fertilizers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38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Articles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 marL="109728" marR="73152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Local-name synonyms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2B3634"/>
                          </a:solidFill>
                          <a:latin typeface="Segoe UI"/>
                        </a:rPr>
                        <a:t>396</a:t>
                      </a:r>
                    </a:p>
                  </a:txBody>
                  <a:tcPr marL="109728" marR="73152" marT="41148" marB="41148" anchor="ctr"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A77"/>
                </a:solidFill>
                <a:latin typeface="Segoe UI"/>
              </a:rPr>
              <a:t>Plain text data files. Rows added to any of them are picked up on the next run with no code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Working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shot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486400" cy="2910625"/>
          </a:xfrm>
          <a:prstGeom prst="rect">
            <a:avLst/>
          </a:prstGeom>
        </p:spPr>
      </p:pic>
      <p:pic>
        <p:nvPicPr>
          <p:cNvPr id="8" name="Picture 7" descr="shot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074920" cy="1977551"/>
          </a:xfrm>
          <a:prstGeom prst="rect">
            <a:avLst/>
          </a:prstGeom>
        </p:spPr>
      </p:pic>
      <p:pic>
        <p:nvPicPr>
          <p:cNvPr id="9" name="Picture 8" descr="shot_d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40480"/>
            <a:ext cx="5074920" cy="16201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02920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3634"/>
                </a:solidFill>
                <a:latin typeface="Segoe UI"/>
              </a:rPr>
              <a:t>Runs today, end to end.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50" b="0">
                <a:solidFill>
                  <a:srgbClr val="6B7A77"/>
                </a:solidFill>
                <a:latin typeface="Segoe UI"/>
              </a:rPr>
              <a:t>Left: what is loaded at start up.  Right: 0/1 Knapsack choosing a fertilizer basket, and KMP + QuickSort ranking a diagnosis.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F7D4F"/>
                </a:solidFill>
                <a:latin typeface="Segoe UI Semibold"/>
              </a:rPr>
              <a:t>Status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78992"/>
            <a:ext cx="1371600" cy="11430"/>
          </a:xfrm>
          <a:prstGeom prst="rect">
            <a:avLst/>
          </a:prstGeom>
          <a:solidFill>
            <a:srgbClr val="7ED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A77"/>
                </a:solidFill>
                <a:latin typeface="Segoe UI"/>
              </a:rPr>
              <a:t>FarmAssist  •  Sophie   |   DSA-3 (25CS2103E)   |   Team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2910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7A77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F7D4F"/>
                </a:solidFill>
                <a:latin typeface="Segoe UI Semibold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3634"/>
                </a:solidFill>
                <a:latin typeface="Segoe UI"/>
              </a:rPr>
              <a:t>▪  All eight algorithms implemented and in use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>
                <a:solidFill>
                  <a:srgbClr val="2B3634"/>
                </a:solidFill>
                <a:latin typeface="Segoe UI"/>
              </a:rPr>
              <a:t>▪  Nine question types answered end to end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>
                <a:solidFill>
                  <a:srgbClr val="2B3634"/>
                </a:solidFill>
                <a:latin typeface="Segoe UI"/>
              </a:rPr>
              <a:t>▪  Live algorithm trace for demonstration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>
                <a:solidFill>
                  <a:srgbClr val="2B3634"/>
                </a:solidFill>
                <a:latin typeface="Segoe UI"/>
              </a:rPr>
              <a:t>▪  Console interface on a single layout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F7D4F"/>
                </a:solidFill>
                <a:latin typeface="Segoe UI Semibold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3634"/>
                </a:solidFill>
                <a:latin typeface="Segoe UI"/>
              </a:rPr>
              <a:t>▪  Widen the article set beyond 62 documents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>
                <a:solidFill>
                  <a:srgbClr val="2B3634"/>
                </a:solidFill>
                <a:latin typeface="Segoe UI"/>
              </a:rPr>
              <a:t>▪  Measure diagnosis accuracy against a test set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>
                <a:solidFill>
                  <a:srgbClr val="2B3634"/>
                </a:solidFill>
                <a:latin typeface="Segoe UI"/>
              </a:rPr>
              <a:t>▪  Regional language input beyond the synonym table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>
                <a:solidFill>
                  <a:srgbClr val="2B3634"/>
                </a:solidFill>
                <a:latin typeface="Segoe UI"/>
              </a:rPr>
              <a:t>▪  Package as a single runnable jar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74920"/>
            <a:ext cx="10789920" cy="1005840"/>
          </a:xfrm>
          <a:prstGeom prst="rect">
            <a:avLst/>
          </a:prstGeom>
          <a:solidFill>
            <a:srgbClr val="F3F7F4"/>
          </a:solidFill>
          <a:ln w="9525">
            <a:solidFill>
              <a:srgbClr val="D5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34924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F7D4F"/>
                </a:solidFill>
                <a:latin typeface="Segoe UI"/>
              </a:rPr>
              <a:t>Demonstration:  algo demo  •  my tomatoe has yelow leaves  •  suggest fertilizer for tomato under 3000  •  compare rice and wheat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