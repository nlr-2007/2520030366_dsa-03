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3"/>
  </p:notesMasterIdLst>
  <p:sldIdLst>
    <p:sldId id="283" r:id="rId5"/>
    <p:sldId id="393" r:id="rId6"/>
    <p:sldId id="394" r:id="rId7"/>
    <p:sldId id="415" r:id="rId8"/>
    <p:sldId id="418" r:id="rId9"/>
    <p:sldId id="446" r:id="rId10"/>
    <p:sldId id="476" r:id="rId11"/>
    <p:sldId id="475" r:id="rId12"/>
    <p:sldId id="417" r:id="rId13"/>
    <p:sldId id="268" r:id="rId14"/>
    <p:sldId id="271" r:id="rId15"/>
    <p:sldId id="428" r:id="rId16"/>
    <p:sldId id="438" r:id="rId17"/>
    <p:sldId id="430" r:id="rId18"/>
    <p:sldId id="437" r:id="rId19"/>
    <p:sldId id="429" r:id="rId20"/>
    <p:sldId id="439" r:id="rId21"/>
    <p:sldId id="431" r:id="rId22"/>
    <p:sldId id="432" r:id="rId23"/>
    <p:sldId id="433" r:id="rId24"/>
    <p:sldId id="434" r:id="rId25"/>
    <p:sldId id="435" r:id="rId26"/>
    <p:sldId id="436" r:id="rId27"/>
    <p:sldId id="487" r:id="rId28"/>
    <p:sldId id="272" r:id="rId29"/>
    <p:sldId id="273" r:id="rId30"/>
    <p:sldId id="440" r:id="rId31"/>
    <p:sldId id="274" r:id="rId32"/>
    <p:sldId id="275" r:id="rId33"/>
    <p:sldId id="276" r:id="rId34"/>
    <p:sldId id="420" r:id="rId35"/>
    <p:sldId id="421" r:id="rId36"/>
    <p:sldId id="419" r:id="rId37"/>
    <p:sldId id="422" r:id="rId38"/>
    <p:sldId id="423" r:id="rId39"/>
    <p:sldId id="424" r:id="rId40"/>
    <p:sldId id="425" r:id="rId41"/>
    <p:sldId id="427" r:id="rId42"/>
    <p:sldId id="426" r:id="rId43"/>
    <p:sldId id="395" r:id="rId44"/>
    <p:sldId id="396" r:id="rId45"/>
    <p:sldId id="441" r:id="rId46"/>
    <p:sldId id="442" r:id="rId47"/>
    <p:sldId id="443" r:id="rId48"/>
    <p:sldId id="488" r:id="rId49"/>
    <p:sldId id="489" r:id="rId50"/>
    <p:sldId id="444" r:id="rId51"/>
    <p:sldId id="47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22" autoAdjust="0"/>
  </p:normalViewPr>
  <p:slideViewPr>
    <p:cSldViewPr snapToGrid="0">
      <p:cViewPr varScale="1">
        <p:scale>
          <a:sx n="65" d="100"/>
          <a:sy n="65" d="100"/>
        </p:scale>
        <p:origin x="6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44196-20C1-42AF-B0BD-3A0C01340ABD}" type="datetimeFigureOut">
              <a:rPr lang="en-AU" smtClean="0"/>
              <a:pPr/>
              <a:t>19/08/2026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46252-7977-470F-A63B-F34B0A5EB21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46252-7977-470F-A63B-F34B0A5EB215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471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46252-7977-470F-A63B-F34B0A5EB215}" type="slidenum">
              <a:rPr lang="en-AU" smtClean="0"/>
              <a:pPr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697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/>
              <a:t>15CS2007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Database Systems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3578" y="6356350"/>
            <a:ext cx="9933709" cy="365125"/>
          </a:xfrm>
          <a:prstGeom prst="rect">
            <a:avLst/>
          </a:prstGeom>
        </p:spPr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198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5470"/>
            <a:ext cx="10515600" cy="50214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669087" cy="365125"/>
          </a:xfrm>
          <a:prstGeom prst="rect">
            <a:avLst/>
          </a:prstGeom>
        </p:spPr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80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15CS2007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Database Systems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1850" y="6356350"/>
            <a:ext cx="9160048" cy="365125"/>
          </a:xfrm>
          <a:prstGeom prst="rect">
            <a:avLst/>
          </a:prstGeom>
        </p:spPr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819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0284"/>
            <a:ext cx="5181600" cy="49466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6187"/>
            <a:ext cx="5181600" cy="49307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24098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  <a:prstGeom prst="rect">
            <a:avLst/>
          </a:prstGeom>
        </p:spPr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086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9929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07591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98190"/>
            <a:ext cx="5157787" cy="40914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07591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98190"/>
            <a:ext cx="5183188" cy="40914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  <a:prstGeom prst="rect">
            <a:avLst/>
          </a:prstGeom>
        </p:spPr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59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29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  <a:prstGeom prst="rect">
            <a:avLst/>
          </a:prstGeom>
        </p:spPr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57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47898" y="6356350"/>
            <a:ext cx="9144000" cy="365125"/>
          </a:xfrm>
          <a:prstGeom prst="rect">
            <a:avLst/>
          </a:prstGeom>
        </p:spPr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12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  <a:prstGeom prst="rect">
            <a:avLst/>
          </a:prstGeom>
        </p:spPr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58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  <a:prstGeom prst="rect">
            <a:avLst/>
          </a:prstGeom>
        </p:spPr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21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155470"/>
            <a:ext cx="10515600" cy="502149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  <a:prstGeom prst="rect">
            <a:avLst/>
          </a:prstGeom>
        </p:spPr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41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  <a:prstGeom prst="rect">
            <a:avLst/>
          </a:prstGeom>
        </p:spPr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834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8577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References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9153698" cy="365125"/>
          </a:xfrm>
          <a:prstGeom prst="rect">
            <a:avLst/>
          </a:prstGeom>
        </p:spPr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838200" y="1238596"/>
            <a:ext cx="10515599" cy="5012575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216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1" descr="KL University Hyderabad">
            <a:extLst>
              <a:ext uri="{FF2B5EF4-FFF2-40B4-BE49-F238E27FC236}">
                <a16:creationId xmlns:a16="http://schemas.microsoft.com/office/drawing/2014/main" id="{1D68F0A3-CC8A-640D-D670-512A3A512D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694C64-F232-2FB7-00F5-3B6674FF8510}"/>
              </a:ext>
            </a:extLst>
          </p:cNvPr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48DF3-2855-58A7-CB66-4D902A6E6F08}"/>
              </a:ext>
            </a:extLst>
          </p:cNvPr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4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76;p16">
            <a:extLst>
              <a:ext uri="{FF2B5EF4-FFF2-40B4-BE49-F238E27FC236}">
                <a16:creationId xmlns:a16="http://schemas.microsoft.com/office/drawing/2014/main" id="{3732FECD-EE33-4F90-F08E-083831101C52}"/>
              </a:ext>
            </a:extLst>
          </p:cNvPr>
          <p:cNvSpPr txBox="1"/>
          <p:nvPr/>
        </p:nvSpPr>
        <p:spPr>
          <a:xfrm>
            <a:off x="1332689" y="1588616"/>
            <a:ext cx="9630383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Structures and algorithms-3</a:t>
            </a:r>
            <a:endParaRPr lang="en-US" sz="4000" b="1" cap="all" dirty="0">
              <a:ln/>
              <a:solidFill>
                <a:srgbClr val="C00000"/>
              </a:solidFill>
              <a:latin typeface="+mn-lt"/>
              <a:cs typeface="Poppins" panose="00000500000000000000" pitchFamily="2" charset="0"/>
              <a:sym typeface="BioRhyme ExtraBold"/>
            </a:endParaRPr>
          </a:p>
          <a:p>
            <a:pPr algn="ctr">
              <a:defRPr/>
            </a:pPr>
            <a:r>
              <a:rPr lang="en-US" sz="4000" b="1" dirty="0"/>
              <a:t>25CS2103E</a:t>
            </a:r>
            <a:endParaRPr lang="en-US" sz="40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algn="ctr">
              <a:defRPr/>
            </a:pPr>
            <a:endParaRPr lang="en-US" sz="4000" b="1" dirty="0">
              <a:solidFill>
                <a:schemeClr val="bg1">
                  <a:lumMod val="50000"/>
                </a:schemeClr>
              </a:solidFill>
              <a:latin typeface="+mn-lt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>
              <a:defRPr/>
            </a:pPr>
            <a:r>
              <a:rPr lang="en-US" sz="4000" b="1" dirty="0">
                <a:solidFill>
                  <a:schemeClr val="bg1">
                    <a:lumMod val="50000"/>
                  </a:schemeClr>
                </a:solidFill>
                <a:latin typeface="+mn-lt"/>
                <a:ea typeface="BioRhyme ExtraBold"/>
                <a:cs typeface="Poppins" panose="00000500000000000000" pitchFamily="2" charset="0"/>
                <a:sym typeface="BioRhyme ExtraBold"/>
              </a:rPr>
              <a:t>Module-3: Advanced Dynamic Programming</a:t>
            </a:r>
          </a:p>
          <a:p>
            <a:pPr algn="ctr">
              <a:defRPr/>
            </a:pPr>
            <a:endParaRPr lang="en-US" sz="4000" b="1" dirty="0">
              <a:solidFill>
                <a:schemeClr val="bg1">
                  <a:lumMod val="50000"/>
                </a:schemeClr>
              </a:solidFill>
              <a:latin typeface="+mn-lt"/>
              <a:ea typeface="BioRhyme ExtraBold"/>
              <a:cs typeface="Poppins" panose="00000500000000000000" pitchFamily="2" charset="0"/>
              <a:sym typeface="BioRhyme ExtraBold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717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/>
          <p:cNvSpPr txBox="1"/>
          <p:nvPr/>
        </p:nvSpPr>
        <p:spPr>
          <a:xfrm>
            <a:off x="1398809" y="1046653"/>
            <a:ext cx="10104120" cy="516556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000" b="1" dirty="0">
                <a:solidFill>
                  <a:srgbClr val="1F3864"/>
                </a:solidFill>
              </a:rPr>
              <a:t>1. Edit Distance &amp; Variants</a:t>
            </a:r>
          </a:p>
          <a:p>
            <a:pPr marL="342900" indent="-342900" algn="l">
              <a:buChar char="•"/>
            </a:pPr>
            <a:r>
              <a:rPr lang="en-US" sz="2000" dirty="0"/>
              <a:t>Levenshtein, Damerau-Levenshtein, Weighted edit distance</a:t>
            </a:r>
          </a:p>
          <a:p>
            <a:pPr marL="342900" indent="-342900" algn="l">
              <a:buChar char="•"/>
            </a:pPr>
            <a:r>
              <a:rPr lang="en-US" sz="2000" dirty="0"/>
              <a:t>Wagner-Fischer algorithm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000" b="1" dirty="0">
                <a:solidFill>
                  <a:srgbClr val="1F3864"/>
                </a:solidFill>
              </a:rPr>
              <a:t>2. Sequence Alignment</a:t>
            </a:r>
          </a:p>
          <a:p>
            <a:pPr marL="342900" indent="-342900" algn="l">
              <a:buChar char="•"/>
            </a:pPr>
            <a:r>
              <a:rPr lang="en-US" sz="2000" dirty="0"/>
              <a:t>Needleman-Wunsch (global), Smith-Waterman (local)</a:t>
            </a:r>
          </a:p>
          <a:p>
            <a:pPr marL="342900" indent="-342900" algn="l">
              <a:buChar char="•"/>
            </a:pPr>
            <a:r>
              <a:rPr lang="en-US" sz="2000" dirty="0"/>
              <a:t>Gap penalty models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000" b="1" dirty="0">
                <a:solidFill>
                  <a:srgbClr val="1F3864"/>
                </a:solidFill>
              </a:rPr>
              <a:t>3. Interval DP</a:t>
            </a:r>
          </a:p>
          <a:p>
            <a:pPr marL="342900" indent="-342900" algn="l">
              <a:buChar char="•"/>
            </a:pPr>
            <a:r>
              <a:rPr lang="en-US" sz="2000" dirty="0"/>
              <a:t>Matrix-chain multiplication, Optimal BST</a:t>
            </a:r>
          </a:p>
          <a:p>
            <a:pPr marL="342900" indent="-342900" algn="l">
              <a:buChar char="•"/>
            </a:pPr>
            <a:r>
              <a:rPr lang="en-US" sz="2000" dirty="0"/>
              <a:t>O(n³) and O(n² log n) variants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000" b="1" dirty="0">
                <a:solidFill>
                  <a:srgbClr val="1F3864"/>
                </a:solidFill>
              </a:rPr>
              <a:t>4. Bitmask DP</a:t>
            </a:r>
          </a:p>
          <a:p>
            <a:pPr marL="342900" indent="-342900" algn="l">
              <a:buChar char="•"/>
            </a:pPr>
            <a:r>
              <a:rPr lang="en-US" sz="2000" dirty="0"/>
              <a:t>Travelling Salesman in O(2ⁿ · n²), Hamiltonian path, Set-Cover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000" b="1" dirty="0">
                <a:solidFill>
                  <a:srgbClr val="1F3864"/>
                </a:solidFill>
              </a:rPr>
              <a:t>5. DP on Trees</a:t>
            </a:r>
          </a:p>
          <a:p>
            <a:pPr marL="342900" indent="-342900" algn="l">
              <a:buChar char="•"/>
            </a:pPr>
            <a:r>
              <a:rPr lang="en-US" sz="2000" dirty="0"/>
              <a:t>Subset sums, Diameter &amp; Centroid, Rerooting technique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000" b="1" dirty="0">
                <a:solidFill>
                  <a:srgbClr val="1F3864"/>
                </a:solidFill>
              </a:rPr>
              <a:t>6. SOS DP</a:t>
            </a:r>
          </a:p>
          <a:p>
            <a:pPr marL="342900" indent="-342900" algn="l">
              <a:buChar char="•"/>
            </a:pPr>
            <a:r>
              <a:rPr lang="en-US" sz="2000" dirty="0"/>
              <a:t>Sum-Over-Subsets in O(n · 2ⁿ), Inclusion-Exclusion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000" b="1" dirty="0">
                <a:solidFill>
                  <a:srgbClr val="1F3864"/>
                </a:solidFill>
              </a:rPr>
              <a:t>7. When DP is the Wrong Tool</a:t>
            </a:r>
          </a:p>
          <a:p>
            <a:pPr marL="342900" indent="-342900" algn="l">
              <a:buChar char="•"/>
            </a:pPr>
            <a:r>
              <a:rPr lang="en-US" sz="2000" dirty="0"/>
              <a:t>Greedy suffices, No overlapping subproblems, Exponential states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</a:t>
            </a:fld>
            <a:endParaRPr lang="en-AU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EA6EF7-83B4-C83C-2977-C2C88C455337}"/>
              </a:ext>
            </a:extLst>
          </p:cNvPr>
          <p:cNvSpPr/>
          <p:nvPr/>
        </p:nvSpPr>
        <p:spPr>
          <a:xfrm>
            <a:off x="4151376" y="182880"/>
            <a:ext cx="3758184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Topics at a Glance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/>
          <p:cNvSpPr txBox="1"/>
          <p:nvPr/>
        </p:nvSpPr>
        <p:spPr>
          <a:xfrm>
            <a:off x="457200" y="800000"/>
            <a:ext cx="112776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pPr algn="just">
              <a:spcBef>
                <a:spcPts val="100"/>
              </a:spcBef>
              <a:spcAft>
                <a:spcPts val="50"/>
              </a:spcAft>
            </a:pPr>
            <a:r>
              <a:rPr lang="en-US" sz="3600" b="1" dirty="0">
                <a:solidFill>
                  <a:srgbClr val="1F3864"/>
                </a:solidFill>
              </a:rPr>
              <a:t>Definition</a:t>
            </a:r>
          </a:p>
          <a:p>
            <a:pPr marL="342900" indent="-342900" algn="just">
              <a:buChar char="•"/>
            </a:pPr>
            <a:r>
              <a:rPr lang="en-US" sz="3600" dirty="0"/>
              <a:t>Minimum number of single-character operations to transform </a:t>
            </a:r>
            <a:r>
              <a:rPr lang="en-US" sz="3600" b="1" dirty="0"/>
              <a:t>string A</a:t>
            </a:r>
            <a:r>
              <a:rPr lang="en-US" sz="3600" dirty="0"/>
              <a:t> into </a:t>
            </a:r>
            <a:r>
              <a:rPr lang="en-US" sz="3600" b="1" dirty="0"/>
              <a:t>string B</a:t>
            </a:r>
          </a:p>
          <a:p>
            <a:pPr algn="just">
              <a:spcBef>
                <a:spcPts val="100"/>
              </a:spcBef>
              <a:spcAft>
                <a:spcPts val="50"/>
              </a:spcAft>
            </a:pPr>
            <a:endParaRPr lang="en-US" sz="3600" b="1" dirty="0">
              <a:solidFill>
                <a:srgbClr val="1F3864"/>
              </a:solidFill>
            </a:endParaRPr>
          </a:p>
          <a:p>
            <a:pPr algn="just">
              <a:spcBef>
                <a:spcPts val="100"/>
              </a:spcBef>
              <a:spcAft>
                <a:spcPts val="50"/>
              </a:spcAft>
            </a:pPr>
            <a:r>
              <a:rPr lang="en-US" sz="3600" b="1" dirty="0">
                <a:solidFill>
                  <a:srgbClr val="1F3864"/>
                </a:solidFill>
              </a:rPr>
              <a:t>Operations (Levenshtein)</a:t>
            </a:r>
          </a:p>
          <a:p>
            <a:pPr marL="342900" indent="-342900" algn="just">
              <a:buChar char="•"/>
            </a:pPr>
            <a:r>
              <a:rPr lang="en-US" sz="3600" b="1" dirty="0"/>
              <a:t>Insert a character   </a:t>
            </a:r>
            <a:r>
              <a:rPr lang="en-US" sz="3600" dirty="0"/>
              <a:t>— "cat" → "cart"</a:t>
            </a:r>
          </a:p>
          <a:p>
            <a:pPr marL="342900" indent="-342900" algn="just">
              <a:buChar char="•"/>
            </a:pPr>
            <a:r>
              <a:rPr lang="en-US" sz="3600" b="1" dirty="0"/>
              <a:t>Delete a character   </a:t>
            </a:r>
            <a:r>
              <a:rPr lang="en-US" sz="3600" dirty="0"/>
              <a:t>— "cart" → "car"</a:t>
            </a:r>
          </a:p>
          <a:p>
            <a:pPr marL="342900" indent="-342900" algn="just">
              <a:buChar char="•"/>
            </a:pPr>
            <a:r>
              <a:rPr lang="en-US" sz="3600" b="1" dirty="0"/>
              <a:t>Replace a character  </a:t>
            </a:r>
            <a:r>
              <a:rPr lang="en-US" sz="3600" dirty="0"/>
              <a:t>— "car" → "bar"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532488"/>
            <a:ext cx="9669087" cy="365125"/>
          </a:xfrm>
        </p:spPr>
        <p:txBody>
          <a:bodyPr/>
          <a:lstStyle/>
          <a:p>
            <a:r>
              <a:rPr lang="en-AU" dirty="0"/>
              <a:t>DSA-3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48604" y="6463208"/>
            <a:ext cx="705196" cy="365125"/>
          </a:xfrm>
        </p:spPr>
        <p:txBody>
          <a:bodyPr/>
          <a:lstStyle/>
          <a:p>
            <a:fld id="{68187FF5-4BF9-4B21-B0D2-9B7FF2B27D7F}" type="slidenum">
              <a:rPr lang="en-AU" smtClean="0"/>
              <a:pPr/>
              <a:t>3</a:t>
            </a:fld>
            <a:endParaRPr lang="en-AU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C8E7F8-1F2B-775A-3E6C-E018415F57CC}"/>
              </a:ext>
            </a:extLst>
          </p:cNvPr>
          <p:cNvSpPr/>
          <p:nvPr/>
        </p:nvSpPr>
        <p:spPr>
          <a:xfrm>
            <a:off x="4151376" y="182880"/>
            <a:ext cx="3758184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Distance — Core Idea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1B0A2-09AE-BF40-1F4A-9F886B45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>
            <a:extLst>
              <a:ext uri="{FF2B5EF4-FFF2-40B4-BE49-F238E27FC236}">
                <a16:creationId xmlns:a16="http://schemas.microsoft.com/office/drawing/2014/main" id="{86BBEA46-8DFE-C1A8-CB38-B0C9E0B9C022}"/>
              </a:ext>
            </a:extLst>
          </p:cNvPr>
          <p:cNvSpPr txBox="1"/>
          <p:nvPr/>
        </p:nvSpPr>
        <p:spPr>
          <a:xfrm>
            <a:off x="457200" y="800000"/>
            <a:ext cx="112776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4400" b="1" dirty="0">
                <a:solidFill>
                  <a:srgbClr val="1F3864"/>
                </a:solidFill>
              </a:rPr>
              <a:t>Example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endParaRPr lang="en-US" sz="4400" b="1" dirty="0">
              <a:solidFill>
                <a:srgbClr val="1F3864"/>
              </a:solidFill>
            </a:endParaRPr>
          </a:p>
          <a:p>
            <a:pPr marL="342900" indent="-342900" algn="l">
              <a:buChar char="•"/>
            </a:pPr>
            <a:r>
              <a:rPr lang="en-US" sz="4400" dirty="0"/>
              <a:t>edit_distance("kitten", "sitting")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7AEF4-128A-3CC9-5C16-8AAD9BA2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532488"/>
            <a:ext cx="9669087" cy="365125"/>
          </a:xfrm>
        </p:spPr>
        <p:txBody>
          <a:bodyPr/>
          <a:lstStyle/>
          <a:p>
            <a:r>
              <a:rPr lang="en-AU" dirty="0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7B994-BCB9-EE72-FB21-FD83DF68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604" y="6463208"/>
            <a:ext cx="705196" cy="365125"/>
          </a:xfrm>
        </p:spPr>
        <p:txBody>
          <a:bodyPr/>
          <a:lstStyle/>
          <a:p>
            <a:fld id="{68187FF5-4BF9-4B21-B0D2-9B7FF2B27D7F}" type="slidenum">
              <a:rPr lang="en-AU" smtClean="0"/>
              <a:pPr/>
              <a:t>4</a:t>
            </a:fld>
            <a:endParaRPr lang="en-AU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D11FEE-59CA-7E97-F9C0-543F0F0CB701}"/>
              </a:ext>
            </a:extLst>
          </p:cNvPr>
          <p:cNvSpPr/>
          <p:nvPr/>
        </p:nvSpPr>
        <p:spPr>
          <a:xfrm>
            <a:off x="4151376" y="182880"/>
            <a:ext cx="3758184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Distance — Core Idea</a:t>
            </a:r>
          </a:p>
        </p:txBody>
      </p:sp>
    </p:spTree>
    <p:extLst>
      <p:ext uri="{BB962C8B-B14F-4D97-AF65-F5344CB8AC3E}">
        <p14:creationId xmlns:p14="http://schemas.microsoft.com/office/powerpoint/2010/main" val="102972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AB268-9B00-75A2-B36C-0CF09B21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>
            <a:extLst>
              <a:ext uri="{FF2B5EF4-FFF2-40B4-BE49-F238E27FC236}">
                <a16:creationId xmlns:a16="http://schemas.microsoft.com/office/drawing/2014/main" id="{E2F99EDF-AC42-2406-CCB8-36F1DF393819}"/>
              </a:ext>
            </a:extLst>
          </p:cNvPr>
          <p:cNvSpPr txBox="1"/>
          <p:nvPr/>
        </p:nvSpPr>
        <p:spPr>
          <a:xfrm>
            <a:off x="457200" y="800000"/>
            <a:ext cx="112776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4400" b="1" dirty="0">
                <a:solidFill>
                  <a:srgbClr val="1F3864"/>
                </a:solidFill>
              </a:rPr>
              <a:t>Example</a:t>
            </a:r>
          </a:p>
          <a:p>
            <a:pPr marL="342900" indent="-342900" algn="l">
              <a:buChar char="•"/>
            </a:pPr>
            <a:r>
              <a:rPr lang="en-US" sz="4400" dirty="0" err="1"/>
              <a:t>edit_distance</a:t>
            </a:r>
            <a:r>
              <a:rPr lang="en-US" sz="4400" dirty="0"/>
              <a:t>("kitten", "sitting")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64E24-F1B3-0A8E-2DC6-6ED2348D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532488"/>
            <a:ext cx="9669087" cy="365125"/>
          </a:xfrm>
        </p:spPr>
        <p:txBody>
          <a:bodyPr/>
          <a:lstStyle/>
          <a:p>
            <a:r>
              <a:rPr lang="en-AU" dirty="0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66DE9-76C7-BC51-077A-7E99A9C4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604" y="6463208"/>
            <a:ext cx="705196" cy="365125"/>
          </a:xfrm>
        </p:spPr>
        <p:txBody>
          <a:bodyPr/>
          <a:lstStyle/>
          <a:p>
            <a:fld id="{68187FF5-4BF9-4B21-B0D2-9B7FF2B27D7F}" type="slidenum">
              <a:rPr lang="en-AU" smtClean="0"/>
              <a:pPr/>
              <a:t>5</a:t>
            </a:fld>
            <a:endParaRPr lang="en-AU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BFC841-5AF3-CB46-2824-A02838BA435C}"/>
              </a:ext>
            </a:extLst>
          </p:cNvPr>
          <p:cNvSpPr/>
          <p:nvPr/>
        </p:nvSpPr>
        <p:spPr>
          <a:xfrm>
            <a:off x="4151376" y="182880"/>
            <a:ext cx="3758184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Distance —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6C0BB8-1045-B21E-9308-948C800E271A}"/>
              </a:ext>
            </a:extLst>
          </p:cNvPr>
          <p:cNvSpPr txBox="1"/>
          <p:nvPr/>
        </p:nvSpPr>
        <p:spPr>
          <a:xfrm>
            <a:off x="1904238" y="2223213"/>
            <a:ext cx="6094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har char="•"/>
            </a:pPr>
            <a:r>
              <a:rPr lang="en-US" sz="4000" dirty="0" err="1"/>
              <a:t>k→s</a:t>
            </a:r>
            <a:r>
              <a:rPr lang="en-US" sz="4000" dirty="0"/>
              <a:t> (replace), </a:t>
            </a:r>
          </a:p>
          <a:p>
            <a:pPr marL="342900" indent="-342900" algn="l">
              <a:buChar char="•"/>
            </a:pPr>
            <a:r>
              <a:rPr lang="en-US" sz="4000" dirty="0" err="1"/>
              <a:t>e→i</a:t>
            </a:r>
            <a:r>
              <a:rPr lang="en-US" sz="4000" dirty="0"/>
              <a:t> (replace), </a:t>
            </a:r>
          </a:p>
          <a:p>
            <a:pPr marL="342900" indent="-342900" algn="l">
              <a:buChar char="•"/>
            </a:pPr>
            <a:r>
              <a:rPr lang="en-US" sz="4000" dirty="0"/>
              <a:t>+g (insert)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84C20-61BD-75E7-E74F-E1A3ABE81DC0}"/>
              </a:ext>
            </a:extLst>
          </p:cNvPr>
          <p:cNvSpPr txBox="1"/>
          <p:nvPr/>
        </p:nvSpPr>
        <p:spPr>
          <a:xfrm>
            <a:off x="1290828" y="4673805"/>
            <a:ext cx="9610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dirty="0" err="1">
                <a:solidFill>
                  <a:srgbClr val="FF0000"/>
                </a:solidFill>
              </a:rPr>
              <a:t>edit_distance</a:t>
            </a:r>
            <a:r>
              <a:rPr lang="en-US" sz="4000" dirty="0">
                <a:solidFill>
                  <a:srgbClr val="FF0000"/>
                </a:solidFill>
              </a:rPr>
              <a:t>("kitten", "sitting") = 3</a:t>
            </a:r>
          </a:p>
        </p:txBody>
      </p:sp>
    </p:spTree>
    <p:extLst>
      <p:ext uri="{BB962C8B-B14F-4D97-AF65-F5344CB8AC3E}">
        <p14:creationId xmlns:p14="http://schemas.microsoft.com/office/powerpoint/2010/main" val="367774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DC291-4587-3540-4CA3-0E9F43F8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11E79-471A-A921-8DC1-0387FFE7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6</a:t>
            </a:fld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F0842-1C6D-5A2C-F6F3-A8F85EB4FA79}"/>
              </a:ext>
            </a:extLst>
          </p:cNvPr>
          <p:cNvSpPr txBox="1"/>
          <p:nvPr/>
        </p:nvSpPr>
        <p:spPr>
          <a:xfrm>
            <a:off x="3147822" y="28470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+mn-cs"/>
              </a:rPr>
              <a:t>Edit Distance 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AB0080-3C85-A251-3842-1F85CE8D1684}"/>
              </a:ext>
            </a:extLst>
          </p:cNvPr>
          <p:cNvSpPr txBox="1"/>
          <p:nvPr/>
        </p:nvSpPr>
        <p:spPr>
          <a:xfrm>
            <a:off x="508715" y="1237000"/>
            <a:ext cx="10492487" cy="518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fontAlgn="base">
              <a:spcAft>
                <a:spcPts val="750"/>
              </a:spcAft>
              <a:buNone/>
            </a:pPr>
            <a:r>
              <a:rPr lang="en-IN" sz="2800" b="1" i="0" spc="10" dirty="0">
                <a:solidFill>
                  <a:srgbClr val="C00000"/>
                </a:solidFill>
                <a:effectLst/>
                <a:latin typeface="Nunito" pitchFamily="2" charset="0"/>
              </a:rPr>
              <a:t>Recursive Approach</a:t>
            </a:r>
            <a:endParaRPr lang="en-IN" sz="2800" b="0" i="0" spc="10" dirty="0">
              <a:solidFill>
                <a:srgbClr val="C00000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Bef>
                <a:spcPts val="75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b="1" i="1" spc="10" dirty="0">
                <a:solidFill>
                  <a:srgbClr val="273239"/>
                </a:solidFill>
                <a:effectLst/>
                <a:latin typeface="Nunito" pitchFamily="2" charset="0"/>
              </a:rPr>
              <a:t>Base Condition: </a:t>
            </a: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If either string is empty, return the length of the other string (insertion or deletion).</a:t>
            </a:r>
            <a:endParaRPr lang="en-IN" sz="24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marR="0" lvl="0" indent="-342900" algn="l" fontAlgn="base">
              <a:spcBef>
                <a:spcPts val="75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b="1" i="1" spc="10" dirty="0">
                <a:solidFill>
                  <a:srgbClr val="273239"/>
                </a:solidFill>
                <a:effectLst/>
                <a:latin typeface="Nunito" pitchFamily="2" charset="0"/>
              </a:rPr>
              <a:t>Recursive Steps:</a:t>
            </a:r>
            <a:endParaRPr lang="en-IN" sz="24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742950" marR="0" lvl="1" indent="-28575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If the last characters match:</a:t>
            </a:r>
            <a:endParaRPr lang="en-IN" sz="24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1143000" marR="0" lvl="2" indent="-22860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Recursively call </a:t>
            </a:r>
            <a:r>
              <a:rPr lang="en-IN" sz="2400" b="0" i="1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EditDistance</a:t>
            </a: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(M-1, N-1).</a:t>
            </a:r>
            <a:endParaRPr lang="en-IN" sz="24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742950" marR="0" lvl="1" indent="-28575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If the last characters don't match, consider three operations:</a:t>
            </a:r>
            <a:endParaRPr lang="en-IN" sz="24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1143000" marR="0" lvl="2" indent="-22860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Insert str1[N-1] at the end of str2: </a:t>
            </a:r>
            <a:r>
              <a:rPr lang="en-IN" sz="2400" b="0" i="1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EditDistance</a:t>
            </a: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(M, N-1).</a:t>
            </a:r>
            <a:endParaRPr lang="en-IN" sz="24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1143000" marR="0" lvl="2" indent="-22860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Replace str2[M-1] with str1[N-1]: </a:t>
            </a:r>
            <a:r>
              <a:rPr lang="en-IN" sz="2400" b="0" i="1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EditDistance</a:t>
            </a: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(M-1, N-1).</a:t>
            </a:r>
            <a:endParaRPr lang="en-IN" sz="24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1143000" marR="0" lvl="2" indent="-22860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Remove str2[M-1]: </a:t>
            </a:r>
            <a:r>
              <a:rPr lang="en-IN" sz="2400" b="0" i="1" spc="12" dirty="0" err="1">
                <a:solidFill>
                  <a:srgbClr val="273239"/>
                </a:solidFill>
                <a:effectLst/>
                <a:latin typeface="Nunito" pitchFamily="2" charset="0"/>
              </a:rPr>
              <a:t>EditDistance</a:t>
            </a:r>
            <a:r>
              <a:rPr lang="en-IN" sz="2400" b="0" i="1" spc="12" dirty="0">
                <a:solidFill>
                  <a:srgbClr val="273239"/>
                </a:solidFill>
                <a:effectLst/>
                <a:latin typeface="Nunito" pitchFamily="2" charset="0"/>
              </a:rPr>
              <a:t>(M-1, N).</a:t>
            </a:r>
            <a:endParaRPr lang="en-IN" sz="2400" b="0" i="1" spc="1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67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C17DE-5300-012A-1C05-6773874A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7A376-81CD-E64D-5136-7AE1DC52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B2AA9-E426-9040-1C6D-8C63CA1D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7</a:t>
            </a:fld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103B8-FF03-7496-71AA-F1D9BB6A5148}"/>
              </a:ext>
            </a:extLst>
          </p:cNvPr>
          <p:cNvSpPr txBox="1"/>
          <p:nvPr/>
        </p:nvSpPr>
        <p:spPr>
          <a:xfrm>
            <a:off x="3147822" y="28470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+mn-cs"/>
              </a:rPr>
              <a:t>Edit Distance </a:t>
            </a:r>
            <a:endParaRPr lang="en-IN" sz="3600" b="1" dirty="0">
              <a:solidFill>
                <a:srgbClr val="0070C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C577C6-7ABB-767A-0B9E-472E12E82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68" y="928338"/>
            <a:ext cx="11931805" cy="579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4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EF31A-CD30-E7E7-BB80-FBE238E0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8B97A-71E7-C744-491C-08CB179A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EF3D-3F8C-9EA5-B8B7-BA30E06B0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8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7253A-073A-46B0-6024-737492F2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25" y="1042896"/>
            <a:ext cx="10481175" cy="52015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C9E554-028E-B6EB-62E6-961A285920B2}"/>
              </a:ext>
            </a:extLst>
          </p:cNvPr>
          <p:cNvSpPr txBox="1"/>
          <p:nvPr/>
        </p:nvSpPr>
        <p:spPr>
          <a:xfrm>
            <a:off x="3147822" y="28470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+mn-cs"/>
              </a:rPr>
              <a:t>Edit Distance </a:t>
            </a:r>
            <a:endParaRPr lang="en-IN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746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969A-9E06-45F9-7FF0-6A082AA2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>
            <a:extLst>
              <a:ext uri="{FF2B5EF4-FFF2-40B4-BE49-F238E27FC236}">
                <a16:creationId xmlns:a16="http://schemas.microsoft.com/office/drawing/2014/main" id="{76BA7587-38FA-D833-DF30-6E8FB9E2CB08}"/>
              </a:ext>
            </a:extLst>
          </p:cNvPr>
          <p:cNvSpPr txBox="1"/>
          <p:nvPr/>
        </p:nvSpPr>
        <p:spPr>
          <a:xfrm>
            <a:off x="156117" y="1086818"/>
            <a:ext cx="11853746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pPr>
              <a:spcBef>
                <a:spcPts val="100"/>
              </a:spcBef>
              <a:spcAft>
                <a:spcPts val="50"/>
              </a:spcAft>
            </a:pPr>
            <a:r>
              <a:rPr lang="en-IN" sz="4000" b="1" dirty="0" err="1"/>
              <a:t>Levenshtein</a:t>
            </a:r>
            <a:r>
              <a:rPr lang="en-IN" sz="4000" b="1" dirty="0"/>
              <a:t> edit distance</a:t>
            </a:r>
            <a:r>
              <a:rPr lang="en-IN" sz="4000" dirty="0"/>
              <a:t> → defines </a:t>
            </a:r>
            <a:r>
              <a:rPr lang="en-IN" sz="4000" b="1" dirty="0"/>
              <a:t>what distance means</a:t>
            </a:r>
            <a:r>
              <a:rPr lang="en-IN" sz="4000" dirty="0"/>
              <a:t>.</a:t>
            </a:r>
          </a:p>
          <a:p>
            <a:pPr algn="just">
              <a:spcBef>
                <a:spcPts val="100"/>
              </a:spcBef>
              <a:spcAft>
                <a:spcPts val="50"/>
              </a:spcAft>
            </a:pPr>
            <a:r>
              <a:rPr lang="en-IN" sz="2800" b="1" dirty="0"/>
              <a:t>The </a:t>
            </a:r>
            <a:r>
              <a:rPr lang="en-IN" sz="2800" b="1" dirty="0" err="1"/>
              <a:t>Levenshtein</a:t>
            </a:r>
            <a:r>
              <a:rPr lang="en-IN" sz="2800" b="1" dirty="0"/>
              <a:t> distance is a string metric for measuring the difference between two sequences. </a:t>
            </a:r>
            <a:endParaRPr lang="en-US" sz="2800" b="1" dirty="0">
              <a:solidFill>
                <a:srgbClr val="1F3864"/>
              </a:solidFill>
            </a:endParaRP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4000" b="1" dirty="0">
                <a:solidFill>
                  <a:srgbClr val="1F3864"/>
                </a:solidFill>
              </a:rPr>
              <a:t>Recurrence (</a:t>
            </a:r>
            <a:r>
              <a:rPr lang="en-US" sz="4000" b="1" dirty="0" err="1">
                <a:solidFill>
                  <a:srgbClr val="1F3864"/>
                </a:solidFill>
              </a:rPr>
              <a:t>Levenshtein</a:t>
            </a:r>
            <a:r>
              <a:rPr lang="en-US" sz="4000" b="1" dirty="0">
                <a:solidFill>
                  <a:srgbClr val="1F3864"/>
                </a:solidFill>
              </a:rPr>
              <a:t>)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IN" sz="4000" dirty="0" err="1"/>
              <a:t>dp</a:t>
            </a:r>
            <a:r>
              <a:rPr lang="en-IN" sz="4000" dirty="0"/>
              <a:t>[</a:t>
            </a:r>
            <a:r>
              <a:rPr lang="en-IN" sz="4000" dirty="0" err="1"/>
              <a:t>i</a:t>
            </a:r>
            <a:r>
              <a:rPr lang="en-IN" sz="4000" dirty="0"/>
              <a:t>][j] = </a:t>
            </a:r>
            <a:r>
              <a:rPr lang="en-IN" sz="4000" dirty="0" err="1"/>
              <a:t>dp</a:t>
            </a:r>
            <a:r>
              <a:rPr lang="en-IN" sz="4000" dirty="0"/>
              <a:t>[i−1][j−1]     </a:t>
            </a:r>
            <a:r>
              <a:rPr lang="en-US" sz="4000" dirty="0">
                <a:solidFill>
                  <a:srgbClr val="C00000"/>
                </a:solidFill>
              </a:rPr>
              <a:t>if</a:t>
            </a:r>
            <a:r>
              <a:rPr lang="en-US" sz="4000" dirty="0"/>
              <a:t> A[i]==B[j]  </a:t>
            </a:r>
          </a:p>
          <a:p>
            <a:pPr algn="l"/>
            <a:r>
              <a:rPr lang="en-US" sz="4000" dirty="0"/>
              <a:t>                </a:t>
            </a:r>
            <a:r>
              <a:rPr lang="en-US" sz="4000" dirty="0">
                <a:solidFill>
                  <a:srgbClr val="C00000"/>
                </a:solidFill>
              </a:rPr>
              <a:t> else   </a:t>
            </a:r>
            <a:r>
              <a:rPr lang="en-US" sz="4000" dirty="0"/>
              <a:t>1 + min{(dp[i-1][j], dp[i][j-1], dp[i-1][j-1])}</a:t>
            </a:r>
          </a:p>
          <a:p>
            <a:pPr algn="l"/>
            <a:r>
              <a:rPr lang="en-US" sz="4000" dirty="0"/>
              <a:t>                                               </a:t>
            </a:r>
            <a:r>
              <a:rPr lang="en-US" sz="2400" b="1" dirty="0">
                <a:solidFill>
                  <a:srgbClr val="00B0F0"/>
                </a:solidFill>
              </a:rPr>
              <a:t>deletion               insertion              Substitution</a:t>
            </a:r>
          </a:p>
          <a:p>
            <a:pPr marL="342900" indent="-342900" algn="l">
              <a:buChar char="•"/>
            </a:pPr>
            <a:r>
              <a:rPr lang="en-US" sz="4000" dirty="0"/>
              <a:t>Base: dp[0][j]=j, dp[i][0]=i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66708-1C08-0C82-00B3-6370185C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532488"/>
            <a:ext cx="9669087" cy="365125"/>
          </a:xfrm>
        </p:spPr>
        <p:txBody>
          <a:bodyPr/>
          <a:lstStyle/>
          <a:p>
            <a:r>
              <a:rPr lang="en-AU" dirty="0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9FB79-2D27-11AE-0288-29B2DDF1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604" y="6463208"/>
            <a:ext cx="705196" cy="365125"/>
          </a:xfrm>
        </p:spPr>
        <p:txBody>
          <a:bodyPr/>
          <a:lstStyle/>
          <a:p>
            <a:fld id="{68187FF5-4BF9-4B21-B0D2-9B7FF2B27D7F}" type="slidenum">
              <a:rPr lang="en-AU" smtClean="0"/>
              <a:pPr/>
              <a:t>9</a:t>
            </a:fld>
            <a:endParaRPr lang="en-AU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FB0CF2-6688-F31D-76BC-1A6D2681D52F}"/>
              </a:ext>
            </a:extLst>
          </p:cNvPr>
          <p:cNvSpPr/>
          <p:nvPr/>
        </p:nvSpPr>
        <p:spPr>
          <a:xfrm>
            <a:off x="2569464" y="182880"/>
            <a:ext cx="7223760" cy="6171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Aft>
                <a:spcPts val="200"/>
              </a:spcAft>
              <a:defRPr/>
            </a:pPr>
            <a:r>
              <a:rPr lang="en-IN" sz="2800" b="1" dirty="0" err="1"/>
              <a:t>Levenshtein</a:t>
            </a:r>
            <a:r>
              <a:rPr lang="en-IN" sz="2800" b="1" dirty="0"/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Edit Distance — Core Idea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C5FECB-BDF9-6E97-E58B-99EB3A633754}"/>
              </a:ext>
            </a:extLst>
          </p:cNvPr>
          <p:cNvCxnSpPr/>
          <p:nvPr/>
        </p:nvCxnSpPr>
        <p:spPr>
          <a:xfrm>
            <a:off x="6177776" y="5084956"/>
            <a:ext cx="0" cy="2787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9A7F90-067A-8BFB-7395-4BE2780F5501}"/>
              </a:ext>
            </a:extLst>
          </p:cNvPr>
          <p:cNvCxnSpPr/>
          <p:nvPr/>
        </p:nvCxnSpPr>
        <p:spPr>
          <a:xfrm>
            <a:off x="8237035" y="5084956"/>
            <a:ext cx="0" cy="2787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F80E94-827D-5BFA-9FEE-D992F01A3D43}"/>
              </a:ext>
            </a:extLst>
          </p:cNvPr>
          <p:cNvCxnSpPr/>
          <p:nvPr/>
        </p:nvCxnSpPr>
        <p:spPr>
          <a:xfrm>
            <a:off x="10507287" y="5084956"/>
            <a:ext cx="0" cy="2787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36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822468"/>
            <a:ext cx="11067288" cy="1777316"/>
          </a:xfrm>
        </p:spPr>
        <p:txBody>
          <a:bodyPr>
            <a:noAutofit/>
          </a:bodyPr>
          <a:lstStyle/>
          <a:p>
            <a:br>
              <a:rPr lang="en-IN" sz="2800" b="1" dirty="0">
                <a:latin typeface="+mn-lt"/>
              </a:rPr>
            </a:br>
            <a:endParaRPr lang="en-IN" sz="28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1115568"/>
            <a:ext cx="11131296" cy="5742432"/>
          </a:xfrm>
        </p:spPr>
        <p:txBody>
          <a:bodyPr>
            <a:noAutofit/>
          </a:bodyPr>
          <a:lstStyle/>
          <a:p>
            <a:pPr algn="just"/>
            <a:r>
              <a:rPr lang="en-IN" sz="3000" b="1" dirty="0"/>
              <a:t>The Wagner–Fischer algorithm is a dynamic programming algorithm that computes the edit distance between two strings of characters.</a:t>
            </a:r>
          </a:p>
          <a:p>
            <a:pPr algn="just"/>
            <a:r>
              <a:rPr lang="en-IN" sz="3000" b="1" dirty="0"/>
              <a:t>Wagner–Fischer algorithm → is a dynamic programming algorithm used to calculate </a:t>
            </a:r>
            <a:r>
              <a:rPr lang="en-IN" sz="3000" b="1" dirty="0" err="1"/>
              <a:t>Levenshtein</a:t>
            </a:r>
            <a:r>
              <a:rPr lang="en-IN" sz="3000" b="1" dirty="0"/>
              <a:t> distance.</a:t>
            </a:r>
            <a:endParaRPr lang="en-US" sz="3000" dirty="0"/>
          </a:p>
          <a:p>
            <a:pPr algn="just"/>
            <a:r>
              <a:rPr lang="en-US" sz="3000" dirty="0"/>
              <a:t>The </a:t>
            </a:r>
            <a:r>
              <a:rPr lang="en-US" sz="3000" b="1" dirty="0"/>
              <a:t>Dynamic Programming (DP) table</a:t>
            </a:r>
            <a:r>
              <a:rPr lang="en-US" sz="3000" dirty="0"/>
              <a:t> in </a:t>
            </a:r>
            <a:r>
              <a:rPr lang="en-US" sz="3000" b="1" dirty="0"/>
              <a:t>Edit Distance </a:t>
            </a:r>
            <a:r>
              <a:rPr lang="en-US" sz="3000" dirty="0"/>
              <a:t>is a matrix that stores the </a:t>
            </a:r>
            <a:r>
              <a:rPr lang="en-US" sz="3000" b="1" dirty="0"/>
              <a:t>minimum number of operations</a:t>
            </a:r>
            <a:r>
              <a:rPr lang="en-US" sz="3000" dirty="0"/>
              <a:t> required to convert one string into another.</a:t>
            </a:r>
          </a:p>
          <a:p>
            <a:pPr marL="0" indent="0" algn="just">
              <a:buNone/>
            </a:pPr>
            <a:r>
              <a:rPr lang="en-US" sz="3000" dirty="0"/>
              <a:t>The allowed operations are:</a:t>
            </a:r>
          </a:p>
          <a:p>
            <a:pPr algn="just"/>
            <a:r>
              <a:rPr lang="en-US" sz="3000" b="1" dirty="0"/>
              <a:t>Insertion</a:t>
            </a:r>
            <a:r>
              <a:rPr lang="en-US" sz="3000" dirty="0"/>
              <a:t> </a:t>
            </a:r>
          </a:p>
          <a:p>
            <a:pPr algn="just"/>
            <a:r>
              <a:rPr lang="en-US" sz="3000" b="1" dirty="0"/>
              <a:t>Deletion</a:t>
            </a:r>
            <a:r>
              <a:rPr lang="en-US" sz="3000" dirty="0"/>
              <a:t> </a:t>
            </a:r>
          </a:p>
          <a:p>
            <a:pPr algn="just"/>
            <a:r>
              <a:rPr lang="en-US" sz="3000" b="1" dirty="0"/>
              <a:t>Replacement (Substitution)</a:t>
            </a:r>
            <a:r>
              <a:rPr lang="en-US" sz="3000" dirty="0"/>
              <a:t> </a:t>
            </a:r>
          </a:p>
          <a:p>
            <a:pPr marL="0" indent="0" algn="just">
              <a:buNone/>
            </a:pPr>
            <a:endParaRPr lang="en-IN" sz="3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9B2CAF-14E0-7FF0-2621-25611FEA9A05}"/>
              </a:ext>
            </a:extLst>
          </p:cNvPr>
          <p:cNvSpPr/>
          <p:nvPr/>
        </p:nvSpPr>
        <p:spPr>
          <a:xfrm>
            <a:off x="4379976" y="324366"/>
            <a:ext cx="4818888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Wagner-Fischer Algorithm</a:t>
            </a:r>
          </a:p>
        </p:txBody>
      </p:sp>
    </p:spTree>
    <p:extLst>
      <p:ext uri="{BB962C8B-B14F-4D97-AF65-F5344CB8AC3E}">
        <p14:creationId xmlns:p14="http://schemas.microsoft.com/office/powerpoint/2010/main" val="4056599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422" y="1155470"/>
            <a:ext cx="11225322" cy="5021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For every cell </a:t>
            </a:r>
            <a:r>
              <a:rPr lang="en-IN" dirty="0" err="1"/>
              <a:t>dp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][j] compare X[i-1], Y[j-1]</a:t>
            </a:r>
          </a:p>
          <a:p>
            <a:pPr marL="0" indent="0">
              <a:buNone/>
            </a:pPr>
            <a:r>
              <a:rPr lang="en-US" b="1" dirty="0"/>
              <a:t>Case 1: Characters are equal</a:t>
            </a:r>
          </a:p>
          <a:p>
            <a:pPr marL="0" indent="0">
              <a:buNone/>
            </a:pPr>
            <a:r>
              <a:rPr lang="en-US" dirty="0"/>
              <a:t>No extra cost. </a:t>
            </a:r>
            <a:r>
              <a:rPr lang="en-IN" b="1" dirty="0" err="1"/>
              <a:t>dp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][j] = </a:t>
            </a:r>
            <a:r>
              <a:rPr lang="en-IN" b="1" dirty="0" err="1"/>
              <a:t>dp</a:t>
            </a:r>
            <a:r>
              <a:rPr lang="en-IN" b="1" dirty="0"/>
              <a:t>[i-1][j-1]</a:t>
            </a:r>
          </a:p>
          <a:p>
            <a:pPr marL="0" indent="0">
              <a:buNone/>
            </a:pPr>
            <a:r>
              <a:rPr lang="en-US" dirty="0"/>
              <a:t>a == a,  Answer = diagonal value</a:t>
            </a:r>
            <a:endParaRPr lang="en-IN" dirty="0"/>
          </a:p>
          <a:p>
            <a:r>
              <a:rPr lang="en-IN" b="1" dirty="0"/>
              <a:t>Case 2: Characters are different</a:t>
            </a:r>
          </a:p>
          <a:p>
            <a:pPr marL="0" indent="0">
              <a:buNone/>
            </a:pPr>
            <a:r>
              <a:rPr lang="en-IN" dirty="0"/>
              <a:t>Take the minimum among</a:t>
            </a:r>
          </a:p>
          <a:p>
            <a:pPr marL="0" indent="0">
              <a:buNone/>
            </a:pPr>
            <a:r>
              <a:rPr lang="en-IN" dirty="0"/>
              <a:t>Insert </a:t>
            </a:r>
          </a:p>
          <a:p>
            <a:pPr marL="0" indent="0">
              <a:buNone/>
            </a:pPr>
            <a:r>
              <a:rPr lang="en-IN" dirty="0"/>
              <a:t>Delete </a:t>
            </a:r>
          </a:p>
          <a:p>
            <a:pPr marL="0" indent="0">
              <a:buNone/>
            </a:pPr>
            <a:r>
              <a:rPr lang="en-IN" dirty="0"/>
              <a:t>Replace 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239" y="4443985"/>
            <a:ext cx="8192339" cy="193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156448" y="262919"/>
            <a:ext cx="4931664" cy="2113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E6241F-2EC7-DB7B-7434-0DDDEB413EEE}"/>
              </a:ext>
            </a:extLst>
          </p:cNvPr>
          <p:cNvSpPr/>
          <p:nvPr/>
        </p:nvSpPr>
        <p:spPr>
          <a:xfrm>
            <a:off x="2660904" y="325133"/>
            <a:ext cx="4818888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Wagner-Fischer Algorithm</a:t>
            </a:r>
          </a:p>
        </p:txBody>
      </p:sp>
    </p:spTree>
    <p:extLst>
      <p:ext uri="{BB962C8B-B14F-4D97-AF65-F5344CB8AC3E}">
        <p14:creationId xmlns:p14="http://schemas.microsoft.com/office/powerpoint/2010/main" val="170093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1BE4C-0645-75FA-9C71-26D8F369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1ACF7-FEED-0F62-E2BB-1B636495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12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3A507-993D-C778-DCF8-AABF50D10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22" y="782245"/>
            <a:ext cx="11031413" cy="529351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A63835-A558-6429-9DFD-4AC30AEA6E33}"/>
              </a:ext>
            </a:extLst>
          </p:cNvPr>
          <p:cNvSpPr/>
          <p:nvPr/>
        </p:nvSpPr>
        <p:spPr>
          <a:xfrm>
            <a:off x="4005072" y="315368"/>
            <a:ext cx="4818888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Wagner-Fischer Algorithm</a:t>
            </a:r>
          </a:p>
        </p:txBody>
      </p:sp>
    </p:spTree>
    <p:extLst>
      <p:ext uri="{BB962C8B-B14F-4D97-AF65-F5344CB8AC3E}">
        <p14:creationId xmlns:p14="http://schemas.microsoft.com/office/powerpoint/2010/main" val="1265153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9EB1-44FB-3389-3CB9-5F6FF6478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99824-13D0-5A38-2D99-0B6D95B74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C779E-0755-8029-9B66-D185EDE78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13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F6CA3-B05F-1529-DC1A-6488A42A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32" y="806294"/>
            <a:ext cx="11536736" cy="5622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2CF3E8-17FA-ED53-FB1E-D319FAE8C1D2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830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6B9F-4D42-7C32-9203-EF24AC37F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2B565-1D68-F178-F3B6-2C6CDD73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3B00C-3F07-3A89-42C7-E83F3BC3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14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B8EC1-1194-0E25-FF05-D2526737A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71" y="922002"/>
            <a:ext cx="11348858" cy="5359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D2CFD-EB3A-0107-FCB5-03549A050530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62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5F8A-ACAC-C1B6-B199-975B2289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C794B-B236-BAE8-BD48-948020D8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725DB-650A-24E3-9E36-037CAB72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15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3EFDDF-0FA1-F9EC-AC9B-BE82D9244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896111"/>
            <a:ext cx="10555494" cy="52269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A9D879-0AB5-9DDA-F375-020ED71A6DF6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577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0DC8-6F19-511A-8667-CBF72F7F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80199A-6B4D-D5EC-120E-1013508A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F4A5E-E25A-3048-0149-561EC555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16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555202-06E1-06F0-94C1-CEAD820EF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79" y="1042247"/>
            <a:ext cx="10051390" cy="49470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FAF3B1-3E1A-04CC-A5E8-3B66F5AAE625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561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5AD44-A17F-1B4D-CA35-FE112848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1A5B1-08DC-B673-C487-452C3C73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17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44D412-E92B-4C8E-91EF-F7548117B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89" y="881237"/>
            <a:ext cx="10050092" cy="5300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54998D-AB3B-3489-ECCC-4193D40C0714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241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8FD5-F1A4-4EF1-6A33-4D79B2CA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3C983-7DBB-70F3-268D-7D899C8F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E4706-C694-2A8F-6631-DABD134DD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18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F27397-E657-E91C-335E-20840C822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41415"/>
            <a:ext cx="11036808" cy="5330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43B27D-2CD2-68B3-E94C-ACF8ED076864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9579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0976-4768-D222-B99B-B8903FB3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3B60F-5B64-E88F-309B-6E234911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DF469-F522-763E-BFF7-EDD3C4B6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19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15BB4E-D5DD-B5DF-C8EE-F8397C5DB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50" y="746640"/>
            <a:ext cx="10764886" cy="5242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392283-CBF0-311A-62D4-1F3FE4728A92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183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035E9-A278-EA56-F7C4-4F0E4B9F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90A2E-2360-E56E-2429-93BA6907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9A6BF-F020-62D5-C508-863F0DB4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20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E134B-B5A2-BD58-DF52-4859BF1A3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18" y="822959"/>
            <a:ext cx="10582342" cy="5157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5FBCB8-9D88-892A-B34C-A1B1C881589F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041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5E35-4B4D-67A6-D19D-BF2BF002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0557E-8BE0-D50A-FDEB-E009B28C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C731A-3699-09B6-F1BD-1EF8ADED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21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E4463-75FA-C89C-F185-98D01637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" y="933673"/>
            <a:ext cx="10954512" cy="51520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210D25-7F8B-3C17-25E0-6BF6C8E539C7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420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9D5D-53D6-5958-748B-639FD54BC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97369-3D06-A1FA-69C4-F3676D62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F7F58-5506-3305-1629-4366A5610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22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9D251A-4B25-32C0-1147-F0E7FEFBF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64" y="804672"/>
            <a:ext cx="11088639" cy="5230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212131-3141-C30A-5010-C63CF8E52144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895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7F61-3608-E37D-3FFA-EA244D5A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E8610-1F4F-FF99-232F-78737398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F31AB-81D0-02E1-1560-2160691C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23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60353-7B30-F285-CA02-CFBD37DE0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808" y="1129289"/>
            <a:ext cx="10089712" cy="4713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22486C-E74D-B270-F433-FFD87679E49E}"/>
              </a:ext>
            </a:extLst>
          </p:cNvPr>
          <p:cNvSpPr txBox="1"/>
          <p:nvPr/>
        </p:nvSpPr>
        <p:spPr>
          <a:xfrm>
            <a:off x="7601366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016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627D2-DB27-7B3F-ED8F-28D7C3A8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8E445-C274-0A1A-FE76-BABE6316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D3738-05FC-CB39-8135-EE14D31741BD}"/>
              </a:ext>
            </a:extLst>
          </p:cNvPr>
          <p:cNvSpPr txBox="1"/>
          <p:nvPr/>
        </p:nvSpPr>
        <p:spPr>
          <a:xfrm>
            <a:off x="272622" y="1330220"/>
            <a:ext cx="54792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 err="1"/>
              <a:t>int</a:t>
            </a:r>
            <a:r>
              <a:rPr lang="en-IN" sz="3000" dirty="0"/>
              <a:t>[][] </a:t>
            </a:r>
            <a:r>
              <a:rPr lang="en-IN" sz="3000" dirty="0" err="1"/>
              <a:t>dp</a:t>
            </a:r>
            <a:r>
              <a:rPr lang="en-IN" sz="3000" dirty="0"/>
              <a:t> = new </a:t>
            </a:r>
            <a:r>
              <a:rPr lang="en-IN" sz="3000" dirty="0" err="1"/>
              <a:t>int</a:t>
            </a:r>
            <a:r>
              <a:rPr lang="en-IN" sz="3000" dirty="0"/>
              <a:t>[m + 1][n + 1];</a:t>
            </a:r>
          </a:p>
          <a:p>
            <a:r>
              <a:rPr lang="en-IN" sz="3000" dirty="0"/>
              <a:t>        // Initialize the base cases</a:t>
            </a:r>
          </a:p>
          <a:p>
            <a:r>
              <a:rPr lang="en-IN" sz="3000" dirty="0"/>
              <a:t>        for (int i = 0; i &lt;= m; i++) </a:t>
            </a:r>
          </a:p>
          <a:p>
            <a:r>
              <a:rPr lang="en-IN" sz="3000" dirty="0"/>
              <a:t>       {</a:t>
            </a:r>
          </a:p>
          <a:p>
            <a:r>
              <a:rPr lang="en-IN" sz="3000" dirty="0"/>
              <a:t>            </a:t>
            </a:r>
            <a:r>
              <a:rPr lang="en-IN" sz="3000" dirty="0" err="1"/>
              <a:t>dp</a:t>
            </a:r>
            <a:r>
              <a:rPr lang="en-IN" sz="3000" dirty="0"/>
              <a:t>[i][0] = i;</a:t>
            </a:r>
          </a:p>
          <a:p>
            <a:r>
              <a:rPr lang="en-IN" sz="3000" dirty="0"/>
              <a:t>        }</a:t>
            </a:r>
          </a:p>
          <a:p>
            <a:r>
              <a:rPr lang="en-IN" sz="3000" dirty="0"/>
              <a:t>        for (int j = 0; j &lt;= n; </a:t>
            </a:r>
            <a:r>
              <a:rPr lang="en-IN" sz="3000" dirty="0" err="1"/>
              <a:t>j++</a:t>
            </a:r>
            <a:r>
              <a:rPr lang="en-IN" sz="3000" dirty="0"/>
              <a:t>) </a:t>
            </a:r>
          </a:p>
          <a:p>
            <a:r>
              <a:rPr lang="en-IN" sz="3000" dirty="0"/>
              <a:t>       {</a:t>
            </a:r>
          </a:p>
          <a:p>
            <a:r>
              <a:rPr lang="en-IN" sz="3000" dirty="0"/>
              <a:t>            </a:t>
            </a:r>
            <a:r>
              <a:rPr lang="en-IN" sz="3000" dirty="0" err="1"/>
              <a:t>dp</a:t>
            </a:r>
            <a:r>
              <a:rPr lang="en-IN" sz="3000" dirty="0"/>
              <a:t>[0][j] = j;</a:t>
            </a:r>
          </a:p>
          <a:p>
            <a:r>
              <a:rPr lang="en-IN" sz="3000" dirty="0"/>
              <a:t>        }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289ACEE-EBAD-68B1-0D0E-F7C9CB47D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820" y="581878"/>
            <a:ext cx="5825403" cy="6139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A35CC5-0C0D-B437-04EF-D547A8144805}"/>
              </a:ext>
            </a:extLst>
          </p:cNvPr>
          <p:cNvSpPr txBox="1"/>
          <p:nvPr/>
        </p:nvSpPr>
        <p:spPr>
          <a:xfrm>
            <a:off x="2433532" y="0"/>
            <a:ext cx="355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+mn-lt"/>
              </a:rPr>
              <a:t>Pseudo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205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S1= “cat”</a:t>
            </a:r>
          </a:p>
          <a:p>
            <a:r>
              <a:rPr lang="en-US" b="1" dirty="0"/>
              <a:t>S2=“cut”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Initial Table </a:t>
            </a:r>
          </a:p>
          <a:p>
            <a:pPr marL="0" indent="0">
              <a:buNone/>
            </a:pPr>
            <a:r>
              <a:rPr lang="fr-FR" b="1" dirty="0"/>
              <a:t>       Ø  c   u  t</a:t>
            </a:r>
          </a:p>
          <a:p>
            <a:pPr marL="0" indent="0">
              <a:buNone/>
            </a:pPr>
            <a:r>
              <a:rPr lang="fr-FR" b="1" dirty="0"/>
              <a:t>   ----------------</a:t>
            </a:r>
          </a:p>
          <a:p>
            <a:pPr marL="0" indent="0">
              <a:buNone/>
            </a:pPr>
            <a:r>
              <a:rPr lang="fr-FR" b="1" dirty="0"/>
              <a:t>Ø | 0  1  2  3</a:t>
            </a:r>
          </a:p>
          <a:p>
            <a:pPr marL="0" indent="0">
              <a:buNone/>
            </a:pPr>
            <a:r>
              <a:rPr lang="fr-FR" b="1" dirty="0"/>
              <a:t>c  | 1</a:t>
            </a:r>
          </a:p>
          <a:p>
            <a:pPr marL="0" indent="0">
              <a:buNone/>
            </a:pPr>
            <a:r>
              <a:rPr lang="fr-FR" b="1" dirty="0"/>
              <a:t>a  | 2</a:t>
            </a:r>
          </a:p>
          <a:p>
            <a:pPr marL="0" indent="0">
              <a:buNone/>
            </a:pPr>
            <a:r>
              <a:rPr lang="fr-FR" b="1" dirty="0"/>
              <a:t>t   | 3</a:t>
            </a:r>
            <a:endParaRPr lang="en-IN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144" y="1246084"/>
            <a:ext cx="3611708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035862" y="2827234"/>
            <a:ext cx="29659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      Ø   c   u   t</a:t>
            </a:r>
          </a:p>
          <a:p>
            <a:r>
              <a:rPr lang="fr-FR" b="1" dirty="0"/>
              <a:t>   ----------------</a:t>
            </a:r>
          </a:p>
          <a:p>
            <a:r>
              <a:rPr lang="fr-FR" b="1" dirty="0"/>
              <a:t>Ø | 0   1   2  3</a:t>
            </a:r>
          </a:p>
          <a:p>
            <a:r>
              <a:rPr lang="fr-FR" b="1" dirty="0"/>
              <a:t>c  | 1   0</a:t>
            </a:r>
          </a:p>
          <a:p>
            <a:r>
              <a:rPr lang="fr-FR" b="1" dirty="0"/>
              <a:t>a | 2</a:t>
            </a:r>
          </a:p>
          <a:p>
            <a:r>
              <a:rPr lang="fr-FR" b="1" dirty="0"/>
              <a:t>t  | 3</a:t>
            </a:r>
            <a:endParaRPr lang="en-IN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53" y="2765693"/>
            <a:ext cx="3343656" cy="95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841" y="3798350"/>
            <a:ext cx="3689099" cy="2469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8035862" y="4767331"/>
            <a:ext cx="32400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       Ø   c   u   t</a:t>
            </a:r>
          </a:p>
          <a:p>
            <a:r>
              <a:rPr lang="fr-FR" b="1" dirty="0"/>
              <a:t>   ----------------</a:t>
            </a:r>
          </a:p>
          <a:p>
            <a:r>
              <a:rPr lang="fr-FR" b="1" dirty="0"/>
              <a:t>Ø | 0   1   2   3</a:t>
            </a:r>
          </a:p>
          <a:p>
            <a:r>
              <a:rPr lang="fr-FR" b="1" dirty="0"/>
              <a:t>c  | 1   0   1   2</a:t>
            </a:r>
          </a:p>
          <a:p>
            <a:r>
              <a:rPr lang="fr-FR" b="1" dirty="0"/>
              <a:t>a  | 2</a:t>
            </a:r>
          </a:p>
          <a:p>
            <a:r>
              <a:rPr lang="fr-FR" b="1" dirty="0"/>
              <a:t>t   | 3</a:t>
            </a:r>
            <a:endParaRPr lang="en-IN" b="1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63660-9F76-BAF3-A6B5-74ADB55D8145}"/>
              </a:ext>
            </a:extLst>
          </p:cNvPr>
          <p:cNvSpPr/>
          <p:nvPr/>
        </p:nvSpPr>
        <p:spPr>
          <a:xfrm>
            <a:off x="7127243" y="1115759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b="1" dirty="0"/>
              <a:t>The first row and first column represent the empty string.</a:t>
            </a:r>
            <a:endParaRPr lang="en-IN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B9CAF-4889-1F31-8B6E-E64E7FA1758D}"/>
              </a:ext>
            </a:extLst>
          </p:cNvPr>
          <p:cNvSpPr txBox="1"/>
          <p:nvPr/>
        </p:nvSpPr>
        <p:spPr>
          <a:xfrm>
            <a:off x="7127243" y="1882959"/>
            <a:ext cx="53177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We create a table of size </a:t>
            </a:r>
            <a:r>
              <a:rPr lang="en-IN" sz="2400" b="1" dirty="0"/>
              <a:t>(m+1) × (n+1), </a:t>
            </a:r>
          </a:p>
          <a:p>
            <a:pPr marL="0" indent="0">
              <a:buNone/>
            </a:pPr>
            <a:r>
              <a:rPr lang="en-IN" sz="2400" b="1" dirty="0"/>
              <a:t>m length of S1 and n length of S2</a:t>
            </a:r>
            <a:br>
              <a:rPr lang="en-IN" sz="2400" b="1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35153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Continue similarly.</a:t>
            </a:r>
          </a:p>
          <a:p>
            <a:r>
              <a:rPr lang="en-US" b="1" dirty="0"/>
              <a:t>The completed table becomes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920647"/>
              </p:ext>
            </p:extLst>
          </p:nvPr>
        </p:nvGraphicFramePr>
        <p:xfrm>
          <a:off x="2388307" y="2412810"/>
          <a:ext cx="7255565" cy="2895600"/>
        </p:xfrm>
        <a:graphic>
          <a:graphicData uri="http://schemas.openxmlformats.org/drawingml/2006/table">
            <a:tbl>
              <a:tblPr/>
              <a:tblGrid>
                <a:gridCol w="1451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776">
                <a:tc>
                  <a:txBody>
                    <a:bodyPr/>
                    <a:lstStyle/>
                    <a:p>
                      <a:endParaRPr lang="en-IN" sz="32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IN" sz="3200" b="1"/>
                        <a:t>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IN" sz="3200" b="1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IN" sz="3200" b="1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IN" sz="3200" b="1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80058" y="5345967"/>
            <a:ext cx="84681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 bottom-right value is 1, meaning only one operation (replace a with u) is needed.</a:t>
            </a:r>
            <a:endParaRPr lang="en-IN" sz="24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EAE4438-2746-1025-FD37-5088556A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6768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AF15-7695-1860-613D-DFFC05FA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1D730-8E78-A484-EBE1-007442BEE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Continue similarly.</a:t>
            </a:r>
          </a:p>
          <a:p>
            <a:r>
              <a:rPr lang="en-US" b="1" dirty="0"/>
              <a:t>The completed table becomes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B69563-6199-6C82-48DE-B353E7D6A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382794"/>
              </p:ext>
            </p:extLst>
          </p:nvPr>
        </p:nvGraphicFramePr>
        <p:xfrm>
          <a:off x="1894531" y="2181951"/>
          <a:ext cx="7255565" cy="3200400"/>
        </p:xfrm>
        <a:graphic>
          <a:graphicData uri="http://schemas.openxmlformats.org/drawingml/2006/table">
            <a:tbl>
              <a:tblPr/>
              <a:tblGrid>
                <a:gridCol w="1451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776">
                <a:tc>
                  <a:txBody>
                    <a:bodyPr/>
                    <a:lstStyle/>
                    <a:p>
                      <a:endParaRPr lang="en-IN" sz="32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IN" sz="3200" b="1"/>
                        <a:t>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IN" sz="3200" b="1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2 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</a:rPr>
                        <a:t>keep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IN" sz="3200" b="1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2  </a:t>
                      </a:r>
                      <a:r>
                        <a:rPr lang="en-IN" sz="2000" b="1" dirty="0">
                          <a:solidFill>
                            <a:srgbClr val="C00000"/>
                          </a:solidFill>
                        </a:rPr>
                        <a:t>Replace</a:t>
                      </a:r>
                    </a:p>
                    <a:p>
                      <a:r>
                        <a:rPr lang="en-IN" sz="2000" b="1" dirty="0">
                          <a:solidFill>
                            <a:srgbClr val="C00000"/>
                          </a:solidFill>
                        </a:rPr>
                        <a:t> a    with 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76">
                <a:tc>
                  <a:txBody>
                    <a:bodyPr/>
                    <a:lstStyle/>
                    <a:p>
                      <a:r>
                        <a:rPr lang="en-IN" sz="3200" b="1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1 </a:t>
                      </a:r>
                      <a:r>
                        <a:rPr lang="en-IN" sz="2800" b="1" dirty="0"/>
                        <a:t>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</a:rPr>
                        <a:t>Keep</a:t>
                      </a:r>
                      <a:r>
                        <a:rPr lang="en-IN" sz="28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IN" sz="3200" b="1" dirty="0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38A5874-E3F8-1F68-3AB9-1DFA8A3F4517}"/>
              </a:ext>
            </a:extLst>
          </p:cNvPr>
          <p:cNvSpPr/>
          <p:nvPr/>
        </p:nvSpPr>
        <p:spPr>
          <a:xfrm>
            <a:off x="1580058" y="5345967"/>
            <a:ext cx="84681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 bottom-right value is 1, meaning only one operation (replace a with u) is needed.</a:t>
            </a:r>
            <a:endParaRPr lang="en-IN" sz="24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EFBA18-F5A0-89F3-78EF-2CAFF09AD311}"/>
              </a:ext>
            </a:extLst>
          </p:cNvPr>
          <p:cNvCxnSpPr/>
          <p:nvPr/>
        </p:nvCxnSpPr>
        <p:spPr>
          <a:xfrm flipH="1" flipV="1">
            <a:off x="6583680" y="4475889"/>
            <a:ext cx="1152144" cy="429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F58E9A-CDD6-167E-930A-A2CDE1E3E5D2}"/>
              </a:ext>
            </a:extLst>
          </p:cNvPr>
          <p:cNvCxnSpPr>
            <a:cxnSpLocks/>
          </p:cNvCxnSpPr>
          <p:nvPr/>
        </p:nvCxnSpPr>
        <p:spPr>
          <a:xfrm flipH="1" flipV="1">
            <a:off x="5120640" y="3748767"/>
            <a:ext cx="1225296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DD10FA-F64F-FD70-7DEE-F4092C55A66A}"/>
              </a:ext>
            </a:extLst>
          </p:cNvPr>
          <p:cNvCxnSpPr>
            <a:cxnSpLocks/>
          </p:cNvCxnSpPr>
          <p:nvPr/>
        </p:nvCxnSpPr>
        <p:spPr>
          <a:xfrm flipH="1" flipV="1">
            <a:off x="3627120" y="3102543"/>
            <a:ext cx="1225296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32A1B5F3-27ED-65FE-A80F-302A21E3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5047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Other Example: </a:t>
            </a:r>
            <a:r>
              <a:rPr lang="en-IN" b="1" dirty="0" err="1"/>
              <a:t>algoritm</a:t>
            </a:r>
            <a:r>
              <a:rPr lang="en-IN" b="1" dirty="0"/>
              <a:t> → algorithm</a:t>
            </a:r>
          </a:p>
        </p:txBody>
      </p:sp>
      <p:sp>
        <p:nvSpPr>
          <p:cNvPr id="2" name="Rectangle 1"/>
          <p:cNvSpPr/>
          <p:nvPr/>
        </p:nvSpPr>
        <p:spPr>
          <a:xfrm>
            <a:off x="1981200" y="2353990"/>
            <a:ext cx="6268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The only difference is the missing letter </a:t>
            </a:r>
            <a:r>
              <a:rPr lang="en-US" sz="2800" b="1" dirty="0"/>
              <a:t>h</a:t>
            </a:r>
            <a:r>
              <a:rPr lang="en-US" sz="2800" dirty="0"/>
              <a:t>.</a:t>
            </a:r>
            <a:endParaRPr lang="en-IN" sz="2800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121822" y="3411211"/>
            <a:ext cx="77245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cs typeface="Arial" pitchFamily="34" charset="0"/>
              </a:rPr>
              <a:t>algoritm</a:t>
            </a:r>
            <a:br>
              <a:rPr lang="en-US" sz="2400" dirty="0">
                <a:cs typeface="Arial" pitchFamily="34" charset="0"/>
              </a:rPr>
            </a:br>
            <a:r>
              <a:rPr lang="en-US" sz="2400" dirty="0">
                <a:cs typeface="Arial" pitchFamily="34" charset="0"/>
              </a:rPr>
              <a:t>algorithm</a:t>
            </a:r>
            <a:br>
              <a:rPr lang="en-US" sz="2400" dirty="0">
                <a:cs typeface="Arial" pitchFamily="34" charset="0"/>
              </a:rPr>
            </a:br>
            <a:r>
              <a:rPr lang="en-US" sz="2400" dirty="0">
                <a:cs typeface="Arial" pitchFamily="34" charset="0"/>
              </a:rPr>
              <a:t>↑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cs typeface="Arial" pitchFamily="34" charset="0"/>
              </a:rPr>
              <a:t>The DP algorithm eventually computes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cs typeface="Arial" pitchFamily="34" charset="0"/>
              </a:rPr>
              <a:t>Edit Distance = 1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cs typeface="Arial" pitchFamily="34" charset="0"/>
              </a:rPr>
              <a:t>because only </a:t>
            </a:r>
            <a:r>
              <a:rPr lang="en-US" sz="2400" b="1" dirty="0">
                <a:cs typeface="Arial" pitchFamily="34" charset="0"/>
              </a:rPr>
              <a:t>one insertion</a:t>
            </a:r>
            <a:r>
              <a:rPr lang="en-US" sz="2400" dirty="0">
                <a:cs typeface="Arial" pitchFamily="34" charset="0"/>
              </a:rPr>
              <a:t> is required.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C08DC8-E7FC-6714-AC67-AA303826E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729C1B-F054-B102-5C4E-5018F27EC944}"/>
              </a:ext>
            </a:extLst>
          </p:cNvPr>
          <p:cNvSpPr txBox="1"/>
          <p:nvPr/>
        </p:nvSpPr>
        <p:spPr>
          <a:xfrm>
            <a:off x="7527451" y="3701480"/>
            <a:ext cx="42519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HW: </a:t>
            </a:r>
          </a:p>
          <a:p>
            <a:pPr algn="just"/>
            <a:r>
              <a:rPr lang="en-US" sz="2800" b="1" dirty="0">
                <a:solidFill>
                  <a:srgbClr val="C00000"/>
                </a:solidFill>
              </a:rPr>
              <a:t>Compute the DP table and then determine what operations to be done based on the DP table? </a:t>
            </a:r>
            <a:endParaRPr lang="en-I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742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0656" y="255398"/>
            <a:ext cx="8462834" cy="6857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+mn-lt"/>
              </a:rPr>
              <a:t>Edit Distance - </a:t>
            </a:r>
            <a:r>
              <a:rPr lang="en-IN" sz="3600" b="1" dirty="0">
                <a:latin typeface="+mn-lt"/>
              </a:rPr>
              <a:t>Wagner–Fischer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" y="941170"/>
            <a:ext cx="10634472" cy="34985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Why Does Dynamic Programming work?</a:t>
            </a:r>
          </a:p>
          <a:p>
            <a:pPr marL="0" indent="0">
              <a:buNone/>
            </a:pPr>
            <a:r>
              <a:rPr lang="en-US" dirty="0"/>
              <a:t>Instead of solving the same </a:t>
            </a:r>
            <a:r>
              <a:rPr lang="en-US" dirty="0" err="1"/>
              <a:t>subproblem</a:t>
            </a:r>
            <a:r>
              <a:rPr lang="en-US" dirty="0"/>
              <a:t> repeatedly, DP stores intermediate answers.</a:t>
            </a:r>
          </a:p>
          <a:p>
            <a:pPr marL="0" indent="0">
              <a:buNone/>
            </a:pPr>
            <a:r>
              <a:rPr lang="en-US" dirty="0"/>
              <a:t>For example, to compute</a:t>
            </a:r>
          </a:p>
          <a:p>
            <a:pPr marL="0" indent="0">
              <a:buNone/>
            </a:pPr>
            <a:r>
              <a:rPr lang="en-US" dirty="0" err="1"/>
              <a:t>dp</a:t>
            </a:r>
            <a:r>
              <a:rPr lang="en-US" dirty="0"/>
              <a:t>[5][6] it reuses previously computed values like:</a:t>
            </a:r>
          </a:p>
          <a:p>
            <a:pPr marL="0" indent="0">
              <a:buNone/>
            </a:pPr>
            <a:r>
              <a:rPr lang="en-US" dirty="0" err="1"/>
              <a:t>dp</a:t>
            </a:r>
            <a:r>
              <a:rPr lang="en-US" dirty="0"/>
              <a:t>[4][6],  </a:t>
            </a:r>
            <a:r>
              <a:rPr lang="en-US" dirty="0" err="1"/>
              <a:t>dp</a:t>
            </a:r>
            <a:r>
              <a:rPr lang="en-US" dirty="0"/>
              <a:t>[5][5],  </a:t>
            </a:r>
            <a:r>
              <a:rPr lang="en-US" dirty="0" err="1"/>
              <a:t>dp</a:t>
            </a:r>
            <a:r>
              <a:rPr lang="en-US" dirty="0"/>
              <a:t>[4][5] </a:t>
            </a:r>
          </a:p>
          <a:p>
            <a:pPr marL="0" indent="0">
              <a:buNone/>
            </a:pPr>
            <a:r>
              <a:rPr lang="en-US" dirty="0"/>
              <a:t>This avoids redundant computation.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38912" y="4496479"/>
            <a:ext cx="1102766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C00000"/>
                </a:solidFill>
                <a:cs typeface="Arial" pitchFamily="34" charset="0"/>
              </a:rPr>
              <a:t>Time and Space Complexity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cs typeface="Arial" pitchFamily="34" charset="0"/>
              </a:rPr>
              <a:t>If the first string has length m and the second has length 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b="1" dirty="0">
                <a:cs typeface="Arial" pitchFamily="34" charset="0"/>
              </a:rPr>
              <a:t>Time Complexity: O(m × n) (every cell is computed once)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b="1" dirty="0">
                <a:cs typeface="Arial" pitchFamily="34" charset="0"/>
              </a:rPr>
              <a:t>Space Complexity: O(m × n) (the DP table stores (m+1) × (n+1) values)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32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988" y="1562158"/>
            <a:ext cx="10098024" cy="5021494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Think of the DP table as a road map:</a:t>
            </a:r>
          </a:p>
          <a:p>
            <a:pPr algn="just"/>
            <a:r>
              <a:rPr lang="en-US" sz="3200" b="1" dirty="0"/>
              <a:t>Each cell answers: </a:t>
            </a:r>
            <a:r>
              <a:rPr lang="en-US" sz="3200" b="1" i="1" dirty="0"/>
              <a:t>"What is the minimum number of edits needed to convert the first i characters of String 1 into the first j characters of String 2?"</a:t>
            </a:r>
            <a:r>
              <a:rPr lang="en-US" sz="3200" b="1" dirty="0"/>
              <a:t> </a:t>
            </a:r>
          </a:p>
          <a:p>
            <a:pPr algn="just"/>
            <a:r>
              <a:rPr lang="en-US" sz="3200" b="1" dirty="0"/>
              <a:t>The algorithm fills the table from the simplest cases (empty strings) to the full strings. </a:t>
            </a:r>
          </a:p>
          <a:p>
            <a:pPr algn="just"/>
            <a:r>
              <a:rPr lang="en-US" sz="3200" b="1" dirty="0"/>
              <a:t>The final answer is always in the bottom-right corner of the table.</a:t>
            </a:r>
          </a:p>
          <a:p>
            <a:pPr marL="0" indent="0" algn="just">
              <a:buNone/>
            </a:pPr>
            <a:endParaRPr lang="en-IN" sz="3200" b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328672" y="469698"/>
            <a:ext cx="9253728" cy="6857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</a:t>
            </a:r>
            <a:endParaRPr lang="en-IN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09360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7CFC-0583-16F8-D5B2-5185D8449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272" y="290312"/>
            <a:ext cx="8574024" cy="685772"/>
          </a:xfrm>
        </p:spPr>
        <p:txBody>
          <a:bodyPr/>
          <a:lstStyle/>
          <a:p>
            <a:pPr algn="ctr"/>
            <a:r>
              <a:rPr lang="en-US" sz="4800" b="1" dirty="0">
                <a:latin typeface="+mn-lt"/>
              </a:rPr>
              <a:t>PROCEDURE</a:t>
            </a:r>
            <a:endParaRPr lang="en-IN" sz="4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8C08-3985-2FEB-7656-BEF4DE171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1155470"/>
            <a:ext cx="11180064" cy="5021494"/>
          </a:xfrm>
        </p:spPr>
        <p:txBody>
          <a:bodyPr/>
          <a:lstStyle/>
          <a:p>
            <a:pPr marL="0" indent="0" algn="just" fontAlgn="base">
              <a:buNone/>
            </a:pPr>
            <a:r>
              <a:rPr lang="en-IN" b="1" dirty="0"/>
              <a:t>1. Choosing Dimensions of Table: </a:t>
            </a:r>
            <a:r>
              <a:rPr lang="en-IN" dirty="0"/>
              <a:t>The state of smaller sub-problems depends on the input parameters </a:t>
            </a:r>
            <a:r>
              <a:rPr lang="en-IN" b="1" dirty="0"/>
              <a:t>m</a:t>
            </a:r>
            <a:r>
              <a:rPr lang="en-IN" dirty="0"/>
              <a:t> and </a:t>
            </a:r>
            <a:r>
              <a:rPr lang="en-IN" b="1" dirty="0"/>
              <a:t>n</a:t>
            </a:r>
            <a:r>
              <a:rPr lang="en-IN" dirty="0"/>
              <a:t> because at least one of them will decrease after each recursive call. So we need to construct a 2D table </a:t>
            </a:r>
            <a:r>
              <a:rPr lang="en-IN" b="1" dirty="0" err="1"/>
              <a:t>dp</a:t>
            </a:r>
            <a:r>
              <a:rPr lang="en-IN" b="1" dirty="0"/>
              <a:t>[][] </a:t>
            </a:r>
            <a:r>
              <a:rPr lang="en-IN" dirty="0"/>
              <a:t>to store the solution of the sub-problems.</a:t>
            </a:r>
          </a:p>
          <a:p>
            <a:pPr marL="0" indent="0" algn="just" fontAlgn="base">
              <a:buNone/>
            </a:pPr>
            <a:r>
              <a:rPr lang="en-IN" b="1" dirty="0"/>
              <a:t>2. Choosing Correct size of Table:</a:t>
            </a:r>
            <a:r>
              <a:rPr lang="en-IN" dirty="0"/>
              <a:t> The range of parameters goes from 0 to m and 0 to n. So we choose dimensions as </a:t>
            </a:r>
            <a:r>
              <a:rPr lang="en-IN" b="1" dirty="0"/>
              <a:t>(m + 1)*(n + 1)</a:t>
            </a:r>
            <a:endParaRPr lang="en-IN" dirty="0"/>
          </a:p>
          <a:p>
            <a:pPr marL="0" indent="0" algn="just" fontAlgn="base">
              <a:buNone/>
            </a:pPr>
            <a:r>
              <a:rPr lang="en-IN" b="1" dirty="0"/>
              <a:t>3. Filling the table:</a:t>
            </a:r>
            <a:r>
              <a:rPr lang="en-IN" dirty="0"/>
              <a:t> It consist of two stages, table initialisation and building the solution from the smaller subproblems:</a:t>
            </a:r>
          </a:p>
          <a:p>
            <a:pPr marL="0" lvl="0" indent="0" algn="just" fontAlgn="base">
              <a:buNone/>
            </a:pPr>
            <a:r>
              <a:rPr lang="en-IN" b="1" dirty="0"/>
              <a:t>Table initialisation:</a:t>
            </a:r>
            <a:r>
              <a:rPr lang="en-IN" dirty="0"/>
              <a:t> Before building the solution, we need to initialise the table with the known values i.e. base case. Here </a:t>
            </a:r>
            <a:r>
              <a:rPr lang="en-IN" b="1" dirty="0"/>
              <a:t>m = 0 </a:t>
            </a:r>
            <a:r>
              <a:rPr lang="en-IN" dirty="0"/>
              <a:t>and</a:t>
            </a:r>
            <a:r>
              <a:rPr lang="en-IN" b="1" dirty="0"/>
              <a:t> n = 0</a:t>
            </a:r>
            <a:r>
              <a:rPr lang="en-IN" dirty="0"/>
              <a:t> is the situation of the base case, so we initialise first-column </a:t>
            </a:r>
            <a:r>
              <a:rPr lang="en-IN" b="1" dirty="0" err="1"/>
              <a:t>dp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][0] </a:t>
            </a:r>
            <a:r>
              <a:rPr lang="en-IN" dirty="0"/>
              <a:t>with </a:t>
            </a:r>
            <a:r>
              <a:rPr lang="en-IN" b="1" dirty="0" err="1"/>
              <a:t>i</a:t>
            </a:r>
            <a:r>
              <a:rPr lang="en-IN" dirty="0"/>
              <a:t> and first-row </a:t>
            </a:r>
            <a:r>
              <a:rPr lang="en-IN" b="1" dirty="0" err="1"/>
              <a:t>dp</a:t>
            </a:r>
            <a:r>
              <a:rPr lang="en-IN" b="1" dirty="0"/>
              <a:t>[0][j]</a:t>
            </a:r>
            <a:r>
              <a:rPr lang="en-IN" dirty="0"/>
              <a:t> with </a:t>
            </a:r>
            <a:r>
              <a:rPr lang="en-IN" b="1" dirty="0"/>
              <a:t>j</a:t>
            </a:r>
            <a:r>
              <a:rPr lang="en-IN" dirty="0"/>
              <a:t>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AF014-AC66-74F5-2F94-B4B254AF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6F117-4FB5-BD14-A656-7C664ECA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790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1B691-C712-3795-3ADA-43C9ED3A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E7AB-58E0-EFE6-A01E-5D6FD9F93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1155470"/>
            <a:ext cx="11347704" cy="5021494"/>
          </a:xfrm>
        </p:spPr>
        <p:txBody>
          <a:bodyPr/>
          <a:lstStyle/>
          <a:p>
            <a:pPr marL="0" lvl="0" indent="0" algn="just" fontAlgn="base">
              <a:buNone/>
            </a:pPr>
            <a:r>
              <a:rPr lang="en-IN" b="1" dirty="0"/>
              <a:t>Building the solution of larger problems from the smaller subproblems: </a:t>
            </a:r>
            <a:r>
              <a:rPr lang="en-IN" dirty="0"/>
              <a:t>We can easily define the iterative structure by using the recursive structure of the above recursive solution.</a:t>
            </a:r>
          </a:p>
          <a:p>
            <a:pPr marL="0" lvl="0" indent="0" algn="just" fontAlgn="base">
              <a:buNone/>
            </a:pPr>
            <a:r>
              <a:rPr lang="en-IN" b="1" i="1" dirty="0"/>
              <a:t>if (s1[</a:t>
            </a:r>
            <a:r>
              <a:rPr lang="en-IN" b="1" i="1" dirty="0" err="1"/>
              <a:t>i</a:t>
            </a:r>
            <a:r>
              <a:rPr lang="en-IN" b="1" i="1" dirty="0"/>
              <a:t> - 1] == s2[j - 1]) </a:t>
            </a:r>
            <a:r>
              <a:rPr lang="en-IN" i="1" dirty="0" err="1"/>
              <a:t>dp</a:t>
            </a:r>
            <a:r>
              <a:rPr lang="en-IN" i="1" dirty="0"/>
              <a:t>[</a:t>
            </a:r>
            <a:r>
              <a:rPr lang="en-IN" i="1" dirty="0" err="1"/>
              <a:t>i</a:t>
            </a:r>
            <a:r>
              <a:rPr lang="en-IN" i="1" dirty="0"/>
              <a:t>][j] = </a:t>
            </a:r>
            <a:r>
              <a:rPr lang="en-IN" i="1" dirty="0" err="1"/>
              <a:t>dp</a:t>
            </a:r>
            <a:r>
              <a:rPr lang="en-IN" i="1" dirty="0"/>
              <a:t>[</a:t>
            </a:r>
            <a:r>
              <a:rPr lang="en-IN" i="1" dirty="0" err="1"/>
              <a:t>i</a:t>
            </a:r>
            <a:r>
              <a:rPr lang="en-IN" i="1" dirty="0"/>
              <a:t> - 1][j - 1];</a:t>
            </a:r>
          </a:p>
          <a:p>
            <a:pPr marL="0" lvl="0" indent="0" algn="just" fontAlgn="base">
              <a:buNone/>
            </a:pPr>
            <a:r>
              <a:rPr lang="en-IN" b="1" i="1" dirty="0"/>
              <a:t>if (s1[</a:t>
            </a:r>
            <a:r>
              <a:rPr lang="en-IN" b="1" i="1" dirty="0" err="1"/>
              <a:t>i</a:t>
            </a:r>
            <a:r>
              <a:rPr lang="en-IN" b="1" i="1" dirty="0"/>
              <a:t> - 1] != s2[j - 1])</a:t>
            </a:r>
            <a:r>
              <a:rPr lang="en-IN" i="1" dirty="0"/>
              <a:t> </a:t>
            </a:r>
            <a:r>
              <a:rPr lang="en-IN" i="1" dirty="0" err="1"/>
              <a:t>dp</a:t>
            </a:r>
            <a:r>
              <a:rPr lang="en-IN" i="1" dirty="0"/>
              <a:t>[</a:t>
            </a:r>
            <a:r>
              <a:rPr lang="en-IN" i="1" dirty="0" err="1"/>
              <a:t>i</a:t>
            </a:r>
            <a:r>
              <a:rPr lang="en-IN" i="1" dirty="0"/>
              <a:t>][j] = 1 + min(</a:t>
            </a:r>
            <a:r>
              <a:rPr lang="en-IN" i="1" dirty="0" err="1"/>
              <a:t>dp</a:t>
            </a:r>
            <a:r>
              <a:rPr lang="en-IN" i="1" dirty="0"/>
              <a:t>[</a:t>
            </a:r>
            <a:r>
              <a:rPr lang="en-IN" i="1" dirty="0" err="1"/>
              <a:t>i</a:t>
            </a:r>
            <a:r>
              <a:rPr lang="en-IN" i="1" dirty="0"/>
              <a:t>][j - 1], </a:t>
            </a:r>
            <a:r>
              <a:rPr lang="en-IN" i="1" dirty="0" err="1"/>
              <a:t>dp</a:t>
            </a:r>
            <a:r>
              <a:rPr lang="en-IN" i="1" dirty="0"/>
              <a:t>[</a:t>
            </a:r>
            <a:r>
              <a:rPr lang="en-IN" i="1" dirty="0" err="1"/>
              <a:t>i</a:t>
            </a:r>
            <a:r>
              <a:rPr lang="en-IN" i="1" dirty="0"/>
              <a:t> - 1][j], </a:t>
            </a:r>
            <a:r>
              <a:rPr lang="en-IN" i="1" dirty="0" err="1"/>
              <a:t>dp</a:t>
            </a:r>
            <a:r>
              <a:rPr lang="en-IN" i="1" dirty="0"/>
              <a:t>[</a:t>
            </a:r>
            <a:r>
              <a:rPr lang="en-IN" i="1" dirty="0" err="1"/>
              <a:t>i</a:t>
            </a:r>
            <a:r>
              <a:rPr lang="en-IN" i="1" dirty="0"/>
              <a:t> - 1][j - 1]); </a:t>
            </a:r>
          </a:p>
          <a:p>
            <a:pPr marL="0" indent="0" algn="just" fontAlgn="base">
              <a:buNone/>
            </a:pPr>
            <a:endParaRPr lang="en-IN" i="1" dirty="0"/>
          </a:p>
          <a:p>
            <a:pPr marL="0" indent="0" algn="just" fontAlgn="base">
              <a:buNone/>
            </a:pPr>
            <a:r>
              <a:rPr lang="en-IN" b="1" dirty="0"/>
              <a:t>4. Returning final solution: </a:t>
            </a:r>
            <a:r>
              <a:rPr lang="en-IN" dirty="0"/>
              <a:t>After filling the table iteratively, our final solution gets stored at the bottom right corner of the 2-D table i.e. we return </a:t>
            </a:r>
            <a:r>
              <a:rPr lang="en-IN" dirty="0" err="1"/>
              <a:t>dp</a:t>
            </a:r>
            <a:r>
              <a:rPr lang="en-IN" dirty="0"/>
              <a:t>[m][n] as an output.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79CC9-DE84-36AE-3962-9D687B94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4AA56-2E76-9948-1F8A-19D99FE3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1083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F3EE0-1187-8184-A1CE-775EAD48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10744-14C2-03DF-F773-F61B282B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33</a:t>
            </a:fld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0985A0-3C39-41E0-3095-B21F13278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886968"/>
            <a:ext cx="11109960" cy="546938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25BAA138-9632-3953-F68C-3A9D9680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472" y="215900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9005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EA01E-E937-CFE5-1F4E-5274FD4C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205AC-C442-C4E6-CE6E-B34400098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2BE7F-6E34-F03C-1567-6CA1FAB3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34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EAEB91-8CB7-B426-17F7-0FE799EC8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987553"/>
            <a:ext cx="11301983" cy="515721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84A580C-859A-A0DA-C6D9-398454373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8429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EEAD-CF3E-6293-FC76-A13D973E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50D55-44CB-A76F-8607-ADB07F93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545D6-CDFF-46EC-FEB4-9E37D162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35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016FEE-5B44-5E49-A13A-35034617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033272"/>
            <a:ext cx="11457432" cy="505663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C3A7B8-4F5D-2021-1131-77EBFB76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1089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BED49-3C41-56F2-7F92-AD8EDAE5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1DE39-7FD8-473D-B7DC-EC56B807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0B78D-0F33-E3AD-59C1-387083B9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36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2B952-5E46-01CA-16A3-D2D7986D8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886968"/>
            <a:ext cx="11430000" cy="538581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F9CEEF-E47A-97AC-F30B-C0383B475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7988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F43F3-3438-6DF5-BF00-4DA18682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E1F09-A886-6754-1F96-0C1D765C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74471-4D7D-86CE-5200-E254854E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37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060330-3E50-BCB5-2360-2AC3C2F52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42416"/>
            <a:ext cx="11576304" cy="515721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8D9EB73-61A4-5FCB-8196-3FD18006D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6229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CF99-EB83-4F04-40A8-E43D0717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CEAB2-8488-48F3-E120-AC06F5D5C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CDE37-AF6A-01F5-85C8-409A5052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38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AABF78-D8ED-B90C-89D8-A14C4E7A6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996696"/>
            <a:ext cx="11612879" cy="524865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6CE2ADD-2F57-AC68-97C3-D8AD8685C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4443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FF05-A8B6-7D1A-C13C-78609331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113DE-DC3C-A40A-9D3B-F308745E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E840F7-5EC4-61E0-1551-BE1E2B07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39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B6973-21FA-0832-BC3C-198BFD0E5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996696"/>
            <a:ext cx="11466576" cy="53596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3E74C62-E4D8-7BEC-CA54-D5F0EAEB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212428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FA4C0C-849E-5724-8DD6-BC98E1CF35CF}"/>
              </a:ext>
            </a:extLst>
          </p:cNvPr>
          <p:cNvSpPr txBox="1"/>
          <p:nvPr/>
        </p:nvSpPr>
        <p:spPr>
          <a:xfrm>
            <a:off x="532291" y="4864971"/>
            <a:ext cx="42519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HW: Now determine what operations to be done based on the DP table? </a:t>
            </a:r>
            <a:endParaRPr lang="en-I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610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/>
          <p:cNvSpPr txBox="1"/>
          <p:nvPr/>
        </p:nvSpPr>
        <p:spPr>
          <a:xfrm>
            <a:off x="457200" y="790856"/>
            <a:ext cx="112776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pPr algn="l">
              <a:spcBef>
                <a:spcPts val="100"/>
              </a:spcBef>
              <a:spcAft>
                <a:spcPts val="50"/>
              </a:spcAft>
            </a:pPr>
            <a:endParaRPr lang="en-US" sz="2800" b="1">
              <a:solidFill>
                <a:srgbClr val="1F3864"/>
              </a:solidFill>
            </a:endParaRP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800" b="1">
                <a:solidFill>
                  <a:srgbClr val="1F3864"/>
                </a:solidFill>
              </a:rPr>
              <a:t>Example: "SUNDAY" → "SATURDAY“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endParaRPr lang="en-US" sz="2800" b="1">
              <a:solidFill>
                <a:srgbClr val="1F3864"/>
              </a:solidFill>
            </a:endParaRPr>
          </a:p>
          <a:p>
            <a:pPr algn="l"/>
            <a:r>
              <a:rPr lang="en-US" sz="2800"/>
              <a:t>   ""  S A T U R D A Y</a:t>
            </a:r>
          </a:p>
          <a:p>
            <a:pPr algn="l"/>
            <a:r>
              <a:rPr lang="en-US" sz="2800"/>
              <a:t>""  0 1 2 3 4 5 6 7 8</a:t>
            </a:r>
          </a:p>
          <a:p>
            <a:pPr algn="l"/>
            <a:r>
              <a:rPr lang="en-US" sz="2800"/>
              <a:t>S   1 0 1 2 3 4 5 6 7</a:t>
            </a:r>
          </a:p>
          <a:p>
            <a:pPr algn="l"/>
            <a:r>
              <a:rPr lang="en-US" sz="2800"/>
              <a:t>U   2 1 1 2 2 3 4 5 6</a:t>
            </a:r>
          </a:p>
          <a:p>
            <a:pPr algn="l"/>
            <a:r>
              <a:rPr lang="en-US" sz="2800"/>
              <a:t>N   3 2 2 2 3 3 4 5 6</a:t>
            </a:r>
          </a:p>
          <a:p>
            <a:pPr algn="l"/>
            <a:r>
              <a:rPr lang="en-US" sz="2800"/>
              <a:t>D   4 3 3 3 3 4 3 4 5</a:t>
            </a:r>
          </a:p>
          <a:p>
            <a:pPr algn="l"/>
            <a:r>
              <a:rPr lang="en-US" sz="2800"/>
              <a:t>A   5 4 3 4 4 4 4 3 4</a:t>
            </a:r>
          </a:p>
          <a:p>
            <a:pPr algn="l"/>
            <a:r>
              <a:rPr lang="en-US" sz="2800"/>
              <a:t>Y   6 5 4 4 5 5 5 4 3   → Answer: 3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40</a:t>
            </a:fld>
            <a:endParaRPr lang="en-AU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5ED57FD-A873-B18E-4C10-6866B8AD734D}"/>
              </a:ext>
            </a:extLst>
          </p:cNvPr>
          <p:cNvSpPr/>
          <p:nvPr/>
        </p:nvSpPr>
        <p:spPr>
          <a:xfrm>
            <a:off x="4014216" y="690272"/>
            <a:ext cx="4818888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Wagner-Fischer Algorithm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E28404-98D9-11CA-A484-6A2CCEE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872" y="0"/>
            <a:ext cx="5626608" cy="571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Edit Distance - Example   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FEBE2-4957-FD41-4C2C-DFDF4DDC379C}"/>
              </a:ext>
            </a:extLst>
          </p:cNvPr>
          <p:cNvSpPr txBox="1"/>
          <p:nvPr/>
        </p:nvSpPr>
        <p:spPr>
          <a:xfrm>
            <a:off x="6255327" y="3590856"/>
            <a:ext cx="42519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HW: Now determine what operations to be done based on the DP table? </a:t>
            </a:r>
            <a:endParaRPr lang="en-IN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/>
          <p:cNvSpPr txBox="1"/>
          <p:nvPr/>
        </p:nvSpPr>
        <p:spPr>
          <a:xfrm>
            <a:off x="457200" y="800000"/>
            <a:ext cx="112776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endParaRPr lang="en-US" sz="2200" dirty="0"/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800" b="1" dirty="0" err="1">
                <a:solidFill>
                  <a:srgbClr val="0070C0"/>
                </a:solidFill>
              </a:rPr>
              <a:t>Damerau-Levenshtein</a:t>
            </a:r>
            <a:r>
              <a:rPr lang="en-US" sz="2800" b="1" dirty="0">
                <a:solidFill>
                  <a:srgbClr val="0070C0"/>
                </a:solidFill>
              </a:rPr>
              <a:t>: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lang="en-IN" sz="2400" b="1" dirty="0" err="1"/>
              <a:t>Damerau</a:t>
            </a:r>
            <a:r>
              <a:rPr lang="en-IN" sz="2400" b="1" dirty="0"/>
              <a:t>–</a:t>
            </a:r>
            <a:r>
              <a:rPr lang="en-IN" sz="2400" b="1" dirty="0" err="1"/>
              <a:t>Levenshtein</a:t>
            </a:r>
            <a:r>
              <a:rPr lang="en-IN" sz="2400" dirty="0"/>
              <a:t> → extends </a:t>
            </a:r>
            <a:r>
              <a:rPr lang="en-IN" sz="2400" dirty="0" err="1"/>
              <a:t>Levenshtein</a:t>
            </a:r>
            <a:r>
              <a:rPr lang="en-IN" sz="2400" dirty="0"/>
              <a:t> by adding </a:t>
            </a:r>
            <a:r>
              <a:rPr lang="en-IN" sz="2400" b="1" dirty="0"/>
              <a:t>transposition</a:t>
            </a:r>
            <a:r>
              <a:rPr lang="en-IN" sz="2400" dirty="0"/>
              <a:t>.</a:t>
            </a:r>
            <a:endParaRPr lang="en-US" sz="2200" b="1" dirty="0">
              <a:solidFill>
                <a:srgbClr val="1F3864"/>
              </a:solidFill>
            </a:endParaRPr>
          </a:p>
          <a:p>
            <a:pPr marL="342900" indent="-342900" algn="l">
              <a:buChar char="•"/>
            </a:pPr>
            <a:r>
              <a:rPr lang="en-US" sz="2200" dirty="0"/>
              <a:t>Adds transposition: "ab" → "ba" costs 1 (not 2)</a:t>
            </a:r>
          </a:p>
          <a:p>
            <a:pPr marL="342900" indent="-342900" algn="l">
              <a:buChar char="•"/>
            </a:pPr>
            <a:r>
              <a:rPr lang="en-US" sz="2200" dirty="0"/>
              <a:t>Example: edit_distance("ca", "abc") = 2 (transposition + insert)</a:t>
            </a:r>
          </a:p>
          <a:p>
            <a:pPr marL="342900" indent="-342900" algn="l">
              <a:buChar char="•"/>
            </a:pPr>
            <a:r>
              <a:rPr lang="en-US" sz="2200" dirty="0"/>
              <a:t>Used in spell-checkers, DNA sequence comparison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endParaRPr lang="en-US" sz="2200" b="1" dirty="0">
              <a:solidFill>
                <a:srgbClr val="1F3864"/>
              </a:solidFill>
            </a:endParaRP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2800" b="1" dirty="0">
                <a:solidFill>
                  <a:srgbClr val="0070C0"/>
                </a:solidFill>
              </a:rPr>
              <a:t>Weighted Edit Distance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lang="en-IN" sz="2400" b="1" dirty="0"/>
              <a:t>Weighted Edit Distance</a:t>
            </a:r>
            <a:r>
              <a:rPr lang="en-IN" sz="2400" dirty="0"/>
              <a:t> → assigns </a:t>
            </a:r>
            <a:r>
              <a:rPr lang="en-IN" sz="2400" b="1" dirty="0"/>
              <a:t>different costs</a:t>
            </a:r>
            <a:r>
              <a:rPr lang="en-IN" sz="2400" dirty="0"/>
              <a:t> to different operations.</a:t>
            </a:r>
            <a:endParaRPr lang="en-US" sz="2200" b="1" dirty="0">
              <a:solidFill>
                <a:srgbClr val="1F3864"/>
              </a:solidFill>
            </a:endParaRPr>
          </a:p>
          <a:p>
            <a:pPr marL="342900" indent="-342900" algn="l">
              <a:buChar char="•"/>
            </a:pPr>
            <a:r>
              <a:rPr lang="en-US" sz="2200" dirty="0"/>
              <a:t>Each operation has a custom cost: cost(insert c), cost(delete c), cost(a→b)</a:t>
            </a:r>
          </a:p>
          <a:p>
            <a:pPr marL="342900" indent="-342900" algn="l">
              <a:buChar char="•"/>
            </a:pPr>
            <a:r>
              <a:rPr lang="en-US" sz="2200" dirty="0"/>
              <a:t>Example: keyboard proximity weights (p→o cheap, p→z expensive)</a:t>
            </a:r>
          </a:p>
          <a:p>
            <a:pPr marL="342900" indent="-342900" algn="l">
              <a:buChar char="•"/>
            </a:pPr>
            <a:r>
              <a:rPr lang="en-US" sz="2200" dirty="0"/>
              <a:t>Recurrence: same structure, substitute 1 with cost function</a:t>
            </a:r>
          </a:p>
          <a:p>
            <a:pPr algn="l">
              <a:spcBef>
                <a:spcPts val="100"/>
              </a:spcBef>
              <a:spcAft>
                <a:spcPts val="50"/>
              </a:spcAft>
            </a:pPr>
            <a:endParaRPr lang="en-US" sz="2200" b="1" dirty="0">
              <a:solidFill>
                <a:srgbClr val="1F3864"/>
              </a:solidFill>
            </a:endParaRPr>
          </a:p>
          <a:p>
            <a:pPr algn="l">
              <a:spcBef>
                <a:spcPts val="100"/>
              </a:spcBef>
              <a:spcAft>
                <a:spcPts val="50"/>
              </a:spcAft>
            </a:pPr>
            <a:r>
              <a:rPr lang="en-US" sz="3000" b="1" dirty="0">
                <a:solidFill>
                  <a:srgbClr val="0070C0"/>
                </a:solidFill>
              </a:rPr>
              <a:t>Applications</a:t>
            </a:r>
          </a:p>
          <a:p>
            <a:pPr marL="342900" indent="-342900" algn="l">
              <a:buChar char="•"/>
            </a:pPr>
            <a:r>
              <a:rPr lang="en-US" sz="2200" dirty="0"/>
              <a:t>Spell checking (Google "Did you mean...")</a:t>
            </a:r>
          </a:p>
          <a:p>
            <a:pPr marL="342900" indent="-342900" algn="l">
              <a:buChar char="•"/>
            </a:pPr>
            <a:r>
              <a:rPr lang="en-US" sz="2200" dirty="0"/>
              <a:t>DNA/RNA similarity scoring</a:t>
            </a:r>
          </a:p>
          <a:p>
            <a:pPr marL="342900" indent="-342900" algn="l">
              <a:buChar char="•"/>
            </a:pPr>
            <a:r>
              <a:rPr lang="en-US" sz="2200" dirty="0"/>
              <a:t>Plagiarism detection, version diff tools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41</a:t>
            </a:fld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3B5598-597D-0D58-6AA4-68EBF01497C7}"/>
              </a:ext>
            </a:extLst>
          </p:cNvPr>
          <p:cNvSpPr/>
          <p:nvPr/>
        </p:nvSpPr>
        <p:spPr>
          <a:xfrm>
            <a:off x="4151376" y="182880"/>
            <a:ext cx="5102352" cy="6171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Distance Variants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8C73-BA54-4B03-E941-DC03CB2B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>
            <a:extLst>
              <a:ext uri="{FF2B5EF4-FFF2-40B4-BE49-F238E27FC236}">
                <a16:creationId xmlns:a16="http://schemas.microsoft.com/office/drawing/2014/main" id="{B57BB3AA-7CDA-17FE-0222-92A354192416}"/>
              </a:ext>
            </a:extLst>
          </p:cNvPr>
          <p:cNvSpPr txBox="1"/>
          <p:nvPr/>
        </p:nvSpPr>
        <p:spPr>
          <a:xfrm>
            <a:off x="310896" y="938912"/>
            <a:ext cx="112776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3500" b="1" dirty="0">
                <a:solidFill>
                  <a:srgbClr val="C00000"/>
                </a:solidFill>
              </a:rPr>
              <a:t>String 1 = CA, String 2 = AC</a:t>
            </a:r>
          </a:p>
          <a:p>
            <a:r>
              <a:rPr lang="en-IN" sz="3500" b="1" dirty="0">
                <a:solidFill>
                  <a:srgbClr val="C00000"/>
                </a:solidFill>
              </a:rPr>
              <a:t>We want to transform: CA → AC</a:t>
            </a:r>
          </a:p>
          <a:p>
            <a:endParaRPr lang="en-IN" b="1" dirty="0">
              <a:solidFill>
                <a:srgbClr val="0070C0"/>
              </a:solidFill>
            </a:endParaRPr>
          </a:p>
          <a:p>
            <a:r>
              <a:rPr lang="en-IN" sz="4000" b="1" dirty="0">
                <a:solidFill>
                  <a:srgbClr val="0070C0"/>
                </a:solidFill>
              </a:rPr>
              <a:t>1. </a:t>
            </a:r>
            <a:r>
              <a:rPr lang="en-IN" sz="4000" b="1" dirty="0" err="1">
                <a:solidFill>
                  <a:srgbClr val="0070C0"/>
                </a:solidFill>
              </a:rPr>
              <a:t>Levenshtein</a:t>
            </a:r>
            <a:r>
              <a:rPr lang="en-IN" sz="4000" b="1" dirty="0">
                <a:solidFill>
                  <a:srgbClr val="0070C0"/>
                </a:solidFill>
              </a:rPr>
              <a:t> Edit Distance</a:t>
            </a:r>
          </a:p>
          <a:p>
            <a:r>
              <a:rPr lang="en-IN" sz="2900" b="1" dirty="0"/>
              <a:t>Allowed operations</a:t>
            </a:r>
          </a:p>
          <a:p>
            <a:r>
              <a:rPr lang="en-IN" sz="2900" dirty="0" err="1"/>
              <a:t>Levenshtein</a:t>
            </a:r>
            <a:r>
              <a:rPr lang="en-IN" sz="2900" dirty="0"/>
              <a:t> allows: Insertion, Deletion, Replace. </a:t>
            </a:r>
            <a:r>
              <a:rPr lang="en-IN" sz="2900" b="1" dirty="0"/>
              <a:t>Transposition is NOT allowed. </a:t>
            </a:r>
            <a:r>
              <a:rPr lang="en-IN" sz="2900" dirty="0"/>
              <a:t>Usually, each operation has cost 1.</a:t>
            </a:r>
          </a:p>
          <a:p>
            <a:endParaRPr lang="en-IN" sz="2900" dirty="0"/>
          </a:p>
          <a:p>
            <a:r>
              <a:rPr lang="en-IN" sz="2900" dirty="0"/>
              <a:t>To convert: </a:t>
            </a:r>
            <a:r>
              <a:rPr lang="en-IN" sz="2900" b="1" dirty="0">
                <a:solidFill>
                  <a:srgbClr val="C00000"/>
                </a:solidFill>
              </a:rPr>
              <a:t>CA → AC</a:t>
            </a:r>
            <a:r>
              <a:rPr lang="en-IN" sz="2900" dirty="0"/>
              <a:t>, we cannot simply swap C and A.</a:t>
            </a:r>
          </a:p>
          <a:p>
            <a:r>
              <a:rPr lang="en-IN" sz="2900" dirty="0"/>
              <a:t>One possible transformation is:</a:t>
            </a:r>
          </a:p>
          <a:p>
            <a:r>
              <a:rPr lang="en-IN" sz="2900" b="1" dirty="0">
                <a:solidFill>
                  <a:srgbClr val="C00000"/>
                </a:solidFill>
              </a:rPr>
              <a:t>CA</a:t>
            </a:r>
          </a:p>
          <a:p>
            <a:r>
              <a:rPr lang="en-IN" sz="2900" b="1" dirty="0">
                <a:solidFill>
                  <a:srgbClr val="C00000"/>
                </a:solidFill>
              </a:rPr>
              <a:t>↓</a:t>
            </a:r>
          </a:p>
          <a:p>
            <a:r>
              <a:rPr lang="en-IN" sz="2900" b="1" dirty="0">
                <a:solidFill>
                  <a:srgbClr val="C00000"/>
                </a:solidFill>
              </a:rPr>
              <a:t>AA       C → A</a:t>
            </a:r>
          </a:p>
          <a:p>
            <a:r>
              <a:rPr lang="en-IN" sz="2900" b="1" dirty="0">
                <a:solidFill>
                  <a:srgbClr val="C00000"/>
                </a:solidFill>
              </a:rPr>
              <a:t>↓</a:t>
            </a:r>
          </a:p>
          <a:p>
            <a:r>
              <a:rPr lang="en-IN" sz="2900" b="1" dirty="0">
                <a:solidFill>
                  <a:srgbClr val="C00000"/>
                </a:solidFill>
              </a:rPr>
              <a:t>AC       A → C</a:t>
            </a:r>
          </a:p>
          <a:p>
            <a:r>
              <a:rPr lang="en-IN" sz="2900" dirty="0"/>
              <a:t>That requires </a:t>
            </a:r>
            <a:r>
              <a:rPr lang="en-IN" sz="2900" b="1" dirty="0"/>
              <a:t>2 substitutions</a:t>
            </a:r>
            <a:r>
              <a:rPr lang="en-IN" sz="2900" dirty="0"/>
              <a:t>.</a:t>
            </a:r>
          </a:p>
          <a:p>
            <a:r>
              <a:rPr lang="en-IN" sz="2900" dirty="0"/>
              <a:t>Therefore: </a:t>
            </a:r>
            <a:r>
              <a:rPr lang="en-IN" sz="2900" b="1" dirty="0" err="1"/>
              <a:t>Levenshtein</a:t>
            </a:r>
            <a:r>
              <a:rPr lang="en-IN" sz="2900" b="1" dirty="0"/>
              <a:t> distance = 2</a:t>
            </a:r>
          </a:p>
          <a:p>
            <a:endParaRPr lang="en-IN" sz="2900" dirty="0"/>
          </a:p>
          <a:p>
            <a:r>
              <a:rPr lang="en-IN" sz="2900" b="1" dirty="0"/>
              <a:t>Key </a:t>
            </a:r>
            <a:r>
              <a:rPr lang="en-IN" sz="2900" b="1" dirty="0" err="1"/>
              <a:t>idea:</a:t>
            </a:r>
            <a:r>
              <a:rPr lang="en-IN" sz="2900" dirty="0" err="1"/>
              <a:t>Levenshtein</a:t>
            </a:r>
            <a:r>
              <a:rPr lang="en-IN" sz="2900" dirty="0"/>
              <a:t> distance tells us the minimum number of insertion, deletion, and substitution operations needed to transform one string into another.</a:t>
            </a:r>
          </a:p>
          <a:p>
            <a:endParaRPr lang="en-IN" sz="2900" dirty="0"/>
          </a:p>
          <a:p>
            <a:pPr>
              <a:spcBef>
                <a:spcPts val="0"/>
              </a:spcBef>
              <a:spcAft>
                <a:spcPts val="100"/>
              </a:spcAft>
            </a:pP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B9DB1-FBAF-1208-1D12-612B9AAEF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CF017-742F-1EC2-C389-570807696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42</a:t>
            </a:fld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10E2BC-4AEA-EAEE-AF8B-37B88BB6AC52}"/>
              </a:ext>
            </a:extLst>
          </p:cNvPr>
          <p:cNvSpPr/>
          <p:nvPr/>
        </p:nvSpPr>
        <p:spPr>
          <a:xfrm>
            <a:off x="4151376" y="182880"/>
            <a:ext cx="5751576" cy="7132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Distance Variants</a:t>
            </a:r>
          </a:p>
        </p:txBody>
      </p:sp>
    </p:spTree>
    <p:extLst>
      <p:ext uri="{BB962C8B-B14F-4D97-AF65-F5344CB8AC3E}">
        <p14:creationId xmlns:p14="http://schemas.microsoft.com/office/powerpoint/2010/main" val="19073476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85DED-894C-1C83-F817-E087C0F8F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>
            <a:extLst>
              <a:ext uri="{FF2B5EF4-FFF2-40B4-BE49-F238E27FC236}">
                <a16:creationId xmlns:a16="http://schemas.microsoft.com/office/drawing/2014/main" id="{3FF35335-0862-342D-129F-7CAFCEE153F6}"/>
              </a:ext>
            </a:extLst>
          </p:cNvPr>
          <p:cNvSpPr txBox="1"/>
          <p:nvPr/>
        </p:nvSpPr>
        <p:spPr>
          <a:xfrm>
            <a:off x="457200" y="756350"/>
            <a:ext cx="112776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2800" b="1" dirty="0">
                <a:solidFill>
                  <a:srgbClr val="C00000"/>
                </a:solidFill>
              </a:rPr>
              <a:t>String 1 = CA, String 2 = AC</a:t>
            </a:r>
          </a:p>
          <a:p>
            <a:r>
              <a:rPr lang="en-IN" sz="2800" b="1" dirty="0">
                <a:solidFill>
                  <a:srgbClr val="C00000"/>
                </a:solidFill>
              </a:rPr>
              <a:t>We want to transform: CA → AC</a:t>
            </a:r>
          </a:p>
          <a:p>
            <a:r>
              <a:rPr lang="en-IN" sz="2400" b="1" dirty="0">
                <a:solidFill>
                  <a:srgbClr val="0070C0"/>
                </a:solidFill>
              </a:rPr>
              <a:t>2. Wagner–Fischer Algorithm</a:t>
            </a:r>
          </a:p>
          <a:p>
            <a:r>
              <a:rPr lang="en-IN" sz="2000" dirty="0"/>
              <a:t>Now consider the </a:t>
            </a:r>
            <a:r>
              <a:rPr lang="en-IN" sz="2000" b="1" dirty="0"/>
              <a:t>same example</a:t>
            </a:r>
            <a:r>
              <a:rPr lang="en-IN" sz="2000" dirty="0"/>
              <a:t>:</a:t>
            </a:r>
          </a:p>
          <a:p>
            <a:r>
              <a:rPr lang="en-IN" sz="2000" dirty="0"/>
              <a:t>CA → AC</a:t>
            </a:r>
          </a:p>
          <a:p>
            <a:r>
              <a:rPr lang="en-IN" sz="2000" dirty="0"/>
              <a:t>Wagner–Fischer does </a:t>
            </a:r>
            <a:r>
              <a:rPr lang="en-IN" sz="2000" b="1" dirty="0"/>
              <a:t>not define a new type of edit distance</a:t>
            </a:r>
            <a:r>
              <a:rPr lang="en-IN" sz="2000" dirty="0"/>
              <a:t>.</a:t>
            </a:r>
          </a:p>
          <a:p>
            <a:r>
              <a:rPr lang="en-IN" sz="2000" dirty="0"/>
              <a:t>It is an algorithm for </a:t>
            </a:r>
            <a:r>
              <a:rPr lang="en-IN" sz="2000" b="1" dirty="0"/>
              <a:t>calculating the </a:t>
            </a:r>
            <a:r>
              <a:rPr lang="en-IN" sz="2000" b="1" dirty="0" err="1"/>
              <a:t>Levenshtein</a:t>
            </a:r>
            <a:r>
              <a:rPr lang="en-IN" sz="2000" b="1" dirty="0"/>
              <a:t> distance</a:t>
            </a:r>
            <a:r>
              <a:rPr lang="en-IN" sz="2000" dirty="0"/>
              <a:t> using Dynamic Programming.</a:t>
            </a:r>
          </a:p>
          <a:p>
            <a:r>
              <a:rPr lang="en-IN" sz="2000" dirty="0"/>
              <a:t>The DP matrix is: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        ""   A   C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     ""  0   1   2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      C  1   1   1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      A  2   1   2</a:t>
            </a:r>
          </a:p>
          <a:p>
            <a:r>
              <a:rPr lang="en-IN" sz="2000" dirty="0"/>
              <a:t>The final cell is: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D[2][2] = 2</a:t>
            </a:r>
          </a:p>
          <a:p>
            <a:r>
              <a:rPr lang="en-IN" sz="2000" dirty="0"/>
              <a:t>Therefore: </a:t>
            </a:r>
            <a:r>
              <a:rPr lang="en-IN" sz="2000" b="1" dirty="0"/>
              <a:t>Wagner–Fischer calculates </a:t>
            </a:r>
            <a:r>
              <a:rPr lang="en-IN" sz="2000" b="1" dirty="0" err="1"/>
              <a:t>Levenshtein</a:t>
            </a:r>
            <a:r>
              <a:rPr lang="en-IN" sz="2000" b="1" dirty="0"/>
              <a:t> distance = 2.</a:t>
            </a:r>
            <a:endParaRPr lang="en-IN" sz="2000" dirty="0"/>
          </a:p>
          <a:p>
            <a:r>
              <a:rPr lang="en-IN" sz="2000" b="1" dirty="0" err="1">
                <a:solidFill>
                  <a:srgbClr val="C00000"/>
                </a:solidFill>
              </a:rPr>
              <a:t>Levenshtein</a:t>
            </a:r>
            <a:r>
              <a:rPr lang="en-IN" sz="2000" b="1" dirty="0">
                <a:solidFill>
                  <a:srgbClr val="C00000"/>
                </a:solidFill>
              </a:rPr>
              <a:t> = WHAT distance to calculate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Wagner-Fischer = HOW to calculate that distance</a:t>
            </a:r>
          </a:p>
          <a:p>
            <a:endParaRPr lang="en-IN" dirty="0"/>
          </a:p>
          <a:p>
            <a:pPr>
              <a:spcBef>
                <a:spcPts val="0"/>
              </a:spcBef>
              <a:spcAft>
                <a:spcPts val="100"/>
              </a:spcAft>
            </a:pP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D7086-FD07-8B01-CA02-21690BE6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23A01-70C4-A322-BF9F-FDA258C6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43</a:t>
            </a:fld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164313-8147-5541-0CD1-4945E5E00767}"/>
              </a:ext>
            </a:extLst>
          </p:cNvPr>
          <p:cNvSpPr/>
          <p:nvPr/>
        </p:nvSpPr>
        <p:spPr>
          <a:xfrm>
            <a:off x="4151376" y="182880"/>
            <a:ext cx="3758184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Distance Variants</a:t>
            </a:r>
          </a:p>
        </p:txBody>
      </p:sp>
    </p:spTree>
    <p:extLst>
      <p:ext uri="{BB962C8B-B14F-4D97-AF65-F5344CB8AC3E}">
        <p14:creationId xmlns:p14="http://schemas.microsoft.com/office/powerpoint/2010/main" val="1086026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EAFB-F89E-7B49-FA30-70E0E6DA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>
            <a:extLst>
              <a:ext uri="{FF2B5EF4-FFF2-40B4-BE49-F238E27FC236}">
                <a16:creationId xmlns:a16="http://schemas.microsoft.com/office/drawing/2014/main" id="{8F9754F0-C970-7FC4-D885-C960AF681E93}"/>
              </a:ext>
            </a:extLst>
          </p:cNvPr>
          <p:cNvSpPr txBox="1"/>
          <p:nvPr/>
        </p:nvSpPr>
        <p:spPr>
          <a:xfrm>
            <a:off x="457200" y="765494"/>
            <a:ext cx="112776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3500" b="1">
                <a:solidFill>
                  <a:srgbClr val="C00000"/>
                </a:solidFill>
              </a:rPr>
              <a:t>String 1 = CA, String 2 = AC</a:t>
            </a:r>
          </a:p>
          <a:p>
            <a:r>
              <a:rPr lang="en-IN" sz="3500" b="1">
                <a:solidFill>
                  <a:srgbClr val="C00000"/>
                </a:solidFill>
              </a:rPr>
              <a:t>We want to transform: CA → AC</a:t>
            </a:r>
          </a:p>
          <a:p>
            <a:r>
              <a:rPr lang="en-IN" sz="3000" b="1">
                <a:solidFill>
                  <a:srgbClr val="0070C0"/>
                </a:solidFill>
              </a:rPr>
              <a:t>3. Damerau–Levenshtein Distance</a:t>
            </a:r>
          </a:p>
          <a:p>
            <a:r>
              <a:rPr lang="en-IN" sz="2400" b="1">
                <a:solidFill>
                  <a:srgbClr val="C00000"/>
                </a:solidFill>
              </a:rPr>
              <a:t>CA → AC</a:t>
            </a:r>
          </a:p>
          <a:p>
            <a:r>
              <a:rPr lang="en-IN" sz="2400"/>
              <a:t>Damerau–Levenshtein adds one more operation:</a:t>
            </a:r>
          </a:p>
          <a:p>
            <a:r>
              <a:rPr lang="en-IN" sz="2400" b="1"/>
              <a:t>Transposition</a:t>
            </a:r>
          </a:p>
          <a:p>
            <a:r>
              <a:rPr lang="en-IN" sz="2400" b="1">
                <a:solidFill>
                  <a:srgbClr val="C00000"/>
                </a:solidFill>
              </a:rPr>
              <a:t>CA</a:t>
            </a:r>
          </a:p>
          <a:p>
            <a:r>
              <a:rPr lang="en-IN" sz="2400" b="1">
                <a:solidFill>
                  <a:srgbClr val="C00000"/>
                </a:solidFill>
              </a:rPr>
              <a:t>↓</a:t>
            </a:r>
          </a:p>
          <a:p>
            <a:r>
              <a:rPr lang="en-IN" sz="2400" b="1">
                <a:solidFill>
                  <a:srgbClr val="C00000"/>
                </a:solidFill>
              </a:rPr>
              <a:t>AC</a:t>
            </a:r>
          </a:p>
          <a:p>
            <a:endParaRPr lang="en-IN" sz="2400"/>
          </a:p>
          <a:p>
            <a:pPr algn="just"/>
            <a:r>
              <a:rPr lang="en-IN" sz="2400"/>
              <a:t>The two adjacent characters are swapped. So only </a:t>
            </a:r>
            <a:r>
              <a:rPr lang="en-IN" sz="2400" b="1"/>
              <a:t>one operation</a:t>
            </a:r>
            <a:r>
              <a:rPr lang="en-IN" sz="2400"/>
              <a:t> is required.</a:t>
            </a:r>
          </a:p>
          <a:p>
            <a:r>
              <a:rPr lang="en-IN" sz="2400"/>
              <a:t>Therefore:</a:t>
            </a:r>
          </a:p>
          <a:p>
            <a:r>
              <a:rPr lang="en-IN" sz="2400" b="1"/>
              <a:t>Damerau–Levenshtein distance = 1</a:t>
            </a:r>
          </a:p>
          <a:p>
            <a:endParaRPr lang="en-IN" sz="2400"/>
          </a:p>
          <a:p>
            <a:r>
              <a:rPr lang="en-IN" sz="2400" b="1">
                <a:solidFill>
                  <a:srgbClr val="0070C0"/>
                </a:solidFill>
              </a:rPr>
              <a:t>Therefore, for CA → AC,  Levenshtein   = 2,  Damerau-Levenshtein  = 1</a:t>
            </a:r>
          </a:p>
          <a:p>
            <a:endParaRPr lang="en-IN" sz="2400"/>
          </a:p>
          <a:p>
            <a:pPr>
              <a:spcBef>
                <a:spcPts val="0"/>
              </a:spcBef>
              <a:spcAft>
                <a:spcPts val="100"/>
              </a:spcAft>
            </a:pP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5218F-A9DC-B142-8E26-BBA49433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2CD77-E3D9-5874-64AE-6F0B4182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44</a:t>
            </a:fld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18C8BE-27F7-5C73-240F-290D99EA482E}"/>
              </a:ext>
            </a:extLst>
          </p:cNvPr>
          <p:cNvSpPr/>
          <p:nvPr/>
        </p:nvSpPr>
        <p:spPr>
          <a:xfrm>
            <a:off x="4151376" y="182880"/>
            <a:ext cx="3758184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Distance Variants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761E6A-735C-1684-FF34-203931B1F055}"/>
              </a:ext>
            </a:extLst>
          </p:cNvPr>
          <p:cNvSpPr txBox="1"/>
          <p:nvPr/>
        </p:nvSpPr>
        <p:spPr>
          <a:xfrm>
            <a:off x="6735365" y="2579875"/>
            <a:ext cx="5279923" cy="133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indent="-450850" algn="l">
              <a:spcBef>
                <a:spcPts val="100"/>
              </a:spcBef>
              <a:spcAft>
                <a:spcPts val="50"/>
              </a:spcAft>
            </a:pPr>
            <a:r>
              <a:rPr lang="en-US" sz="1600" b="1" dirty="0">
                <a:solidFill>
                  <a:srgbClr val="1F3864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Operations:</a:t>
            </a:r>
          </a:p>
          <a:p>
            <a:r>
              <a:rPr lang="en-IN" sz="1600" b="1" dirty="0"/>
              <a:t>Insertion: Add a letter (e.g., cat → cats)</a:t>
            </a:r>
          </a:p>
          <a:p>
            <a:r>
              <a:rPr lang="en-IN" sz="1600" b="1" dirty="0"/>
              <a:t>Deletion: Drop a letter (e.g., cats → cat)</a:t>
            </a:r>
          </a:p>
          <a:p>
            <a:r>
              <a:rPr lang="en-IN" sz="1600" b="1" dirty="0"/>
              <a:t>Replace:  one letter for another (e.g., cat → cut)</a:t>
            </a:r>
          </a:p>
          <a:p>
            <a:r>
              <a:rPr lang="en-IN" sz="1600" b="1" dirty="0"/>
              <a:t>Transposition: Flip two neighbouring letters (e.g., </a:t>
            </a:r>
            <a:r>
              <a:rPr lang="en-IN" sz="1600" b="1" dirty="0" err="1"/>
              <a:t>teh</a:t>
            </a:r>
            <a:r>
              <a:rPr lang="en-IN" sz="1600" b="1" dirty="0"/>
              <a:t> → the)</a:t>
            </a:r>
          </a:p>
        </p:txBody>
      </p:sp>
    </p:spTree>
    <p:extLst>
      <p:ext uri="{BB962C8B-B14F-4D97-AF65-F5344CB8AC3E}">
        <p14:creationId xmlns:p14="http://schemas.microsoft.com/office/powerpoint/2010/main" val="36356018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/>
          <p:cNvSpPr txBox="1"/>
          <p:nvPr/>
        </p:nvSpPr>
        <p:spPr>
          <a:xfrm>
            <a:off x="288099" y="747047"/>
            <a:ext cx="11649205" cy="547307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endParaRPr lang="en-IN" sz="3200" dirty="0"/>
          </a:p>
          <a:p>
            <a:pPr marL="450850" indent="-450850" algn="l">
              <a:spcBef>
                <a:spcPts val="100"/>
              </a:spcBef>
              <a:spcAft>
                <a:spcPts val="50"/>
              </a:spcAft>
            </a:pPr>
            <a:endParaRPr lang="en-US" sz="3000" b="1" dirty="0">
              <a:solidFill>
                <a:srgbClr val="1F3864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45</a:t>
            </a:fld>
            <a:endParaRPr lang="en-AU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C8E7F8-1F2B-775A-3E6C-E018415F57CC}"/>
              </a:ext>
            </a:extLst>
          </p:cNvPr>
          <p:cNvSpPr/>
          <p:nvPr/>
        </p:nvSpPr>
        <p:spPr>
          <a:xfrm>
            <a:off x="4151375" y="182880"/>
            <a:ext cx="5932077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Aft>
                <a:spcPts val="200"/>
              </a:spcAft>
              <a:defRPr/>
            </a:pPr>
            <a:r>
              <a:rPr lang="en-US" sz="36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Damerau</a:t>
            </a: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Levenshtein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1770" y="4759891"/>
            <a:ext cx="10434181" cy="1380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1285951" y="5098093"/>
            <a:ext cx="1222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DL extra </a:t>
            </a:r>
          </a:p>
          <a:p>
            <a:r>
              <a:rPr lang="en-US" b="1" dirty="0"/>
              <a:t>code</a:t>
            </a:r>
            <a:endParaRPr lang="en-IN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48" y="1042987"/>
            <a:ext cx="10571967" cy="509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2257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/>
          <p:cNvSpPr txBox="1"/>
          <p:nvPr/>
        </p:nvSpPr>
        <p:spPr>
          <a:xfrm>
            <a:off x="288099" y="747047"/>
            <a:ext cx="11649205" cy="547307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endParaRPr lang="en-IN" sz="3200" dirty="0"/>
          </a:p>
          <a:p>
            <a:pPr marL="450850" indent="-450850" algn="l">
              <a:spcBef>
                <a:spcPts val="100"/>
              </a:spcBef>
              <a:spcAft>
                <a:spcPts val="50"/>
              </a:spcAft>
            </a:pPr>
            <a:endParaRPr lang="en-US" sz="3000" b="1" dirty="0">
              <a:solidFill>
                <a:srgbClr val="1F3864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DSA-3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46</a:t>
            </a:fld>
            <a:endParaRPr lang="en-AU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C8E7F8-1F2B-775A-3E6C-E018415F57CC}"/>
              </a:ext>
            </a:extLst>
          </p:cNvPr>
          <p:cNvSpPr/>
          <p:nvPr/>
        </p:nvSpPr>
        <p:spPr>
          <a:xfrm>
            <a:off x="4151375" y="182880"/>
            <a:ext cx="5932077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Aft>
                <a:spcPts val="200"/>
              </a:spcAft>
              <a:defRPr/>
            </a:pPr>
            <a:r>
              <a:rPr lang="en-US" sz="36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Damerau</a:t>
            </a: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Levenshtein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992" y="667512"/>
            <a:ext cx="8374062" cy="425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19" y="4784942"/>
            <a:ext cx="11285951" cy="1866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2830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0DB35-F08C-A92F-A79C-691603F1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Box">
            <a:extLst>
              <a:ext uri="{FF2B5EF4-FFF2-40B4-BE49-F238E27FC236}">
                <a16:creationId xmlns:a16="http://schemas.microsoft.com/office/drawing/2014/main" id="{6A5D4837-5520-D7F6-433E-AE8815E50D54}"/>
              </a:ext>
            </a:extLst>
          </p:cNvPr>
          <p:cNvSpPr txBox="1"/>
          <p:nvPr/>
        </p:nvSpPr>
        <p:spPr>
          <a:xfrm>
            <a:off x="219456" y="756350"/>
            <a:ext cx="4315968" cy="591877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2000" b="1" dirty="0">
                <a:solidFill>
                  <a:srgbClr val="C00000"/>
                </a:solidFill>
              </a:rPr>
              <a:t>String 1 = CA, String 2 = AC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We want to transform: CA → AC</a:t>
            </a:r>
          </a:p>
          <a:p>
            <a:endParaRPr lang="en-IN" sz="2000" b="1" dirty="0">
              <a:solidFill>
                <a:srgbClr val="C00000"/>
              </a:solidFill>
            </a:endParaRPr>
          </a:p>
          <a:p>
            <a:r>
              <a:rPr lang="en-IN" sz="2800" b="1" dirty="0">
                <a:solidFill>
                  <a:srgbClr val="0070C0"/>
                </a:solidFill>
              </a:rPr>
              <a:t>4. Weighted Edit Distance</a:t>
            </a:r>
          </a:p>
          <a:p>
            <a:r>
              <a:rPr lang="en-IN" sz="2000" dirty="0"/>
              <a:t>Now consider the </a:t>
            </a:r>
            <a:r>
              <a:rPr lang="en-IN" sz="2000" b="1" dirty="0"/>
              <a:t>same example</a:t>
            </a:r>
            <a:r>
              <a:rPr lang="en-IN" sz="2000" dirty="0"/>
              <a:t>: </a:t>
            </a:r>
          </a:p>
          <a:p>
            <a:r>
              <a:rPr lang="en-IN" sz="2000" dirty="0"/>
              <a:t>CA → AC</a:t>
            </a:r>
          </a:p>
          <a:p>
            <a:r>
              <a:rPr lang="en-IN" sz="2000" dirty="0"/>
              <a:t>In ordinary </a:t>
            </a:r>
            <a:r>
              <a:rPr lang="en-IN" sz="2000" dirty="0" err="1"/>
              <a:t>Levenshtein</a:t>
            </a:r>
            <a:r>
              <a:rPr lang="en-IN" sz="2000" dirty="0"/>
              <a:t> distance, we normally assume: Insertion = 1, Deletion = 1, Substitution = 1</a:t>
            </a:r>
          </a:p>
          <a:p>
            <a:endParaRPr lang="en-IN" sz="2000" dirty="0"/>
          </a:p>
          <a:p>
            <a:r>
              <a:rPr lang="en-IN" sz="2000" dirty="0"/>
              <a:t>But in </a:t>
            </a:r>
            <a:r>
              <a:rPr lang="en-IN" sz="2000" b="1" dirty="0"/>
              <a:t>Weighted Edit Distance</a:t>
            </a:r>
            <a:r>
              <a:rPr lang="en-IN" sz="2000" dirty="0"/>
              <a:t>, we can assign different costs.</a:t>
            </a:r>
          </a:p>
          <a:p>
            <a:r>
              <a:rPr lang="en-IN" sz="2000" dirty="0"/>
              <a:t>Suppose: </a:t>
            </a:r>
            <a:r>
              <a:rPr lang="en-IN" sz="2000" b="1" dirty="0"/>
              <a:t>Insertion = 1, Deletion = 1, Substitution = 2</a:t>
            </a:r>
          </a:p>
          <a:p>
            <a:r>
              <a:rPr lang="en-IN" sz="2000" dirty="0"/>
              <a:t>There is </a:t>
            </a:r>
            <a:r>
              <a:rPr lang="en-IN" sz="2000" b="1" dirty="0">
                <a:solidFill>
                  <a:srgbClr val="C00000"/>
                </a:solidFill>
              </a:rPr>
              <a:t>no transposition operation </a:t>
            </a:r>
            <a:r>
              <a:rPr lang="en-IN" sz="2000" dirty="0"/>
              <a:t>in our weighted model.</a:t>
            </a:r>
          </a:p>
          <a:p>
            <a:endParaRPr lang="en-IN" sz="2000" dirty="0"/>
          </a:p>
          <a:p>
            <a:pPr>
              <a:spcBef>
                <a:spcPts val="0"/>
              </a:spcBef>
              <a:spcAft>
                <a:spcPts val="100"/>
              </a:spcAft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D1DC3-2A90-0E3D-2756-79FAA1DF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47</a:t>
            </a:fld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F6CBFC-6477-484A-F9AA-2CFE66429442}"/>
              </a:ext>
            </a:extLst>
          </p:cNvPr>
          <p:cNvSpPr/>
          <p:nvPr/>
        </p:nvSpPr>
        <p:spPr>
          <a:xfrm>
            <a:off x="4151376" y="182880"/>
            <a:ext cx="3758184" cy="4846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Edit Distance Variants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8AD08-1522-11B8-A563-33116F74516E}"/>
              </a:ext>
            </a:extLst>
          </p:cNvPr>
          <p:cNvSpPr txBox="1"/>
          <p:nvPr/>
        </p:nvSpPr>
        <p:spPr>
          <a:xfrm>
            <a:off x="5074920" y="667512"/>
            <a:ext cx="703173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To convert: </a:t>
            </a:r>
            <a:r>
              <a:rPr lang="en-IN" sz="2000" b="1" dirty="0">
                <a:solidFill>
                  <a:srgbClr val="C00000"/>
                </a:solidFill>
              </a:rPr>
              <a:t>CA → AC</a:t>
            </a:r>
          </a:p>
          <a:p>
            <a:r>
              <a:rPr lang="en-IN" sz="2000" dirty="0"/>
              <a:t>using two substitutions: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CA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↓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AA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↓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AC</a:t>
            </a:r>
          </a:p>
          <a:p>
            <a:r>
              <a:rPr lang="en-IN" sz="2000" dirty="0"/>
              <a:t>Cost: 2 + 2 = 4</a:t>
            </a:r>
          </a:p>
          <a:p>
            <a:r>
              <a:rPr lang="en-IN" sz="2000" dirty="0"/>
              <a:t>But we can do: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CA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↓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A       delete C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↓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AC      insert C</a:t>
            </a:r>
          </a:p>
          <a:p>
            <a:r>
              <a:rPr lang="en-IN" sz="2000" dirty="0"/>
              <a:t>Cost: 1 + 1 = 2</a:t>
            </a:r>
          </a:p>
          <a:p>
            <a:pPr algn="just"/>
            <a:r>
              <a:rPr lang="en-IN" sz="2000" dirty="0"/>
              <a:t>Therefore the </a:t>
            </a:r>
            <a:r>
              <a:rPr lang="en-IN" sz="2000" b="1" dirty="0"/>
              <a:t>minimum weighted edit distance = 2</a:t>
            </a:r>
            <a:r>
              <a:rPr lang="en-IN" sz="2000" dirty="0"/>
              <a:t>.</a:t>
            </a:r>
          </a:p>
          <a:p>
            <a:pPr algn="just"/>
            <a:r>
              <a:rPr lang="en-IN" sz="2000" dirty="0"/>
              <a:t>This demonstrates an important point:</a:t>
            </a:r>
          </a:p>
          <a:p>
            <a:pPr algn="just"/>
            <a:r>
              <a:rPr lang="en-IN" sz="2000" dirty="0"/>
              <a:t>In Weighted Edit Distance, the answer depends on the costs assigned to the operations.</a:t>
            </a:r>
          </a:p>
        </p:txBody>
      </p:sp>
    </p:spTree>
    <p:extLst>
      <p:ext uri="{BB962C8B-B14F-4D97-AF65-F5344CB8AC3E}">
        <p14:creationId xmlns:p14="http://schemas.microsoft.com/office/powerpoint/2010/main" val="1222131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>
                <a:solidFill>
                  <a:srgbClr val="C00000"/>
                </a:solidFill>
              </a:rPr>
              <a:t>DSA-3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48</a:t>
            </a:fld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4026947" y="2361048"/>
            <a:ext cx="43616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27000">
                    <a:srgbClr val="92D050"/>
                  </a:glow>
                </a:effectLst>
                <a:latin typeface="Freestyle Script" panose="030804020302050B0404" pitchFamily="66" charset="0"/>
                <a:ea typeface="Ebrima" panose="02000000000000000000" pitchFamily="2" charset="0"/>
                <a:cs typeface="Ebrima" panose="0200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7294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a_x0020_Base_x0020_Secuirty xmlns="e55cc92a-1539-4df1-9458-c91bde0a752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8CA6BD4B6BB458EC4DF3BC6B8455E" ma:contentTypeVersion="3" ma:contentTypeDescription="Create a new document." ma:contentTypeScope="" ma:versionID="54dd32af46607e74e95a970489d169e9">
  <xsd:schema xmlns:xsd="http://www.w3.org/2001/XMLSchema" xmlns:xs="http://www.w3.org/2001/XMLSchema" xmlns:p="http://schemas.microsoft.com/office/2006/metadata/properties" xmlns:ns2="5e62a2dd-ff91-4591-8d2f-adadc8198891" xmlns:ns3="e55cc92a-1539-4df1-9458-c91bde0a752f" targetNamespace="http://schemas.microsoft.com/office/2006/metadata/properties" ma:root="true" ma:fieldsID="f933b677abdf242d07459fbbd4282fb3" ns2:_="" ns3:_="">
    <xsd:import namespace="5e62a2dd-ff91-4591-8d2f-adadc8198891"/>
    <xsd:import namespace="e55cc92a-1539-4df1-9458-c91bde0a752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a_x0020_Base_x0020_Secuir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2a2dd-ff91-4591-8d2f-adadc819889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5cc92a-1539-4df1-9458-c91bde0a752f" elementFormDefault="qualified">
    <xsd:import namespace="http://schemas.microsoft.com/office/2006/documentManagement/types"/>
    <xsd:import namespace="http://schemas.microsoft.com/office/infopath/2007/PartnerControls"/>
    <xsd:element name="Data_x0020_Base_x0020_Secuirty" ma:index="10" nillable="true" ma:displayName="Data Base " ma:internalName="Data_x0020_Base_x0020_Secuirt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989B67-2555-4DB6-B147-5FFEA814123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5e62a2dd-ff91-4591-8d2f-adadc819889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55cc92a-1539-4df1-9458-c91bde0a752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E2E494-7E83-48A3-A37B-6A0EF14651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4C7BD7-3D85-4085-8918-1206224A05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62a2dd-ff91-4591-8d2f-adadc8198891"/>
    <ds:schemaRef ds:uri="e55cc92a-1539-4df1-9458-c91bde0a75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3020</TotalTime>
  <Words>2451</Words>
  <Application>Microsoft Office PowerPoint</Application>
  <PresentationFormat>Widescreen</PresentationFormat>
  <Paragraphs>439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Freestyle Script</vt:lpstr>
      <vt:lpstr>Nunito</vt:lpstr>
      <vt:lpstr>Poppins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Edit Distance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Edit Distance - Example   </vt:lpstr>
      <vt:lpstr>Edit Distance - Example   </vt:lpstr>
      <vt:lpstr>Edit Distance - Example   </vt:lpstr>
      <vt:lpstr>Edit Distance - Example   </vt:lpstr>
      <vt:lpstr>Edit Distance - Wagner–Fischer algorithm</vt:lpstr>
      <vt:lpstr>Edit Distance</vt:lpstr>
      <vt:lpstr>PROCEDURE</vt:lpstr>
      <vt:lpstr>PowerPoint Presentation</vt:lpstr>
      <vt:lpstr>Edit Distance - Example   </vt:lpstr>
      <vt:lpstr>Edit Distance - Example   </vt:lpstr>
      <vt:lpstr>Edit Distance - Example   </vt:lpstr>
      <vt:lpstr>Edit Distance - Example   </vt:lpstr>
      <vt:lpstr>Edit Distance - Example   </vt:lpstr>
      <vt:lpstr>Edit Distance - Example   </vt:lpstr>
      <vt:lpstr>Edit Distance - Example   </vt:lpstr>
      <vt:lpstr>Edit Distance - Example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Veeraiah</dc:creator>
  <cp:lastModifiedBy>sireesha vikkurty</cp:lastModifiedBy>
  <cp:revision>142</cp:revision>
  <dcterms:modified xsi:type="dcterms:W3CDTF">2026-08-19T12:19:55Z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0x01010057C8CA6BD4B6BB458EC4DF3BC6B8455E</vt:lpwstr>
  </property>
</Properties>
</file>